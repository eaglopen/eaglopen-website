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3" r:id="rId2"/>
  </p:sldMasterIdLst>
  <p:notesMasterIdLst>
    <p:notesMasterId r:id="rId36"/>
  </p:notesMasterIdLst>
  <p:sldIdLst>
    <p:sldId id="257" r:id="rId3"/>
    <p:sldId id="258" r:id="rId4"/>
    <p:sldId id="288" r:id="rId5"/>
    <p:sldId id="259" r:id="rId6"/>
    <p:sldId id="260" r:id="rId7"/>
    <p:sldId id="261" r:id="rId8"/>
    <p:sldId id="262" r:id="rId9"/>
    <p:sldId id="263" r:id="rId10"/>
    <p:sldId id="264" r:id="rId11"/>
    <p:sldId id="289" r:id="rId12"/>
    <p:sldId id="265" r:id="rId13"/>
    <p:sldId id="266" r:id="rId14"/>
    <p:sldId id="277" r:id="rId15"/>
    <p:sldId id="278" r:id="rId16"/>
    <p:sldId id="275" r:id="rId17"/>
    <p:sldId id="276" r:id="rId18"/>
    <p:sldId id="279" r:id="rId19"/>
    <p:sldId id="280" r:id="rId20"/>
    <p:sldId id="267" r:id="rId21"/>
    <p:sldId id="269" r:id="rId22"/>
    <p:sldId id="270" r:id="rId23"/>
    <p:sldId id="273" r:id="rId24"/>
    <p:sldId id="271" r:id="rId25"/>
    <p:sldId id="272" r:id="rId26"/>
    <p:sldId id="274" r:id="rId27"/>
    <p:sldId id="281" r:id="rId28"/>
    <p:sldId id="282" r:id="rId29"/>
    <p:sldId id="283" r:id="rId30"/>
    <p:sldId id="290" r:id="rId31"/>
    <p:sldId id="284" r:id="rId32"/>
    <p:sldId id="285" r:id="rId33"/>
    <p:sldId id="286" r:id="rId34"/>
    <p:sldId id="287" r:id="rId35"/>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FFFF00"/>
    <a:srgbClr val="35BC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21" autoAdjust="0"/>
    <p:restoredTop sz="99606" autoAdjust="0"/>
  </p:normalViewPr>
  <p:slideViewPr>
    <p:cSldViewPr>
      <p:cViewPr varScale="1">
        <p:scale>
          <a:sx n="99" d="100"/>
          <a:sy n="99" d="100"/>
        </p:scale>
        <p:origin x="760" y="64"/>
      </p:cViewPr>
      <p:guideLst>
        <p:guide orient="horz" pos="2160"/>
        <p:guide pos="2880"/>
      </p:guideLst>
    </p:cSldViewPr>
  </p:slideViewPr>
  <p:notesTextViewPr>
    <p:cViewPr>
      <p:scale>
        <a:sx n="1" d="1"/>
        <a:sy n="1" d="1"/>
      </p:scale>
      <p:origin x="0" y="0"/>
    </p:cViewPr>
  </p:notesTextViewPr>
  <p:sorterViewPr>
    <p:cViewPr>
      <p:scale>
        <a:sx n="100" d="100"/>
        <a:sy n="100" d="100"/>
      </p:scale>
      <p:origin x="0" y="409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71FEE8B-A424-430C-B832-DE2CE85D72CA}" type="datetimeFigureOut">
              <a:rPr lang="ko-KR" altLang="en-US" smtClean="0"/>
              <a:pPr/>
              <a:t>2026-09-04</a:t>
            </a:fld>
            <a:endParaRPr lang="ko-KR" altLang="en-US"/>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204755-F9BC-4CDA-9C8F-4B164C319D38}" type="slidenum">
              <a:rPr lang="ko-KR" altLang="en-US" smtClean="0"/>
              <a:pPr/>
              <a:t>‹#›</a:t>
            </a:fld>
            <a:endParaRPr lang="ko-KR" altLang="en-US"/>
          </a:p>
        </p:txBody>
      </p:sp>
    </p:spTree>
    <p:extLst>
      <p:ext uri="{BB962C8B-B14F-4D97-AF65-F5344CB8AC3E}">
        <p14:creationId xmlns:p14="http://schemas.microsoft.com/office/powerpoint/2010/main" val="133983242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8"/>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91" indent="0" algn="ctr">
              <a:buNone/>
              <a:defRPr>
                <a:solidFill>
                  <a:schemeClr val="tx1">
                    <a:tint val="75000"/>
                  </a:schemeClr>
                </a:solidFill>
              </a:defRPr>
            </a:lvl2pPr>
            <a:lvl3pPr marL="914382" indent="0" algn="ctr">
              <a:buNone/>
              <a:defRPr>
                <a:solidFill>
                  <a:schemeClr val="tx1">
                    <a:tint val="75000"/>
                  </a:schemeClr>
                </a:solidFill>
              </a:defRPr>
            </a:lvl3pPr>
            <a:lvl4pPr marL="1371573" indent="0" algn="ctr">
              <a:buNone/>
              <a:defRPr>
                <a:solidFill>
                  <a:schemeClr val="tx1">
                    <a:tint val="75000"/>
                  </a:schemeClr>
                </a:solidFill>
              </a:defRPr>
            </a:lvl4pPr>
            <a:lvl5pPr marL="1828764" indent="0" algn="ctr">
              <a:buNone/>
              <a:defRPr>
                <a:solidFill>
                  <a:schemeClr val="tx1">
                    <a:tint val="75000"/>
                  </a:schemeClr>
                </a:solidFill>
              </a:defRPr>
            </a:lvl5pPr>
            <a:lvl6pPr marL="2285955" indent="0" algn="ctr">
              <a:buNone/>
              <a:defRPr>
                <a:solidFill>
                  <a:schemeClr val="tx1">
                    <a:tint val="75000"/>
                  </a:schemeClr>
                </a:solidFill>
              </a:defRPr>
            </a:lvl6pPr>
            <a:lvl7pPr marL="2743146" indent="0" algn="ctr">
              <a:buNone/>
              <a:defRPr>
                <a:solidFill>
                  <a:schemeClr val="tx1">
                    <a:tint val="75000"/>
                  </a:schemeClr>
                </a:solidFill>
              </a:defRPr>
            </a:lvl7pPr>
            <a:lvl8pPr marL="3200336" indent="0" algn="ctr">
              <a:buNone/>
              <a:defRPr>
                <a:solidFill>
                  <a:schemeClr val="tx1">
                    <a:tint val="75000"/>
                  </a:schemeClr>
                </a:solidFill>
              </a:defRPr>
            </a:lvl8pPr>
            <a:lvl9pPr marL="3657526"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2CC7CFA1-D8AD-45F1-8714-8A2522966365}" type="datetime1">
              <a:rPr lang="ko-KR" altLang="en-US" smtClean="0"/>
              <a:t>2026-09-04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
        <p:nvSpPr>
          <p:cNvPr id="8" name="직사각형 7"/>
          <p:cNvSpPr/>
          <p:nvPr/>
        </p:nvSpPr>
        <p:spPr>
          <a:xfrm>
            <a:off x="485305" y="332658"/>
            <a:ext cx="8201496"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pic>
        <p:nvPicPr>
          <p:cNvPr id="9" name="Picture 11"/>
          <p:cNvPicPr>
            <a:picLocks noChangeAspect="1" noChangeArrowheads="1"/>
          </p:cNvPicPr>
          <p:nvPr userDrawn="1"/>
        </p:nvPicPr>
        <p:blipFill>
          <a:blip r:embed="rId2" cstate="print"/>
          <a:srcRect/>
          <a:stretch>
            <a:fillRect/>
          </a:stretch>
        </p:blipFill>
        <p:spPr bwMode="auto">
          <a:xfrm>
            <a:off x="755576" y="4941169"/>
            <a:ext cx="432048" cy="429397"/>
          </a:xfrm>
          <a:prstGeom prst="rect">
            <a:avLst/>
          </a:prstGeom>
          <a:noFill/>
          <a:ln w="9525">
            <a:noFill/>
            <a:miter lim="800000"/>
            <a:headEnd/>
            <a:tailEnd/>
          </a:ln>
        </p:spPr>
      </p:pic>
    </p:spTree>
    <p:extLst>
      <p:ext uri="{BB962C8B-B14F-4D97-AF65-F5344CB8AC3E}">
        <p14:creationId xmlns:p14="http://schemas.microsoft.com/office/powerpoint/2010/main" val="2515956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lvl1pPr latinLnBrk="0">
              <a:defRPr/>
            </a:lvl1pPr>
            <a:lvl2pPr latinLnBrk="0">
              <a:defRPr/>
            </a:lvl2pPr>
            <a:lvl3pPr latinLnBrk="0">
              <a:defRPr/>
            </a:lvl3pPr>
            <a:lvl4pPr latinLnBrk="0">
              <a:defRPr/>
            </a:lvl4pPr>
            <a:lvl5pPr latinLnBrk="0">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10"/>
          </p:nvPr>
        </p:nvSpPr>
        <p:spPr/>
        <p:txBody>
          <a:bodyPr/>
          <a:lstStyle/>
          <a:p>
            <a:fld id="{0C432325-B186-44DE-A536-E153A611E622}" type="datetime1">
              <a:rPr lang="ko-KR" altLang="en-US" smtClean="0"/>
              <a:t>2026-09-04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3399056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3"/>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6"/>
            <a:ext cx="7772400" cy="1500187"/>
          </a:xfrm>
        </p:spPr>
        <p:txBody>
          <a:bodyPr anchor="b"/>
          <a:lstStyle>
            <a:lvl1pPr marL="0" indent="0">
              <a:buNone/>
              <a:defRPr sz="2000">
                <a:solidFill>
                  <a:schemeClr val="tx1">
                    <a:tint val="75000"/>
                  </a:schemeClr>
                </a:solidFill>
              </a:defRPr>
            </a:lvl1pPr>
            <a:lvl2pPr marL="457191" indent="0">
              <a:buNone/>
              <a:defRPr sz="1800">
                <a:solidFill>
                  <a:schemeClr val="tx1">
                    <a:tint val="75000"/>
                  </a:schemeClr>
                </a:solidFill>
              </a:defRPr>
            </a:lvl2pPr>
            <a:lvl3pPr marL="914382" indent="0">
              <a:buNone/>
              <a:defRPr sz="1600">
                <a:solidFill>
                  <a:schemeClr val="tx1">
                    <a:tint val="75000"/>
                  </a:schemeClr>
                </a:solidFill>
              </a:defRPr>
            </a:lvl3pPr>
            <a:lvl4pPr marL="1371573" indent="0">
              <a:buNone/>
              <a:defRPr sz="1400">
                <a:solidFill>
                  <a:schemeClr val="tx1">
                    <a:tint val="75000"/>
                  </a:schemeClr>
                </a:solidFill>
              </a:defRPr>
            </a:lvl4pPr>
            <a:lvl5pPr marL="1828764" indent="0">
              <a:buNone/>
              <a:defRPr sz="1400">
                <a:solidFill>
                  <a:schemeClr val="tx1">
                    <a:tint val="75000"/>
                  </a:schemeClr>
                </a:solidFill>
              </a:defRPr>
            </a:lvl5pPr>
            <a:lvl6pPr marL="2285955" indent="0">
              <a:buNone/>
              <a:defRPr sz="1400">
                <a:solidFill>
                  <a:schemeClr val="tx1">
                    <a:tint val="75000"/>
                  </a:schemeClr>
                </a:solidFill>
              </a:defRPr>
            </a:lvl6pPr>
            <a:lvl7pPr marL="2743146" indent="0">
              <a:buNone/>
              <a:defRPr sz="1400">
                <a:solidFill>
                  <a:schemeClr val="tx1">
                    <a:tint val="75000"/>
                  </a:schemeClr>
                </a:solidFill>
              </a:defRPr>
            </a:lvl7pPr>
            <a:lvl8pPr marL="3200336" indent="0">
              <a:buNone/>
              <a:defRPr sz="1400">
                <a:solidFill>
                  <a:schemeClr val="tx1">
                    <a:tint val="75000"/>
                  </a:schemeClr>
                </a:solidFill>
              </a:defRPr>
            </a:lvl8pPr>
            <a:lvl9pPr marL="3657526"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1945A8FA-359C-4392-9643-05A5726F6F74}" type="datetime1">
              <a:rPr lang="ko-KR" altLang="en-US" smtClean="0"/>
              <a:t>2026-09-04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270929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1"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43BEAC91-2952-4DC0-A672-B411813FE6D5}" type="datetime1">
              <a:rPr lang="ko-KR" altLang="en-US" smtClean="0"/>
              <a:t>2026-09-04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317622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1" y="1535113"/>
            <a:ext cx="4040188" cy="639762"/>
          </a:xfrm>
        </p:spPr>
        <p:txBody>
          <a:bodyPr anchor="b"/>
          <a:lstStyle>
            <a:lvl1pPr marL="0" indent="0">
              <a:buNone/>
              <a:defRPr sz="2400" b="1"/>
            </a:lvl1pPr>
            <a:lvl2pPr marL="457191" indent="0">
              <a:buNone/>
              <a:defRPr sz="2000" b="1"/>
            </a:lvl2pPr>
            <a:lvl3pPr marL="914382" indent="0">
              <a:buNone/>
              <a:defRPr sz="1800" b="1"/>
            </a:lvl3pPr>
            <a:lvl4pPr marL="1371573" indent="0">
              <a:buNone/>
              <a:defRPr sz="1600" b="1"/>
            </a:lvl4pPr>
            <a:lvl5pPr marL="1828764" indent="0">
              <a:buNone/>
              <a:defRPr sz="1600" b="1"/>
            </a:lvl5pPr>
            <a:lvl6pPr marL="2285955" indent="0">
              <a:buNone/>
              <a:defRPr sz="1600" b="1"/>
            </a:lvl6pPr>
            <a:lvl7pPr marL="2743146" indent="0">
              <a:buNone/>
              <a:defRPr sz="1600" b="1"/>
            </a:lvl7pPr>
            <a:lvl8pPr marL="3200336" indent="0">
              <a:buNone/>
              <a:defRPr sz="1600" b="1"/>
            </a:lvl8pPr>
            <a:lvl9pPr marL="3657526"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9" y="1535113"/>
            <a:ext cx="4041775" cy="639762"/>
          </a:xfrm>
        </p:spPr>
        <p:txBody>
          <a:bodyPr anchor="b"/>
          <a:lstStyle>
            <a:lvl1pPr marL="0" indent="0">
              <a:buNone/>
              <a:defRPr sz="2400" b="1"/>
            </a:lvl1pPr>
            <a:lvl2pPr marL="457191" indent="0">
              <a:buNone/>
              <a:defRPr sz="2000" b="1"/>
            </a:lvl2pPr>
            <a:lvl3pPr marL="914382" indent="0">
              <a:buNone/>
              <a:defRPr sz="1800" b="1"/>
            </a:lvl3pPr>
            <a:lvl4pPr marL="1371573" indent="0">
              <a:buNone/>
              <a:defRPr sz="1600" b="1"/>
            </a:lvl4pPr>
            <a:lvl5pPr marL="1828764" indent="0">
              <a:buNone/>
              <a:defRPr sz="1600" b="1"/>
            </a:lvl5pPr>
            <a:lvl6pPr marL="2285955" indent="0">
              <a:buNone/>
              <a:defRPr sz="1600" b="1"/>
            </a:lvl6pPr>
            <a:lvl7pPr marL="2743146" indent="0">
              <a:buNone/>
              <a:defRPr sz="1600" b="1"/>
            </a:lvl7pPr>
            <a:lvl8pPr marL="3200336" indent="0">
              <a:buNone/>
              <a:defRPr sz="1600" b="1"/>
            </a:lvl8pPr>
            <a:lvl9pPr marL="3657526"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88F910FD-9FE1-4AB9-9FFB-200E0DDC5897}" type="datetime1">
              <a:rPr lang="ko-KR" altLang="en-US" smtClean="0"/>
              <a:t>2026-09-04</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252853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80F9E33B-0FFF-4597-9485-E0F8433AC673}" type="datetime1">
              <a:rPr lang="ko-KR" altLang="en-US" smtClean="0"/>
              <a:t>2026-09-04</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272680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2EFE6C6B-FBE7-4DE4-9C9D-FC73AE92317F}" type="datetime1">
              <a:rPr lang="ko-KR" altLang="en-US" smtClean="0"/>
              <a:t>2026-09-04</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1237805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4" y="273052"/>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3"/>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4" y="1435101"/>
            <a:ext cx="3008313" cy="4691063"/>
          </a:xfrm>
        </p:spPr>
        <p:txBody>
          <a:bodyPr/>
          <a:lstStyle>
            <a:lvl1pPr marL="0" indent="0">
              <a:buNone/>
              <a:defRPr sz="1400"/>
            </a:lvl1pPr>
            <a:lvl2pPr marL="457191" indent="0">
              <a:buNone/>
              <a:defRPr sz="1200"/>
            </a:lvl2pPr>
            <a:lvl3pPr marL="914382" indent="0">
              <a:buNone/>
              <a:defRPr sz="1000"/>
            </a:lvl3pPr>
            <a:lvl4pPr marL="1371573" indent="0">
              <a:buNone/>
              <a:defRPr sz="900"/>
            </a:lvl4pPr>
            <a:lvl5pPr marL="1828764" indent="0">
              <a:buNone/>
              <a:defRPr sz="900"/>
            </a:lvl5pPr>
            <a:lvl6pPr marL="2285955" indent="0">
              <a:buNone/>
              <a:defRPr sz="900"/>
            </a:lvl6pPr>
            <a:lvl7pPr marL="2743146" indent="0">
              <a:buNone/>
              <a:defRPr sz="900"/>
            </a:lvl7pPr>
            <a:lvl8pPr marL="3200336" indent="0">
              <a:buNone/>
              <a:defRPr sz="900"/>
            </a:lvl8pPr>
            <a:lvl9pPr marL="3657526"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1FA646F2-6623-4275-BB3F-4FF933F7A63F}" type="datetime1">
              <a:rPr lang="ko-KR" altLang="en-US" smtClean="0"/>
              <a:t>2026-09-04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3592800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1"/>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191" indent="0">
              <a:buNone/>
              <a:defRPr sz="2800"/>
            </a:lvl2pPr>
            <a:lvl3pPr marL="914382" indent="0">
              <a:buNone/>
              <a:defRPr sz="2400"/>
            </a:lvl3pPr>
            <a:lvl4pPr marL="1371573" indent="0">
              <a:buNone/>
              <a:defRPr sz="2000"/>
            </a:lvl4pPr>
            <a:lvl5pPr marL="1828764" indent="0">
              <a:buNone/>
              <a:defRPr sz="2000"/>
            </a:lvl5pPr>
            <a:lvl6pPr marL="2285955" indent="0">
              <a:buNone/>
              <a:defRPr sz="2000"/>
            </a:lvl6pPr>
            <a:lvl7pPr marL="2743146" indent="0">
              <a:buNone/>
              <a:defRPr sz="2000"/>
            </a:lvl7pPr>
            <a:lvl8pPr marL="3200336" indent="0">
              <a:buNone/>
              <a:defRPr sz="2000"/>
            </a:lvl8pPr>
            <a:lvl9pPr marL="3657526" indent="0">
              <a:buNone/>
              <a:defRPr sz="2000"/>
            </a:lvl9pPr>
          </a:lstStyle>
          <a:p>
            <a:r>
              <a:rPr lang="ko-KR" altLang="en-US"/>
              <a:t>그림을 추가하려면 아이콘을 클릭하십시오</a:t>
            </a:r>
          </a:p>
        </p:txBody>
      </p:sp>
      <p:sp>
        <p:nvSpPr>
          <p:cNvPr id="4" name="텍스트 개체 틀 3"/>
          <p:cNvSpPr>
            <a:spLocks noGrp="1"/>
          </p:cNvSpPr>
          <p:nvPr>
            <p:ph type="body" sz="half" idx="2"/>
          </p:nvPr>
        </p:nvSpPr>
        <p:spPr>
          <a:xfrm>
            <a:off x="1792288" y="5367339"/>
            <a:ext cx="5486400" cy="804862"/>
          </a:xfrm>
        </p:spPr>
        <p:txBody>
          <a:bodyPr/>
          <a:lstStyle>
            <a:lvl1pPr marL="0" indent="0">
              <a:buNone/>
              <a:defRPr sz="1400"/>
            </a:lvl1pPr>
            <a:lvl2pPr marL="457191" indent="0">
              <a:buNone/>
              <a:defRPr sz="1200"/>
            </a:lvl2pPr>
            <a:lvl3pPr marL="914382" indent="0">
              <a:buNone/>
              <a:defRPr sz="1000"/>
            </a:lvl3pPr>
            <a:lvl4pPr marL="1371573" indent="0">
              <a:buNone/>
              <a:defRPr sz="900"/>
            </a:lvl4pPr>
            <a:lvl5pPr marL="1828764" indent="0">
              <a:buNone/>
              <a:defRPr sz="900"/>
            </a:lvl5pPr>
            <a:lvl6pPr marL="2285955" indent="0">
              <a:buNone/>
              <a:defRPr sz="900"/>
            </a:lvl6pPr>
            <a:lvl7pPr marL="2743146" indent="0">
              <a:buNone/>
              <a:defRPr sz="900"/>
            </a:lvl7pPr>
            <a:lvl8pPr marL="3200336" indent="0">
              <a:buNone/>
              <a:defRPr sz="900"/>
            </a:lvl8pPr>
            <a:lvl9pPr marL="3657526"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C3EE7E58-D2EE-40DA-9C92-ED726FCCFDBC}" type="datetime1">
              <a:rPr lang="ko-KR" altLang="en-US" smtClean="0"/>
              <a:t>2026-09-04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3905202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6F18C162-54C8-4BB0-9C6B-AE88FBD196A9}" type="datetime1">
              <a:rPr lang="ko-KR" altLang="en-US" smtClean="0"/>
              <a:t>2026-09-04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732471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9"/>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3" y="274639"/>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0A2565BD-2588-4F56-9E14-32327AE04841}" type="datetime1">
              <a:rPr lang="ko-KR" altLang="en-US" smtClean="0"/>
              <a:t>2026-09-04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lvl1pPr>
              <a:defRPr sz="2400"/>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25819254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콘텐츠 2개">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20" b="0" i="0">
                <a:solidFill>
                  <a:srgbClr val="10278F"/>
                </a:solidFill>
                <a:latin typeface="Tahoma"/>
                <a:cs typeface="Tahoma"/>
              </a:defRPr>
            </a:lvl1pPr>
          </a:lstStyle>
          <a:p>
            <a:r>
              <a:rPr lang="ko-KR" altLang="en-US"/>
              <a:t>마스터 제목 스타일 편집</a:t>
            </a:r>
            <a:endParaRPr/>
          </a:p>
        </p:txBody>
      </p:sp>
      <p:sp>
        <p:nvSpPr>
          <p:cNvPr id="3" name="Holder 3"/>
          <p:cNvSpPr>
            <a:spLocks noGrp="1"/>
          </p:cNvSpPr>
          <p:nvPr>
            <p:ph sz="half" idx="2"/>
          </p:nvPr>
        </p:nvSpPr>
        <p:spPr>
          <a:xfrm>
            <a:off x="457200" y="1577341"/>
            <a:ext cx="3977640" cy="984885"/>
          </a:xfrm>
          <a:prstGeom prst="rect">
            <a:avLst/>
          </a:prstGeom>
        </p:spPr>
        <p:txBody>
          <a:bodyPr wrap="square" lIns="0" tIns="0" rIns="0" bIns="0">
            <a:spAutoFit/>
          </a:bodyPr>
          <a:lstStyle>
            <a:lvl1pPr>
              <a:defRPr/>
            </a:lvl1pPr>
          </a:lstStyle>
          <a:p>
            <a:pPr lvl="0"/>
            <a:r>
              <a:rPr lang="ko-KR" altLang="en-US"/>
              <a:t>마스터 텍스트 스타일을 편집합니다</a:t>
            </a:r>
          </a:p>
        </p:txBody>
      </p:sp>
      <p:sp>
        <p:nvSpPr>
          <p:cNvPr id="4" name="Holder 4"/>
          <p:cNvSpPr>
            <a:spLocks noGrp="1"/>
          </p:cNvSpPr>
          <p:nvPr>
            <p:ph sz="half" idx="3"/>
          </p:nvPr>
        </p:nvSpPr>
        <p:spPr>
          <a:xfrm>
            <a:off x="4709159" y="1577341"/>
            <a:ext cx="3977640" cy="984885"/>
          </a:xfrm>
          <a:prstGeom prst="rect">
            <a:avLst/>
          </a:prstGeom>
        </p:spPr>
        <p:txBody>
          <a:bodyPr wrap="square" lIns="0" tIns="0" rIns="0" bIns="0">
            <a:spAutoFit/>
          </a:bodyPr>
          <a:lstStyle>
            <a:lvl1pPr>
              <a:defRPr/>
            </a:lvl1pPr>
          </a:lstStyle>
          <a:p>
            <a:pPr lvl="0"/>
            <a:r>
              <a:rPr lang="ko-KR" altLang="en-US"/>
              <a:t>마스터 텍스트 스타일을 편집합니다</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ko-KR" alt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4C8E538A-CF88-4457-95A3-597AC2F549C4}" type="datetime1">
              <a:rPr lang="ko-KR" altLang="en-US" smtClean="0"/>
              <a:t>2026-09-04</a:t>
            </a:fld>
            <a:endParaRPr lang="ko-KR" altLang="en-US"/>
          </a:p>
        </p:txBody>
      </p:sp>
      <p:sp>
        <p:nvSpPr>
          <p:cNvPr id="7" name="Holder 7"/>
          <p:cNvSpPr>
            <a:spLocks noGrp="1"/>
          </p:cNvSpPr>
          <p:nvPr>
            <p:ph type="sldNum" sz="quarter" idx="7"/>
          </p:nvPr>
        </p:nvSpPr>
        <p:spPr/>
        <p:txBody>
          <a:bodyPr lIns="0" tIns="0" rIns="0" bIns="0"/>
          <a:lstStyle>
            <a:lvl1pPr>
              <a:defRPr sz="2400" b="0" i="0">
                <a:solidFill>
                  <a:schemeClr val="tx1"/>
                </a:solidFill>
                <a:latin typeface="Arial"/>
                <a:cs typeface="Arial"/>
              </a:defRPr>
            </a:lvl1pPr>
          </a:lstStyle>
          <a:p>
            <a:fld id="{DD10C66A-2542-49CE-8980-1D266FEFB8DA}" type="slidenum">
              <a:rPr lang="ko-KR" altLang="en-US" smtClean="0"/>
              <a:pPr/>
              <a:t>‹#›</a:t>
            </a:fld>
            <a:endParaRPr lang="ko-KR" altLang="en-US" dirty="0"/>
          </a:p>
        </p:txBody>
      </p:sp>
    </p:spTree>
    <p:extLst>
      <p:ext uri="{BB962C8B-B14F-4D97-AF65-F5344CB8AC3E}">
        <p14:creationId xmlns:p14="http://schemas.microsoft.com/office/powerpoint/2010/main" val="2330898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3" name="Line 7"/>
          <p:cNvSpPr>
            <a:spLocks noChangeShapeType="1"/>
          </p:cNvSpPr>
          <p:nvPr userDrawn="1"/>
        </p:nvSpPr>
        <p:spPr bwMode="auto">
          <a:xfrm>
            <a:off x="827088" y="3213100"/>
            <a:ext cx="7777163" cy="0"/>
          </a:xfrm>
          <a:prstGeom prst="line">
            <a:avLst/>
          </a:prstGeom>
          <a:noFill/>
          <a:ln w="19050">
            <a:solidFill>
              <a:srgbClr val="FF0000"/>
            </a:solidFill>
            <a:round/>
            <a:headEnd/>
            <a:tailEnd/>
          </a:ln>
          <a:effectLst/>
        </p:spPr>
        <p:txBody>
          <a:bodyPr/>
          <a:lstStyle/>
          <a:p>
            <a:pPr>
              <a:defRPr/>
            </a:pPr>
            <a:endParaRPr lang="ko-KR" altLang="en-US">
              <a:latin typeface="굴림" pitchFamily="50" charset="-127"/>
              <a:ea typeface="굴림" pitchFamily="50" charset="-127"/>
            </a:endParaRPr>
          </a:p>
        </p:txBody>
      </p:sp>
      <p:sp>
        <p:nvSpPr>
          <p:cNvPr id="4098" name="Rectangle 2"/>
          <p:cNvSpPr>
            <a:spLocks noGrp="1" noChangeArrowheads="1"/>
          </p:cNvSpPr>
          <p:nvPr>
            <p:ph type="ctrTitle"/>
          </p:nvPr>
        </p:nvSpPr>
        <p:spPr>
          <a:xfrm>
            <a:off x="685800" y="2130426"/>
            <a:ext cx="7772400" cy="1470025"/>
          </a:xfrm>
        </p:spPr>
        <p:txBody>
          <a:bodyPr/>
          <a:lstStyle>
            <a:lvl1pPr algn="ctr">
              <a:defRPr/>
            </a:lvl1pPr>
          </a:lstStyle>
          <a:p>
            <a:r>
              <a:rPr lang="ko-KR" altLang="en-US"/>
              <a:t>마스터 제목 스타일 편집</a:t>
            </a:r>
          </a:p>
        </p:txBody>
      </p:sp>
    </p:spTree>
    <p:extLst>
      <p:ext uri="{BB962C8B-B14F-4D97-AF65-F5344CB8AC3E}">
        <p14:creationId xmlns:p14="http://schemas.microsoft.com/office/powerpoint/2010/main" val="27411107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p>
        </p:txBody>
      </p:sp>
      <p:sp>
        <p:nvSpPr>
          <p:cNvPr id="3" name="Content Placeholder 2"/>
          <p:cNvSpPr>
            <a:spLocks noGrp="1"/>
          </p:cNvSpPr>
          <p:nvPr>
            <p:ph idx="1"/>
          </p:nvPr>
        </p:nvSpPr>
        <p:spPr/>
        <p:txBody>
          <a:bodyPr/>
          <a:lstStyle>
            <a:lvl2pPr>
              <a:defRPr sz="1800"/>
            </a:lvl2pPr>
            <a:lvl3pPr>
              <a:defRPr sz="1600"/>
            </a:lvl3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ko-KR" altLang="en-US" dirty="0"/>
          </a:p>
        </p:txBody>
      </p:sp>
    </p:spTree>
    <p:extLst>
      <p:ext uri="{BB962C8B-B14F-4D97-AF65-F5344CB8AC3E}">
        <p14:creationId xmlns:p14="http://schemas.microsoft.com/office/powerpoint/2010/main" val="23547167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Tree>
    <p:extLst>
      <p:ext uri="{BB962C8B-B14F-4D97-AF65-F5344CB8AC3E}">
        <p14:creationId xmlns:p14="http://schemas.microsoft.com/office/powerpoint/2010/main" val="24269686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p>
        </p:txBody>
      </p:sp>
      <p:sp>
        <p:nvSpPr>
          <p:cNvPr id="3" name="Content Placeholder 2"/>
          <p:cNvSpPr>
            <a:spLocks noGrp="1"/>
          </p:cNvSpPr>
          <p:nvPr>
            <p:ph sz="half" idx="1"/>
          </p:nvPr>
        </p:nvSpPr>
        <p:spPr>
          <a:xfrm>
            <a:off x="457200" y="1268414"/>
            <a:ext cx="4038600" cy="53292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Content Placeholder 3"/>
          <p:cNvSpPr>
            <a:spLocks noGrp="1"/>
          </p:cNvSpPr>
          <p:nvPr>
            <p:ph sz="half" idx="2"/>
          </p:nvPr>
        </p:nvSpPr>
        <p:spPr>
          <a:xfrm>
            <a:off x="4648200" y="1268414"/>
            <a:ext cx="4038600" cy="53292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5240748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ko-KR" altLang="en-US"/>
              <a:t>마스터 제목 스타일 편집</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34711105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3995781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11352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ko-KR" altLang="en-US"/>
              <a:t>마스터 제목 스타일 편집</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Tree>
    <p:extLst>
      <p:ext uri="{BB962C8B-B14F-4D97-AF65-F5344CB8AC3E}">
        <p14:creationId xmlns:p14="http://schemas.microsoft.com/office/powerpoint/2010/main" val="29875724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ko-KR" altLang="en-US"/>
              <a:t>마스터 제목 스타일 편집</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ko-KR" altLang="en-US" noProof="0"/>
              <a:t>그림을 추가하려면 아이콘을 클릭하십시오</a:t>
            </a:r>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Tree>
    <p:extLst>
      <p:ext uri="{BB962C8B-B14F-4D97-AF65-F5344CB8AC3E}">
        <p14:creationId xmlns:p14="http://schemas.microsoft.com/office/powerpoint/2010/main" val="29122972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34670728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8926" y="260351"/>
            <a:ext cx="2058988" cy="6337300"/>
          </a:xfrm>
        </p:spPr>
        <p:txBody>
          <a:bodyPr vert="eaVert"/>
          <a:lstStyle/>
          <a:p>
            <a:r>
              <a:rPr lang="ko-KR" altLang="en-US"/>
              <a:t>마스터 제목 스타일 편집</a:t>
            </a:r>
          </a:p>
        </p:txBody>
      </p:sp>
      <p:sp>
        <p:nvSpPr>
          <p:cNvPr id="3" name="Vertical Text Placeholder 2"/>
          <p:cNvSpPr>
            <a:spLocks noGrp="1"/>
          </p:cNvSpPr>
          <p:nvPr>
            <p:ph type="body" orient="vert" idx="1"/>
          </p:nvPr>
        </p:nvSpPr>
        <p:spPr>
          <a:xfrm>
            <a:off x="457200" y="260351"/>
            <a:ext cx="6029325" cy="63373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3402720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143000" y="1122364"/>
            <a:ext cx="6858000" cy="2387600"/>
          </a:xfrm>
        </p:spPr>
        <p:txBody>
          <a:bodyPr anchor="b"/>
          <a:lstStyle>
            <a:lvl1pPr algn="ctr">
              <a:defRPr sz="4500"/>
            </a:lvl1pPr>
          </a:lstStyle>
          <a:p>
            <a:r>
              <a:rPr lang="ko-KR" altLang="en-US"/>
              <a:t>마스터 제목 스타일 편집</a:t>
            </a:r>
          </a:p>
        </p:txBody>
      </p:sp>
      <p:sp>
        <p:nvSpPr>
          <p:cNvPr id="3" name="부제목 2"/>
          <p:cNvSpPr>
            <a:spLocks noGrp="1"/>
          </p:cNvSpPr>
          <p:nvPr>
            <p:ph type="subTitle" idx="1"/>
          </p:nvPr>
        </p:nvSpPr>
        <p:spPr>
          <a:xfrm>
            <a:off x="1143000" y="3602038"/>
            <a:ext cx="6858000" cy="1655762"/>
          </a:xfrm>
        </p:spPr>
        <p:txBody>
          <a:bodyPr/>
          <a:lstStyle>
            <a:lvl1pPr marL="0" indent="0" algn="ctr">
              <a:buNone/>
              <a:defRPr sz="1800"/>
            </a:lvl1pPr>
            <a:lvl2pPr marL="342887" indent="0" algn="ctr">
              <a:buNone/>
              <a:defRPr sz="1500"/>
            </a:lvl2pPr>
            <a:lvl3pPr marL="685773" indent="0" algn="ctr">
              <a:buNone/>
              <a:defRPr sz="1350"/>
            </a:lvl3pPr>
            <a:lvl4pPr marL="1028659" indent="0" algn="ctr">
              <a:buNone/>
              <a:defRPr sz="1200"/>
            </a:lvl4pPr>
            <a:lvl5pPr marL="1371545" indent="0" algn="ctr">
              <a:buNone/>
              <a:defRPr sz="1200"/>
            </a:lvl5pPr>
            <a:lvl6pPr marL="1714432" indent="0" algn="ctr">
              <a:buNone/>
              <a:defRPr sz="1200"/>
            </a:lvl6pPr>
            <a:lvl7pPr marL="2057318" indent="0" algn="ctr">
              <a:buNone/>
              <a:defRPr sz="1200"/>
            </a:lvl7pPr>
            <a:lvl8pPr marL="2400204" indent="0" algn="ctr">
              <a:buNone/>
              <a:defRPr sz="1200"/>
            </a:lvl8pPr>
            <a:lvl9pPr marL="2743090" indent="0" algn="ctr">
              <a:buNone/>
              <a:defRPr sz="1200"/>
            </a:lvl9pPr>
          </a:lstStyle>
          <a:p>
            <a:r>
              <a:rPr lang="ko-KR" altLang="en-US"/>
              <a:t>마스터 부제목 스타일 편집</a:t>
            </a:r>
          </a:p>
        </p:txBody>
      </p:sp>
      <p:sp>
        <p:nvSpPr>
          <p:cNvPr id="4" name="날짜 개체 틀 3"/>
          <p:cNvSpPr>
            <a:spLocks noGrp="1"/>
          </p:cNvSpPr>
          <p:nvPr>
            <p:ph type="dt" sz="half" idx="10"/>
          </p:nvPr>
        </p:nvSpPr>
        <p:spPr>
          <a:xfrm>
            <a:off x="628649" y="6356352"/>
            <a:ext cx="2057400" cy="365125"/>
          </a:xfrm>
          <a:prstGeom prst="rect">
            <a:avLst/>
          </a:prstGeom>
        </p:spPr>
        <p:txBody>
          <a:bodyPr/>
          <a:lstStyle/>
          <a:p>
            <a:pPr eaLnBrk="1" latinLnBrk="0" hangingPunct="1"/>
            <a:fld id="{20F1F258-9322-4693-A0E0-F1EC2F0187DA}" type="datetime1">
              <a:rPr lang="ko-KR" altLang="en-US" smtClean="0"/>
              <a:t>2026-09-04</a:t>
            </a:fld>
            <a:endParaRPr lang="en-US" dirty="0"/>
          </a:p>
        </p:txBody>
      </p:sp>
      <p:sp>
        <p:nvSpPr>
          <p:cNvPr id="5" name="바닥글 개체 틀 4"/>
          <p:cNvSpPr>
            <a:spLocks noGrp="1"/>
          </p:cNvSpPr>
          <p:nvPr>
            <p:ph type="ftr" sz="quarter" idx="11"/>
          </p:nvPr>
        </p:nvSpPr>
        <p:spPr>
          <a:xfrm>
            <a:off x="3028951" y="6356352"/>
            <a:ext cx="3086100" cy="365125"/>
          </a:xfrm>
          <a:prstGeom prst="rect">
            <a:avLst/>
          </a:prstGeom>
        </p:spPr>
        <p:txBody>
          <a:bodyPr/>
          <a:lstStyle/>
          <a:p>
            <a:endParaRPr kumimoji="0" lang="ko-KR" altLang="en-US"/>
          </a:p>
        </p:txBody>
      </p:sp>
      <p:sp>
        <p:nvSpPr>
          <p:cNvPr id="6" name="슬라이드 번호 개체 틀 5"/>
          <p:cNvSpPr>
            <a:spLocks noGrp="1"/>
          </p:cNvSpPr>
          <p:nvPr>
            <p:ph type="sldNum" sz="quarter" idx="12"/>
          </p:nvPr>
        </p:nvSpPr>
        <p:spPr>
          <a:xfrm>
            <a:off x="6457951" y="6356352"/>
            <a:ext cx="2057400" cy="365125"/>
          </a:xfrm>
          <a:prstGeom prst="rect">
            <a:avLst/>
          </a:prstGeom>
        </p:spPr>
        <p:txBody>
          <a:bodyPr/>
          <a:lstStyle/>
          <a:p>
            <a:fld id="{96FFCEE6-A8B9-4E87-81E3-67B1867F1C23}" type="slidenum">
              <a:rPr kumimoji="0" lang="ko-KR" altLang="en-US" smtClean="0"/>
              <a:pPr/>
              <a:t>‹#›</a:t>
            </a:fld>
            <a:endParaRPr kumimoji="0" lang="ko-KR" altLang="en-US"/>
          </a:p>
        </p:txBody>
      </p:sp>
    </p:spTree>
    <p:extLst>
      <p:ext uri="{BB962C8B-B14F-4D97-AF65-F5344CB8AC3E}">
        <p14:creationId xmlns:p14="http://schemas.microsoft.com/office/powerpoint/2010/main" val="905868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490066"/>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457200" y="908724"/>
            <a:ext cx="8229600" cy="5217443"/>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57203" y="6356353"/>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FC6623-9801-44E2-8962-24D16AF8433E}" type="datetime1">
              <a:rPr lang="ko-KR" altLang="en-US" smtClean="0"/>
              <a:t>2026-09-04</a:t>
            </a:fld>
            <a:endParaRPr lang="ko-KR" altLang="en-US"/>
          </a:p>
        </p:txBody>
      </p:sp>
      <p:sp>
        <p:nvSpPr>
          <p:cNvPr id="5" name="바닥글 개체 틀 4"/>
          <p:cNvSpPr>
            <a:spLocks noGrp="1"/>
          </p:cNvSpPr>
          <p:nvPr>
            <p:ph type="ftr" sz="quarter" idx="3"/>
          </p:nvPr>
        </p:nvSpPr>
        <p:spPr>
          <a:xfrm>
            <a:off x="3124203" y="6356353"/>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3"/>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10C66A-2542-49CE-8980-1D266FEFB8DA}" type="slidenum">
              <a:rPr lang="ko-KR" altLang="en-US" smtClean="0"/>
              <a:pPr/>
              <a:t>‹#›</a:t>
            </a:fld>
            <a:endParaRPr lang="ko-KR" altLang="en-US"/>
          </a:p>
        </p:txBody>
      </p:sp>
      <p:cxnSp>
        <p:nvCxnSpPr>
          <p:cNvPr id="9" name="직선 연결선 8"/>
          <p:cNvCxnSpPr/>
          <p:nvPr/>
        </p:nvCxnSpPr>
        <p:spPr>
          <a:xfrm>
            <a:off x="611561" y="836712"/>
            <a:ext cx="7992888"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1" name="직사각형 10"/>
          <p:cNvSpPr/>
          <p:nvPr userDrawn="1"/>
        </p:nvSpPr>
        <p:spPr>
          <a:xfrm>
            <a:off x="7884368" y="332656"/>
            <a:ext cx="792088" cy="369332"/>
          </a:xfrm>
          <a:prstGeom prst="rect">
            <a:avLst/>
          </a:prstGeom>
        </p:spPr>
        <p:txBody>
          <a:bodyPr wrap="square">
            <a:spAutoFit/>
          </a:bodyPr>
          <a:lstStyle/>
          <a:p>
            <a:r>
              <a:rPr lang="en-US" altLang="ko-KR" sz="1800" baseline="0" dirty="0"/>
              <a:t>ASTU</a:t>
            </a:r>
            <a:endParaRPr lang="ko-KR" altLang="en-US" dirty="0"/>
          </a:p>
        </p:txBody>
      </p:sp>
      <p:pic>
        <p:nvPicPr>
          <p:cNvPr id="12" name="Picture 11"/>
          <p:cNvPicPr>
            <a:picLocks noChangeAspect="1" noChangeArrowheads="1"/>
          </p:cNvPicPr>
          <p:nvPr userDrawn="1"/>
        </p:nvPicPr>
        <p:blipFill>
          <a:blip r:embed="rId14" cstate="print"/>
          <a:srcRect/>
          <a:stretch>
            <a:fillRect/>
          </a:stretch>
        </p:blipFill>
        <p:spPr bwMode="auto">
          <a:xfrm>
            <a:off x="7452320" y="260649"/>
            <a:ext cx="432048" cy="429397"/>
          </a:xfrm>
          <a:prstGeom prst="rect">
            <a:avLst/>
          </a:prstGeom>
          <a:noFill/>
          <a:ln w="9525">
            <a:noFill/>
            <a:miter lim="800000"/>
            <a:headEnd/>
            <a:tailEnd/>
          </a:ln>
        </p:spPr>
      </p:pic>
    </p:spTree>
    <p:extLst>
      <p:ext uri="{BB962C8B-B14F-4D97-AF65-F5344CB8AC3E}">
        <p14:creationId xmlns:p14="http://schemas.microsoft.com/office/powerpoint/2010/main" val="3313426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382" rtl="0" eaLnBrk="1" latinLnBrk="1" hangingPunct="1">
        <a:spcBef>
          <a:spcPct val="0"/>
        </a:spcBef>
        <a:buNone/>
        <a:defRPr sz="2800" kern="1200">
          <a:solidFill>
            <a:schemeClr val="tx1"/>
          </a:solidFill>
          <a:latin typeface="+mj-lt"/>
          <a:ea typeface="+mj-ea"/>
          <a:cs typeface="+mj-cs"/>
        </a:defRPr>
      </a:lvl1pPr>
    </p:titleStyle>
    <p:bodyStyle>
      <a:lvl1pPr marL="342893" indent="-342893" algn="l" defTabSz="914382"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36" indent="-285744" algn="l" defTabSz="914382"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77" indent="-228595" algn="l" defTabSz="914382"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68" indent="-228595" algn="l" defTabSz="914382"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359" indent="-228595" algn="l" defTabSz="914382"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550" indent="-228595" algn="l" defTabSz="914382"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41" indent="-228595" algn="l" defTabSz="914382"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32" indent="-228595" algn="l" defTabSz="914382"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22" indent="-228595" algn="l" defTabSz="914382"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382" rtl="0" eaLnBrk="1" latinLnBrk="1" hangingPunct="1">
        <a:defRPr sz="1800" kern="1200">
          <a:solidFill>
            <a:schemeClr val="tx1"/>
          </a:solidFill>
          <a:latin typeface="+mn-lt"/>
          <a:ea typeface="+mn-ea"/>
          <a:cs typeface="+mn-cs"/>
        </a:defRPr>
      </a:lvl1pPr>
      <a:lvl2pPr marL="457191" algn="l" defTabSz="914382" rtl="0" eaLnBrk="1" latinLnBrk="1" hangingPunct="1">
        <a:defRPr sz="1800" kern="1200">
          <a:solidFill>
            <a:schemeClr val="tx1"/>
          </a:solidFill>
          <a:latin typeface="+mn-lt"/>
          <a:ea typeface="+mn-ea"/>
          <a:cs typeface="+mn-cs"/>
        </a:defRPr>
      </a:lvl2pPr>
      <a:lvl3pPr marL="914382" algn="l" defTabSz="914382" rtl="0" eaLnBrk="1" latinLnBrk="1" hangingPunct="1">
        <a:defRPr sz="1800" kern="1200">
          <a:solidFill>
            <a:schemeClr val="tx1"/>
          </a:solidFill>
          <a:latin typeface="+mn-lt"/>
          <a:ea typeface="+mn-ea"/>
          <a:cs typeface="+mn-cs"/>
        </a:defRPr>
      </a:lvl3pPr>
      <a:lvl4pPr marL="1371573" algn="l" defTabSz="914382" rtl="0" eaLnBrk="1" latinLnBrk="1" hangingPunct="1">
        <a:defRPr sz="1800" kern="1200">
          <a:solidFill>
            <a:schemeClr val="tx1"/>
          </a:solidFill>
          <a:latin typeface="+mn-lt"/>
          <a:ea typeface="+mn-ea"/>
          <a:cs typeface="+mn-cs"/>
        </a:defRPr>
      </a:lvl4pPr>
      <a:lvl5pPr marL="1828764" algn="l" defTabSz="914382" rtl="0" eaLnBrk="1" latinLnBrk="1" hangingPunct="1">
        <a:defRPr sz="1800" kern="1200">
          <a:solidFill>
            <a:schemeClr val="tx1"/>
          </a:solidFill>
          <a:latin typeface="+mn-lt"/>
          <a:ea typeface="+mn-ea"/>
          <a:cs typeface="+mn-cs"/>
        </a:defRPr>
      </a:lvl5pPr>
      <a:lvl6pPr marL="2285955" algn="l" defTabSz="914382" rtl="0" eaLnBrk="1" latinLnBrk="1" hangingPunct="1">
        <a:defRPr sz="1800" kern="1200">
          <a:solidFill>
            <a:schemeClr val="tx1"/>
          </a:solidFill>
          <a:latin typeface="+mn-lt"/>
          <a:ea typeface="+mn-ea"/>
          <a:cs typeface="+mn-cs"/>
        </a:defRPr>
      </a:lvl6pPr>
      <a:lvl7pPr marL="2743146" algn="l" defTabSz="914382" rtl="0" eaLnBrk="1" latinLnBrk="1" hangingPunct="1">
        <a:defRPr sz="1800" kern="1200">
          <a:solidFill>
            <a:schemeClr val="tx1"/>
          </a:solidFill>
          <a:latin typeface="+mn-lt"/>
          <a:ea typeface="+mn-ea"/>
          <a:cs typeface="+mn-cs"/>
        </a:defRPr>
      </a:lvl7pPr>
      <a:lvl8pPr marL="3200336" algn="l" defTabSz="914382" rtl="0" eaLnBrk="1" latinLnBrk="1" hangingPunct="1">
        <a:defRPr sz="1800" kern="1200">
          <a:solidFill>
            <a:schemeClr val="tx1"/>
          </a:solidFill>
          <a:latin typeface="+mn-lt"/>
          <a:ea typeface="+mn-ea"/>
          <a:cs typeface="+mn-cs"/>
        </a:defRPr>
      </a:lvl8pPr>
      <a:lvl9pPr marL="3657526" algn="l" defTabSz="914382"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8313" y="260351"/>
            <a:ext cx="8229600" cy="777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Rectangle 3"/>
          <p:cNvSpPr>
            <a:spLocks noGrp="1" noChangeArrowheads="1"/>
          </p:cNvSpPr>
          <p:nvPr>
            <p:ph type="body" idx="1"/>
          </p:nvPr>
        </p:nvSpPr>
        <p:spPr bwMode="auto">
          <a:xfrm>
            <a:off x="457200" y="1268414"/>
            <a:ext cx="8229600" cy="5329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79" name="Line 7"/>
          <p:cNvSpPr>
            <a:spLocks noChangeShapeType="1"/>
          </p:cNvSpPr>
          <p:nvPr/>
        </p:nvSpPr>
        <p:spPr bwMode="auto">
          <a:xfrm>
            <a:off x="468314" y="981075"/>
            <a:ext cx="6911975" cy="0"/>
          </a:xfrm>
          <a:prstGeom prst="line">
            <a:avLst/>
          </a:prstGeom>
          <a:noFill/>
          <a:ln w="19050">
            <a:solidFill>
              <a:srgbClr val="FF0000"/>
            </a:solidFill>
            <a:round/>
            <a:headEnd/>
            <a:tailEnd/>
          </a:ln>
          <a:effectLst/>
        </p:spPr>
        <p:txBody>
          <a:bodyPr/>
          <a:lstStyle/>
          <a:p>
            <a:pPr>
              <a:defRPr/>
            </a:pPr>
            <a:endParaRPr lang="ko-KR" altLang="en-US">
              <a:latin typeface="굴림" pitchFamily="50" charset="-127"/>
              <a:ea typeface="굴림" pitchFamily="50" charset="-127"/>
            </a:endParaRPr>
          </a:p>
        </p:txBody>
      </p:sp>
    </p:spTree>
    <p:extLst>
      <p:ext uri="{BB962C8B-B14F-4D97-AF65-F5344CB8AC3E}">
        <p14:creationId xmlns:p14="http://schemas.microsoft.com/office/powerpoint/2010/main" val="352746904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rtl="0" eaLnBrk="1" fontAlgn="base" latinLnBrk="1" hangingPunct="1">
        <a:spcBef>
          <a:spcPct val="0"/>
        </a:spcBef>
        <a:spcAft>
          <a:spcPct val="0"/>
        </a:spcAft>
        <a:defRPr kumimoji="1" sz="3200">
          <a:solidFill>
            <a:schemeClr val="tx2"/>
          </a:solidFill>
          <a:latin typeface="+mj-lt"/>
          <a:ea typeface="+mj-ea"/>
          <a:cs typeface="굴림" charset="-127"/>
        </a:defRPr>
      </a:lvl1pPr>
      <a:lvl2pPr algn="l" rtl="0" eaLnBrk="1" fontAlgn="base" latinLnBrk="1" hangingPunct="1">
        <a:spcBef>
          <a:spcPct val="0"/>
        </a:spcBef>
        <a:spcAft>
          <a:spcPct val="0"/>
        </a:spcAft>
        <a:defRPr kumimoji="1" sz="3200">
          <a:solidFill>
            <a:schemeClr val="tx2"/>
          </a:solidFill>
          <a:latin typeface="Arial Black" pitchFamily="34" charset="0"/>
          <a:ea typeface="굴림" pitchFamily="50" charset="-127"/>
          <a:cs typeface="굴림" charset="-127"/>
        </a:defRPr>
      </a:lvl2pPr>
      <a:lvl3pPr algn="l" rtl="0" eaLnBrk="1" fontAlgn="base" latinLnBrk="1" hangingPunct="1">
        <a:spcBef>
          <a:spcPct val="0"/>
        </a:spcBef>
        <a:spcAft>
          <a:spcPct val="0"/>
        </a:spcAft>
        <a:defRPr kumimoji="1" sz="3200">
          <a:solidFill>
            <a:schemeClr val="tx2"/>
          </a:solidFill>
          <a:latin typeface="Arial Black" pitchFamily="34" charset="0"/>
          <a:ea typeface="굴림" pitchFamily="50" charset="-127"/>
          <a:cs typeface="굴림" charset="-127"/>
        </a:defRPr>
      </a:lvl3pPr>
      <a:lvl4pPr algn="l" rtl="0" eaLnBrk="1" fontAlgn="base" latinLnBrk="1" hangingPunct="1">
        <a:spcBef>
          <a:spcPct val="0"/>
        </a:spcBef>
        <a:spcAft>
          <a:spcPct val="0"/>
        </a:spcAft>
        <a:defRPr kumimoji="1" sz="3200">
          <a:solidFill>
            <a:schemeClr val="tx2"/>
          </a:solidFill>
          <a:latin typeface="Arial Black" pitchFamily="34" charset="0"/>
          <a:ea typeface="굴림" pitchFamily="50" charset="-127"/>
          <a:cs typeface="굴림" charset="-127"/>
        </a:defRPr>
      </a:lvl4pPr>
      <a:lvl5pPr algn="l" rtl="0" eaLnBrk="1" fontAlgn="base" latinLnBrk="1" hangingPunct="1">
        <a:spcBef>
          <a:spcPct val="0"/>
        </a:spcBef>
        <a:spcAft>
          <a:spcPct val="0"/>
        </a:spcAft>
        <a:defRPr kumimoji="1" sz="3200">
          <a:solidFill>
            <a:schemeClr val="tx2"/>
          </a:solidFill>
          <a:latin typeface="Arial Black" pitchFamily="34" charset="0"/>
          <a:ea typeface="굴림" pitchFamily="50" charset="-127"/>
          <a:cs typeface="굴림" charset="-127"/>
        </a:defRPr>
      </a:lvl5pPr>
      <a:lvl6pPr marL="457200" algn="l" rtl="0" eaLnBrk="1" fontAlgn="base" latinLnBrk="1" hangingPunct="1">
        <a:spcBef>
          <a:spcPct val="0"/>
        </a:spcBef>
        <a:spcAft>
          <a:spcPct val="0"/>
        </a:spcAft>
        <a:defRPr kumimoji="1" sz="3200">
          <a:solidFill>
            <a:schemeClr val="tx2"/>
          </a:solidFill>
          <a:latin typeface="Arial Black" pitchFamily="34" charset="0"/>
          <a:ea typeface="굴림" pitchFamily="50" charset="-127"/>
        </a:defRPr>
      </a:lvl6pPr>
      <a:lvl7pPr marL="914400" algn="l" rtl="0" eaLnBrk="1" fontAlgn="base" latinLnBrk="1" hangingPunct="1">
        <a:spcBef>
          <a:spcPct val="0"/>
        </a:spcBef>
        <a:spcAft>
          <a:spcPct val="0"/>
        </a:spcAft>
        <a:defRPr kumimoji="1" sz="3200">
          <a:solidFill>
            <a:schemeClr val="tx2"/>
          </a:solidFill>
          <a:latin typeface="Arial Black" pitchFamily="34" charset="0"/>
          <a:ea typeface="굴림" pitchFamily="50" charset="-127"/>
        </a:defRPr>
      </a:lvl7pPr>
      <a:lvl8pPr marL="1371600" algn="l" rtl="0" eaLnBrk="1" fontAlgn="base" latinLnBrk="1" hangingPunct="1">
        <a:spcBef>
          <a:spcPct val="0"/>
        </a:spcBef>
        <a:spcAft>
          <a:spcPct val="0"/>
        </a:spcAft>
        <a:defRPr kumimoji="1" sz="3200">
          <a:solidFill>
            <a:schemeClr val="tx2"/>
          </a:solidFill>
          <a:latin typeface="Arial Black" pitchFamily="34" charset="0"/>
          <a:ea typeface="굴림" pitchFamily="50" charset="-127"/>
        </a:defRPr>
      </a:lvl8pPr>
      <a:lvl9pPr marL="1828800" algn="l" rtl="0" eaLnBrk="1" fontAlgn="base" latinLnBrk="1" hangingPunct="1">
        <a:spcBef>
          <a:spcPct val="0"/>
        </a:spcBef>
        <a:spcAft>
          <a:spcPct val="0"/>
        </a:spcAft>
        <a:defRPr kumimoji="1" sz="3200">
          <a:solidFill>
            <a:schemeClr val="tx2"/>
          </a:solidFill>
          <a:latin typeface="Arial Black" pitchFamily="34" charset="0"/>
          <a:ea typeface="굴림" pitchFamily="50" charset="-127"/>
        </a:defRPr>
      </a:lvl9pPr>
    </p:titleStyle>
    <p:bodyStyle>
      <a:lvl1pPr marL="342900" indent="-342900" algn="l" rtl="0" eaLnBrk="1" fontAlgn="base" latinLnBrk="1" hangingPunct="1">
        <a:spcBef>
          <a:spcPct val="20000"/>
        </a:spcBef>
        <a:spcAft>
          <a:spcPct val="0"/>
        </a:spcAft>
        <a:buFont typeface="Wingdings" charset="2"/>
        <a:buChar char="§"/>
        <a:defRPr kumimoji="1" sz="2000">
          <a:solidFill>
            <a:schemeClr val="tx1"/>
          </a:solidFill>
          <a:latin typeface="+mn-lt"/>
          <a:ea typeface="+mn-ea"/>
          <a:cs typeface="굴림" charset="-127"/>
        </a:defRPr>
      </a:lvl1pPr>
      <a:lvl2pPr marL="742950" indent="-285750" algn="l" rtl="0" eaLnBrk="1" fontAlgn="base" latinLnBrk="1" hangingPunct="1">
        <a:spcBef>
          <a:spcPct val="20000"/>
        </a:spcBef>
        <a:spcAft>
          <a:spcPct val="0"/>
        </a:spcAft>
        <a:buFont typeface="Wingdings" charset="2"/>
        <a:buChar char="§"/>
        <a:defRPr kumimoji="1" sz="2800">
          <a:solidFill>
            <a:schemeClr val="tx1"/>
          </a:solidFill>
          <a:latin typeface="+mn-lt"/>
          <a:ea typeface="+mn-ea"/>
          <a:cs typeface="굴림" charset="-127"/>
        </a:defRPr>
      </a:lvl2pPr>
      <a:lvl3pPr marL="1143000" indent="-228600" algn="l" rtl="0" eaLnBrk="1" fontAlgn="base" latinLnBrk="1" hangingPunct="1">
        <a:spcBef>
          <a:spcPct val="20000"/>
        </a:spcBef>
        <a:spcAft>
          <a:spcPct val="0"/>
        </a:spcAft>
        <a:buFont typeface="Wingdings" charset="2"/>
        <a:buChar char="§"/>
        <a:defRPr kumimoji="1" sz="2400">
          <a:solidFill>
            <a:schemeClr val="tx1"/>
          </a:solidFill>
          <a:latin typeface="+mn-lt"/>
          <a:ea typeface="+mn-ea"/>
          <a:cs typeface="굴림" charset="-127"/>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cs typeface="굴림" charset="-127"/>
        </a:defRPr>
      </a:lvl4pPr>
      <a:lvl5pPr marL="2057400" indent="-228600" algn="l" rtl="0" eaLnBrk="1" fontAlgn="base" latinLnBrk="1" hangingPunct="1">
        <a:spcBef>
          <a:spcPct val="20000"/>
        </a:spcBef>
        <a:spcAft>
          <a:spcPct val="0"/>
        </a:spcAft>
        <a:buChar char="»"/>
        <a:defRPr kumimoji="1" sz="1600">
          <a:solidFill>
            <a:schemeClr val="tx1"/>
          </a:solidFill>
          <a:latin typeface="+mn-lt"/>
          <a:ea typeface="+mn-ea"/>
          <a:cs typeface="굴림" charset="-127"/>
        </a:defRPr>
      </a:lvl5pPr>
      <a:lvl6pPr marL="2514600" indent="-228600" algn="l" rtl="0" eaLnBrk="1" fontAlgn="base" latinLnBrk="1" hangingPunct="1">
        <a:spcBef>
          <a:spcPct val="20000"/>
        </a:spcBef>
        <a:spcAft>
          <a:spcPct val="0"/>
        </a:spcAft>
        <a:buChar char="»"/>
        <a:defRPr kumimoji="1" sz="16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6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6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6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1"/>
          <p:cNvSpPr>
            <a:spLocks noGrp="1"/>
          </p:cNvSpPr>
          <p:nvPr>
            <p:ph type="ctrTitle"/>
          </p:nvPr>
        </p:nvSpPr>
        <p:spPr>
          <a:xfrm>
            <a:off x="323528" y="188640"/>
            <a:ext cx="8606680" cy="2520280"/>
          </a:xfrm>
          <a:solidFill>
            <a:schemeClr val="bg1"/>
          </a:solidFill>
        </p:spPr>
        <p:txBody>
          <a:bodyPr rtlCol="0">
            <a:normAutofit/>
          </a:bodyPr>
          <a:lstStyle/>
          <a:p>
            <a:pPr algn="ctr">
              <a:defRPr/>
            </a:pPr>
            <a:r>
              <a:rPr lang="en-US" altLang="ko-KR" b="1" dirty="0">
                <a:latin typeface="HY견고딕" pitchFamily="18" charset="-127"/>
                <a:ea typeface="HY견고딕" pitchFamily="18" charset="-127"/>
              </a:rPr>
              <a:t>Fundamentals of Programming</a:t>
            </a:r>
            <a:r>
              <a:rPr lang="en-US" altLang="ko-KR" sz="4400" b="1" dirty="0">
                <a:latin typeface="HY견고딕" pitchFamily="18" charset="-127"/>
                <a:ea typeface="HY견고딕" pitchFamily="18" charset="-127"/>
              </a:rPr>
              <a:t> </a:t>
            </a:r>
            <a:br>
              <a:rPr lang="en-US" altLang="ko-KR" sz="4400" b="1" dirty="0">
                <a:latin typeface="HY견고딕" pitchFamily="18" charset="-127"/>
                <a:ea typeface="HY견고딕" pitchFamily="18" charset="-127"/>
              </a:rPr>
            </a:br>
            <a:br>
              <a:rPr lang="en-US" altLang="ko-KR" sz="4400" b="1" dirty="0"/>
            </a:br>
            <a:r>
              <a:rPr lang="en-US" altLang="ko-KR" dirty="0"/>
              <a:t>Lab Lecture #3</a:t>
            </a:r>
            <a:br>
              <a:rPr lang="en-US" altLang="ko-KR" dirty="0"/>
            </a:br>
            <a:endParaRPr lang="ko-KR" altLang="en-US" dirty="0"/>
          </a:p>
        </p:txBody>
      </p:sp>
      <p:sp>
        <p:nvSpPr>
          <p:cNvPr id="7" name="부제목 2"/>
          <p:cNvSpPr txBox="1">
            <a:spLocks/>
          </p:cNvSpPr>
          <p:nvPr/>
        </p:nvSpPr>
        <p:spPr>
          <a:xfrm>
            <a:off x="937319" y="2995464"/>
            <a:ext cx="6906767" cy="3331732"/>
          </a:xfrm>
          <a:prstGeom prst="rect">
            <a:avLst/>
          </a:prstGeom>
        </p:spPr>
        <p:txBody>
          <a:bodyPr vert="horz" lIns="91440" tIns="45720" rIns="91440" bIns="45720" rtlCol="0">
            <a:normAutofit/>
          </a:bodyPr>
          <a:lstStyle/>
          <a:p>
            <a:pPr marL="0" marR="0" lvl="0" indent="0" algn="ctr" defTabSz="1015980" rtl="0" eaLnBrk="1" fontAlgn="auto" latinLnBrk="1" hangingPunct="1">
              <a:lnSpc>
                <a:spcPct val="100000"/>
              </a:lnSpc>
              <a:spcBef>
                <a:spcPct val="20000"/>
              </a:spcBef>
              <a:spcAft>
                <a:spcPts val="0"/>
              </a:spcAft>
              <a:buClrTx/>
              <a:buSzTx/>
              <a:buFont typeface="Arial" panose="020B0604020202020204" pitchFamily="34" charset="0"/>
              <a:buNone/>
              <a:tabLst/>
              <a:defRPr/>
            </a:pPr>
            <a:endParaRPr kumimoji="0" lang="en-US" altLang="ko-KR" sz="2800" b="0" i="0" u="none" strike="noStrike" kern="1200" cap="none" spc="0" normalizeH="0" baseline="0" noProof="0" dirty="0">
              <a:ln>
                <a:noFill/>
              </a:ln>
              <a:solidFill>
                <a:schemeClr val="tx1">
                  <a:tint val="75000"/>
                </a:schemeClr>
              </a:solidFill>
              <a:effectLst/>
              <a:uLnTx/>
              <a:uFillTx/>
              <a:latin typeface="+mn-lt"/>
              <a:ea typeface="+mn-ea"/>
              <a:cs typeface="+mn-cs"/>
            </a:endParaRPr>
          </a:p>
          <a:p>
            <a:pPr marL="0" marR="0" lvl="0" indent="0" algn="ctr" defTabSz="1015980" rtl="0" eaLnBrk="1" fontAlgn="auto" latinLnBrk="1" hangingPunct="1">
              <a:lnSpc>
                <a:spcPct val="100000"/>
              </a:lnSpc>
              <a:spcBef>
                <a:spcPct val="20000"/>
              </a:spcBef>
              <a:spcAft>
                <a:spcPts val="0"/>
              </a:spcAft>
              <a:buClrTx/>
              <a:buSzTx/>
              <a:buFont typeface="Arial" panose="020B0604020202020204" pitchFamily="34" charset="0"/>
              <a:buNone/>
              <a:tabLst/>
              <a:defRPr/>
            </a:pPr>
            <a:r>
              <a:rPr kumimoji="0" lang="en-US" altLang="ko-KR" sz="2000" b="0" i="0" u="none" strike="noStrike" kern="1200" cap="none" spc="0" normalizeH="0" baseline="0" noProof="0" dirty="0">
                <a:ln>
                  <a:noFill/>
                </a:ln>
                <a:solidFill>
                  <a:schemeClr val="tx1">
                    <a:tint val="75000"/>
                  </a:schemeClr>
                </a:solidFill>
                <a:effectLst/>
                <a:uLnTx/>
                <a:uFillTx/>
                <a:latin typeface="+mn-lt"/>
                <a:ea typeface="+mn-ea"/>
                <a:cs typeface="+mn-cs"/>
              </a:rPr>
              <a:t>2022</a:t>
            </a:r>
          </a:p>
          <a:p>
            <a:pPr marL="0" marR="0" lvl="0" indent="0" algn="ctr" defTabSz="1015980" rtl="0" eaLnBrk="1" fontAlgn="auto" latinLnBrk="1" hangingPunct="1">
              <a:lnSpc>
                <a:spcPct val="100000"/>
              </a:lnSpc>
              <a:spcBef>
                <a:spcPct val="20000"/>
              </a:spcBef>
              <a:spcAft>
                <a:spcPts val="0"/>
              </a:spcAft>
              <a:buClrTx/>
              <a:buSzTx/>
              <a:buFont typeface="Arial" panose="020B0604020202020204" pitchFamily="34" charset="0"/>
              <a:buNone/>
              <a:tabLst/>
              <a:defRPr/>
            </a:pPr>
            <a:endParaRPr kumimoji="0" lang="en-US" altLang="ko-KR" sz="2000" b="0" i="0" u="none" strike="noStrike" kern="1200" cap="none" spc="0" normalizeH="0" baseline="0" noProof="0" dirty="0">
              <a:ln>
                <a:noFill/>
              </a:ln>
              <a:solidFill>
                <a:schemeClr val="tx1">
                  <a:tint val="75000"/>
                </a:schemeClr>
              </a:solidFill>
              <a:effectLst/>
              <a:uLnTx/>
              <a:uFillTx/>
              <a:latin typeface="+mn-lt"/>
              <a:ea typeface="+mn-ea"/>
              <a:cs typeface="+mn-cs"/>
            </a:endParaRPr>
          </a:p>
          <a:p>
            <a:pPr marL="0" marR="0" lvl="0" indent="0" algn="ctr" defTabSz="1015980" rtl="0" eaLnBrk="1" fontAlgn="auto" latinLnBrk="1" hangingPunct="1">
              <a:lnSpc>
                <a:spcPct val="100000"/>
              </a:lnSpc>
              <a:spcBef>
                <a:spcPct val="20000"/>
              </a:spcBef>
              <a:spcAft>
                <a:spcPts val="0"/>
              </a:spcAft>
              <a:buClrTx/>
              <a:buSzTx/>
              <a:buFont typeface="Arial" panose="020B0604020202020204" pitchFamily="34" charset="0"/>
              <a:buNone/>
              <a:tabLst/>
              <a:defRPr/>
            </a:pPr>
            <a:endParaRPr kumimoji="0" lang="en-US" altLang="ko-KR" sz="2000" b="0" i="0" u="none" strike="noStrike" kern="1200" cap="none" spc="0" normalizeH="0" baseline="0" noProof="0" dirty="0">
              <a:ln>
                <a:noFill/>
              </a:ln>
              <a:solidFill>
                <a:schemeClr val="tx1">
                  <a:tint val="75000"/>
                </a:schemeClr>
              </a:solidFill>
              <a:effectLst/>
              <a:uLnTx/>
              <a:uFillTx/>
              <a:latin typeface="+mn-lt"/>
              <a:ea typeface="+mn-ea"/>
              <a:cs typeface="+mn-cs"/>
            </a:endParaRPr>
          </a:p>
          <a:p>
            <a:pPr lvl="0" algn="ctr" defTabSz="1015980">
              <a:spcBef>
                <a:spcPct val="20000"/>
              </a:spcBef>
              <a:defRPr/>
            </a:pPr>
            <a:r>
              <a:rPr lang="en-US" altLang="ko-KR" dirty="0">
                <a:solidFill>
                  <a:schemeClr val="tx1">
                    <a:tint val="75000"/>
                  </a:schemeClr>
                </a:solidFill>
              </a:rPr>
              <a:t>Computer Science &amp; Engineering Program</a:t>
            </a:r>
          </a:p>
          <a:p>
            <a:pPr marL="0" marR="0" lvl="0" indent="0" algn="ctr" defTabSz="1015980" rtl="0" eaLnBrk="1" fontAlgn="auto" latinLnBrk="1" hangingPunct="1">
              <a:lnSpc>
                <a:spcPct val="100000"/>
              </a:lnSpc>
              <a:spcBef>
                <a:spcPct val="20000"/>
              </a:spcBef>
              <a:spcAft>
                <a:spcPts val="0"/>
              </a:spcAft>
              <a:buClrTx/>
              <a:buSzTx/>
              <a:buFont typeface="Arial" panose="020B0604020202020204" pitchFamily="34" charset="0"/>
              <a:buNone/>
              <a:tabLst/>
              <a:defRPr/>
            </a:pPr>
            <a:r>
              <a:rPr kumimoji="0" lang="en-US" altLang="ko-KR" b="0" i="0" u="none" strike="noStrike" kern="1200" cap="none" spc="0" normalizeH="0" baseline="0" noProof="0" dirty="0">
                <a:ln>
                  <a:noFill/>
                </a:ln>
                <a:solidFill>
                  <a:schemeClr val="tx1">
                    <a:tint val="75000"/>
                  </a:schemeClr>
                </a:solidFill>
                <a:effectLst/>
                <a:uLnTx/>
                <a:uFillTx/>
                <a:latin typeface="+mn-lt"/>
                <a:ea typeface="+mn-ea"/>
                <a:cs typeface="+mn-cs"/>
              </a:rPr>
              <a:t>The School of EE &amp; Computing</a:t>
            </a:r>
          </a:p>
          <a:p>
            <a:pPr marL="0" marR="0" lvl="0" indent="0" algn="ctr" defTabSz="1015980" rtl="0" eaLnBrk="1" fontAlgn="auto" latinLnBrk="1" hangingPunct="1">
              <a:lnSpc>
                <a:spcPct val="100000"/>
              </a:lnSpc>
              <a:spcBef>
                <a:spcPct val="20000"/>
              </a:spcBef>
              <a:spcAft>
                <a:spcPts val="0"/>
              </a:spcAft>
              <a:buClrTx/>
              <a:buSzTx/>
              <a:buFont typeface="Arial" panose="020B0604020202020204" pitchFamily="34" charset="0"/>
              <a:buNone/>
              <a:tabLst/>
              <a:defRPr/>
            </a:pPr>
            <a:r>
              <a:rPr kumimoji="0" lang="en-US" altLang="ko-KR" b="0" i="0" u="none" strike="noStrike" kern="1200" cap="none" spc="0" normalizeH="0" baseline="0" noProof="0" dirty="0">
                <a:ln>
                  <a:noFill/>
                </a:ln>
                <a:solidFill>
                  <a:schemeClr val="tx1">
                    <a:tint val="75000"/>
                  </a:schemeClr>
                </a:solidFill>
                <a:effectLst/>
                <a:uLnTx/>
                <a:uFillTx/>
                <a:latin typeface="+mn-lt"/>
                <a:ea typeface="+mn-ea"/>
                <a:cs typeface="+mn-cs"/>
              </a:rPr>
              <a:t>Adama Science &amp; Technology University</a:t>
            </a:r>
            <a:endParaRPr kumimoji="0" lang="ko-KR" altLang="en-US"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extLst>
      <p:ext uri="{BB962C8B-B14F-4D97-AF65-F5344CB8AC3E}">
        <p14:creationId xmlns:p14="http://schemas.microsoft.com/office/powerpoint/2010/main" val="4025029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dirty="0"/>
          </a:p>
        </p:txBody>
      </p:sp>
      <p:sp>
        <p:nvSpPr>
          <p:cNvPr id="3" name="Content Placeholder 2"/>
          <p:cNvSpPr>
            <a:spLocks noGrp="1"/>
          </p:cNvSpPr>
          <p:nvPr>
            <p:ph idx="1"/>
          </p:nvPr>
        </p:nvSpPr>
        <p:spPr/>
        <p:txBody>
          <a:bodyPr>
            <a:normAutofit/>
          </a:bodyPr>
          <a:lstStyle/>
          <a:p>
            <a:r>
              <a:rPr lang="en-US" sz="2600" dirty="0"/>
              <a:t>I/O statements and functions Practice</a:t>
            </a:r>
            <a:endParaRPr lang="en-US" sz="2200" dirty="0"/>
          </a:p>
          <a:p>
            <a:pPr lvl="1"/>
            <a:r>
              <a:rPr lang="en-US" sz="2200" dirty="0"/>
              <a:t>Case Study: Taxi Fare Change</a:t>
            </a:r>
          </a:p>
          <a:p>
            <a:pPr lvl="1"/>
            <a:r>
              <a:rPr lang="en-US" sz="2400" dirty="0"/>
              <a:t>Formatting Number for Program Output</a:t>
            </a:r>
          </a:p>
          <a:p>
            <a:pPr lvl="1"/>
            <a:r>
              <a:rPr lang="en-US" sz="2200" dirty="0"/>
              <a:t>Casting Operator</a:t>
            </a:r>
          </a:p>
          <a:p>
            <a:pPr lvl="1"/>
            <a:r>
              <a:rPr lang="en-US" sz="2200" dirty="0"/>
              <a:t>Case Study: Buying Pizza</a:t>
            </a:r>
          </a:p>
          <a:p>
            <a:pPr lvl="1"/>
            <a:r>
              <a:rPr lang="en-US" sz="2200" dirty="0"/>
              <a:t>General Problems(Maths and Physics)</a:t>
            </a:r>
          </a:p>
          <a:p>
            <a:pPr lvl="1"/>
            <a:r>
              <a:rPr lang="en-US" sz="2200" b="1" dirty="0">
                <a:solidFill>
                  <a:schemeClr val="tx2"/>
                </a:solidFill>
              </a:rPr>
              <a:t>Assignment I: Rubber Ball</a:t>
            </a:r>
          </a:p>
          <a:p>
            <a:pPr marL="457192" lvl="1" indent="0">
              <a:buNone/>
            </a:pPr>
            <a:endParaRPr lang="en-US" sz="2200" dirty="0"/>
          </a:p>
          <a:p>
            <a:pPr marL="914382" lvl="2" indent="0">
              <a:buNone/>
            </a:pPr>
            <a:endParaRPr lang="en-US" sz="1800" dirty="0"/>
          </a:p>
          <a:p>
            <a:endParaRPr lang="en-US" sz="2600" dirty="0"/>
          </a:p>
          <a:p>
            <a:endParaRPr lang="en-US" altLang="ko-KR" sz="2600" dirty="0"/>
          </a:p>
          <a:p>
            <a:endParaRPr lang="en-US" altLang="ko-KR" sz="2600" dirty="0"/>
          </a:p>
          <a:p>
            <a:pPr marL="0" indent="0">
              <a:buNone/>
            </a:pPr>
            <a:endParaRPr lang="en-US" altLang="ko-KR" sz="2800" dirty="0"/>
          </a:p>
          <a:p>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a:t>
            </a:fld>
            <a:endParaRPr lang="ko-KR" altLang="en-US"/>
          </a:p>
        </p:txBody>
      </p:sp>
    </p:spTree>
    <p:extLst>
      <p:ext uri="{BB962C8B-B14F-4D97-AF65-F5344CB8AC3E}">
        <p14:creationId xmlns:p14="http://schemas.microsoft.com/office/powerpoint/2010/main" val="3380470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Taxi Fare Change</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3</a:t>
            </a:fld>
            <a:endParaRPr lang="ko-KR" altLang="en-US"/>
          </a:p>
        </p:txBody>
      </p:sp>
      <p:pic>
        <p:nvPicPr>
          <p:cNvPr id="5" name="Picture 7" descr="C:\Users\Tinsae\Downloads\taxitaxi.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980728"/>
            <a:ext cx="6408712" cy="4806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438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Taxi Changes</a:t>
            </a:r>
          </a:p>
        </p:txBody>
      </p:sp>
      <p:sp>
        <p:nvSpPr>
          <p:cNvPr id="3" name="Content Placeholder 2"/>
          <p:cNvSpPr>
            <a:spLocks noGrp="1"/>
          </p:cNvSpPr>
          <p:nvPr>
            <p:ph idx="1"/>
          </p:nvPr>
        </p:nvSpPr>
        <p:spPr/>
        <p:txBody>
          <a:bodyPr>
            <a:normAutofit/>
          </a:bodyPr>
          <a:lstStyle/>
          <a:p>
            <a:r>
              <a:rPr lang="en-US" dirty="0"/>
              <a:t>In Addis, to travel from Bole to Kazanchis the tariff is 2 birr and 70 cents. Suppose that the taxi assistant(conductor) don’t have any birr notes but only cents to return. So he wants the change to contain as many 50 cents as possible then 25 cents, 10 cents and 5 cents, in that order. We want our program to calculate the change, given the amount paid.</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4</a:t>
            </a:fld>
            <a:endParaRPr lang="ko-KR" altLang="en-US"/>
          </a:p>
        </p:txBody>
      </p:sp>
      <p:sp>
        <p:nvSpPr>
          <p:cNvPr id="5" name="AutoShape 2" descr="https://encrypted-tbn3.gstatic.com/images?q=tbn:ANd9GcS1zSRFH1BEPEAFLq8341VrvWQfIR4H9cS8Ecf7sjM4ON0IjuYZdA"/>
          <p:cNvSpPr>
            <a:spLocks noChangeAspect="1" noChangeArrowheads="1"/>
          </p:cNvSpPr>
          <p:nvPr/>
        </p:nvSpPr>
        <p:spPr bwMode="auto">
          <a:xfrm>
            <a:off x="63500" y="-136525"/>
            <a:ext cx="4991100" cy="37433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http://static1.squarespace.com/static/52a9b861e4b058742687ead0/t/533d20cfe4b00f20c8394cc3/1396515023979/Inner+city+back+taxi_resized.jpg"/>
          <p:cNvSpPr>
            <a:spLocks noChangeAspect="1" noChangeArrowheads="1"/>
          </p:cNvSpPr>
          <p:nvPr/>
        </p:nvSpPr>
        <p:spPr bwMode="auto">
          <a:xfrm>
            <a:off x="215900" y="15875"/>
            <a:ext cx="4991100" cy="37433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http://static1.squarespace.com/static/52a9b861e4b058742687ead0/t/533d20cfe4b00f20c8394cc3/1396515023979/Inner+city+back+taxi_resized.jpg"/>
          <p:cNvSpPr>
            <a:spLocks noChangeAspect="1" noChangeArrowheads="1"/>
          </p:cNvSpPr>
          <p:nvPr/>
        </p:nvSpPr>
        <p:spPr bwMode="auto">
          <a:xfrm>
            <a:off x="368300" y="168275"/>
            <a:ext cx="4991100" cy="37433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42959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1: Analyze the Problem</a:t>
            </a:r>
          </a:p>
        </p:txBody>
      </p:sp>
      <p:sp>
        <p:nvSpPr>
          <p:cNvPr id="3" name="Content Placeholder 2"/>
          <p:cNvSpPr>
            <a:spLocks noGrp="1"/>
          </p:cNvSpPr>
          <p:nvPr>
            <p:ph idx="1"/>
          </p:nvPr>
        </p:nvSpPr>
        <p:spPr/>
        <p:txBody>
          <a:bodyPr/>
          <a:lstStyle/>
          <a:p>
            <a:r>
              <a:rPr lang="en-US" dirty="0"/>
              <a:t>Input: Amount Paid</a:t>
            </a:r>
          </a:p>
          <a:p>
            <a:r>
              <a:rPr lang="en-US" dirty="0"/>
              <a:t>Output: Equivalent Change in 50 cents, 25 cents, 10 cents, and 5 cents.</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5</a:t>
            </a:fld>
            <a:endParaRPr lang="ko-KR" altLang="en-US"/>
          </a:p>
        </p:txBody>
      </p:sp>
      <p:sp>
        <p:nvSpPr>
          <p:cNvPr id="5" name="AutoShape 2" descr="http://www.ccoins.ru/new/30/30efiop1.jpg"/>
          <p:cNvSpPr>
            <a:spLocks noChangeAspect="1" noChangeArrowheads="1"/>
          </p:cNvSpPr>
          <p:nvPr/>
        </p:nvSpPr>
        <p:spPr bwMode="auto">
          <a:xfrm>
            <a:off x="63500" y="-136525"/>
            <a:ext cx="2828925" cy="14668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4" name="Picture 6" descr="C:\Users\Tinsae\Downloads\1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2939675"/>
            <a:ext cx="1682750" cy="847725"/>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C:\Users\Tinsae\Downloads\2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9871" y="2949201"/>
            <a:ext cx="1573213" cy="82867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Users\Tinsae\Downloads\5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7584" y="2836489"/>
            <a:ext cx="1809750" cy="941387"/>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9" descr="C:\Users\Tinsae\Downloads\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2602" y="3025401"/>
            <a:ext cx="1466850" cy="75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6005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2: Develop a Solution</a:t>
            </a:r>
          </a:p>
        </p:txBody>
      </p:sp>
      <p:sp>
        <p:nvSpPr>
          <p:cNvPr id="3" name="Content Placeholder 2"/>
          <p:cNvSpPr>
            <a:spLocks noGrp="1"/>
          </p:cNvSpPr>
          <p:nvPr>
            <p:ph idx="1"/>
          </p:nvPr>
        </p:nvSpPr>
        <p:spPr/>
        <p:txBody>
          <a:bodyPr/>
          <a:lstStyle/>
          <a:p>
            <a:r>
              <a:rPr lang="en-US" dirty="0"/>
              <a:t>Suppose amount paid is 10 birr, therefore the change is 7 birr &amp; 30 cents</a:t>
            </a:r>
          </a:p>
          <a:p>
            <a:pPr marL="1314434" lvl="2" indent="-514350">
              <a:buFont typeface="+mj-lt"/>
              <a:buAutoNum type="arabicPeriod"/>
            </a:pPr>
            <a:r>
              <a:rPr lang="en-US" dirty="0"/>
              <a:t>Change=7.30, So cents=730</a:t>
            </a:r>
          </a:p>
          <a:p>
            <a:pPr marL="1314434" lvl="2" indent="-514350">
              <a:buFont typeface="+mj-lt"/>
              <a:buAutoNum type="arabicPeriod"/>
            </a:pPr>
            <a:r>
              <a:rPr lang="en-US" dirty="0"/>
              <a:t>No of </a:t>
            </a:r>
            <a:r>
              <a:rPr lang="en-US" b="1" dirty="0"/>
              <a:t>50 cents</a:t>
            </a:r>
            <a:r>
              <a:rPr lang="en-US" dirty="0"/>
              <a:t>=730/50=</a:t>
            </a:r>
            <a:r>
              <a:rPr lang="en-US" b="1" dirty="0"/>
              <a:t>14</a:t>
            </a:r>
          </a:p>
          <a:p>
            <a:pPr marL="1314434" lvl="2" indent="-514350">
              <a:buFont typeface="+mj-lt"/>
              <a:buAutoNum type="arabicPeriod"/>
            </a:pPr>
            <a:r>
              <a:rPr lang="en-US" dirty="0"/>
              <a:t>Remaining Change=730 % 50=30</a:t>
            </a:r>
          </a:p>
          <a:p>
            <a:pPr marL="1314434" lvl="2" indent="-514350">
              <a:buFont typeface="+mj-lt"/>
              <a:buAutoNum type="arabicPeriod"/>
            </a:pPr>
            <a:r>
              <a:rPr lang="en-US" dirty="0"/>
              <a:t>No of </a:t>
            </a:r>
            <a:r>
              <a:rPr lang="en-US" b="1" dirty="0"/>
              <a:t>25 cents</a:t>
            </a:r>
            <a:r>
              <a:rPr lang="en-US" dirty="0"/>
              <a:t>=30/25=</a:t>
            </a:r>
            <a:r>
              <a:rPr lang="en-US" b="1" dirty="0"/>
              <a:t>1</a:t>
            </a:r>
          </a:p>
          <a:p>
            <a:pPr marL="1314434" lvl="2" indent="-514350">
              <a:buFont typeface="+mj-lt"/>
              <a:buAutoNum type="arabicPeriod"/>
            </a:pPr>
            <a:r>
              <a:rPr lang="en-US" dirty="0"/>
              <a:t>Remaining Change=30 % 25=5</a:t>
            </a:r>
          </a:p>
          <a:p>
            <a:pPr marL="1314434" lvl="2" indent="-514350">
              <a:buFont typeface="+mj-lt"/>
              <a:buAutoNum type="arabicPeriod"/>
            </a:pPr>
            <a:r>
              <a:rPr lang="en-US" dirty="0"/>
              <a:t>No of </a:t>
            </a:r>
            <a:r>
              <a:rPr lang="en-US" b="1" dirty="0"/>
              <a:t>10</a:t>
            </a:r>
            <a:r>
              <a:rPr lang="en-US" dirty="0"/>
              <a:t> </a:t>
            </a:r>
            <a:r>
              <a:rPr lang="en-US" b="1" dirty="0"/>
              <a:t>cents</a:t>
            </a:r>
            <a:r>
              <a:rPr lang="en-US" dirty="0"/>
              <a:t>=5/10=</a:t>
            </a:r>
            <a:r>
              <a:rPr lang="en-US" b="1" dirty="0"/>
              <a:t>0</a:t>
            </a:r>
          </a:p>
          <a:p>
            <a:pPr marL="1314434" lvl="2" indent="-514350">
              <a:buFont typeface="+mj-lt"/>
              <a:buAutoNum type="arabicPeriod"/>
            </a:pPr>
            <a:r>
              <a:rPr lang="en-US" dirty="0"/>
              <a:t>Remaining Change=5 % 10=5</a:t>
            </a:r>
          </a:p>
          <a:p>
            <a:pPr marL="1314434" lvl="2" indent="-514350">
              <a:buFont typeface="+mj-lt"/>
              <a:buAutoNum type="arabicPeriod"/>
            </a:pPr>
            <a:r>
              <a:rPr lang="en-US" dirty="0"/>
              <a:t>No of </a:t>
            </a:r>
            <a:r>
              <a:rPr lang="en-US" b="1" dirty="0"/>
              <a:t>5 cents</a:t>
            </a:r>
            <a:r>
              <a:rPr lang="en-US" dirty="0"/>
              <a:t>=5/5=</a:t>
            </a:r>
            <a:r>
              <a:rPr lang="en-US" b="1" dirty="0"/>
              <a:t>1</a:t>
            </a:r>
          </a:p>
          <a:p>
            <a:pPr marL="914393" lvl="1" indent="-514350">
              <a:buFont typeface="+mj-lt"/>
              <a:buAutoNum type="arabicPeriod"/>
            </a:pPr>
            <a:endParaRPr lang="en-US" dirty="0"/>
          </a:p>
          <a:p>
            <a:pPr marL="914393" lvl="1" indent="-514350">
              <a:buFont typeface="+mj-lt"/>
              <a:buAutoNum type="arabicPeriod"/>
            </a:pPr>
            <a:endParaRPr lang="en-US" dirty="0"/>
          </a:p>
          <a:p>
            <a:pPr marL="914393" lvl="1" indent="-514350">
              <a:buFont typeface="+mj-lt"/>
              <a:buAutoNum type="arabicPeriod"/>
            </a:pPr>
            <a:endParaRPr lang="en-US" dirty="0"/>
          </a:p>
          <a:p>
            <a:pPr marL="914393" lvl="1" indent="-514350">
              <a:buFont typeface="+mj-lt"/>
              <a:buAutoNum type="arabicPeriod"/>
            </a:pPr>
            <a:endParaRPr lang="en-US" dirty="0"/>
          </a:p>
          <a:p>
            <a:pPr marL="0" indent="0">
              <a:buNone/>
            </a:pPr>
            <a:endParaRPr lang="en-US" dirty="0"/>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6</a:t>
            </a:fld>
            <a:endParaRPr lang="ko-KR" altLang="en-US"/>
          </a:p>
        </p:txBody>
      </p:sp>
    </p:spTree>
    <p:extLst>
      <p:ext uri="{BB962C8B-B14F-4D97-AF65-F5344CB8AC3E}">
        <p14:creationId xmlns:p14="http://schemas.microsoft.com/office/powerpoint/2010/main" val="1444526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2: Develop a Solution(Detailed Algorithm)</a:t>
            </a:r>
          </a:p>
        </p:txBody>
      </p:sp>
      <p:sp>
        <p:nvSpPr>
          <p:cNvPr id="3" name="Content Placeholder 2"/>
          <p:cNvSpPr>
            <a:spLocks noGrp="1"/>
          </p:cNvSpPr>
          <p:nvPr>
            <p:ph idx="1"/>
          </p:nvPr>
        </p:nvSpPr>
        <p:spPr/>
        <p:txBody>
          <a:bodyPr>
            <a:normAutofit fontScale="85000" lnSpcReduction="10000"/>
          </a:bodyPr>
          <a:lstStyle/>
          <a:p>
            <a:pPr marL="914393" lvl="1" indent="-514350">
              <a:buFont typeface="+mj-lt"/>
              <a:buAutoNum type="arabicPeriod"/>
            </a:pPr>
            <a:r>
              <a:rPr lang="en-US" dirty="0"/>
              <a:t>Prompt the user for input.</a:t>
            </a:r>
          </a:p>
          <a:p>
            <a:pPr marL="914393" lvl="1" indent="-514350">
              <a:buFont typeface="+mj-lt"/>
              <a:buAutoNum type="arabicPeriod"/>
            </a:pPr>
            <a:r>
              <a:rPr lang="en-US" dirty="0"/>
              <a:t>Get input.</a:t>
            </a:r>
          </a:p>
          <a:p>
            <a:pPr marL="914393" lvl="1" indent="-514350">
              <a:buFont typeface="+mj-lt"/>
              <a:buAutoNum type="arabicPeriod"/>
            </a:pPr>
            <a:r>
              <a:rPr lang="en-US" dirty="0"/>
              <a:t>Display the entered amount on the screen. (Echo)</a:t>
            </a:r>
          </a:p>
          <a:p>
            <a:pPr marL="914393" lvl="1" indent="-514350">
              <a:buFont typeface="+mj-lt"/>
              <a:buAutoNum type="arabicPeriod"/>
            </a:pPr>
            <a:r>
              <a:rPr lang="en-US" dirty="0"/>
              <a:t>Calculate the Change in cents</a:t>
            </a:r>
          </a:p>
          <a:p>
            <a:pPr marL="914393" lvl="1" indent="-514350">
              <a:buFont typeface="+mj-lt"/>
              <a:buAutoNum type="arabicPeriod"/>
            </a:pPr>
            <a:r>
              <a:rPr lang="en-US" dirty="0"/>
              <a:t>Print the Change in cents</a:t>
            </a:r>
          </a:p>
          <a:p>
            <a:pPr marL="914393" lvl="1" indent="-514350">
              <a:buFont typeface="+mj-lt"/>
              <a:buAutoNum type="arabicPeriod"/>
            </a:pPr>
            <a:r>
              <a:rPr lang="en-US" dirty="0"/>
              <a:t>Compute and print the number of 50 cents.</a:t>
            </a:r>
          </a:p>
          <a:p>
            <a:pPr marL="914393" lvl="1" indent="-514350">
              <a:buFont typeface="+mj-lt"/>
              <a:buAutoNum type="arabicPeriod"/>
            </a:pPr>
            <a:r>
              <a:rPr lang="en-US" dirty="0"/>
              <a:t>Calculate the remaining change.</a:t>
            </a:r>
          </a:p>
          <a:p>
            <a:pPr marL="914393" lvl="1" indent="-514350">
              <a:buFont typeface="+mj-lt"/>
              <a:buAutoNum type="arabicPeriod"/>
            </a:pPr>
            <a:r>
              <a:rPr lang="en-US" dirty="0"/>
              <a:t>Compute and print the number of 25 cents.</a:t>
            </a:r>
          </a:p>
          <a:p>
            <a:pPr marL="914393" lvl="1" indent="-514350">
              <a:buFont typeface="+mj-lt"/>
              <a:buAutoNum type="arabicPeriod"/>
            </a:pPr>
            <a:r>
              <a:rPr lang="en-US" dirty="0"/>
              <a:t>Calculate the remaining change.</a:t>
            </a:r>
          </a:p>
          <a:p>
            <a:pPr marL="914393" lvl="1" indent="-514350">
              <a:buFont typeface="+mj-lt"/>
              <a:buAutoNum type="arabicPeriod"/>
            </a:pPr>
            <a:r>
              <a:rPr lang="en-US" dirty="0"/>
              <a:t>Compute and print the number of 10 cents.</a:t>
            </a:r>
          </a:p>
          <a:p>
            <a:pPr marL="914393" lvl="1" indent="-514350">
              <a:buFont typeface="+mj-lt"/>
              <a:buAutoNum type="arabicPeriod"/>
            </a:pPr>
            <a:r>
              <a:rPr lang="en-US" dirty="0"/>
              <a:t>Calculate the remaining change.</a:t>
            </a:r>
          </a:p>
          <a:p>
            <a:pPr marL="914393" lvl="1" indent="-514350">
              <a:buFont typeface="+mj-lt"/>
              <a:buAutoNum type="arabicPeriod"/>
            </a:pPr>
            <a:r>
              <a:rPr lang="en-US" dirty="0"/>
              <a:t>Print the remaining change(i.e. number of 5 cents)</a:t>
            </a:r>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7</a:t>
            </a:fld>
            <a:endParaRPr lang="ko-KR" altLang="en-US"/>
          </a:p>
        </p:txBody>
      </p:sp>
    </p:spTree>
    <p:extLst>
      <p:ext uri="{BB962C8B-B14F-4D97-AF65-F5344CB8AC3E}">
        <p14:creationId xmlns:p14="http://schemas.microsoft.com/office/powerpoint/2010/main" val="3744467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3: Coding</a:t>
            </a:r>
          </a:p>
        </p:txBody>
      </p:sp>
      <p:sp>
        <p:nvSpPr>
          <p:cNvPr id="3" name="Content Placeholder 2"/>
          <p:cNvSpPr>
            <a:spLocks noGrp="1"/>
          </p:cNvSpPr>
          <p:nvPr>
            <p:ph idx="1"/>
          </p:nvPr>
        </p:nvSpPr>
        <p:spPr/>
        <p:txBody>
          <a:bodyPr>
            <a:normAutofit lnSpcReduction="10000"/>
          </a:bodyPr>
          <a:lstStyle/>
          <a:p>
            <a:r>
              <a:rPr lang="en-US" dirty="0"/>
              <a:t>To calculate the equivalent change, the program performs calculations using the values of a fifty-cent, which is 50;          a twenty-five-cent, which is 25; a ten-cent, which is 10 .</a:t>
            </a:r>
          </a:p>
          <a:p>
            <a:pPr lvl="1"/>
            <a:r>
              <a:rPr lang="en-US" dirty="0"/>
              <a:t>Because these data are special and the program uses these values more than once, it makes sense to declare them as named constants. </a:t>
            </a:r>
          </a:p>
          <a:p>
            <a:pPr lvl="1"/>
            <a:r>
              <a:rPr lang="en-US" dirty="0"/>
              <a:t>Using named constants also simplifies later modification of the program</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8</a:t>
            </a:fld>
            <a:endParaRPr lang="ko-KR" altLang="en-US"/>
          </a:p>
        </p:txBody>
      </p:sp>
    </p:spTree>
    <p:extLst>
      <p:ext uri="{BB962C8B-B14F-4D97-AF65-F5344CB8AC3E}">
        <p14:creationId xmlns:p14="http://schemas.microsoft.com/office/powerpoint/2010/main" val="2756188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3: Coding</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9</a:t>
            </a:fld>
            <a:endParaRPr lang="ko-KR" altLang="en-US"/>
          </a:p>
        </p:txBody>
      </p:sp>
      <p:sp>
        <p:nvSpPr>
          <p:cNvPr id="6" name="Content Placeholder 5"/>
          <p:cNvSpPr>
            <a:spLocks noGrp="1"/>
          </p:cNvSpPr>
          <p:nvPr>
            <p:ph idx="1"/>
          </p:nvPr>
        </p:nvSpPr>
        <p:spPr/>
        <p:txBody>
          <a:bodyPr>
            <a:normAutofit/>
          </a:bodyPr>
          <a:lstStyle/>
          <a:p>
            <a:pPr marL="514350" indent="-514350">
              <a:buFont typeface="+mj-lt"/>
              <a:buAutoNum type="arabicPeriod"/>
            </a:pPr>
            <a:r>
              <a:rPr lang="en-US" dirty="0"/>
              <a:t>Write a C++ program to solve the problem</a:t>
            </a:r>
          </a:p>
          <a:p>
            <a:pPr marL="914391" lvl="2" indent="-514350"/>
            <a:r>
              <a:rPr lang="en-US" dirty="0"/>
              <a:t>Use the following constants in your program</a:t>
            </a:r>
          </a:p>
          <a:p>
            <a:pPr marL="400041" lvl="2" indent="0">
              <a:buNone/>
            </a:pPr>
            <a:endParaRPr lang="en-US" dirty="0"/>
          </a:p>
          <a:p>
            <a:pPr marL="400041" lvl="2" indent="0">
              <a:buNone/>
            </a:pPr>
            <a:endParaRPr lang="en-US" dirty="0"/>
          </a:p>
          <a:p>
            <a:pPr marL="400041" lvl="2" indent="0">
              <a:buNone/>
            </a:pPr>
            <a:endParaRPr lang="en-US" dirty="0"/>
          </a:p>
          <a:p>
            <a:pPr marL="400041" lvl="2" indent="0">
              <a:buNone/>
            </a:pPr>
            <a:endParaRPr lang="en-US" dirty="0"/>
          </a:p>
          <a:p>
            <a:pPr marL="914391" lvl="2" indent="-514350"/>
            <a:endParaRPr lang="en-US" dirty="0"/>
          </a:p>
          <a:p>
            <a:pPr marL="914391" lvl="2" indent="-514350"/>
            <a:r>
              <a:rPr lang="en-US" dirty="0"/>
              <a:t>Use variables where necessary</a:t>
            </a:r>
          </a:p>
          <a:p>
            <a:pPr marL="514350" indent="-514350">
              <a:buFont typeface="+mj-lt"/>
              <a:buAutoNum type="arabicPeriod"/>
            </a:pPr>
            <a:r>
              <a:rPr lang="en-US" dirty="0"/>
              <a:t>Modify the program to work for payments made for two or more people</a:t>
            </a:r>
          </a:p>
          <a:p>
            <a:pPr marL="0" indent="0">
              <a:buNone/>
            </a:pPr>
            <a:endParaRPr lang="en-US" dirty="0"/>
          </a:p>
        </p:txBody>
      </p:sp>
      <p:pic>
        <p:nvPicPr>
          <p:cNvPr id="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6" y="2564904"/>
            <a:ext cx="4104455" cy="1820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2202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Formatting Numbers for Program Output</a:t>
            </a:r>
          </a:p>
        </p:txBody>
      </p:sp>
      <p:sp>
        <p:nvSpPr>
          <p:cNvPr id="3" name="Content Placeholder 2"/>
          <p:cNvSpPr>
            <a:spLocks noGrp="1"/>
          </p:cNvSpPr>
          <p:nvPr>
            <p:ph idx="1"/>
          </p:nvPr>
        </p:nvSpPr>
        <p:spPr/>
        <p:txBody>
          <a:bodyPr/>
          <a:lstStyle/>
          <a:p>
            <a:r>
              <a:rPr lang="en-US" dirty="0"/>
              <a:t>The field width manipulator must be included for each value in the data stream sent to </a:t>
            </a:r>
            <a:r>
              <a:rPr lang="en-US" b="1" dirty="0">
                <a:latin typeface="Courier New" pitchFamily="49" charset="0"/>
              </a:rPr>
              <a:t>cout</a:t>
            </a:r>
          </a:p>
          <a:p>
            <a:r>
              <a:rPr lang="en-US" dirty="0"/>
              <a:t>Other manipulators remain in effect until they are changed</a:t>
            </a:r>
          </a:p>
          <a:p>
            <a:r>
              <a:rPr lang="en-US" b="1" dirty="0">
                <a:latin typeface="Courier New" pitchFamily="49" charset="0"/>
              </a:rPr>
              <a:t>iomanip</a:t>
            </a:r>
            <a:r>
              <a:rPr lang="en-US" dirty="0"/>
              <a:t> header file must be included to use manipulators requiring arguments</a:t>
            </a:r>
          </a:p>
          <a:p>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10</a:t>
            </a:fld>
            <a:endParaRPr lang="ko-KR"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4977172"/>
            <a:ext cx="7816658"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0256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Formatting Number for Program Output</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11</a:t>
            </a:fld>
            <a:endParaRPr lang="ko-KR" altLang="en-US"/>
          </a:p>
        </p:txBody>
      </p:sp>
      <p:sp>
        <p:nvSpPr>
          <p:cNvPr id="7" name="Content Placeholder 6"/>
          <p:cNvSpPr>
            <a:spLocks noGrp="1"/>
          </p:cNvSpPr>
          <p:nvPr>
            <p:ph idx="1"/>
          </p:nvPr>
        </p:nvSpPr>
        <p:spPr>
          <a:xfrm>
            <a:off x="457200" y="908725"/>
            <a:ext cx="8229600" cy="1152124"/>
          </a:xfrm>
        </p:spPr>
        <p:txBody>
          <a:bodyPr/>
          <a:lstStyle/>
          <a:p>
            <a:r>
              <a:rPr lang="en-US" dirty="0"/>
              <a:t>Test the format manipulators using a C++ program</a:t>
            </a:r>
          </a:p>
        </p:txBody>
      </p:sp>
      <p:graphicFrame>
        <p:nvGraphicFramePr>
          <p:cNvPr id="8" name="Content Placeholder 4"/>
          <p:cNvGraphicFramePr>
            <a:graphicFrameLocks/>
          </p:cNvGraphicFramePr>
          <p:nvPr>
            <p:extLst>
              <p:ext uri="{D42A27DB-BD31-4B8C-83A1-F6EECF244321}">
                <p14:modId xmlns:p14="http://schemas.microsoft.com/office/powerpoint/2010/main" val="4030260907"/>
              </p:ext>
            </p:extLst>
          </p:nvPr>
        </p:nvGraphicFramePr>
        <p:xfrm>
          <a:off x="539552" y="2132856"/>
          <a:ext cx="7776864" cy="4392488"/>
        </p:xfrm>
        <a:graphic>
          <a:graphicData uri="http://schemas.openxmlformats.org/drawingml/2006/table">
            <a:tbl>
              <a:tblPr firstRow="1" firstCol="1" bandRow="1">
                <a:tableStyleId>{5C22544A-7EE6-4342-B048-85BDC9FD1C3A}</a:tableStyleId>
              </a:tblPr>
              <a:tblGrid>
                <a:gridCol w="1728192">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853539">
                  <a:extLst>
                    <a:ext uri="{9D8B030D-6E8A-4147-A177-3AD203B41FA5}">
                      <a16:colId xmlns:a16="http://schemas.microsoft.com/office/drawing/2014/main" val="20002"/>
                    </a:ext>
                  </a:extLst>
                </a:gridCol>
                <a:gridCol w="4259029">
                  <a:extLst>
                    <a:ext uri="{9D8B030D-6E8A-4147-A177-3AD203B41FA5}">
                      <a16:colId xmlns:a16="http://schemas.microsoft.com/office/drawing/2014/main" val="20003"/>
                    </a:ext>
                  </a:extLst>
                </a:gridCol>
              </a:tblGrid>
              <a:tr h="549061">
                <a:tc>
                  <a:txBody>
                    <a:bodyPr/>
                    <a:lstStyle/>
                    <a:p>
                      <a:pPr marL="0" marR="0">
                        <a:lnSpc>
                          <a:spcPct val="115000"/>
                        </a:lnSpc>
                        <a:spcBef>
                          <a:spcPts val="0"/>
                        </a:spcBef>
                        <a:spcAft>
                          <a:spcPts val="0"/>
                        </a:spcAft>
                      </a:pPr>
                      <a:r>
                        <a:rPr lang="en-US" sz="1600" dirty="0">
                          <a:effectLst/>
                        </a:rPr>
                        <a:t>Manipulators</a:t>
                      </a:r>
                      <a:endParaRPr lang="en-US" sz="16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Number</a:t>
                      </a:r>
                      <a:endParaRPr lang="en-US" sz="16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Display</a:t>
                      </a:r>
                      <a:endParaRPr lang="en-US" sz="16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Comments</a:t>
                      </a:r>
                      <a:endParaRPr lang="en-US" sz="1600" dirty="0">
                        <a:effectLst/>
                        <a:latin typeface="Calibri"/>
                        <a:ea typeface="MS Mincho"/>
                        <a:cs typeface="Times New Roman"/>
                      </a:endParaRPr>
                    </a:p>
                  </a:txBody>
                  <a:tcPr marL="68580" marR="68580" marT="0" marB="0"/>
                </a:tc>
                <a:extLst>
                  <a:ext uri="{0D108BD9-81ED-4DB2-BD59-A6C34878D82A}">
                    <a16:rowId xmlns:a16="http://schemas.microsoft.com/office/drawing/2014/main" val="10000"/>
                  </a:ext>
                </a:extLst>
              </a:tr>
              <a:tr h="549061">
                <a:tc>
                  <a:txBody>
                    <a:bodyPr/>
                    <a:lstStyle/>
                    <a:p>
                      <a:pPr marL="0" marR="0">
                        <a:lnSpc>
                          <a:spcPct val="115000"/>
                        </a:lnSpc>
                        <a:spcBef>
                          <a:spcPts val="0"/>
                        </a:spcBef>
                        <a:spcAft>
                          <a:spcPts val="0"/>
                        </a:spcAft>
                      </a:pPr>
                      <a:r>
                        <a:rPr lang="en-US" sz="1600">
                          <a:effectLst/>
                        </a:rPr>
                        <a:t>setw(2)</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3</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 3|</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Number fits in the field.</a:t>
                      </a:r>
                      <a:endParaRPr lang="en-US" sz="1600" dirty="0">
                        <a:effectLst/>
                        <a:latin typeface="Calibri"/>
                        <a:ea typeface="MS Mincho"/>
                        <a:cs typeface="Times New Roman"/>
                      </a:endParaRPr>
                    </a:p>
                  </a:txBody>
                  <a:tcPr marL="68580" marR="68580" marT="0" marB="0"/>
                </a:tc>
                <a:extLst>
                  <a:ext uri="{0D108BD9-81ED-4DB2-BD59-A6C34878D82A}">
                    <a16:rowId xmlns:a16="http://schemas.microsoft.com/office/drawing/2014/main" val="10001"/>
                  </a:ext>
                </a:extLst>
              </a:tr>
              <a:tr h="549061">
                <a:tc>
                  <a:txBody>
                    <a:bodyPr/>
                    <a:lstStyle/>
                    <a:p>
                      <a:pPr marL="0" marR="0">
                        <a:lnSpc>
                          <a:spcPct val="115000"/>
                        </a:lnSpc>
                        <a:spcBef>
                          <a:spcPts val="0"/>
                        </a:spcBef>
                        <a:spcAft>
                          <a:spcPts val="0"/>
                        </a:spcAft>
                      </a:pPr>
                      <a:r>
                        <a:rPr lang="en-US" sz="1600">
                          <a:effectLst/>
                        </a:rPr>
                        <a:t>setw(2)</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43</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|43|</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Number fits in the field.</a:t>
                      </a:r>
                      <a:endParaRPr lang="en-US" sz="1600" dirty="0">
                        <a:effectLst/>
                        <a:latin typeface="Calibri"/>
                        <a:ea typeface="MS Mincho"/>
                        <a:cs typeface="Times New Roman"/>
                      </a:endParaRPr>
                    </a:p>
                  </a:txBody>
                  <a:tcPr marL="68580" marR="68580" marT="0" marB="0"/>
                </a:tc>
                <a:extLst>
                  <a:ext uri="{0D108BD9-81ED-4DB2-BD59-A6C34878D82A}">
                    <a16:rowId xmlns:a16="http://schemas.microsoft.com/office/drawing/2014/main" val="10002"/>
                  </a:ext>
                </a:extLst>
              </a:tr>
              <a:tr h="549061">
                <a:tc>
                  <a:txBody>
                    <a:bodyPr/>
                    <a:lstStyle/>
                    <a:p>
                      <a:pPr marL="0" marR="0">
                        <a:lnSpc>
                          <a:spcPct val="115000"/>
                        </a:lnSpc>
                        <a:spcBef>
                          <a:spcPts val="0"/>
                        </a:spcBef>
                        <a:spcAft>
                          <a:spcPts val="0"/>
                        </a:spcAft>
                      </a:pPr>
                      <a:r>
                        <a:rPr lang="en-US" sz="1600">
                          <a:effectLst/>
                        </a:rPr>
                        <a:t>setw(2)</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143</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|143|</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Field width is ignored.</a:t>
                      </a:r>
                      <a:endParaRPr lang="en-US" sz="1600">
                        <a:effectLst/>
                        <a:latin typeface="Calibri"/>
                        <a:ea typeface="MS Mincho"/>
                        <a:cs typeface="Times New Roman"/>
                      </a:endParaRPr>
                    </a:p>
                  </a:txBody>
                  <a:tcPr marL="68580" marR="68580" marT="0" marB="0"/>
                </a:tc>
                <a:extLst>
                  <a:ext uri="{0D108BD9-81ED-4DB2-BD59-A6C34878D82A}">
                    <a16:rowId xmlns:a16="http://schemas.microsoft.com/office/drawing/2014/main" val="10003"/>
                  </a:ext>
                </a:extLst>
              </a:tr>
              <a:tr h="549061">
                <a:tc>
                  <a:txBody>
                    <a:bodyPr/>
                    <a:lstStyle/>
                    <a:p>
                      <a:pPr marL="0" marR="0">
                        <a:lnSpc>
                          <a:spcPct val="115000"/>
                        </a:lnSpc>
                        <a:spcBef>
                          <a:spcPts val="0"/>
                        </a:spcBef>
                        <a:spcAft>
                          <a:spcPts val="0"/>
                        </a:spcAft>
                      </a:pPr>
                      <a:r>
                        <a:rPr lang="en-US" sz="1600">
                          <a:effectLst/>
                        </a:rPr>
                        <a:t>setw(2)</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2.3</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|2.3|</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Field width is ignored.</a:t>
                      </a:r>
                      <a:endParaRPr lang="en-US" sz="1600">
                        <a:effectLst/>
                        <a:latin typeface="Calibri"/>
                        <a:ea typeface="MS Mincho"/>
                        <a:cs typeface="Times New Roman"/>
                      </a:endParaRPr>
                    </a:p>
                  </a:txBody>
                  <a:tcPr marL="68580" marR="68580" marT="0" marB="0"/>
                </a:tc>
                <a:extLst>
                  <a:ext uri="{0D108BD9-81ED-4DB2-BD59-A6C34878D82A}">
                    <a16:rowId xmlns:a16="http://schemas.microsoft.com/office/drawing/2014/main" val="10004"/>
                  </a:ext>
                </a:extLst>
              </a:tr>
              <a:tr h="1647183">
                <a:tc>
                  <a:txBody>
                    <a:bodyPr/>
                    <a:lstStyle/>
                    <a:p>
                      <a:pPr marL="0" marR="0">
                        <a:lnSpc>
                          <a:spcPct val="115000"/>
                        </a:lnSpc>
                        <a:spcBef>
                          <a:spcPts val="0"/>
                        </a:spcBef>
                        <a:spcAft>
                          <a:spcPts val="0"/>
                        </a:spcAft>
                      </a:pPr>
                      <a:r>
                        <a:rPr lang="en-US" sz="1600">
                          <a:effectLst/>
                        </a:rPr>
                        <a:t>setw(5)</a:t>
                      </a:r>
                    </a:p>
                    <a:p>
                      <a:pPr marL="0" marR="0">
                        <a:lnSpc>
                          <a:spcPct val="115000"/>
                        </a:lnSpc>
                        <a:spcBef>
                          <a:spcPts val="0"/>
                        </a:spcBef>
                        <a:spcAft>
                          <a:spcPts val="0"/>
                        </a:spcAft>
                      </a:pPr>
                      <a:r>
                        <a:rPr lang="en-US" sz="1600">
                          <a:effectLst/>
                        </a:rPr>
                        <a:t>fixed</a:t>
                      </a:r>
                    </a:p>
                    <a:p>
                      <a:pPr marL="0" marR="0">
                        <a:lnSpc>
                          <a:spcPct val="115000"/>
                        </a:lnSpc>
                        <a:spcBef>
                          <a:spcPts val="0"/>
                        </a:spcBef>
                        <a:spcAft>
                          <a:spcPts val="0"/>
                        </a:spcAft>
                      </a:pPr>
                      <a:r>
                        <a:rPr lang="en-US" sz="1600">
                          <a:effectLst/>
                        </a:rPr>
                        <a:t>setprecision(2)</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2.366</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 2.37|</a:t>
                      </a:r>
                      <a:endParaRPr lang="en-US" sz="16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Field width of five with two decimal digits.</a:t>
                      </a:r>
                      <a:endParaRPr lang="en-US" sz="1600" dirty="0">
                        <a:effectLst/>
                        <a:latin typeface="Calibri"/>
                        <a:ea typeface="MS Mincho"/>
                        <a:cs typeface="Times New Roman"/>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62188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Formatting Number for Program Output</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276480570"/>
              </p:ext>
            </p:extLst>
          </p:nvPr>
        </p:nvGraphicFramePr>
        <p:xfrm>
          <a:off x="255950" y="2132856"/>
          <a:ext cx="8786459" cy="4395743"/>
        </p:xfrm>
        <a:graphic>
          <a:graphicData uri="http://schemas.openxmlformats.org/drawingml/2006/table">
            <a:tbl>
              <a:tblPr firstRow="1" firstCol="1" bandRow="1">
                <a:tableStyleId>{5C22544A-7EE6-4342-B048-85BDC9FD1C3A}</a:tableStyleId>
              </a:tblPr>
              <a:tblGrid>
                <a:gridCol w="1648850">
                  <a:extLst>
                    <a:ext uri="{9D8B030D-6E8A-4147-A177-3AD203B41FA5}">
                      <a16:colId xmlns:a16="http://schemas.microsoft.com/office/drawing/2014/main" val="20000"/>
                    </a:ext>
                  </a:extLst>
                </a:gridCol>
                <a:gridCol w="968000">
                  <a:extLst>
                    <a:ext uri="{9D8B030D-6E8A-4147-A177-3AD203B41FA5}">
                      <a16:colId xmlns:a16="http://schemas.microsoft.com/office/drawing/2014/main" val="20001"/>
                    </a:ext>
                  </a:extLst>
                </a:gridCol>
                <a:gridCol w="1115745">
                  <a:extLst>
                    <a:ext uri="{9D8B030D-6E8A-4147-A177-3AD203B41FA5}">
                      <a16:colId xmlns:a16="http://schemas.microsoft.com/office/drawing/2014/main" val="20002"/>
                    </a:ext>
                  </a:extLst>
                </a:gridCol>
                <a:gridCol w="5053864">
                  <a:extLst>
                    <a:ext uri="{9D8B030D-6E8A-4147-A177-3AD203B41FA5}">
                      <a16:colId xmlns:a16="http://schemas.microsoft.com/office/drawing/2014/main" val="20003"/>
                    </a:ext>
                  </a:extLst>
                </a:gridCol>
              </a:tblGrid>
              <a:tr h="275867">
                <a:tc>
                  <a:txBody>
                    <a:bodyPr/>
                    <a:lstStyle/>
                    <a:p>
                      <a:pPr marL="0" marR="0">
                        <a:lnSpc>
                          <a:spcPct val="115000"/>
                        </a:lnSpc>
                        <a:spcBef>
                          <a:spcPts val="0"/>
                        </a:spcBef>
                        <a:spcAft>
                          <a:spcPts val="0"/>
                        </a:spcAft>
                      </a:pPr>
                      <a:r>
                        <a:rPr lang="en-US" sz="1400" dirty="0">
                          <a:effectLst/>
                        </a:rPr>
                        <a:t>Manipulators</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Number</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Display</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Comments</a:t>
                      </a:r>
                      <a:endParaRPr lang="en-US" sz="1400" dirty="0">
                        <a:effectLst/>
                        <a:latin typeface="Calibri"/>
                        <a:ea typeface="MS Mincho"/>
                        <a:cs typeface="Times New Roman"/>
                      </a:endParaRPr>
                    </a:p>
                  </a:txBody>
                  <a:tcPr marL="68580" marR="68580" marT="0" marB="0"/>
                </a:tc>
                <a:extLst>
                  <a:ext uri="{0D108BD9-81ED-4DB2-BD59-A6C34878D82A}">
                    <a16:rowId xmlns:a16="http://schemas.microsoft.com/office/drawing/2014/main" val="10000"/>
                  </a:ext>
                </a:extLst>
              </a:tr>
              <a:tr h="827602">
                <a:tc>
                  <a:txBody>
                    <a:bodyPr/>
                    <a:lstStyle/>
                    <a:p>
                      <a:pPr marL="0" marR="0">
                        <a:lnSpc>
                          <a:spcPct val="115000"/>
                        </a:lnSpc>
                        <a:spcBef>
                          <a:spcPts val="0"/>
                        </a:spcBef>
                        <a:spcAft>
                          <a:spcPts val="0"/>
                        </a:spcAft>
                      </a:pPr>
                      <a:r>
                        <a:rPr lang="en-US" sz="1400" dirty="0">
                          <a:effectLst/>
                        </a:rPr>
                        <a:t>setw(5)</a:t>
                      </a:r>
                    </a:p>
                    <a:p>
                      <a:pPr marL="0" marR="0">
                        <a:lnSpc>
                          <a:spcPct val="115000"/>
                        </a:lnSpc>
                        <a:spcBef>
                          <a:spcPts val="0"/>
                        </a:spcBef>
                        <a:spcAft>
                          <a:spcPts val="0"/>
                        </a:spcAft>
                      </a:pPr>
                      <a:r>
                        <a:rPr lang="en-US" sz="1400" dirty="0">
                          <a:effectLst/>
                        </a:rPr>
                        <a:t>fixed</a:t>
                      </a:r>
                    </a:p>
                    <a:p>
                      <a:pPr marL="0" marR="0">
                        <a:lnSpc>
                          <a:spcPct val="115000"/>
                        </a:lnSpc>
                        <a:spcBef>
                          <a:spcPts val="0"/>
                        </a:spcBef>
                        <a:spcAft>
                          <a:spcPts val="0"/>
                        </a:spcAft>
                      </a:pPr>
                      <a:r>
                        <a:rPr lang="en-US" sz="1400" dirty="0">
                          <a:effectLst/>
                        </a:rPr>
                        <a:t>setprecision(2)</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42.3</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a:effectLst/>
                        </a:rPr>
                        <a:t>|42.30|</a:t>
                      </a:r>
                      <a:endParaRPr lang="en-US" sz="14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Number fits in the field with the specified precision. Note   that the decimal point takes up one location in the field width.</a:t>
                      </a:r>
                      <a:endParaRPr lang="en-US" sz="1400" dirty="0">
                        <a:effectLst/>
                        <a:latin typeface="Calibri"/>
                        <a:ea typeface="MS Mincho"/>
                        <a:cs typeface="Times New Roman"/>
                      </a:endParaRPr>
                    </a:p>
                  </a:txBody>
                  <a:tcPr marL="68580" marR="68580" marT="0" marB="0"/>
                </a:tc>
                <a:extLst>
                  <a:ext uri="{0D108BD9-81ED-4DB2-BD59-A6C34878D82A}">
                    <a16:rowId xmlns:a16="http://schemas.microsoft.com/office/drawing/2014/main" val="10001"/>
                  </a:ext>
                </a:extLst>
              </a:tr>
              <a:tr h="551735">
                <a:tc>
                  <a:txBody>
                    <a:bodyPr/>
                    <a:lstStyle/>
                    <a:p>
                      <a:pPr marL="0" marR="0">
                        <a:lnSpc>
                          <a:spcPct val="115000"/>
                        </a:lnSpc>
                        <a:spcBef>
                          <a:spcPts val="0"/>
                        </a:spcBef>
                        <a:spcAft>
                          <a:spcPts val="0"/>
                        </a:spcAft>
                      </a:pPr>
                      <a:r>
                        <a:rPr lang="en-US" sz="1400" dirty="0">
                          <a:effectLst/>
                        </a:rPr>
                        <a:t>setw(5)</a:t>
                      </a:r>
                    </a:p>
                    <a:p>
                      <a:pPr marL="0" marR="0">
                        <a:lnSpc>
                          <a:spcPct val="115000"/>
                        </a:lnSpc>
                        <a:spcBef>
                          <a:spcPts val="0"/>
                        </a:spcBef>
                        <a:spcAft>
                          <a:spcPts val="0"/>
                        </a:spcAft>
                      </a:pPr>
                      <a:r>
                        <a:rPr lang="en-US" sz="1400" dirty="0">
                          <a:effectLst/>
                        </a:rPr>
                        <a:t>setprecision(2)</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142.364</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|1.4e+002|</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Field width</a:t>
                      </a:r>
                      <a:r>
                        <a:rPr lang="en-US" sz="1400" baseline="0" dirty="0">
                          <a:effectLst/>
                        </a:rPr>
                        <a:t> </a:t>
                      </a:r>
                      <a:r>
                        <a:rPr lang="en-US" sz="1400" dirty="0">
                          <a:effectLst/>
                        </a:rPr>
                        <a:t>is ignored, and scientific notation is used with   the setprecision manipulator.</a:t>
                      </a:r>
                      <a:endParaRPr lang="en-US" sz="1400" dirty="0">
                        <a:effectLst/>
                        <a:latin typeface="Calibri"/>
                        <a:ea typeface="MS Mincho"/>
                        <a:cs typeface="Times New Roman"/>
                      </a:endParaRPr>
                    </a:p>
                  </a:txBody>
                  <a:tcPr marL="68580" marR="68580" marT="0" marB="0"/>
                </a:tc>
                <a:extLst>
                  <a:ext uri="{0D108BD9-81ED-4DB2-BD59-A6C34878D82A}">
                    <a16:rowId xmlns:a16="http://schemas.microsoft.com/office/drawing/2014/main" val="10002"/>
                  </a:ext>
                </a:extLst>
              </a:tr>
              <a:tr h="827602">
                <a:tc>
                  <a:txBody>
                    <a:bodyPr/>
                    <a:lstStyle/>
                    <a:p>
                      <a:pPr marL="0" marR="0">
                        <a:lnSpc>
                          <a:spcPct val="115000"/>
                        </a:lnSpc>
                        <a:spcBef>
                          <a:spcPts val="0"/>
                        </a:spcBef>
                        <a:spcAft>
                          <a:spcPts val="0"/>
                        </a:spcAft>
                      </a:pPr>
                      <a:r>
                        <a:rPr lang="en-US" sz="1400">
                          <a:effectLst/>
                        </a:rPr>
                        <a:t>setw(5)</a:t>
                      </a:r>
                    </a:p>
                    <a:p>
                      <a:pPr marL="0" marR="0">
                        <a:lnSpc>
                          <a:spcPct val="115000"/>
                        </a:lnSpc>
                        <a:spcBef>
                          <a:spcPts val="0"/>
                        </a:spcBef>
                        <a:spcAft>
                          <a:spcPts val="0"/>
                        </a:spcAft>
                      </a:pPr>
                      <a:r>
                        <a:rPr lang="en-US" sz="1400">
                          <a:effectLst/>
                        </a:rPr>
                        <a:t>fixed</a:t>
                      </a:r>
                    </a:p>
                    <a:p>
                      <a:pPr marL="0" marR="0">
                        <a:lnSpc>
                          <a:spcPct val="115000"/>
                        </a:lnSpc>
                        <a:spcBef>
                          <a:spcPts val="0"/>
                        </a:spcBef>
                        <a:spcAft>
                          <a:spcPts val="0"/>
                        </a:spcAft>
                      </a:pPr>
                      <a:r>
                        <a:rPr lang="en-US" sz="1400">
                          <a:effectLst/>
                        </a:rPr>
                        <a:t>setprecision(2)</a:t>
                      </a:r>
                      <a:endParaRPr lang="en-US" sz="14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142.364</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|142.36|</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Field width is ignored, but precision specification is used. </a:t>
                      </a:r>
                    </a:p>
                    <a:p>
                      <a:pPr marL="0" marR="0">
                        <a:lnSpc>
                          <a:spcPct val="115000"/>
                        </a:lnSpc>
                        <a:spcBef>
                          <a:spcPts val="0"/>
                        </a:spcBef>
                        <a:spcAft>
                          <a:spcPts val="0"/>
                        </a:spcAft>
                      </a:pPr>
                      <a:r>
                        <a:rPr lang="en-US" sz="1400" dirty="0">
                          <a:effectLst/>
                        </a:rPr>
                        <a:t>The setprecision manipulator specifies the number of         fractional digits.</a:t>
                      </a:r>
                      <a:endParaRPr lang="en-US" sz="1400" dirty="0">
                        <a:effectLst/>
                        <a:latin typeface="Calibri"/>
                        <a:ea typeface="MS Mincho"/>
                        <a:cs typeface="Times New Roman"/>
                      </a:endParaRPr>
                    </a:p>
                  </a:txBody>
                  <a:tcPr marL="68580" marR="68580" marT="0" marB="0"/>
                </a:tc>
                <a:extLst>
                  <a:ext uri="{0D108BD9-81ED-4DB2-BD59-A6C34878D82A}">
                    <a16:rowId xmlns:a16="http://schemas.microsoft.com/office/drawing/2014/main" val="10003"/>
                  </a:ext>
                </a:extLst>
              </a:tr>
              <a:tr h="827602">
                <a:tc>
                  <a:txBody>
                    <a:bodyPr/>
                    <a:lstStyle/>
                    <a:p>
                      <a:pPr marL="0" marR="0">
                        <a:lnSpc>
                          <a:spcPct val="115000"/>
                        </a:lnSpc>
                        <a:spcBef>
                          <a:spcPts val="0"/>
                        </a:spcBef>
                        <a:spcAft>
                          <a:spcPts val="0"/>
                        </a:spcAft>
                      </a:pPr>
                      <a:r>
                        <a:rPr lang="en-US" sz="1400">
                          <a:effectLst/>
                        </a:rPr>
                        <a:t>setw(5)</a:t>
                      </a:r>
                    </a:p>
                    <a:p>
                      <a:pPr marL="0" marR="0">
                        <a:lnSpc>
                          <a:spcPct val="115000"/>
                        </a:lnSpc>
                        <a:spcBef>
                          <a:spcPts val="0"/>
                        </a:spcBef>
                        <a:spcAft>
                          <a:spcPts val="0"/>
                        </a:spcAft>
                      </a:pPr>
                      <a:r>
                        <a:rPr lang="en-US" sz="1400">
                          <a:effectLst/>
                        </a:rPr>
                        <a:t>fixed</a:t>
                      </a:r>
                    </a:p>
                    <a:p>
                      <a:pPr marL="0" marR="0">
                        <a:lnSpc>
                          <a:spcPct val="115000"/>
                        </a:lnSpc>
                        <a:spcBef>
                          <a:spcPts val="0"/>
                        </a:spcBef>
                        <a:spcAft>
                          <a:spcPts val="0"/>
                        </a:spcAft>
                      </a:pPr>
                      <a:r>
                        <a:rPr lang="en-US" sz="1400">
                          <a:effectLst/>
                        </a:rPr>
                        <a:t>setprecision(2)</a:t>
                      </a:r>
                      <a:endParaRPr lang="en-US" sz="14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a:effectLst/>
                        </a:rPr>
                        <a:t>142.366</a:t>
                      </a:r>
                      <a:endParaRPr lang="en-US" sz="140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|142.37|</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Field width is ignored, but precision specification used.  The setprecision manipulator specifies the number of fractional digits. (Note the rounding of the last decimal digit.)</a:t>
                      </a:r>
                      <a:endParaRPr lang="en-US" sz="1400" dirty="0">
                        <a:effectLst/>
                        <a:latin typeface="Calibri"/>
                        <a:ea typeface="MS Mincho"/>
                        <a:cs typeface="Times New Roman"/>
                      </a:endParaRPr>
                    </a:p>
                  </a:txBody>
                  <a:tcPr marL="68580" marR="68580" marT="0" marB="0"/>
                </a:tc>
                <a:extLst>
                  <a:ext uri="{0D108BD9-81ED-4DB2-BD59-A6C34878D82A}">
                    <a16:rowId xmlns:a16="http://schemas.microsoft.com/office/drawing/2014/main" val="10004"/>
                  </a:ext>
                </a:extLst>
              </a:tr>
              <a:tr h="1085335">
                <a:tc>
                  <a:txBody>
                    <a:bodyPr/>
                    <a:lstStyle/>
                    <a:p>
                      <a:pPr marL="0" marR="0">
                        <a:lnSpc>
                          <a:spcPct val="115000"/>
                        </a:lnSpc>
                        <a:spcBef>
                          <a:spcPts val="0"/>
                        </a:spcBef>
                        <a:spcAft>
                          <a:spcPts val="0"/>
                        </a:spcAft>
                      </a:pPr>
                      <a:r>
                        <a:rPr lang="en-US" sz="1400" dirty="0">
                          <a:effectLst/>
                        </a:rPr>
                        <a:t>setw(5)</a:t>
                      </a:r>
                    </a:p>
                    <a:p>
                      <a:pPr marL="0" marR="0">
                        <a:lnSpc>
                          <a:spcPct val="115000"/>
                        </a:lnSpc>
                        <a:spcBef>
                          <a:spcPts val="0"/>
                        </a:spcBef>
                        <a:spcAft>
                          <a:spcPts val="0"/>
                        </a:spcAft>
                      </a:pPr>
                      <a:r>
                        <a:rPr lang="en-US" sz="1400" dirty="0">
                          <a:effectLst/>
                        </a:rPr>
                        <a:t>fixed</a:t>
                      </a:r>
                    </a:p>
                    <a:p>
                      <a:pPr marL="0" marR="0">
                        <a:lnSpc>
                          <a:spcPct val="115000"/>
                        </a:lnSpc>
                        <a:spcBef>
                          <a:spcPts val="0"/>
                        </a:spcBef>
                        <a:spcAft>
                          <a:spcPts val="0"/>
                        </a:spcAft>
                      </a:pPr>
                      <a:r>
                        <a:rPr lang="en-US" sz="1400" dirty="0">
                          <a:effectLst/>
                        </a:rPr>
                        <a:t>setprecision(2)</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142</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  142|</a:t>
                      </a:r>
                      <a:endParaRPr lang="en-US" sz="1400" dirty="0">
                        <a:effectLst/>
                        <a:latin typeface="Calibri"/>
                        <a:ea typeface="MS Mincho"/>
                        <a:cs typeface="Times New Roman"/>
                      </a:endParaRPr>
                    </a:p>
                  </a:txBody>
                  <a:tcPr marL="68580" marR="68580" marT="0" marB="0"/>
                </a:tc>
                <a:tc>
                  <a:txBody>
                    <a:bodyPr/>
                    <a:lstStyle/>
                    <a:p>
                      <a:pPr marL="0" marR="0">
                        <a:lnSpc>
                          <a:spcPct val="115000"/>
                        </a:lnSpc>
                        <a:spcBef>
                          <a:spcPts val="0"/>
                        </a:spcBef>
                        <a:spcAft>
                          <a:spcPts val="0"/>
                        </a:spcAft>
                      </a:pPr>
                      <a:r>
                        <a:rPr lang="en-US" sz="1400" dirty="0">
                          <a:effectLst/>
                        </a:rPr>
                        <a:t>Field width is used; fixed and  setprecision    manipulators  are irrelevant because the number is an integer that specifies the total number of significant digits (integer plus </a:t>
                      </a:r>
                    </a:p>
                    <a:p>
                      <a:pPr marL="0" marR="0">
                        <a:lnSpc>
                          <a:spcPct val="115000"/>
                        </a:lnSpc>
                        <a:spcBef>
                          <a:spcPts val="0"/>
                        </a:spcBef>
                        <a:spcAft>
                          <a:spcPts val="0"/>
                        </a:spcAft>
                      </a:pPr>
                      <a:r>
                        <a:rPr lang="en-US" sz="1400" dirty="0">
                          <a:effectLst/>
                        </a:rPr>
                        <a:t>fractional digits).</a:t>
                      </a:r>
                      <a:endParaRPr lang="en-US" sz="1400" dirty="0">
                        <a:effectLst/>
                        <a:latin typeface="Calibri"/>
                        <a:ea typeface="MS Mincho"/>
                        <a:cs typeface="Times New Roman"/>
                      </a:endParaRPr>
                    </a:p>
                  </a:txBody>
                  <a:tcPr marL="68580" marR="68580" marT="0" marB="0"/>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DD10C66A-2542-49CE-8980-1D266FEFB8DA}" type="slidenum">
              <a:rPr lang="ko-KR" altLang="en-US" smtClean="0"/>
              <a:pPr/>
              <a:t>12</a:t>
            </a:fld>
            <a:endParaRPr lang="ko-KR" altLang="en-US"/>
          </a:p>
        </p:txBody>
      </p:sp>
      <p:sp>
        <p:nvSpPr>
          <p:cNvPr id="7" name="Content Placeholder 6"/>
          <p:cNvSpPr txBox="1">
            <a:spLocks/>
          </p:cNvSpPr>
          <p:nvPr/>
        </p:nvSpPr>
        <p:spPr>
          <a:xfrm>
            <a:off x="611560" y="908725"/>
            <a:ext cx="8075240" cy="1368147"/>
          </a:xfrm>
          <a:prstGeom prst="rect">
            <a:avLst/>
          </a:prstGeom>
        </p:spPr>
        <p:txBody>
          <a:bodyPr vert="horz" lIns="91440" tIns="45720" rIns="91440" bIns="45720" rtlCol="0">
            <a:normAutofit fontScale="77500" lnSpcReduction="20000"/>
          </a:bodyPr>
          <a:lstStyle>
            <a:lvl1pPr marL="342893" indent="-342893" algn="l" defTabSz="91438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36" indent="-285744" algn="l" defTabSz="914382"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77" indent="-228595" algn="l" defTabSz="914382"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68" indent="-228595" algn="l" defTabSz="91438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359" indent="-228595" algn="l" defTabSz="91438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550" indent="-228595" algn="l" defTabSz="914382"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41" indent="-228595" algn="l" defTabSz="914382"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32" indent="-228595" algn="l" defTabSz="914382"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22" indent="-228595" algn="l" defTabSz="914382"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Test the format manipulators using a C++ program</a:t>
            </a:r>
          </a:p>
          <a:p>
            <a:pPr>
              <a:buNone/>
            </a:pPr>
            <a:r>
              <a:rPr lang="en-US" dirty="0">
                <a:latin typeface="Courier New" pitchFamily="49" charset="0"/>
                <a:cs typeface="Courier New" pitchFamily="49" charset="0"/>
              </a:rPr>
              <a:t>	</a:t>
            </a:r>
            <a:r>
              <a:rPr lang="en-US" dirty="0" err="1">
                <a:latin typeface="Courier New" pitchFamily="49" charset="0"/>
                <a:cs typeface="Courier New" pitchFamily="49" charset="0"/>
              </a:rPr>
              <a:t>cout</a:t>
            </a:r>
            <a:r>
              <a:rPr lang="en-US" dirty="0">
                <a:latin typeface="Courier New" pitchFamily="49" charset="0"/>
                <a:cs typeface="Courier New" pitchFamily="49" charset="0"/>
              </a:rPr>
              <a:t> &lt;&lt; "|" &lt;&lt; setw(10) &lt;&lt; fixed</a:t>
            </a:r>
          </a:p>
          <a:p>
            <a:pPr>
              <a:buNone/>
            </a:pPr>
            <a:r>
              <a:rPr lang="en-US" dirty="0">
                <a:latin typeface="Courier New" pitchFamily="49" charset="0"/>
                <a:cs typeface="Courier New" pitchFamily="49" charset="0"/>
              </a:rPr>
              <a:t>      &lt;&lt; setprecision(3) &lt;&lt; 25.67 &lt;&lt; "|";</a:t>
            </a:r>
            <a:endParaRPr lang="en-US" dirty="0"/>
          </a:p>
          <a:p>
            <a:pPr marL="0" indent="0">
              <a:buNone/>
            </a:pPr>
            <a:endParaRPr lang="en-US" dirty="0"/>
          </a:p>
        </p:txBody>
      </p:sp>
    </p:spTree>
    <p:extLst>
      <p:ext uri="{BB962C8B-B14F-4D97-AF65-F5344CB8AC3E}">
        <p14:creationId xmlns:p14="http://schemas.microsoft.com/office/powerpoint/2010/main" val="2646306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Formatting Number for Program Output</a:t>
            </a:r>
          </a:p>
        </p:txBody>
      </p:sp>
      <p:sp>
        <p:nvSpPr>
          <p:cNvPr id="3" name="Content Placeholder 2"/>
          <p:cNvSpPr>
            <a:spLocks noGrp="1"/>
          </p:cNvSpPr>
          <p:nvPr>
            <p:ph idx="1"/>
          </p:nvPr>
        </p:nvSpPr>
        <p:spPr/>
        <p:txBody>
          <a:bodyPr/>
          <a:lstStyle/>
          <a:p>
            <a:pPr marL="342900" indent="-342900"/>
            <a:r>
              <a:rPr lang="en-US" sz="2600" b="1" dirty="0">
                <a:latin typeface="Courier New" pitchFamily="49" charset="0"/>
              </a:rPr>
              <a:t>setiosflags</a:t>
            </a:r>
            <a:r>
              <a:rPr lang="en-US" sz="2600" dirty="0"/>
              <a:t> manipulator: Allows additional formatting</a:t>
            </a:r>
            <a:r>
              <a:rPr lang="en-US" sz="2800" dirty="0"/>
              <a:t>:</a:t>
            </a:r>
          </a:p>
          <a:p>
            <a:pPr marL="742950" lvl="1" indent="-285750">
              <a:buFontTx/>
              <a:buChar char="–"/>
            </a:pPr>
            <a:r>
              <a:rPr lang="en-US" dirty="0"/>
              <a:t>Right or left justification </a:t>
            </a:r>
          </a:p>
          <a:p>
            <a:pPr marL="742950" lvl="1" indent="-285750">
              <a:buFontTx/>
              <a:buChar char="–"/>
            </a:pPr>
            <a:r>
              <a:rPr lang="en-US" dirty="0"/>
              <a:t>Fixed display with 6 decimal places </a:t>
            </a:r>
          </a:p>
          <a:p>
            <a:pPr marL="742950" lvl="1" indent="-285750">
              <a:buFontTx/>
              <a:buChar char="–"/>
            </a:pPr>
            <a:r>
              <a:rPr lang="en-US" dirty="0"/>
              <a:t>Scientific notation with exponential display </a:t>
            </a:r>
          </a:p>
          <a:p>
            <a:pPr marL="742950" lvl="1" indent="-285750">
              <a:buFontTx/>
              <a:buChar char="–"/>
            </a:pPr>
            <a:r>
              <a:rPr lang="en-US" dirty="0"/>
              <a:t>Display of a leading + sign</a:t>
            </a:r>
          </a:p>
          <a:p>
            <a:pPr marL="342900" indent="-342900">
              <a:buFontTx/>
              <a:buChar char="•"/>
            </a:pPr>
            <a:r>
              <a:rPr lang="en-US" sz="2600" b="1" dirty="0"/>
              <a:t>Parameterized manipulator:</a:t>
            </a:r>
            <a:r>
              <a:rPr lang="en-US" sz="2600" dirty="0"/>
              <a:t> One which requires arguments, or parameters</a:t>
            </a:r>
          </a:p>
          <a:p>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13</a:t>
            </a:fld>
            <a:endParaRPr lang="ko-KR" altLang="en-US"/>
          </a:p>
        </p:txBody>
      </p:sp>
    </p:spTree>
    <p:extLst>
      <p:ext uri="{BB962C8B-B14F-4D97-AF65-F5344CB8AC3E}">
        <p14:creationId xmlns:p14="http://schemas.microsoft.com/office/powerpoint/2010/main" val="2633989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Formatting Number for Program Output</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14</a:t>
            </a:fld>
            <a:endParaRPr lang="ko-KR" altLang="en-US"/>
          </a:p>
        </p:txBody>
      </p:sp>
      <p:pic>
        <p:nvPicPr>
          <p:cNvPr id="5"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1052736"/>
            <a:ext cx="8201023"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5152046"/>
            <a:ext cx="4066364" cy="1013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6494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Formatting Number for Program Output</a:t>
            </a:r>
          </a:p>
        </p:txBody>
      </p:sp>
      <p:sp>
        <p:nvSpPr>
          <p:cNvPr id="3" name="Content Placeholder 2"/>
          <p:cNvSpPr>
            <a:spLocks noGrp="1"/>
          </p:cNvSpPr>
          <p:nvPr>
            <p:ph idx="1"/>
          </p:nvPr>
        </p:nvSpPr>
        <p:spPr/>
        <p:txBody>
          <a:bodyPr/>
          <a:lstStyle/>
          <a:p>
            <a:pPr marL="342900" indent="-342900">
              <a:buFontTx/>
              <a:buChar char="•"/>
            </a:pPr>
            <a:r>
              <a:rPr lang="en-US" sz="2600" dirty="0"/>
              <a:t>Manipulators can also be set using the </a:t>
            </a:r>
            <a:r>
              <a:rPr lang="en-US" sz="2600" b="1" dirty="0" err="1">
                <a:latin typeface="Courier New" pitchFamily="49" charset="0"/>
              </a:rPr>
              <a:t>ostream</a:t>
            </a:r>
            <a:r>
              <a:rPr lang="en-US" sz="2600" dirty="0"/>
              <a:t> class methods</a:t>
            </a:r>
          </a:p>
          <a:p>
            <a:pPr marL="342900" indent="-342900">
              <a:buFontTx/>
              <a:buChar char="•"/>
            </a:pPr>
            <a:r>
              <a:rPr lang="en-US" sz="2600" dirty="0"/>
              <a:t>Separate the </a:t>
            </a:r>
            <a:r>
              <a:rPr lang="en-US" sz="2600" b="1" dirty="0" err="1">
                <a:latin typeface="Courier New" pitchFamily="49" charset="0"/>
              </a:rPr>
              <a:t>cout</a:t>
            </a:r>
            <a:r>
              <a:rPr lang="en-US" sz="2600" dirty="0"/>
              <a:t> object name from the method name with a period</a:t>
            </a:r>
          </a:p>
          <a:p>
            <a:pPr marL="0" indent="0">
              <a:buNone/>
            </a:pPr>
            <a:r>
              <a:rPr lang="en-US" sz="2600" dirty="0"/>
              <a:t>	</a:t>
            </a:r>
            <a:r>
              <a:rPr lang="en-US" sz="2800" dirty="0"/>
              <a:t>Example:</a:t>
            </a:r>
          </a:p>
          <a:p>
            <a:pPr marL="400043" lvl="1" indent="0">
              <a:buNone/>
            </a:pPr>
            <a:r>
              <a:rPr lang="en-US" sz="2400" dirty="0"/>
              <a:t>	</a:t>
            </a:r>
            <a:r>
              <a:rPr lang="en-US" sz="2400" b="1" dirty="0" err="1">
                <a:latin typeface="Courier New" pitchFamily="49" charset="0"/>
              </a:rPr>
              <a:t>cout.precision</a:t>
            </a:r>
            <a:r>
              <a:rPr lang="en-US" sz="2400" b="1" dirty="0">
                <a:latin typeface="Courier New" pitchFamily="49" charset="0"/>
              </a:rPr>
              <a:t>(2)</a:t>
            </a:r>
          </a:p>
          <a:p>
            <a:pPr marL="342900" indent="-342900"/>
            <a:endParaRPr lang="en-US" sz="2600"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15</a:t>
            </a:fld>
            <a:endParaRPr lang="ko-KR" altLang="en-US"/>
          </a:p>
        </p:txBody>
      </p:sp>
    </p:spTree>
    <p:extLst>
      <p:ext uri="{BB962C8B-B14F-4D97-AF65-F5344CB8AC3E}">
        <p14:creationId xmlns:p14="http://schemas.microsoft.com/office/powerpoint/2010/main" val="3535152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Formatting Number for Program Output</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16</a:t>
            </a:fld>
            <a:endParaRPr lang="ko-KR" alt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720" y="2060848"/>
            <a:ext cx="8464094"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1062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Cast Operator</a:t>
            </a:r>
          </a:p>
        </p:txBody>
      </p:sp>
      <p:sp>
        <p:nvSpPr>
          <p:cNvPr id="3" name="Content Placeholder 2"/>
          <p:cNvSpPr>
            <a:spLocks noGrp="1"/>
          </p:cNvSpPr>
          <p:nvPr>
            <p:ph idx="1"/>
          </p:nvPr>
        </p:nvSpPr>
        <p:spPr/>
        <p:txBody>
          <a:bodyPr/>
          <a:lstStyle/>
          <a:p>
            <a:pPr marL="342900" indent="-342900">
              <a:buFontTx/>
              <a:buChar char="•"/>
            </a:pPr>
            <a:r>
              <a:rPr lang="en-US" sz="2600" b="1" dirty="0"/>
              <a:t>Cast operator:</a:t>
            </a:r>
            <a:r>
              <a:rPr lang="en-US" sz="2600" dirty="0"/>
              <a:t> A unary operator that forces the data to the desired data type</a:t>
            </a:r>
          </a:p>
          <a:p>
            <a:pPr marL="342900" indent="-342900">
              <a:buFontTx/>
              <a:buChar char="•"/>
            </a:pPr>
            <a:r>
              <a:rPr lang="en-US" sz="2600" dirty="0"/>
              <a:t>Compile-time cast</a:t>
            </a:r>
          </a:p>
          <a:p>
            <a:pPr marL="800100" lvl="1" indent="-342900">
              <a:buFontTx/>
              <a:buChar char="–"/>
            </a:pPr>
            <a:r>
              <a:rPr lang="en-US" dirty="0"/>
              <a:t>Syntax: </a:t>
            </a:r>
            <a:r>
              <a:rPr lang="en-US" b="1" dirty="0">
                <a:latin typeface="Courier New" pitchFamily="49" charset="0"/>
              </a:rPr>
              <a:t>dataType (expression)</a:t>
            </a:r>
          </a:p>
          <a:p>
            <a:pPr marL="800100" lvl="1" indent="-342900">
              <a:buFontTx/>
              <a:buChar char="–"/>
            </a:pPr>
            <a:r>
              <a:rPr lang="en-US" dirty="0"/>
              <a:t>Example: </a:t>
            </a:r>
            <a:r>
              <a:rPr lang="en-US" b="1" dirty="0" err="1">
                <a:latin typeface="Courier New" pitchFamily="49" charset="0"/>
              </a:rPr>
              <a:t>int</a:t>
            </a:r>
            <a:r>
              <a:rPr lang="en-US" b="1" dirty="0">
                <a:latin typeface="Courier New" pitchFamily="49" charset="0"/>
              </a:rPr>
              <a:t>(</a:t>
            </a:r>
            <a:r>
              <a:rPr lang="en-US" b="1" dirty="0" err="1">
                <a:latin typeface="Courier New" pitchFamily="49" charset="0"/>
              </a:rPr>
              <a:t>a+b</a:t>
            </a:r>
            <a:r>
              <a:rPr lang="en-US" b="1" dirty="0">
                <a:latin typeface="Courier New" pitchFamily="49" charset="0"/>
              </a:rPr>
              <a:t>)</a:t>
            </a:r>
          </a:p>
          <a:p>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17</a:t>
            </a:fld>
            <a:endParaRPr lang="ko-KR" altLang="en-US"/>
          </a:p>
        </p:txBody>
      </p:sp>
    </p:spTree>
    <p:extLst>
      <p:ext uri="{BB962C8B-B14F-4D97-AF65-F5344CB8AC3E}">
        <p14:creationId xmlns:p14="http://schemas.microsoft.com/office/powerpoint/2010/main" val="3739496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Cast Operator</a:t>
            </a:r>
          </a:p>
        </p:txBody>
      </p:sp>
      <p:sp>
        <p:nvSpPr>
          <p:cNvPr id="3" name="Content Placeholder 2"/>
          <p:cNvSpPr>
            <a:spLocks noGrp="1"/>
          </p:cNvSpPr>
          <p:nvPr>
            <p:ph idx="1"/>
          </p:nvPr>
        </p:nvSpPr>
        <p:spPr/>
        <p:txBody>
          <a:bodyPr/>
          <a:lstStyle/>
          <a:p>
            <a:r>
              <a:rPr lang="en-US" sz="2600" b="1" dirty="0"/>
              <a:t>Run-time cast: </a:t>
            </a:r>
            <a:r>
              <a:rPr lang="en-US" sz="2600" dirty="0"/>
              <a:t>The requested conversion is checked at run time and applied if valid</a:t>
            </a:r>
          </a:p>
          <a:p>
            <a:pPr lvl="1"/>
            <a:r>
              <a:rPr lang="en-US" dirty="0"/>
              <a:t>Syntax: </a:t>
            </a:r>
          </a:p>
          <a:p>
            <a:pPr>
              <a:buNone/>
            </a:pPr>
            <a:r>
              <a:rPr lang="en-US" sz="2400" dirty="0"/>
              <a:t>		</a:t>
            </a:r>
            <a:r>
              <a:rPr lang="en-US" sz="2400" b="1" dirty="0" err="1">
                <a:latin typeface="Courier New" pitchFamily="49" charset="0"/>
              </a:rPr>
              <a:t>staticCast</a:t>
            </a:r>
            <a:r>
              <a:rPr lang="en-US" sz="2400" b="1" dirty="0">
                <a:latin typeface="Courier New" pitchFamily="49" charset="0"/>
              </a:rPr>
              <a:t>&lt;data-type&gt; (expression)</a:t>
            </a:r>
          </a:p>
          <a:p>
            <a:pPr lvl="1"/>
            <a:r>
              <a:rPr lang="en-US" dirty="0"/>
              <a:t>Example:</a:t>
            </a:r>
          </a:p>
          <a:p>
            <a:pPr>
              <a:buNone/>
            </a:pPr>
            <a:r>
              <a:rPr lang="en-US" sz="2400" dirty="0"/>
              <a:t>		</a:t>
            </a:r>
            <a:r>
              <a:rPr lang="en-US" sz="2400" b="1" dirty="0" err="1">
                <a:latin typeface="Courier New" pitchFamily="49" charset="0"/>
              </a:rPr>
              <a:t>staticCast</a:t>
            </a:r>
            <a:r>
              <a:rPr lang="en-US" sz="2400" b="1" dirty="0">
                <a:latin typeface="Courier New" pitchFamily="49" charset="0"/>
              </a:rPr>
              <a:t>&lt;</a:t>
            </a:r>
            <a:r>
              <a:rPr lang="en-US" sz="2400" b="1" dirty="0" err="1">
                <a:latin typeface="Courier New" pitchFamily="49" charset="0"/>
              </a:rPr>
              <a:t>int</a:t>
            </a:r>
            <a:r>
              <a:rPr lang="en-US" sz="2400" b="1" dirty="0">
                <a:latin typeface="Courier New" pitchFamily="49" charset="0"/>
              </a:rPr>
              <a:t>&gt;(a*b)</a:t>
            </a:r>
          </a:p>
          <a:p>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18</a:t>
            </a:fld>
            <a:endParaRPr lang="ko-KR" altLang="en-US"/>
          </a:p>
        </p:txBody>
      </p:sp>
    </p:spTree>
    <p:extLst>
      <p:ext uri="{BB962C8B-B14F-4D97-AF65-F5344CB8AC3E}">
        <p14:creationId xmlns:p14="http://schemas.microsoft.com/office/powerpoint/2010/main" val="2261189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Buying Pizza</a:t>
            </a:r>
          </a:p>
        </p:txBody>
      </p:sp>
      <p:sp>
        <p:nvSpPr>
          <p:cNvPr id="3" name="Content Placeholder 2"/>
          <p:cNvSpPr>
            <a:spLocks noGrp="1"/>
          </p:cNvSpPr>
          <p:nvPr>
            <p:ph idx="1"/>
          </p:nvPr>
        </p:nvSpPr>
        <p:spPr/>
        <p:txBody>
          <a:bodyPr>
            <a:normAutofit/>
          </a:bodyPr>
          <a:lstStyle/>
          <a:p>
            <a:r>
              <a:rPr lang="en-US" dirty="0"/>
              <a:t>The large “economy” size of an item is not always a better buy than the smaller size.</a:t>
            </a:r>
          </a:p>
          <a:p>
            <a:pPr lvl="1"/>
            <a:r>
              <a:rPr lang="en-US" dirty="0"/>
              <a:t>This is particularly true when buying pizzas. </a:t>
            </a:r>
          </a:p>
          <a:p>
            <a:pPr lvl="1"/>
            <a:r>
              <a:rPr lang="en-US" dirty="0"/>
              <a:t>Pizza sizes are given as the diameter of the pizza in inches. </a:t>
            </a:r>
          </a:p>
          <a:p>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19</a:t>
            </a:fld>
            <a:endParaRPr lang="ko-KR" alt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3789040"/>
            <a:ext cx="4176464" cy="1924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9867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Buying Pizza</a:t>
            </a:r>
          </a:p>
        </p:txBody>
      </p:sp>
      <p:sp>
        <p:nvSpPr>
          <p:cNvPr id="3" name="Content Placeholder 2"/>
          <p:cNvSpPr>
            <a:spLocks noGrp="1"/>
          </p:cNvSpPr>
          <p:nvPr>
            <p:ph idx="1"/>
          </p:nvPr>
        </p:nvSpPr>
        <p:spPr/>
        <p:txBody>
          <a:bodyPr>
            <a:normAutofit/>
          </a:bodyPr>
          <a:lstStyle/>
          <a:p>
            <a:r>
              <a:rPr lang="en-US" dirty="0"/>
              <a:t>However, the quantity of pizza is determined by the area of the pizza</a:t>
            </a:r>
          </a:p>
          <a:p>
            <a:pPr lvl="1"/>
            <a:r>
              <a:rPr lang="en-US" dirty="0"/>
              <a:t>Most people cannot easily estimate the difference in area between a ten-inch pizza and a twelve-inch pizza </a:t>
            </a:r>
          </a:p>
          <a:p>
            <a:pPr lvl="1"/>
            <a:r>
              <a:rPr lang="en-US" dirty="0"/>
              <a:t>So cannot easily determine which size is the best buy—that is, which size has the lowest price per square inch. </a:t>
            </a:r>
          </a:p>
          <a:p>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20</a:t>
            </a:fld>
            <a:endParaRPr lang="ko-KR" altLang="en-US"/>
          </a:p>
        </p:txBody>
      </p:sp>
    </p:spTree>
    <p:extLst>
      <p:ext uri="{BB962C8B-B14F-4D97-AF65-F5344CB8AC3E}">
        <p14:creationId xmlns:p14="http://schemas.microsoft.com/office/powerpoint/2010/main" val="89941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Buying Pizza</a:t>
            </a:r>
          </a:p>
        </p:txBody>
      </p:sp>
      <p:sp>
        <p:nvSpPr>
          <p:cNvPr id="3" name="Content Placeholder 2"/>
          <p:cNvSpPr>
            <a:spLocks noGrp="1"/>
          </p:cNvSpPr>
          <p:nvPr>
            <p:ph idx="1"/>
          </p:nvPr>
        </p:nvSpPr>
        <p:spPr/>
        <p:txBody>
          <a:bodyPr/>
          <a:lstStyle/>
          <a:p>
            <a:r>
              <a:rPr lang="en-US" dirty="0"/>
              <a:t>Build, Run and Test the following program</a:t>
            </a:r>
          </a:p>
          <a:p>
            <a:r>
              <a:rPr lang="en-US" dirty="0"/>
              <a:t>Understand the logic</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21</a:t>
            </a:fld>
            <a:endParaRPr lang="ko-KR" alt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988840"/>
            <a:ext cx="8704717"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0843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Buying Pizza</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22</a:t>
            </a:fld>
            <a:endParaRPr lang="ko-KR" altLang="en-US"/>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980728"/>
            <a:ext cx="8315132"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2034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Buying Pizza</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23</a:t>
            </a:fld>
            <a:endParaRPr lang="ko-KR" altLang="en-US"/>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980727"/>
            <a:ext cx="7848872" cy="5286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5710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Buying Pizza</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24</a:t>
            </a:fld>
            <a:endParaRPr lang="ko-KR"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980728"/>
            <a:ext cx="8136904" cy="2373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2630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Buying Pizza</a:t>
            </a:r>
          </a:p>
        </p:txBody>
      </p:sp>
      <p:sp>
        <p:nvSpPr>
          <p:cNvPr id="3" name="Content Placeholder 2"/>
          <p:cNvSpPr>
            <a:spLocks noGrp="1"/>
          </p:cNvSpPr>
          <p:nvPr>
            <p:ph idx="1"/>
          </p:nvPr>
        </p:nvSpPr>
        <p:spPr/>
        <p:txBody>
          <a:bodyPr>
            <a:normAutofit lnSpcReduction="10000"/>
          </a:bodyPr>
          <a:lstStyle/>
          <a:p>
            <a:r>
              <a:rPr lang="en-US" dirty="0"/>
              <a:t>Suppose that restaurants offer both round pizzas and rectangular pizzas. </a:t>
            </a:r>
          </a:p>
          <a:p>
            <a:endParaRPr lang="en-US" dirty="0"/>
          </a:p>
          <a:p>
            <a:endParaRPr lang="en-US" dirty="0"/>
          </a:p>
          <a:p>
            <a:endParaRPr lang="en-US" dirty="0"/>
          </a:p>
          <a:p>
            <a:r>
              <a:rPr lang="en-US" dirty="0"/>
              <a:t>The code is on the next slides</a:t>
            </a:r>
          </a:p>
          <a:p>
            <a:r>
              <a:rPr lang="en-US" dirty="0"/>
              <a:t>Note that the function name unitPrice  has been </a:t>
            </a:r>
            <a:r>
              <a:rPr lang="en-US" b="1" dirty="0"/>
              <a:t>overloaded</a:t>
            </a:r>
            <a:r>
              <a:rPr lang="en-US" dirty="0"/>
              <a:t> so that it applies to both round and rectangular pizzas. </a:t>
            </a:r>
          </a:p>
          <a:p>
            <a:r>
              <a:rPr lang="en-US" dirty="0"/>
              <a:t>Build, Run and Test the Program</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25</a:t>
            </a:fld>
            <a:endParaRPr lang="ko-KR" altLang="en-US"/>
          </a:p>
        </p:txBody>
      </p:sp>
      <p:pic>
        <p:nvPicPr>
          <p:cNvPr id="1026" name="Picture 2" descr="C:\Users\Tinsae\Downloads\pizzame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2060848"/>
            <a:ext cx="3816424" cy="1384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4719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Buying Pizza</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26</a:t>
            </a:fld>
            <a:endParaRPr lang="ko-KR" altLang="en-US"/>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1" y="908720"/>
            <a:ext cx="8052639"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5700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Buying Pizza</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27</a:t>
            </a:fld>
            <a:endParaRPr lang="ko-KR" altLang="en-US"/>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908720"/>
            <a:ext cx="8323278"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6680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Buying Pizza</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28</a:t>
            </a:fld>
            <a:endParaRPr lang="ko-KR" alt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3" y="908720"/>
            <a:ext cx="8474925"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8253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Problems</a:t>
            </a:r>
          </a:p>
        </p:txBody>
      </p:sp>
      <p:sp>
        <p:nvSpPr>
          <p:cNvPr id="3" name="Content Placeholder 2"/>
          <p:cNvSpPr>
            <a:spLocks noGrp="1"/>
          </p:cNvSpPr>
          <p:nvPr>
            <p:ph idx="1"/>
          </p:nvPr>
        </p:nvSpPr>
        <p:spPr/>
        <p:txBody>
          <a:bodyPr/>
          <a:lstStyle/>
          <a:p>
            <a:r>
              <a:rPr lang="en-US" dirty="0"/>
              <a:t>Develop  a  calculator  program  using  function  (use  five  functions  add  (),  multiply (), divide (), subtract () and module ().</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29</a:t>
            </a:fld>
            <a:endParaRPr lang="ko-KR" altLang="en-US"/>
          </a:p>
        </p:txBody>
      </p:sp>
    </p:spTree>
    <p:extLst>
      <p:ext uri="{BB962C8B-B14F-4D97-AF65-F5344CB8AC3E}">
        <p14:creationId xmlns:p14="http://schemas.microsoft.com/office/powerpoint/2010/main" val="3879000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Problems</a:t>
            </a:r>
          </a:p>
        </p:txBody>
      </p:sp>
      <p:sp>
        <p:nvSpPr>
          <p:cNvPr id="3" name="Content Placeholder 2"/>
          <p:cNvSpPr>
            <a:spLocks noGrp="1"/>
          </p:cNvSpPr>
          <p:nvPr>
            <p:ph idx="1"/>
          </p:nvPr>
        </p:nvSpPr>
        <p:spPr/>
        <p:txBody>
          <a:bodyPr/>
          <a:lstStyle/>
          <a:p>
            <a:r>
              <a:rPr lang="en-US" dirty="0"/>
              <a:t>Write a C++ program to calculate and display the value of the slope of the line connecting two points with the coordinates (3,7) and (8,12).</a:t>
            </a:r>
          </a:p>
          <a:p>
            <a:r>
              <a:rPr lang="en-US" dirty="0"/>
              <a:t>After verifying the output your program produces, modify it to determine the slope of the line connecting the points (2,10) and (12,6).</a:t>
            </a:r>
          </a:p>
          <a:p>
            <a:pPr marL="0" indent="0">
              <a:buNone/>
            </a:pPr>
            <a:endParaRPr lang="en-US" dirty="0"/>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30</a:t>
            </a:fld>
            <a:endParaRPr lang="ko-KR" altLang="en-US"/>
          </a:p>
        </p:txBody>
      </p:sp>
    </p:spTree>
    <p:extLst>
      <p:ext uri="{BB962C8B-B14F-4D97-AF65-F5344CB8AC3E}">
        <p14:creationId xmlns:p14="http://schemas.microsoft.com/office/powerpoint/2010/main" val="1877605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Problems</a:t>
            </a:r>
          </a:p>
        </p:txBody>
      </p:sp>
      <p:sp>
        <p:nvSpPr>
          <p:cNvPr id="3" name="Content Placeholder 2"/>
          <p:cNvSpPr>
            <a:spLocks noGrp="1"/>
          </p:cNvSpPr>
          <p:nvPr>
            <p:ph idx="1"/>
          </p:nvPr>
        </p:nvSpPr>
        <p:spPr/>
        <p:txBody>
          <a:bodyPr>
            <a:normAutofit/>
          </a:bodyPr>
          <a:lstStyle/>
          <a:p>
            <a:r>
              <a:rPr lang="en-US" dirty="0"/>
              <a:t>What will happen if you use the points (2,3) and (2,4)</a:t>
            </a:r>
          </a:p>
          <a:p>
            <a:r>
              <a:rPr lang="en-US" dirty="0"/>
              <a:t>Change its output to this:</a:t>
            </a:r>
          </a:p>
          <a:p>
            <a:pPr lvl="1"/>
            <a:r>
              <a:rPr lang="en-US" dirty="0"/>
              <a:t>The value of the slope is </a:t>
            </a:r>
            <a:r>
              <a:rPr lang="en-US" dirty="0" err="1"/>
              <a:t>xxx.xx</a:t>
            </a:r>
            <a:endParaRPr lang="en-US" dirty="0"/>
          </a:p>
          <a:p>
            <a:pPr lvl="1"/>
            <a:r>
              <a:rPr lang="en-US" dirty="0"/>
              <a:t>The </a:t>
            </a:r>
            <a:r>
              <a:rPr lang="en-US" dirty="0" err="1"/>
              <a:t>xxx.xx</a:t>
            </a:r>
            <a:r>
              <a:rPr lang="en-US" dirty="0"/>
              <a:t>  denotes placing the calculated value in a field wide enough for three places to the left of the decimal point and two places to the right of it.</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31</a:t>
            </a:fld>
            <a:endParaRPr lang="ko-KR" altLang="en-US"/>
          </a:p>
        </p:txBody>
      </p:sp>
    </p:spTree>
    <p:extLst>
      <p:ext uri="{BB962C8B-B14F-4D97-AF65-F5344CB8AC3E}">
        <p14:creationId xmlns:p14="http://schemas.microsoft.com/office/powerpoint/2010/main" val="769736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tx2"/>
                </a:solidFill>
              </a:rPr>
              <a:t>Assignment #1</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When a particular rubber ball is dropped from a given height (in meters), its impact speed (in meters/second) when it hits the ground is given by this formula:</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𝑠𝑝𝑒𝑒𝑑</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2</m:t>
                          </m:r>
                          <m:r>
                            <a:rPr lang="en-US" b="0" i="1" smtClean="0">
                              <a:latin typeface="Cambria Math"/>
                            </a:rPr>
                            <m:t>𝑔h</m:t>
                          </m:r>
                        </m:e>
                      </m:rad>
                    </m:oMath>
                  </m:oMathPara>
                </a14:m>
                <a:endParaRPr lang="en-US" dirty="0"/>
              </a:p>
              <a:p>
                <a:r>
                  <a:rPr lang="en-US" dirty="0"/>
                  <a:t>where  g is the acceleration           caused by gravity and  h is the      height. </a:t>
                </a:r>
              </a:p>
              <a:p>
                <a:r>
                  <a:rPr lang="en-US" dirty="0"/>
                  <a:t>The ball then rebounds to 2/3 the   height from which it last fell.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2570" r="-2370" b="-654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DD10C66A-2542-49CE-8980-1D266FEFB8DA}" type="slidenum">
              <a:rPr lang="ko-KR" altLang="en-US" smtClean="0"/>
              <a:pPr/>
              <a:t>32</a:t>
            </a:fld>
            <a:endParaRPr lang="ko-KR" altLang="en-US"/>
          </a:p>
        </p:txBody>
      </p:sp>
      <p:pic>
        <p:nvPicPr>
          <p:cNvPr id="5122" name="Picture 2" descr="C:\Users\Tinsae\Downloads\bounc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288" y="2636913"/>
            <a:ext cx="1722884" cy="2259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945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tx2"/>
                </a:solidFill>
              </a:rPr>
              <a:t>Assignment #1 …</a:t>
            </a:r>
          </a:p>
        </p:txBody>
      </p:sp>
      <p:sp>
        <p:nvSpPr>
          <p:cNvPr id="3" name="Content Placeholder 2"/>
          <p:cNvSpPr>
            <a:spLocks noGrp="1"/>
          </p:cNvSpPr>
          <p:nvPr>
            <p:ph idx="1"/>
          </p:nvPr>
        </p:nvSpPr>
        <p:spPr/>
        <p:txBody>
          <a:bodyPr>
            <a:normAutofit/>
          </a:bodyPr>
          <a:lstStyle/>
          <a:p>
            <a:r>
              <a:rPr lang="en-US" dirty="0"/>
              <a:t>Write, test, and run a C++ program that calculates and displays the impact speed of the first three bounces and the rebound height of each bounce. </a:t>
            </a:r>
          </a:p>
          <a:p>
            <a:r>
              <a:rPr lang="en-US" dirty="0"/>
              <a:t>Test your program by using an initial height of 2.0 meters. </a:t>
            </a:r>
          </a:p>
          <a:p>
            <a:r>
              <a:rPr lang="en-US" dirty="0"/>
              <a:t>Run the program twice, and compare the results for dropping the ball on Earth     (g = 9.81 m/s</a:t>
            </a:r>
            <a:r>
              <a:rPr lang="en-US" baseline="30000" dirty="0"/>
              <a:t>2</a:t>
            </a:r>
            <a:r>
              <a:rPr lang="en-US" dirty="0"/>
              <a:t>) and on the moon        (g = 1.67 m/s</a:t>
            </a:r>
            <a:r>
              <a:rPr lang="en-US" baseline="30000" dirty="0"/>
              <a:t>2</a:t>
            </a:r>
            <a:r>
              <a:rPr lang="en-US" dirty="0"/>
              <a:t>).</a:t>
            </a:r>
          </a:p>
        </p:txBody>
      </p:sp>
      <p:sp>
        <p:nvSpPr>
          <p:cNvPr id="4" name="Slide Number Placeholder 3"/>
          <p:cNvSpPr>
            <a:spLocks noGrp="1"/>
          </p:cNvSpPr>
          <p:nvPr>
            <p:ph type="sldNum" sz="quarter" idx="12"/>
          </p:nvPr>
        </p:nvSpPr>
        <p:spPr/>
        <p:txBody>
          <a:bodyPr/>
          <a:lstStyle/>
          <a:p>
            <a:fld id="{DD10C66A-2542-49CE-8980-1D266FEFB8DA}" type="slidenum">
              <a:rPr lang="ko-KR" altLang="en-US" smtClean="0"/>
              <a:pPr/>
              <a:t>33</a:t>
            </a:fld>
            <a:endParaRPr lang="ko-KR" altLang="en-US"/>
          </a:p>
        </p:txBody>
      </p:sp>
    </p:spTree>
    <p:extLst>
      <p:ext uri="{BB962C8B-B14F-4D97-AF65-F5344CB8AC3E}">
        <p14:creationId xmlns:p14="http://schemas.microsoft.com/office/powerpoint/2010/main" val="1707418846"/>
      </p:ext>
    </p:extLst>
  </p:cSld>
  <p:clrMapOvr>
    <a:masterClrMapping/>
  </p:clrMapOvr>
</p:sld>
</file>

<file path=ppt/theme/theme1.xml><?xml version="1.0" encoding="utf-8"?>
<a:theme xmlns:a="http://schemas.openxmlformats.org/drawingml/2006/main" name="lecture01.no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Arial Black"/>
        <a:ea typeface="굴림"/>
        <a:cs typeface=""/>
      </a:majorFont>
      <a:minorFont>
        <a:latin typeface="Arial"/>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5875">
          <a:solidFill>
            <a:srgbClr val="FF0000"/>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06</Template>
  <TotalTime>8163</TotalTime>
  <Words>1516</Words>
  <Application>Microsoft Office PowerPoint</Application>
  <PresentationFormat>On-screen Show (4:3)</PresentationFormat>
  <Paragraphs>239</Paragraphs>
  <Slides>33</Slides>
  <Notes>0</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33</vt:i4>
      </vt:variant>
    </vt:vector>
  </HeadingPairs>
  <TitlesOfParts>
    <vt:vector size="47" baseType="lpstr">
      <vt:lpstr>굴림</vt:lpstr>
      <vt:lpstr>맑은 고딕</vt:lpstr>
      <vt:lpstr>MS Mincho</vt:lpstr>
      <vt:lpstr>Arial</vt:lpstr>
      <vt:lpstr>Arial Black</vt:lpstr>
      <vt:lpstr>Calibri</vt:lpstr>
      <vt:lpstr>Cambria Math</vt:lpstr>
      <vt:lpstr>Courier New</vt:lpstr>
      <vt:lpstr>HY견고딕</vt:lpstr>
      <vt:lpstr>Tahoma</vt:lpstr>
      <vt:lpstr>Times New Roman</vt:lpstr>
      <vt:lpstr>Wingdings</vt:lpstr>
      <vt:lpstr>lecture01.note</vt:lpstr>
      <vt:lpstr>1_기본 디자인</vt:lpstr>
      <vt:lpstr>Fundamentals of Programming   Lab Lecture #3 </vt:lpstr>
      <vt:lpstr>PowerPoint Presentation</vt:lpstr>
      <vt:lpstr>Case Study: Taxi Fare Change</vt:lpstr>
      <vt:lpstr>Case Study: Taxi Changes</vt:lpstr>
      <vt:lpstr>Step 1: Analyze the Problem</vt:lpstr>
      <vt:lpstr>Step 2: Develop a Solution</vt:lpstr>
      <vt:lpstr>Step 2: Develop a Solution(Detailed Algorithm)</vt:lpstr>
      <vt:lpstr>Step 3: Coding</vt:lpstr>
      <vt:lpstr>Step 3: Coding</vt:lpstr>
      <vt:lpstr>Formatting Numbers for Program Output</vt:lpstr>
      <vt:lpstr>Formatting Number for Program Output</vt:lpstr>
      <vt:lpstr>Formatting Number for Program Output</vt:lpstr>
      <vt:lpstr>Formatting Number for Program Output</vt:lpstr>
      <vt:lpstr>Formatting Number for Program Output</vt:lpstr>
      <vt:lpstr>Formatting Number for Program Output</vt:lpstr>
      <vt:lpstr>Formatting Number for Program Output</vt:lpstr>
      <vt:lpstr>Cast Operator</vt:lpstr>
      <vt:lpstr>Cast Operator</vt:lpstr>
      <vt:lpstr>Case Study: Buying Pizza</vt:lpstr>
      <vt:lpstr>Case Study: Buying Pizza</vt:lpstr>
      <vt:lpstr>Case Study: Buying Pizza</vt:lpstr>
      <vt:lpstr>Case Study: Buying Pizza</vt:lpstr>
      <vt:lpstr>Case Study: Buying Pizza</vt:lpstr>
      <vt:lpstr>Case Study: Buying Pizza</vt:lpstr>
      <vt:lpstr>Case Study: Buying Pizza</vt:lpstr>
      <vt:lpstr>Case Study: Buying Pizza</vt:lpstr>
      <vt:lpstr>Case Study: Buying Pizza</vt:lpstr>
      <vt:lpstr>Case Study: Buying Pizza</vt:lpstr>
      <vt:lpstr>General Problems</vt:lpstr>
      <vt:lpstr>General Problems</vt:lpstr>
      <vt:lpstr>General Problems</vt:lpstr>
      <vt:lpstr>Assignment #1</vt:lpstr>
      <vt:lpstr>Assignment #1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CCE20003  PROGRAMMING I Lecture 6</dc:title>
  <dc:creator>shinsy</dc:creator>
  <cp:lastModifiedBy>Melkamu</cp:lastModifiedBy>
  <cp:revision>298</cp:revision>
  <dcterms:created xsi:type="dcterms:W3CDTF">2015-01-20T03:51:45Z</dcterms:created>
  <dcterms:modified xsi:type="dcterms:W3CDTF">2026-09-04T08:55:33Z</dcterms:modified>
</cp:coreProperties>
</file>