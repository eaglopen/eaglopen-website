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21"/>
  </p:notesMasterIdLst>
  <p:sldIdLst>
    <p:sldId id="257" r:id="rId3"/>
    <p:sldId id="258" r:id="rId4"/>
    <p:sldId id="339" r:id="rId5"/>
    <p:sldId id="341" r:id="rId6"/>
    <p:sldId id="340" r:id="rId7"/>
    <p:sldId id="343" r:id="rId8"/>
    <p:sldId id="342" r:id="rId9"/>
    <p:sldId id="329" r:id="rId10"/>
    <p:sldId id="335" r:id="rId11"/>
    <p:sldId id="336" r:id="rId12"/>
    <p:sldId id="328" r:id="rId13"/>
    <p:sldId id="330" r:id="rId14"/>
    <p:sldId id="331" r:id="rId15"/>
    <p:sldId id="332" r:id="rId16"/>
    <p:sldId id="333" r:id="rId17"/>
    <p:sldId id="334" r:id="rId18"/>
    <p:sldId id="337" r:id="rId19"/>
    <p:sldId id="338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FFFF00"/>
    <a:srgbClr val="35B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9606" autoAdjust="0"/>
  </p:normalViewPr>
  <p:slideViewPr>
    <p:cSldViewPr>
      <p:cViewPr varScale="1">
        <p:scale>
          <a:sx n="99" d="100"/>
          <a:sy n="99" d="100"/>
        </p:scale>
        <p:origin x="760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0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FEE8B-A424-430C-B832-DE2CE85D72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04755-F9BC-4CDA-9C8F-4B164C319D3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CFA1-D8AD-45F1-8714-8A2522966365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5305" y="332658"/>
            <a:ext cx="82014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94116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2325-B186-44DE-A536-E153A611E622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A8FA-359C-4392-9643-05A5726F6F74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AC91-2952-4DC0-A672-B411813FE6D5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10FD-9FE1-4AB9-9FFB-200E0DDC5897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E33B-0FFF-4597-9485-E0F8433AC673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6C6B-FBE7-4DE4-9C9D-FC73AE92317F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4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575050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457204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46F2-6623-4275-BB3F-4FF933F7A63F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7E58-D2EE-40DA-9C92-ED726FCCFDBC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C162-54C8-4BB0-9C6B-AE88FBD196A9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3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5BD-2588-4F56-9E14-32327AE04841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520" b="0" i="0">
                <a:solidFill>
                  <a:srgbClr val="10278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Holder 3"/>
          <p:cNvSpPr>
            <a:spLocks noGrp="1"/>
          </p:cNvSpPr>
          <p:nvPr>
            <p:ph sz="half" idx="2" hasCustomPrompt="1"/>
          </p:nvPr>
        </p:nvSpPr>
        <p:spPr>
          <a:xfrm>
            <a:off x="457200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 hasCustomPrompt="1"/>
          </p:nvPr>
        </p:nvSpPr>
        <p:spPr>
          <a:xfrm>
            <a:off x="4709159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E538A-CF88-4457-95A3-597AC2F549C4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827088" y="3213100"/>
            <a:ext cx="77771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38926" y="260351"/>
            <a:ext cx="2058988" cy="6337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1"/>
            <a:ext cx="6029325" cy="6337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49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0F1F258-9322-4693-A0E0-F1EC2F0187DA}" type="datetime1">
              <a:rPr lang="ko-KR" altLang="en-US" smtClean="0"/>
              <a:t>2026-09-04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96FFCEE6-A8B9-4E87-81E3-67B1867F1C23}" type="slidenum">
              <a:rPr kumimoji="0" lang="ko-KR" altLang="en-US" smtClean="0"/>
              <a:t>‹#›</a:t>
            </a:fld>
            <a:endParaRPr kumimoji="0"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908724"/>
            <a:ext cx="8229600" cy="521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3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C6623-9801-44E2-8962-24D16AF8433E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3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611561" y="836712"/>
            <a:ext cx="7992888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7884368" y="332656"/>
            <a:ext cx="792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aseline="0" dirty="0"/>
              <a:t>ASTU</a:t>
            </a:r>
            <a:endParaRPr lang="ko-KR" altLang="en-US" dirty="0"/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452320" y="26064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1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4"/>
            <a:ext cx="8229600" cy="5329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468314" y="981075"/>
            <a:ext cx="69119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굴림" pitchFamily="50" charset="-127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굴림" pitchFamily="50" charset="-127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800">
          <a:solidFill>
            <a:schemeClr val="tx1"/>
          </a:solidFill>
          <a:latin typeface="+mn-lt"/>
          <a:ea typeface="+mn-ea"/>
          <a:cs typeface="굴림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굴림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323528" y="188640"/>
            <a:ext cx="8606680" cy="2520280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altLang="ko-KR" b="1" dirty="0">
                <a:latin typeface="HY견고딕" pitchFamily="18" charset="-127"/>
                <a:ea typeface="HY견고딕" pitchFamily="18" charset="-127"/>
              </a:rPr>
              <a:t>Fundamentals of Programming</a:t>
            </a:r>
            <a:r>
              <a:rPr lang="en-US" altLang="ko-KR" sz="4400" b="1" dirty="0">
                <a:latin typeface="HY견고딕" pitchFamily="18" charset="-127"/>
                <a:ea typeface="HY견고딕" pitchFamily="18" charset="-127"/>
              </a:rPr>
              <a:t> </a:t>
            </a:r>
            <a:br>
              <a:rPr lang="en-US" altLang="ko-KR" sz="4400" b="1" dirty="0">
                <a:latin typeface="HY견고딕" pitchFamily="18" charset="-127"/>
                <a:ea typeface="HY견고딕" pitchFamily="18" charset="-127"/>
              </a:rPr>
            </a:br>
            <a:br>
              <a:rPr lang="en-US" altLang="ko-KR" sz="4400" b="1" dirty="0"/>
            </a:br>
            <a:r>
              <a:rPr lang="en-US" altLang="ko-KR"/>
              <a:t>Lecture #2</a:t>
            </a:r>
            <a:br>
              <a:rPr lang="en-US" altLang="ko-KR" dirty="0"/>
            </a:b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Basic C++ Programming Practice</a:t>
            </a:r>
          </a:p>
          <a:p>
            <a:pPr lvl="1"/>
            <a:r>
              <a:rPr lang="en-US" sz="2200" dirty="0"/>
              <a:t>Finding Errors</a:t>
            </a:r>
          </a:p>
          <a:p>
            <a:pPr lvl="2"/>
            <a:r>
              <a:rPr lang="en-US" sz="1800" dirty="0"/>
              <a:t>Syntax Errors</a:t>
            </a:r>
          </a:p>
          <a:p>
            <a:pPr lvl="2"/>
            <a:r>
              <a:rPr lang="en-US" sz="1800" dirty="0"/>
              <a:t>Runtime Errors</a:t>
            </a:r>
          </a:p>
          <a:p>
            <a:pPr lvl="1"/>
            <a:r>
              <a:rPr lang="en-US" sz="2200" dirty="0"/>
              <a:t>Heat Transfer Case Study</a:t>
            </a:r>
          </a:p>
          <a:p>
            <a:pPr lvl="1"/>
            <a:r>
              <a:rPr lang="en-US" sz="2200" dirty="0"/>
              <a:t>Size of Data Types</a:t>
            </a:r>
          </a:p>
          <a:p>
            <a:pPr lvl="1"/>
            <a:r>
              <a:rPr lang="en-US" sz="2200" dirty="0"/>
              <a:t>Practice Exercise 1</a:t>
            </a:r>
          </a:p>
          <a:p>
            <a:pPr lvl="1"/>
            <a:r>
              <a:rPr lang="en-US" sz="2200" dirty="0"/>
              <a:t>Practice Exercise 2</a:t>
            </a:r>
          </a:p>
          <a:p>
            <a:pPr lvl="1"/>
            <a:r>
              <a:rPr lang="en-US" sz="2200" dirty="0"/>
              <a:t>General Problems(Maths and Physics)</a:t>
            </a:r>
          </a:p>
          <a:p>
            <a:pPr marL="457200" lvl="1" indent="0">
              <a:buNone/>
            </a:pPr>
            <a:endParaRPr lang="en-US" sz="2200" dirty="0"/>
          </a:p>
          <a:p>
            <a:pPr marL="914400" lvl="2" indent="0">
              <a:buNone/>
            </a:pPr>
            <a:endParaRPr lang="en-US" sz="1800" dirty="0"/>
          </a:p>
          <a:p>
            <a:endParaRPr lang="en-US" sz="2600" dirty="0"/>
          </a:p>
          <a:p>
            <a:endParaRPr lang="en-US" altLang="ko-KR" sz="2600" dirty="0"/>
          </a:p>
          <a:p>
            <a:endParaRPr lang="en-US" altLang="ko-KR" sz="2600" dirty="0"/>
          </a:p>
          <a:p>
            <a:pPr marL="0" indent="0">
              <a:buNone/>
            </a:pPr>
            <a:endParaRPr lang="en-US" altLang="ko-KR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Syntax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Code::Blocks shows errors using the red marker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The top most error shows up first</a:t>
            </a:r>
          </a:p>
          <a:p>
            <a:pPr lvl="1"/>
            <a:r>
              <a:rPr lang="en-US" dirty="0"/>
              <a:t>See error details in the log window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84984"/>
            <a:ext cx="8181909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error is corrected, now it moves to the next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17" y="1916832"/>
            <a:ext cx="6908295" cy="471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7344816" cy="4014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Can’t See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can’t see the build messages, make sure the Logs is checked on View menu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92896"/>
            <a:ext cx="4680520" cy="407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Run-time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Program will break and code::blocks shows you a warning for the next build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2060848"/>
            <a:ext cx="6962775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Study: Heat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Lecture 1 you developed simple        algorithm for the heat transfer problem</a:t>
            </a:r>
          </a:p>
          <a:p>
            <a:r>
              <a:rPr lang="en-US" dirty="0"/>
              <a:t>Finish the remaining steps</a:t>
            </a:r>
          </a:p>
          <a:p>
            <a:pPr lvl="1"/>
            <a:r>
              <a:rPr lang="en-US" b="1" dirty="0"/>
              <a:t>Coding</a:t>
            </a:r>
          </a:p>
          <a:p>
            <a:pPr lvl="1"/>
            <a:r>
              <a:rPr lang="en-US" b="1" dirty="0"/>
              <a:t>Testing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Size of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unique feature of C++ is that you can see where and how values are stored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sizeof()</a:t>
            </a:r>
            <a:r>
              <a:rPr lang="en-US" dirty="0"/>
              <a:t> operator provides the number of bytes used to store values of the data type named in the parenthesis</a:t>
            </a:r>
          </a:p>
          <a:p>
            <a:pPr lvl="1"/>
            <a:r>
              <a:rPr lang="en-US" dirty="0"/>
              <a:t>Values returned by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sizeof()</a:t>
            </a:r>
            <a:r>
              <a:rPr lang="en-US" dirty="0"/>
              <a:t> are compiler dependent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Size of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24744"/>
            <a:ext cx="8047737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 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cout, write a C++ program that displays your name on one line, your id number on a second line, and your city, region, and phone number on a third line</a:t>
            </a:r>
          </a:p>
          <a:p>
            <a:r>
              <a:rPr lang="en-US" dirty="0"/>
              <a:t>Run the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 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following correct algebraic expressions and corresponding incorrect C++ expressions, find the errors and write  corrected C++ expressions in one C++ program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971600" y="3645024"/>
              <a:ext cx="6696744" cy="2880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77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489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Algebra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C++ Expression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(2)(3)+(4)(5)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(2)(3)+(4)(5)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52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pc="150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pc="150" baseline="0" smtClean="0">
                                        <a:latin typeface="Cambria Math" panose="02040503050406030204"/>
                                      </a:rPr>
                                      <m:t>6+18</m:t>
                                    </m:r>
                                  </m:num>
                                  <m:den>
                                    <m:r>
                                      <a:rPr lang="en-US" b="0" i="1" spc="150" baseline="0" smtClean="0">
                                        <a:latin typeface="Cambria Math" panose="02040503050406030204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6+18/2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30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pc="150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pc="150" baseline="0" smtClean="0">
                                        <a:latin typeface="Cambria Math" panose="02040503050406030204"/>
                                      </a:rPr>
                                      <m:t>4.5</m:t>
                                    </m:r>
                                  </m:num>
                                  <m:den>
                                    <m:r>
                                      <a:rPr lang="en-US" b="0" i="1" spc="150" baseline="0" smtClean="0">
                                        <a:latin typeface="Cambria Math" panose="02040503050406030204"/>
                                      </a:rPr>
                                      <m:t>12.2−3.1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4.5/12.2-3.1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4.6(3.0+14.9)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/>
                            <a:t>4.6(3.0+14.9)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pc="15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971600" y="3645024"/>
              <a:ext cx="6696744" cy="2880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7751"/>
                    <a:gridCol w="3848993"/>
                  </a:tblGrid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Algebra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C++ Expression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(2)(3)+(4)(5)</a:t>
                          </a:r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(2)(3)+(4)(5)</a:t>
                          </a:r>
                          <a:endParaRPr lang="en-US" spc="150" baseline="0" dirty="0"/>
                        </a:p>
                      </a:txBody>
                      <a:tcPr/>
                    </a:tc>
                  </a:tr>
                  <a:tr h="64516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6+18/2</a:t>
                          </a:r>
                          <a:endParaRPr lang="en-US" spc="150" baseline="0" dirty="0"/>
                        </a:p>
                      </a:txBody>
                      <a:tcPr/>
                    </a:tc>
                  </a:tr>
                  <a:tr h="65278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4.5/12.2-3.1</a:t>
                          </a:r>
                          <a:endParaRPr lang="en-US" spc="150" baseline="0" dirty="0"/>
                        </a:p>
                      </a:txBody>
                      <a:tcPr/>
                    </a:tc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4.6(3.0+14.9)</a:t>
                          </a:r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pc="150" baseline="0" dirty="0" smtClean="0"/>
                            <a:t>4.6(3.0+14.9)</a:t>
                          </a:r>
                          <a:endParaRPr lang="en-US" spc="150" baseline="0" dirty="0"/>
                        </a:p>
                      </a:txBody>
                      <a:tcPr/>
                    </a:tc>
                  </a:tr>
                  <a:tr h="395501">
                    <a:tc>
                      <a:txBody>
                        <a:bodyPr/>
                        <a:lstStyle/>
                        <a:p>
                          <a:pPr algn="ctr"/>
                          <a:endParaRPr lang="en-US" spc="15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pc="150" baseline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 Exercise 2…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C++ program that displays the   results of the expressions  </a:t>
            </a:r>
          </a:p>
          <a:p>
            <a:pPr marL="0" indent="0">
              <a:buNone/>
            </a:pPr>
            <a:r>
              <a:rPr lang="en-US" dirty="0"/>
              <a:t>		3.0*5.0,  </a:t>
            </a:r>
          </a:p>
          <a:p>
            <a:pPr marL="0" indent="0">
              <a:buNone/>
            </a:pPr>
            <a:r>
              <a:rPr lang="en-US" dirty="0"/>
              <a:t>		7.1 * 8.3  - 2.2 </a:t>
            </a:r>
          </a:p>
          <a:p>
            <a:pPr marL="0" indent="0">
              <a:buNone/>
            </a:pPr>
            <a:r>
              <a:rPr lang="en-US" dirty="0"/>
              <a:t>		3.2  / (6.1 * 5). </a:t>
            </a:r>
          </a:p>
          <a:p>
            <a:r>
              <a:rPr lang="en-US" dirty="0"/>
              <a:t>Calculate the value of these expressions manually to verify that the displayed      values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Design, write, compile, and run a C++ program that calculates and  displays the area of a triangle, with a base of 1 in and a height of 1.5 in.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/>
                      </a:rPr>
                      <m:t>𝐴𝑟𝑒𝑎</m:t>
                    </m:r>
                    <m:r>
                      <a:rPr lang="en-US" b="0" i="1" smtClean="0">
                        <a:latin typeface="Cambria Math" panose="02040503050406030204"/>
                      </a:rPr>
                      <m:t>=1/2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/>
                          </a:rPr>
                          <m:t>𝑏𝑎𝑠𝑒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/>
                      </a:rPr>
                      <m:t>(</m:t>
                    </m:r>
                    <m:r>
                      <a:rPr lang="en-US" b="0" i="1" smtClean="0">
                        <a:latin typeface="Cambria Math" panose="02040503050406030204"/>
                      </a:rPr>
                      <m:t>h𝑒𝑖𝑔h𝑡</m:t>
                    </m:r>
                    <m:r>
                      <a:rPr lang="en-US" b="0" i="1" smtClean="0">
                        <a:latin typeface="Cambria Math" panose="02040503050406030204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Test the program with different values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" b="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577" y="4387880"/>
            <a:ext cx="3629203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Design, write, compile, and run a C++ program to calculate the volume of a sphere with a radius,  r, of 2 in. </a:t>
                </a:r>
              </a:p>
              <a:p>
                <a:r>
                  <a:rPr lang="en-US" dirty="0"/>
                  <a:t>Test the program with different values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/>
                        </a:rPr>
                        <m:t>𝑣𝑜𝑙𝑢𝑚𝑒</m:t>
                      </m:r>
                      <m:r>
                        <a:rPr lang="en-US" b="0" i="1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" b="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Design, write, compile, and run a C++ program to calculate the elapsed time it takes to make a 183.67-mile trip. This is the formula for computing elapsed time</a:t>
            </a:r>
          </a:p>
          <a:p>
            <a:pPr marL="914400" lvl="2" indent="0">
              <a:buNone/>
            </a:pPr>
            <a:r>
              <a:rPr lang="en-US" dirty="0"/>
              <a:t>elapsed time = total distance / average speed</a:t>
            </a:r>
          </a:p>
          <a:p>
            <a:pPr marL="914400" lvl="2" indent="0">
              <a:buNone/>
            </a:pPr>
            <a:r>
              <a:rPr lang="en-US" dirty="0"/>
              <a:t>The   average speed during the trip is 58 mph.</a:t>
            </a:r>
          </a:p>
          <a:p>
            <a:r>
              <a:rPr lang="en-US" dirty="0"/>
              <a:t>Test it with different average speeds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that accepts the value of temperature in Fahrenheit and converts to its Celsius equivalent. (hint C=F-32*5/9) </a:t>
            </a:r>
          </a:p>
          <a:p>
            <a:r>
              <a:rPr lang="en-US" dirty="0"/>
              <a:t>Test it with different temperatures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Swap the contents of two variables using a third variable. </a:t>
            </a:r>
          </a:p>
          <a:p>
            <a:r>
              <a:rPr lang="en-US" dirty="0"/>
              <a:t>Swap the contents of two </a:t>
            </a:r>
            <a:r>
              <a:rPr lang="en-US"/>
              <a:t>variables without using </a:t>
            </a:r>
            <a:r>
              <a:rPr lang="en-US" dirty="0"/>
              <a:t>a third variable. 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26" name="Picture 2" descr="http://2.bp.blogspot.com/-F48EIu_U-ek/UZDS0derfKI/AAAAAAAAAj0/lAqWhqWJ4Cs/s1600/swap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124744"/>
            <a:ext cx="343879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cture01.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Arial Black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5875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06</Template>
  <TotalTime>1</TotalTime>
  <Words>579</Words>
  <Application>Microsoft Office PowerPoint</Application>
  <PresentationFormat>On-screen Show (4:3)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굴림</vt:lpstr>
      <vt:lpstr>맑은 고딕</vt:lpstr>
      <vt:lpstr>Arial</vt:lpstr>
      <vt:lpstr>Arial Black</vt:lpstr>
      <vt:lpstr>Cambria Math</vt:lpstr>
      <vt:lpstr>Courier New</vt:lpstr>
      <vt:lpstr>HY견고딕</vt:lpstr>
      <vt:lpstr>Tahoma</vt:lpstr>
      <vt:lpstr>Wingdings</vt:lpstr>
      <vt:lpstr>lecture01.note</vt:lpstr>
      <vt:lpstr>1_기본 디자인</vt:lpstr>
      <vt:lpstr>Fundamentals of Programming   Lecture #2 </vt:lpstr>
      <vt:lpstr>PowerPoint Presentation</vt:lpstr>
      <vt:lpstr>Syntax Errors</vt:lpstr>
      <vt:lpstr>Syntax Errors</vt:lpstr>
      <vt:lpstr>Syntax Errors</vt:lpstr>
      <vt:lpstr>Can’t See Logs</vt:lpstr>
      <vt:lpstr>Run-time Errors</vt:lpstr>
      <vt:lpstr>Case Study: Heat Transfer</vt:lpstr>
      <vt:lpstr>Size of Data Types</vt:lpstr>
      <vt:lpstr>Size of Data Types</vt:lpstr>
      <vt:lpstr>Practice Exercise 1</vt:lpstr>
      <vt:lpstr>Practice Exercise 2</vt:lpstr>
      <vt:lpstr>Practice Exercise 2…</vt:lpstr>
      <vt:lpstr>General Problems</vt:lpstr>
      <vt:lpstr>General Problems</vt:lpstr>
      <vt:lpstr>General Problems</vt:lpstr>
      <vt:lpstr>General Problems</vt:lpstr>
      <vt:lpstr>General 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CCE20003  PROGRAMMING I Lecture 6</dc:title>
  <dc:creator>shinsy</dc:creator>
  <cp:lastModifiedBy>Melkamu</cp:lastModifiedBy>
  <cp:revision>256</cp:revision>
  <dcterms:created xsi:type="dcterms:W3CDTF">2015-01-20T03:51:00Z</dcterms:created>
  <dcterms:modified xsi:type="dcterms:W3CDTF">2026-09-04T08:55:57Z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467D18CBFE054F978E3A0A56483B7133</vt:lpwstr>
  </property>
  <property fmtid="{D5CDD505-2E9C-101B-9397-08002B2CF9AE}" pid="3" name="KSOProductBuildVer">
    <vt:lpwstr>2057-11.2.0.10323</vt:lpwstr>
  </property>
</Properties>
</file>