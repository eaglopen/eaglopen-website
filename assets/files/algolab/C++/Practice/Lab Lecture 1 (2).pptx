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</p:sldMasterIdLst>
  <p:notesMasterIdLst>
    <p:notesMasterId r:id="rId29"/>
  </p:notesMasterIdLst>
  <p:sldIdLst>
    <p:sldId id="257" r:id="rId3"/>
    <p:sldId id="258" r:id="rId4"/>
    <p:sldId id="307" r:id="rId5"/>
    <p:sldId id="311" r:id="rId6"/>
    <p:sldId id="308" r:id="rId7"/>
    <p:sldId id="309" r:id="rId8"/>
    <p:sldId id="310" r:id="rId9"/>
    <p:sldId id="313" r:id="rId10"/>
    <p:sldId id="314" r:id="rId11"/>
    <p:sldId id="315" r:id="rId12"/>
    <p:sldId id="316" r:id="rId13"/>
    <p:sldId id="317" r:id="rId14"/>
    <p:sldId id="327" r:id="rId15"/>
    <p:sldId id="318" r:id="rId16"/>
    <p:sldId id="328" r:id="rId17"/>
    <p:sldId id="331" r:id="rId18"/>
    <p:sldId id="329" r:id="rId19"/>
    <p:sldId id="330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</p:sldIdLst>
  <p:sldSz cx="9144000" cy="6858000" type="screen4x3"/>
  <p:notesSz cx="7315200" cy="9601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FFFF00"/>
    <a:srgbClr val="35BC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9606" autoAdjust="0"/>
  </p:normalViewPr>
  <p:slideViewPr>
    <p:cSldViewPr>
      <p:cViewPr varScale="1">
        <p:scale>
          <a:sx n="99" d="100"/>
          <a:sy n="99" d="100"/>
        </p:scale>
        <p:origin x="7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0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71FEE8B-A424-430C-B832-DE2CE85D72CA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6204755-F9BC-4CDA-9C8F-4B164C319D38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CFA1-D8AD-45F1-8714-8A2522966365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85305" y="332658"/>
            <a:ext cx="82014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9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941169"/>
            <a:ext cx="432048" cy="42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2325-B186-44DE-A536-E153A611E622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5A8FA-359C-4392-9643-05A5726F6F74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EAC91-2952-4DC0-A672-B411813FE6D5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910FD-9FE1-4AB9-9FFB-200E0DDC5897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9E33B-0FFF-4597-9485-E0F8433AC673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6C6B-FBE7-4DE4-9C9D-FC73AE92317F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4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575050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457204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646F2-6623-4275-BB3F-4FF933F7A63F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7E58-D2EE-40DA-9C92-ED726FCCFDBC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C162-54C8-4BB0-9C6B-AE88FBD196A9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3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565BD-2588-4F56-9E14-32327AE04841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200"/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sz="2520" b="0" i="0">
                <a:solidFill>
                  <a:srgbClr val="10278F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Holder 3"/>
          <p:cNvSpPr>
            <a:spLocks noGrp="1"/>
          </p:cNvSpPr>
          <p:nvPr>
            <p:ph sz="half" idx="2" hasCustomPrompt="1"/>
          </p:nvPr>
        </p:nvSpPr>
        <p:spPr>
          <a:xfrm>
            <a:off x="457200" y="1577341"/>
            <a:ext cx="397764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 hasCustomPrompt="1"/>
          </p:nvPr>
        </p:nvSpPr>
        <p:spPr>
          <a:xfrm>
            <a:off x="4709159" y="1577341"/>
            <a:ext cx="397764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E538A-CF88-4457-95A3-597AC2F549C4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827088" y="3213100"/>
            <a:ext cx="77771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2130426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8414"/>
            <a:ext cx="4038600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268414"/>
            <a:ext cx="4038600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38926" y="260351"/>
            <a:ext cx="2058988" cy="6337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60351"/>
            <a:ext cx="6029325" cy="6337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28649" y="6356352"/>
            <a:ext cx="20574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0F1F258-9322-4693-A0E0-F1EC2F0187DA}" type="datetime1">
              <a:rPr lang="ko-KR" altLang="en-US" smtClean="0"/>
              <a:t>2026-09-04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0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/>
          <a:lstStyle/>
          <a:p>
            <a:fld id="{96FFCEE6-A8B9-4E87-81E3-67B1867F1C23}" type="slidenum">
              <a:rPr kumimoji="0" lang="ko-KR" altLang="en-US" smtClean="0"/>
              <a:t>‹#›</a:t>
            </a:fld>
            <a:endParaRPr kumimoji="0"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908724"/>
            <a:ext cx="8229600" cy="521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3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C6623-9801-44E2-8962-24D16AF8433E}" type="datetime1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3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0C66A-2542-49CE-8980-1D266FEFB8DA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611561" y="836712"/>
            <a:ext cx="7992888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7884368" y="332656"/>
            <a:ext cx="792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800" baseline="0" dirty="0"/>
              <a:t>ASTU</a:t>
            </a:r>
            <a:endParaRPr lang="ko-KR" altLang="en-US" dirty="0"/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452320" y="260649"/>
            <a:ext cx="432048" cy="42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1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4"/>
            <a:ext cx="8229600" cy="53292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468314" y="981075"/>
            <a:ext cx="69119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굴림" pitchFamily="50" charset="-127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  <a:cs typeface="굴림" pitchFamily="50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 Black" panose="020B0A04020102020204" pitchFamily="34" charset="0"/>
          <a:ea typeface="굴림" pitchFamily="50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굴림" pitchFamily="50" charset="-127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800">
          <a:solidFill>
            <a:schemeClr val="tx1"/>
          </a:solidFill>
          <a:latin typeface="+mn-lt"/>
          <a:ea typeface="+mn-ea"/>
          <a:cs typeface="굴림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굴림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  <a:cs typeface="굴림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  <a:cs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323528" y="188640"/>
            <a:ext cx="8606680" cy="2520280"/>
          </a:xfrm>
          <a:solidFill>
            <a:schemeClr val="bg1"/>
          </a:solidFill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altLang="ko-KR" b="1" dirty="0">
                <a:latin typeface="HY견고딕" pitchFamily="18" charset="-127"/>
                <a:ea typeface="HY견고딕" pitchFamily="18" charset="-127"/>
              </a:rPr>
              <a:t>Fundamentals of Programming</a:t>
            </a:r>
            <a:r>
              <a:rPr lang="en-US" altLang="ko-KR" sz="4400" b="1" dirty="0">
                <a:latin typeface="HY견고딕" pitchFamily="18" charset="-127"/>
                <a:ea typeface="HY견고딕" pitchFamily="18" charset="-127"/>
              </a:rPr>
              <a:t> </a:t>
            </a:r>
            <a:br>
              <a:rPr lang="en-US" altLang="ko-KR" sz="4400" b="1" dirty="0">
                <a:latin typeface="HY견고딕" pitchFamily="18" charset="-127"/>
                <a:ea typeface="HY견고딕" pitchFamily="18" charset="-127"/>
              </a:rPr>
            </a:br>
            <a:br>
              <a:rPr lang="en-US" altLang="ko-KR" sz="4400" b="1" dirty="0"/>
            </a:br>
            <a:r>
              <a:rPr lang="en-US" altLang="ko-KR" dirty="0"/>
              <a:t>Lecture #2</a:t>
            </a:r>
            <a:br>
              <a:rPr lang="en-US" altLang="ko-KR" dirty="0"/>
            </a:b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600" dirty="0"/>
              <a:t>Getting Familiar with the C++ Environment</a:t>
            </a:r>
          </a:p>
          <a:p>
            <a:r>
              <a:rPr lang="en-US" altLang="ko-KR" sz="2600" dirty="0"/>
              <a:t>Software Requirement</a:t>
            </a:r>
          </a:p>
          <a:p>
            <a:r>
              <a:rPr lang="en-US" altLang="ko-KR" sz="2600" dirty="0"/>
              <a:t>Opening an IDE</a:t>
            </a:r>
          </a:p>
          <a:p>
            <a:r>
              <a:rPr lang="en-US" sz="2600" dirty="0"/>
              <a:t>Creating new Project</a:t>
            </a:r>
          </a:p>
          <a:p>
            <a:r>
              <a:rPr lang="en-US" sz="2600" dirty="0"/>
              <a:t>Workspace and Projects manager</a:t>
            </a:r>
          </a:p>
          <a:p>
            <a:r>
              <a:rPr lang="en-US" sz="2600" dirty="0"/>
              <a:t>Changing Code Blocks Settings</a:t>
            </a:r>
          </a:p>
          <a:p>
            <a:r>
              <a:rPr lang="en-US" sz="2600" dirty="0"/>
              <a:t>Our First C++ Program</a:t>
            </a:r>
          </a:p>
          <a:p>
            <a:pPr marL="0" indent="0">
              <a:buNone/>
            </a:pPr>
            <a:endParaRPr lang="en-US" sz="2600" dirty="0"/>
          </a:p>
          <a:p>
            <a:endParaRPr lang="en-US" sz="2600" dirty="0"/>
          </a:p>
          <a:p>
            <a:endParaRPr lang="en-US" altLang="ko-KR" sz="2600" dirty="0"/>
          </a:p>
          <a:p>
            <a:endParaRPr lang="en-US" altLang="ko-KR" sz="2600" dirty="0"/>
          </a:p>
          <a:p>
            <a:pPr marL="0" indent="0">
              <a:buNone/>
            </a:pPr>
            <a:endParaRPr lang="en-US" altLang="ko-KR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Requirement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C++ Compiler</a:t>
            </a:r>
          </a:p>
          <a:p>
            <a:pPr lvl="2"/>
            <a:r>
              <a:rPr lang="en-US" b="1" dirty="0"/>
              <a:t>GCC(MinGW) Compiler&lt;=Preferred</a:t>
            </a:r>
          </a:p>
          <a:p>
            <a:pPr lvl="2"/>
            <a:r>
              <a:rPr lang="en-US" dirty="0"/>
              <a:t>Microsoft Visual C++ 2010</a:t>
            </a:r>
            <a:endParaRPr lang="en-US" b="1" dirty="0"/>
          </a:p>
          <a:p>
            <a:pPr lvl="2"/>
            <a:r>
              <a:rPr lang="en-US" dirty="0"/>
              <a:t>Borland C++ Compiler 5.82</a:t>
            </a:r>
          </a:p>
          <a:p>
            <a:r>
              <a:rPr lang="en-US" dirty="0"/>
              <a:t>An IDE</a:t>
            </a:r>
          </a:p>
          <a:p>
            <a:pPr lvl="1"/>
            <a:r>
              <a:rPr lang="en-US" b="1" dirty="0"/>
              <a:t>Code Blocks&lt;=Preferred</a:t>
            </a:r>
          </a:p>
          <a:p>
            <a:pPr lvl="1"/>
            <a:r>
              <a:rPr lang="en-US" dirty="0"/>
              <a:t>Microsoft Visual C++ 2010 Express Studio</a:t>
            </a:r>
          </a:p>
          <a:p>
            <a:pPr lvl="1"/>
            <a:r>
              <a:rPr lang="en-US" dirty="0"/>
              <a:t>Turbo C++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Opening an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IDE= Integrated Development Environment</a:t>
            </a:r>
          </a:p>
          <a:p>
            <a:pPr lvl="2"/>
            <a:r>
              <a:rPr lang="en-US" dirty="0"/>
              <a:t>A set of programming tools for writing             applications (source code editor, compiler, linker, debugger, etc.), all activated from a common     user interface and menus.</a:t>
            </a:r>
          </a:p>
          <a:p>
            <a:pPr lvl="1"/>
            <a:r>
              <a:rPr lang="en-US" dirty="0"/>
              <a:t>Open Code Blocks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573016"/>
            <a:ext cx="6219825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9144000" cy="5328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a new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i="1" dirty="0"/>
              <a:t>application</a:t>
            </a:r>
            <a:r>
              <a:rPr lang="en-US" dirty="0"/>
              <a:t> is a runnable program.              Most applications are built from multiple source files. </a:t>
            </a:r>
          </a:p>
          <a:p>
            <a:pPr lvl="3"/>
            <a:r>
              <a:rPr lang="en-US" dirty="0"/>
              <a:t>Code::Blocks keep track of the files and compiler        settings need to build an application with a </a:t>
            </a:r>
            <a:r>
              <a:rPr lang="en-US" i="1" dirty="0"/>
              <a:t>project</a:t>
            </a:r>
            <a:r>
              <a:rPr lang="en-US" dirty="0"/>
              <a:t> file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209361"/>
            <a:ext cx="7399014" cy="3513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Console Applications</a:t>
            </a:r>
          </a:p>
          <a:p>
            <a:pPr lvl="1"/>
            <a:r>
              <a:rPr lang="en-US" dirty="0"/>
              <a:t>An application that uses the command line   for input and output rather than a graphical interface (GUI).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00" y="2780928"/>
            <a:ext cx="6984776" cy="3766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Console Application Wizard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08720"/>
            <a:ext cx="6264696" cy="5124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descriptive project title</a:t>
            </a:r>
          </a:p>
          <a:p>
            <a:r>
              <a:rPr lang="en-US" dirty="0"/>
              <a:t>Create a folder on c: drive(preferred) or   use existing folder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6" name="Group 5"/>
          <p:cNvGrpSpPr/>
          <p:nvPr/>
        </p:nvGrpSpPr>
        <p:grpSpPr>
          <a:xfrm>
            <a:off x="899592" y="2511123"/>
            <a:ext cx="7425821" cy="4368552"/>
            <a:chOff x="611560" y="1700808"/>
            <a:chExt cx="8162925" cy="4800600"/>
          </a:xfrm>
        </p:grpSpPr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700808"/>
              <a:ext cx="8162925" cy="4800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Oval 4"/>
            <p:cNvSpPr/>
            <p:nvPr/>
          </p:nvSpPr>
          <p:spPr>
            <a:xfrm>
              <a:off x="4756565" y="2924944"/>
              <a:ext cx="563327" cy="504056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9" name="Oval 8"/>
          <p:cNvSpPr/>
          <p:nvPr/>
        </p:nvSpPr>
        <p:spPr>
          <a:xfrm>
            <a:off x="5508104" y="6375619"/>
            <a:ext cx="1224136" cy="504056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Cbp=Code Blocks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28800"/>
            <a:ext cx="5997457" cy="4904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Oval 7"/>
          <p:cNvSpPr/>
          <p:nvPr/>
        </p:nvSpPr>
        <p:spPr>
          <a:xfrm>
            <a:off x="2641316" y="2420888"/>
            <a:ext cx="936104" cy="387424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78" y="1340767"/>
            <a:ext cx="5703154" cy="464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Workspace and Project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Workspace collects projects together</a:t>
            </a:r>
          </a:p>
          <a:p>
            <a:pPr lvl="2"/>
            <a:r>
              <a:rPr lang="en-US" dirty="0"/>
              <a:t> where you can easily switch between projects</a:t>
            </a:r>
          </a:p>
          <a:p>
            <a:r>
              <a:rPr lang="en-US" dirty="0"/>
              <a:t>The Projects are listed on the Manager</a:t>
            </a:r>
          </a:p>
          <a:p>
            <a:pPr lvl="1"/>
            <a:r>
              <a:rPr lang="en-US" dirty="0"/>
              <a:t>One sample c++ source file is inserted</a:t>
            </a:r>
          </a:p>
          <a:p>
            <a:r>
              <a:rPr lang="en-US" dirty="0"/>
              <a:t>Can’t see Manager?</a:t>
            </a:r>
          </a:p>
          <a:p>
            <a:pPr lvl="1"/>
            <a:r>
              <a:rPr lang="en-US" dirty="0"/>
              <a:t>make sure it is checked on the view menu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103907"/>
            <a:ext cx="2068985" cy="276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5599" y="4069904"/>
            <a:ext cx="4124727" cy="276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Windows Explorer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your Project in Windows Explorer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40" y="1916832"/>
            <a:ext cx="7962900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change settings as desired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19" y="1628800"/>
            <a:ext cx="8777126" cy="260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Empty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create empty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98" y="1628800"/>
            <a:ext cx="8399212" cy="542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Save file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39552" y="1620184"/>
            <a:ext cx="7104980" cy="4557449"/>
            <a:chOff x="539552" y="1620184"/>
            <a:chExt cx="7104980" cy="4557449"/>
          </a:xfrm>
        </p:grpSpPr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560" y="1620184"/>
              <a:ext cx="7032972" cy="4557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Oval 9"/>
            <p:cNvSpPr/>
            <p:nvPr/>
          </p:nvSpPr>
          <p:spPr>
            <a:xfrm>
              <a:off x="3779912" y="2780928"/>
              <a:ext cx="936104" cy="38742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39552" y="3717032"/>
              <a:ext cx="1368152" cy="70096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Empty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it as a C++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50" y="1499859"/>
            <a:ext cx="7704856" cy="5374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Empty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Then you can build and run as usual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create additional empty files     and build, run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00808"/>
            <a:ext cx="386715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11" y="4229984"/>
            <a:ext cx="2804889" cy="79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251520" y="3717032"/>
            <a:ext cx="5358815" cy="2967211"/>
            <a:chOff x="251520" y="3717032"/>
            <a:chExt cx="5358815" cy="2967211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3717032"/>
              <a:ext cx="5358815" cy="2967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Oval 7"/>
            <p:cNvSpPr/>
            <p:nvPr/>
          </p:nvSpPr>
          <p:spPr>
            <a:xfrm>
              <a:off x="2930927" y="4036272"/>
              <a:ext cx="344929" cy="25682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Environment Setting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32" y="908050"/>
            <a:ext cx="7502135" cy="521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2051720" y="2996952"/>
            <a:ext cx="1728192" cy="504056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Compiler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2174931" y="4059070"/>
            <a:ext cx="936104" cy="396044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Oval 6"/>
          <p:cNvSpPr/>
          <p:nvPr/>
        </p:nvSpPr>
        <p:spPr>
          <a:xfrm>
            <a:off x="6948264" y="2708920"/>
            <a:ext cx="864096" cy="504056"/>
          </a:xfrm>
          <a:prstGeom prst="ellipse">
            <a:avLst/>
          </a:prstGeom>
          <a:solidFill>
            <a:srgbClr val="FFFFFF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change this if you didn’t install     additional compilers separately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26951" y="1988841"/>
            <a:ext cx="7085409" cy="4869160"/>
            <a:chOff x="726951" y="2280417"/>
            <a:chExt cx="7258050" cy="555307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951" y="2280417"/>
              <a:ext cx="7258050" cy="5553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Oval 8"/>
            <p:cNvSpPr/>
            <p:nvPr/>
          </p:nvSpPr>
          <p:spPr>
            <a:xfrm>
              <a:off x="6472833" y="4005064"/>
              <a:ext cx="1512168" cy="5760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043664" y="2852936"/>
              <a:ext cx="2134742" cy="504056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174931" y="4059070"/>
              <a:ext cx="2134742" cy="30603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Our First C++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52" y="1412776"/>
            <a:ext cx="8136904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Namespace and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 namespace is a collection of name        definitions. </a:t>
            </a:r>
          </a:p>
          <a:p>
            <a:pPr lvl="1"/>
            <a:r>
              <a:rPr lang="en-US" dirty="0"/>
              <a:t>One name, such as a function name, can be given different definitions in                      two namespaces. </a:t>
            </a:r>
          </a:p>
          <a:p>
            <a:pPr lvl="1"/>
            <a:r>
              <a:rPr lang="en-US" dirty="0"/>
              <a:t>A program can then use one of these              namespaces in one place and the other in         another location.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Namespace and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the standard libraries we will be using place their definitions in the                 </a:t>
            </a:r>
            <a:r>
              <a:rPr lang="en-US" b="1" dirty="0"/>
              <a:t>std(standard) namespace. </a:t>
            </a:r>
          </a:p>
          <a:p>
            <a:pPr lvl="1"/>
            <a:r>
              <a:rPr lang="en-US" dirty="0"/>
              <a:t>It is almost impossible to write a C++        program without using at least one of these        libraries. </a:t>
            </a:r>
          </a:p>
          <a:p>
            <a:r>
              <a:rPr lang="en-US" dirty="0"/>
              <a:t>To use any of these definitions in your    program, you must insert the following  using directive:</a:t>
            </a:r>
          </a:p>
          <a:p>
            <a:pPr marL="457200" lvl="1" indent="0">
              <a:buNone/>
            </a:pPr>
            <a:r>
              <a:rPr lang="en-US" b="1" dirty="0"/>
              <a:t>using namespace std;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Namespace and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example, the library for console I/O  is  </a:t>
            </a:r>
            <a:r>
              <a:rPr lang="en-US" b="1" dirty="0"/>
              <a:t>iostream</a:t>
            </a:r>
            <a:r>
              <a:rPr lang="en-US" dirty="0"/>
              <a:t>. So, most of our               demonstration programs will begin</a:t>
            </a:r>
          </a:p>
          <a:p>
            <a:pPr marL="0" indent="0">
              <a:buNone/>
            </a:pPr>
            <a:r>
              <a:rPr lang="en-US" b="1" dirty="0"/>
              <a:t>	#include &lt;iostream&gt;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 and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Build</a:t>
            </a:r>
            <a:r>
              <a:rPr lang="en-US" dirty="0"/>
              <a:t>: The source program will be         compiled and linker links the object files       created by the compiler into an            executable</a:t>
            </a:r>
          </a:p>
          <a:p>
            <a:r>
              <a:rPr lang="en-US" b="1" dirty="0"/>
              <a:t>Run</a:t>
            </a:r>
            <a:r>
              <a:rPr lang="en-US" dirty="0"/>
              <a:t>: The program will be in memory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3518585"/>
            <a:ext cx="4060664" cy="3151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Console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0C66A-2542-49CE-8980-1D266FEFB8DA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change the color and Font of the console</a:t>
            </a:r>
          </a:p>
          <a:p>
            <a:pPr lvl="1"/>
            <a:r>
              <a:rPr lang="en-US" dirty="0"/>
              <a:t>Right click on the title bar</a:t>
            </a:r>
          </a:p>
          <a:p>
            <a:pPr lvl="1"/>
            <a:r>
              <a:rPr lang="en-US" dirty="0"/>
              <a:t>Choose properties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9512" y="2019920"/>
            <a:ext cx="9793138" cy="4438650"/>
            <a:chOff x="179512" y="2019920"/>
            <a:chExt cx="9793138" cy="4438650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2" y="3140968"/>
              <a:ext cx="6369938" cy="3312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2019920"/>
              <a:ext cx="3600450" cy="4438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lecture01.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기본 디자인">
      <a:majorFont>
        <a:latin typeface="Arial Black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5875">
          <a:solidFill>
            <a:srgbClr val="FF00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06</Template>
  <TotalTime>2</TotalTime>
  <Words>554</Words>
  <Application>Microsoft Office PowerPoint</Application>
  <PresentationFormat>On-screen Show (4:3)</PresentationFormat>
  <Paragraphs>107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굴림</vt:lpstr>
      <vt:lpstr>맑은 고딕</vt:lpstr>
      <vt:lpstr>Arial</vt:lpstr>
      <vt:lpstr>Arial Black</vt:lpstr>
      <vt:lpstr>HY견고딕</vt:lpstr>
      <vt:lpstr>Tahoma</vt:lpstr>
      <vt:lpstr>Wingdings</vt:lpstr>
      <vt:lpstr>lecture01.note</vt:lpstr>
      <vt:lpstr>1_기본 디자인</vt:lpstr>
      <vt:lpstr>Fundamentals of Programming   Lecture #2 </vt:lpstr>
      <vt:lpstr>PowerPoint Presentation</vt:lpstr>
      <vt:lpstr>Software Requirement</vt:lpstr>
      <vt:lpstr>Opening an IDE</vt:lpstr>
      <vt:lpstr>The Environment</vt:lpstr>
      <vt:lpstr>Create a new Project</vt:lpstr>
      <vt:lpstr>PowerPoint Presentation</vt:lpstr>
      <vt:lpstr>The Console Application Wizard</vt:lpstr>
      <vt:lpstr>Project Properties</vt:lpstr>
      <vt:lpstr>Project Properties</vt:lpstr>
      <vt:lpstr>Select Compiler</vt:lpstr>
      <vt:lpstr>Workspace and Project Manager</vt:lpstr>
      <vt:lpstr>Windows Explorer</vt:lpstr>
      <vt:lpstr>Settings</vt:lpstr>
      <vt:lpstr>Empty Files</vt:lpstr>
      <vt:lpstr>PowerPoint Presentation</vt:lpstr>
      <vt:lpstr>Empty Files</vt:lpstr>
      <vt:lpstr>Empty Files</vt:lpstr>
      <vt:lpstr>Environment Setting</vt:lpstr>
      <vt:lpstr>Compiler Settings</vt:lpstr>
      <vt:lpstr>Our First C++ Program</vt:lpstr>
      <vt:lpstr>Namespace and Libraries</vt:lpstr>
      <vt:lpstr>Namespace and Libraries</vt:lpstr>
      <vt:lpstr>Namespace and Libraries</vt:lpstr>
      <vt:lpstr>Build and Run</vt:lpstr>
      <vt:lpstr>Console Screen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CCE20003  PROGRAMMING I Lecture 6</dc:title>
  <dc:creator>shinsy</dc:creator>
  <cp:lastModifiedBy>Melkamu</cp:lastModifiedBy>
  <cp:revision>244</cp:revision>
  <cp:lastPrinted>2016-03-24T07:21:00Z</cp:lastPrinted>
  <dcterms:created xsi:type="dcterms:W3CDTF">2015-01-20T03:51:00Z</dcterms:created>
  <dcterms:modified xsi:type="dcterms:W3CDTF">2026-09-04T08:53:32Z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4FB96542432948DD8F3A27C876B84963</vt:lpwstr>
  </property>
  <property fmtid="{D5CDD505-2E9C-101B-9397-08002B2CF9AE}" pid="3" name="KSOProductBuildVer">
    <vt:lpwstr>2057-11.2.0.10323</vt:lpwstr>
  </property>
</Properties>
</file>