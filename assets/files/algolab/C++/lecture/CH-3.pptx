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380" r:id="rId4"/>
    <p:sldId id="383" r:id="rId5"/>
    <p:sldId id="384" r:id="rId6"/>
    <p:sldId id="385" r:id="rId7"/>
    <p:sldId id="313" r:id="rId8"/>
    <p:sldId id="315" r:id="rId9"/>
    <p:sldId id="388" r:id="rId10"/>
    <p:sldId id="402" r:id="rId11"/>
    <p:sldId id="317" r:id="rId12"/>
    <p:sldId id="318" r:id="rId13"/>
    <p:sldId id="319" r:id="rId14"/>
    <p:sldId id="320" r:id="rId15"/>
    <p:sldId id="321" r:id="rId16"/>
    <p:sldId id="404" r:id="rId17"/>
    <p:sldId id="436" r:id="rId18"/>
    <p:sldId id="405" r:id="rId19"/>
    <p:sldId id="406" r:id="rId20"/>
    <p:sldId id="407" r:id="rId21"/>
    <p:sldId id="437" r:id="rId22"/>
    <p:sldId id="434" r:id="rId23"/>
    <p:sldId id="408" r:id="rId24"/>
    <p:sldId id="449" r:id="rId25"/>
    <p:sldId id="450" r:id="rId26"/>
    <p:sldId id="447" r:id="rId27"/>
    <p:sldId id="466" r:id="rId28"/>
    <p:sldId id="467" r:id="rId29"/>
    <p:sldId id="465" r:id="rId30"/>
    <p:sldId id="448" r:id="rId31"/>
    <p:sldId id="438" r:id="rId32"/>
    <p:sldId id="439" r:id="rId33"/>
    <p:sldId id="440" r:id="rId34"/>
    <p:sldId id="443" r:id="rId35"/>
    <p:sldId id="441" r:id="rId36"/>
    <p:sldId id="442" r:id="rId37"/>
    <p:sldId id="444" r:id="rId38"/>
    <p:sldId id="445" r:id="rId39"/>
    <p:sldId id="446" r:id="rId40"/>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97"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2" d="100"/>
          <a:sy n="92" d="100"/>
        </p:scale>
        <p:origin x="64" y="72"/>
      </p:cViewPr>
      <p:guideLst>
        <p:guide orient="horz" pos="2897"/>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6FC0"/>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6FC0"/>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6FC0"/>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23156" y="437515"/>
            <a:ext cx="4345686" cy="574040"/>
          </a:xfrm>
          <a:prstGeom prst="rect">
            <a:avLst/>
          </a:prstGeom>
        </p:spPr>
        <p:txBody>
          <a:bodyPr wrap="square" lIns="0" tIns="0" rIns="0" bIns="0">
            <a:spAutoFit/>
          </a:bodyPr>
          <a:lstStyle>
            <a:lvl1pPr>
              <a:defRPr sz="3600" b="1" i="0">
                <a:solidFill>
                  <a:srgbClr val="006FC0"/>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1069149" y="2029332"/>
            <a:ext cx="10285095" cy="330009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5240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D0CECE"/>
          </a:solidFill>
        </p:spPr>
        <p:txBody>
          <a:bodyPr wrap="square" lIns="0" tIns="0" rIns="0" bIns="0" rtlCol="0"/>
          <a:lstStyle/>
          <a:p>
            <a:endParaRPr/>
          </a:p>
        </p:txBody>
      </p:sp>
      <p:grpSp>
        <p:nvGrpSpPr>
          <p:cNvPr id="3" name="object 3"/>
          <p:cNvGrpSpPr/>
          <p:nvPr/>
        </p:nvGrpSpPr>
        <p:grpSpPr>
          <a:xfrm>
            <a:off x="649223" y="2345435"/>
            <a:ext cx="11076940" cy="1019810"/>
            <a:chOff x="649223" y="2345435"/>
            <a:chExt cx="11076940" cy="1019810"/>
          </a:xfrm>
        </p:grpSpPr>
        <p:sp>
          <p:nvSpPr>
            <p:cNvPr id="4" name="object 4"/>
            <p:cNvSpPr/>
            <p:nvPr/>
          </p:nvSpPr>
          <p:spPr>
            <a:xfrm>
              <a:off x="655319" y="2351531"/>
              <a:ext cx="11064240" cy="1007744"/>
            </a:xfrm>
            <a:custGeom>
              <a:avLst/>
              <a:gdLst/>
              <a:ahLst/>
              <a:cxnLst/>
              <a:rect l="l" t="t" r="r" b="b"/>
              <a:pathLst>
                <a:path w="11064240" h="1007745">
                  <a:moveTo>
                    <a:pt x="11064240" y="0"/>
                  </a:moveTo>
                  <a:lnTo>
                    <a:pt x="0" y="0"/>
                  </a:lnTo>
                  <a:lnTo>
                    <a:pt x="0" y="1007363"/>
                  </a:lnTo>
                  <a:lnTo>
                    <a:pt x="11064240" y="1007363"/>
                  </a:lnTo>
                  <a:lnTo>
                    <a:pt x="11064240" y="0"/>
                  </a:lnTo>
                  <a:close/>
                </a:path>
              </a:pathLst>
            </a:custGeom>
            <a:solidFill>
              <a:srgbClr val="FFFFFF"/>
            </a:solidFill>
          </p:spPr>
          <p:txBody>
            <a:bodyPr wrap="square" lIns="0" tIns="0" rIns="0" bIns="0" rtlCol="0"/>
            <a:lstStyle/>
            <a:p>
              <a:endParaRPr/>
            </a:p>
          </p:txBody>
        </p:sp>
        <p:sp>
          <p:nvSpPr>
            <p:cNvPr id="5" name="object 5"/>
            <p:cNvSpPr/>
            <p:nvPr/>
          </p:nvSpPr>
          <p:spPr>
            <a:xfrm>
              <a:off x="655319" y="2351531"/>
              <a:ext cx="11064240" cy="1007744"/>
            </a:xfrm>
            <a:custGeom>
              <a:avLst/>
              <a:gdLst/>
              <a:ahLst/>
              <a:cxnLst/>
              <a:rect l="l" t="t" r="r" b="b"/>
              <a:pathLst>
                <a:path w="11064240" h="1007745">
                  <a:moveTo>
                    <a:pt x="0" y="1007363"/>
                  </a:moveTo>
                  <a:lnTo>
                    <a:pt x="11064240" y="1007363"/>
                  </a:lnTo>
                  <a:lnTo>
                    <a:pt x="11064240" y="0"/>
                  </a:lnTo>
                  <a:lnTo>
                    <a:pt x="0" y="0"/>
                  </a:lnTo>
                  <a:lnTo>
                    <a:pt x="0" y="1007363"/>
                  </a:lnTo>
                  <a:close/>
                </a:path>
              </a:pathLst>
            </a:custGeom>
            <a:ln w="12192">
              <a:solidFill>
                <a:srgbClr val="5B9BD4"/>
              </a:solidFill>
            </a:ln>
          </p:spPr>
          <p:txBody>
            <a:bodyPr wrap="square" lIns="0" tIns="0" rIns="0" bIns="0" rtlCol="0"/>
            <a:lstStyle/>
            <a:p>
              <a:endParaRPr/>
            </a:p>
          </p:txBody>
        </p:sp>
        <p:pic>
          <p:nvPicPr>
            <p:cNvPr id="6" name="object 6"/>
            <p:cNvPicPr/>
            <p:nvPr/>
          </p:nvPicPr>
          <p:blipFill>
            <a:blip r:embed="rId2" cstate="print"/>
            <a:stretch>
              <a:fillRect/>
            </a:stretch>
          </p:blipFill>
          <p:spPr>
            <a:xfrm>
              <a:off x="956894" y="2608706"/>
              <a:ext cx="4930317" cy="512191"/>
            </a:xfrm>
            <a:prstGeom prst="rect">
              <a:avLst/>
            </a:prstGeom>
          </p:spPr>
        </p:pic>
        <p:sp>
          <p:nvSpPr>
            <p:cNvPr id="7" name="object 7"/>
            <p:cNvSpPr/>
            <p:nvPr/>
          </p:nvSpPr>
          <p:spPr>
            <a:xfrm>
              <a:off x="6206235" y="2660268"/>
              <a:ext cx="410845" cy="608330"/>
            </a:xfrm>
            <a:custGeom>
              <a:avLst/>
              <a:gdLst/>
              <a:ahLst/>
              <a:cxnLst/>
              <a:rect l="l" t="t" r="r" b="b"/>
              <a:pathLst>
                <a:path w="410845" h="608329">
                  <a:moveTo>
                    <a:pt x="224174" y="317880"/>
                  </a:moveTo>
                  <a:lnTo>
                    <a:pt x="190626" y="317880"/>
                  </a:lnTo>
                  <a:lnTo>
                    <a:pt x="187936" y="324812"/>
                  </a:lnTo>
                  <a:lnTo>
                    <a:pt x="184945" y="332104"/>
                  </a:lnTo>
                  <a:lnTo>
                    <a:pt x="182411" y="338008"/>
                  </a:lnTo>
                  <a:lnTo>
                    <a:pt x="179577" y="344296"/>
                  </a:lnTo>
                  <a:lnTo>
                    <a:pt x="169624" y="366893"/>
                  </a:lnTo>
                  <a:lnTo>
                    <a:pt x="152908" y="406272"/>
                  </a:lnTo>
                  <a:lnTo>
                    <a:pt x="136479" y="452874"/>
                  </a:lnTo>
                  <a:lnTo>
                    <a:pt x="124716" y="493299"/>
                  </a:lnTo>
                  <a:lnTo>
                    <a:pt x="115530" y="552703"/>
                  </a:lnTo>
                  <a:lnTo>
                    <a:pt x="115437" y="557783"/>
                  </a:lnTo>
                  <a:lnTo>
                    <a:pt x="115839" y="566173"/>
                  </a:lnTo>
                  <a:lnTo>
                    <a:pt x="135715" y="603821"/>
                  </a:lnTo>
                  <a:lnTo>
                    <a:pt x="150875" y="607821"/>
                  </a:lnTo>
                  <a:lnTo>
                    <a:pt x="161855" y="606464"/>
                  </a:lnTo>
                  <a:lnTo>
                    <a:pt x="204035" y="574861"/>
                  </a:lnTo>
                  <a:lnTo>
                    <a:pt x="208448" y="568959"/>
                  </a:lnTo>
                  <a:lnTo>
                    <a:pt x="159258" y="568959"/>
                  </a:lnTo>
                  <a:lnTo>
                    <a:pt x="155575" y="566801"/>
                  </a:lnTo>
                  <a:lnTo>
                    <a:pt x="152526" y="562355"/>
                  </a:lnTo>
                  <a:lnTo>
                    <a:pt x="149605" y="557783"/>
                  </a:lnTo>
                  <a:lnTo>
                    <a:pt x="148209" y="552703"/>
                  </a:lnTo>
                  <a:lnTo>
                    <a:pt x="148325" y="545421"/>
                  </a:lnTo>
                  <a:lnTo>
                    <a:pt x="156149" y="493236"/>
                  </a:lnTo>
                  <a:lnTo>
                    <a:pt x="179959" y="421639"/>
                  </a:lnTo>
                  <a:lnTo>
                    <a:pt x="194662" y="384762"/>
                  </a:lnTo>
                  <a:lnTo>
                    <a:pt x="219484" y="327405"/>
                  </a:lnTo>
                  <a:lnTo>
                    <a:pt x="224174" y="317880"/>
                  </a:lnTo>
                  <a:close/>
                </a:path>
                <a:path w="410845" h="608329">
                  <a:moveTo>
                    <a:pt x="275275" y="307085"/>
                  </a:moveTo>
                  <a:lnTo>
                    <a:pt x="229488" y="307085"/>
                  </a:lnTo>
                  <a:lnTo>
                    <a:pt x="238505" y="311784"/>
                  </a:lnTo>
                  <a:lnTo>
                    <a:pt x="244093" y="315848"/>
                  </a:lnTo>
                  <a:lnTo>
                    <a:pt x="256286" y="356996"/>
                  </a:lnTo>
                  <a:lnTo>
                    <a:pt x="253904" y="390118"/>
                  </a:lnTo>
                  <a:lnTo>
                    <a:pt x="234854" y="461313"/>
                  </a:lnTo>
                  <a:lnTo>
                    <a:pt x="218186" y="499363"/>
                  </a:lnTo>
                  <a:lnTo>
                    <a:pt x="187594" y="551545"/>
                  </a:lnTo>
                  <a:lnTo>
                    <a:pt x="163575" y="568959"/>
                  </a:lnTo>
                  <a:lnTo>
                    <a:pt x="208448" y="568959"/>
                  </a:lnTo>
                  <a:lnTo>
                    <a:pt x="234950" y="527176"/>
                  </a:lnTo>
                  <a:lnTo>
                    <a:pt x="256286" y="482199"/>
                  </a:lnTo>
                  <a:lnTo>
                    <a:pt x="271525" y="438340"/>
                  </a:lnTo>
                  <a:lnTo>
                    <a:pt x="280669" y="395624"/>
                  </a:lnTo>
                  <a:lnTo>
                    <a:pt x="283717" y="354075"/>
                  </a:lnTo>
                  <a:lnTo>
                    <a:pt x="283023" y="338790"/>
                  </a:lnTo>
                  <a:lnTo>
                    <a:pt x="280924" y="324754"/>
                  </a:lnTo>
                  <a:lnTo>
                    <a:pt x="277395" y="311981"/>
                  </a:lnTo>
                  <a:lnTo>
                    <a:pt x="275275" y="307085"/>
                  </a:lnTo>
                  <a:close/>
                </a:path>
                <a:path w="410845" h="608329">
                  <a:moveTo>
                    <a:pt x="133603" y="205358"/>
                  </a:moveTo>
                  <a:lnTo>
                    <a:pt x="94106" y="220344"/>
                  </a:lnTo>
                  <a:lnTo>
                    <a:pt x="59404" y="251396"/>
                  </a:lnTo>
                  <a:lnTo>
                    <a:pt x="29463" y="292734"/>
                  </a:lnTo>
                  <a:lnTo>
                    <a:pt x="7397" y="341137"/>
                  </a:lnTo>
                  <a:lnTo>
                    <a:pt x="90" y="384762"/>
                  </a:lnTo>
                  <a:lnTo>
                    <a:pt x="0" y="394334"/>
                  </a:lnTo>
                  <a:lnTo>
                    <a:pt x="1650" y="401573"/>
                  </a:lnTo>
                  <a:lnTo>
                    <a:pt x="33147" y="425703"/>
                  </a:lnTo>
                  <a:lnTo>
                    <a:pt x="54290" y="421082"/>
                  </a:lnTo>
                  <a:lnTo>
                    <a:pt x="75803" y="407209"/>
                  </a:lnTo>
                  <a:lnTo>
                    <a:pt x="94095" y="387857"/>
                  </a:lnTo>
                  <a:lnTo>
                    <a:pt x="42163" y="387857"/>
                  </a:lnTo>
                  <a:lnTo>
                    <a:pt x="38480" y="385825"/>
                  </a:lnTo>
                  <a:lnTo>
                    <a:pt x="35560" y="381761"/>
                  </a:lnTo>
                  <a:lnTo>
                    <a:pt x="33527" y="378840"/>
                  </a:lnTo>
                  <a:lnTo>
                    <a:pt x="32512" y="375538"/>
                  </a:lnTo>
                  <a:lnTo>
                    <a:pt x="32512" y="371728"/>
                  </a:lnTo>
                  <a:lnTo>
                    <a:pt x="41727" y="333402"/>
                  </a:lnTo>
                  <a:lnTo>
                    <a:pt x="66151" y="289782"/>
                  </a:lnTo>
                  <a:lnTo>
                    <a:pt x="99550" y="253541"/>
                  </a:lnTo>
                  <a:lnTo>
                    <a:pt x="121285" y="241807"/>
                  </a:lnTo>
                  <a:lnTo>
                    <a:pt x="160830" y="241807"/>
                  </a:lnTo>
                  <a:lnTo>
                    <a:pt x="161162" y="238759"/>
                  </a:lnTo>
                  <a:lnTo>
                    <a:pt x="159446" y="224164"/>
                  </a:lnTo>
                  <a:lnTo>
                    <a:pt x="154289" y="213725"/>
                  </a:lnTo>
                  <a:lnTo>
                    <a:pt x="145678" y="207452"/>
                  </a:lnTo>
                  <a:lnTo>
                    <a:pt x="133603" y="205358"/>
                  </a:lnTo>
                  <a:close/>
                </a:path>
                <a:path w="410845" h="608329">
                  <a:moveTo>
                    <a:pt x="160830" y="241807"/>
                  </a:moveTo>
                  <a:lnTo>
                    <a:pt x="125094" y="241807"/>
                  </a:lnTo>
                  <a:lnTo>
                    <a:pt x="127888" y="243458"/>
                  </a:lnTo>
                  <a:lnTo>
                    <a:pt x="129666" y="246887"/>
                  </a:lnTo>
                  <a:lnTo>
                    <a:pt x="130810" y="248665"/>
                  </a:lnTo>
                  <a:lnTo>
                    <a:pt x="131317" y="250443"/>
                  </a:lnTo>
                  <a:lnTo>
                    <a:pt x="131211" y="252856"/>
                  </a:lnTo>
                  <a:lnTo>
                    <a:pt x="114387" y="290708"/>
                  </a:lnTo>
                  <a:lnTo>
                    <a:pt x="93979" y="314832"/>
                  </a:lnTo>
                  <a:lnTo>
                    <a:pt x="90424" y="319785"/>
                  </a:lnTo>
                  <a:lnTo>
                    <a:pt x="90424" y="323976"/>
                  </a:lnTo>
                  <a:lnTo>
                    <a:pt x="93217" y="327405"/>
                  </a:lnTo>
                  <a:lnTo>
                    <a:pt x="98805" y="331850"/>
                  </a:lnTo>
                  <a:lnTo>
                    <a:pt x="99060" y="332104"/>
                  </a:lnTo>
                  <a:lnTo>
                    <a:pt x="97536" y="335788"/>
                  </a:lnTo>
                  <a:lnTo>
                    <a:pt x="94106" y="342900"/>
                  </a:lnTo>
                  <a:lnTo>
                    <a:pt x="90804" y="350138"/>
                  </a:lnTo>
                  <a:lnTo>
                    <a:pt x="63246" y="381841"/>
                  </a:lnTo>
                  <a:lnTo>
                    <a:pt x="46609" y="387857"/>
                  </a:lnTo>
                  <a:lnTo>
                    <a:pt x="94095" y="387857"/>
                  </a:lnTo>
                  <a:lnTo>
                    <a:pt x="119887" y="351663"/>
                  </a:lnTo>
                  <a:lnTo>
                    <a:pt x="150812" y="289258"/>
                  </a:lnTo>
                  <a:lnTo>
                    <a:pt x="158587" y="262381"/>
                  </a:lnTo>
                  <a:lnTo>
                    <a:pt x="160830" y="241807"/>
                  </a:lnTo>
                  <a:close/>
                </a:path>
                <a:path w="410845" h="608329">
                  <a:moveTo>
                    <a:pt x="401700" y="0"/>
                  </a:moveTo>
                  <a:lnTo>
                    <a:pt x="398907" y="0"/>
                  </a:lnTo>
                  <a:lnTo>
                    <a:pt x="393307" y="950"/>
                  </a:lnTo>
                  <a:lnTo>
                    <a:pt x="361553" y="27449"/>
                  </a:lnTo>
                  <a:lnTo>
                    <a:pt x="334121" y="61600"/>
                  </a:lnTo>
                  <a:lnTo>
                    <a:pt x="293659" y="120681"/>
                  </a:lnTo>
                  <a:lnTo>
                    <a:pt x="268795" y="163067"/>
                  </a:lnTo>
                  <a:lnTo>
                    <a:pt x="243645" y="210597"/>
                  </a:lnTo>
                  <a:lnTo>
                    <a:pt x="218186" y="263270"/>
                  </a:lnTo>
                  <a:lnTo>
                    <a:pt x="200017" y="276389"/>
                  </a:lnTo>
                  <a:lnTo>
                    <a:pt x="187039" y="288305"/>
                  </a:lnTo>
                  <a:lnTo>
                    <a:pt x="179252" y="299007"/>
                  </a:lnTo>
                  <a:lnTo>
                    <a:pt x="176656" y="308482"/>
                  </a:lnTo>
                  <a:lnTo>
                    <a:pt x="176656" y="315213"/>
                  </a:lnTo>
                  <a:lnTo>
                    <a:pt x="179577" y="318515"/>
                  </a:lnTo>
                  <a:lnTo>
                    <a:pt x="187198" y="318515"/>
                  </a:lnTo>
                  <a:lnTo>
                    <a:pt x="188849" y="318261"/>
                  </a:lnTo>
                  <a:lnTo>
                    <a:pt x="190626" y="317880"/>
                  </a:lnTo>
                  <a:lnTo>
                    <a:pt x="224174" y="317880"/>
                  </a:lnTo>
                  <a:lnTo>
                    <a:pt x="229488" y="307085"/>
                  </a:lnTo>
                  <a:lnTo>
                    <a:pt x="275275" y="307085"/>
                  </a:lnTo>
                  <a:lnTo>
                    <a:pt x="272414" y="300481"/>
                  </a:lnTo>
                  <a:lnTo>
                    <a:pt x="267487" y="293147"/>
                  </a:lnTo>
                  <a:lnTo>
                    <a:pt x="261096" y="286575"/>
                  </a:lnTo>
                  <a:lnTo>
                    <a:pt x="253251" y="280765"/>
                  </a:lnTo>
                  <a:lnTo>
                    <a:pt x="243966" y="275716"/>
                  </a:lnTo>
                  <a:lnTo>
                    <a:pt x="266565" y="262381"/>
                  </a:lnTo>
                  <a:lnTo>
                    <a:pt x="287496" y="252856"/>
                  </a:lnTo>
                  <a:lnTo>
                    <a:pt x="306760" y="247141"/>
                  </a:lnTo>
                  <a:lnTo>
                    <a:pt x="324358" y="245236"/>
                  </a:lnTo>
                  <a:lnTo>
                    <a:pt x="375197" y="245236"/>
                  </a:lnTo>
                  <a:lnTo>
                    <a:pt x="375538" y="244347"/>
                  </a:lnTo>
                  <a:lnTo>
                    <a:pt x="375538" y="235076"/>
                  </a:lnTo>
                  <a:lnTo>
                    <a:pt x="265049" y="235076"/>
                  </a:lnTo>
                  <a:lnTo>
                    <a:pt x="289552" y="189312"/>
                  </a:lnTo>
                  <a:lnTo>
                    <a:pt x="315202" y="146205"/>
                  </a:lnTo>
                  <a:lnTo>
                    <a:pt x="341986" y="105762"/>
                  </a:lnTo>
                  <a:lnTo>
                    <a:pt x="369892" y="67989"/>
                  </a:lnTo>
                  <a:lnTo>
                    <a:pt x="398907" y="32892"/>
                  </a:lnTo>
                  <a:lnTo>
                    <a:pt x="406781" y="23748"/>
                  </a:lnTo>
                  <a:lnTo>
                    <a:pt x="410717" y="16636"/>
                  </a:lnTo>
                  <a:lnTo>
                    <a:pt x="410717" y="8000"/>
                  </a:lnTo>
                  <a:lnTo>
                    <a:pt x="409066" y="4952"/>
                  </a:lnTo>
                  <a:lnTo>
                    <a:pt x="406018" y="2793"/>
                  </a:lnTo>
                  <a:lnTo>
                    <a:pt x="403987" y="1015"/>
                  </a:lnTo>
                  <a:lnTo>
                    <a:pt x="401700" y="0"/>
                  </a:lnTo>
                  <a:close/>
                </a:path>
                <a:path w="410845" h="608329">
                  <a:moveTo>
                    <a:pt x="375197" y="245236"/>
                  </a:moveTo>
                  <a:lnTo>
                    <a:pt x="329184" y="245236"/>
                  </a:lnTo>
                  <a:lnTo>
                    <a:pt x="333247" y="245998"/>
                  </a:lnTo>
                  <a:lnTo>
                    <a:pt x="336295" y="247522"/>
                  </a:lnTo>
                  <a:lnTo>
                    <a:pt x="347471" y="253745"/>
                  </a:lnTo>
                  <a:lnTo>
                    <a:pt x="354964" y="256920"/>
                  </a:lnTo>
                  <a:lnTo>
                    <a:pt x="364109" y="256920"/>
                  </a:lnTo>
                  <a:lnTo>
                    <a:pt x="368554" y="254761"/>
                  </a:lnTo>
                  <a:lnTo>
                    <a:pt x="371960" y="250443"/>
                  </a:lnTo>
                  <a:lnTo>
                    <a:pt x="374268" y="247650"/>
                  </a:lnTo>
                  <a:lnTo>
                    <a:pt x="375197" y="245236"/>
                  </a:lnTo>
                  <a:close/>
                </a:path>
                <a:path w="410845" h="608329">
                  <a:moveTo>
                    <a:pt x="339724" y="214756"/>
                  </a:moveTo>
                  <a:lnTo>
                    <a:pt x="327128" y="216021"/>
                  </a:lnTo>
                  <a:lnTo>
                    <a:pt x="310483" y="219821"/>
                  </a:lnTo>
                  <a:lnTo>
                    <a:pt x="289790" y="226169"/>
                  </a:lnTo>
                  <a:lnTo>
                    <a:pt x="265049" y="235076"/>
                  </a:lnTo>
                  <a:lnTo>
                    <a:pt x="375538" y="235076"/>
                  </a:lnTo>
                  <a:lnTo>
                    <a:pt x="375538" y="233933"/>
                  </a:lnTo>
                  <a:lnTo>
                    <a:pt x="372110" y="227710"/>
                  </a:lnTo>
                  <a:lnTo>
                    <a:pt x="339724" y="214756"/>
                  </a:lnTo>
                  <a:close/>
                </a:path>
              </a:pathLst>
            </a:custGeom>
            <a:solidFill>
              <a:srgbClr val="4471C4"/>
            </a:solidFill>
          </p:spPr>
          <p:txBody>
            <a:bodyPr wrap="square" lIns="0" tIns="0" rIns="0" bIns="0" rtlCol="0"/>
            <a:lstStyle/>
            <a:p>
              <a:endParaRPr/>
            </a:p>
          </p:txBody>
        </p:sp>
        <p:sp>
          <p:nvSpPr>
            <p:cNvPr id="8" name="object 8"/>
            <p:cNvSpPr/>
            <p:nvPr/>
          </p:nvSpPr>
          <p:spPr>
            <a:xfrm>
              <a:off x="6354445" y="2967354"/>
              <a:ext cx="108585" cy="262255"/>
            </a:xfrm>
            <a:custGeom>
              <a:avLst/>
              <a:gdLst/>
              <a:ahLst/>
              <a:cxnLst/>
              <a:rect l="l" t="t" r="r" b="b"/>
              <a:pathLst>
                <a:path w="108585" h="262255">
                  <a:moveTo>
                    <a:pt x="81279" y="0"/>
                  </a:moveTo>
                  <a:lnTo>
                    <a:pt x="59562" y="46418"/>
                  </a:lnTo>
                  <a:lnTo>
                    <a:pt x="31750" y="114554"/>
                  </a:lnTo>
                  <a:lnTo>
                    <a:pt x="17841" y="152657"/>
                  </a:lnTo>
                  <a:lnTo>
                    <a:pt x="1978" y="215245"/>
                  </a:lnTo>
                  <a:lnTo>
                    <a:pt x="0" y="239775"/>
                  </a:lnTo>
                  <a:lnTo>
                    <a:pt x="0" y="245618"/>
                  </a:lnTo>
                  <a:lnTo>
                    <a:pt x="1396" y="250698"/>
                  </a:lnTo>
                  <a:lnTo>
                    <a:pt x="4317" y="255270"/>
                  </a:lnTo>
                  <a:lnTo>
                    <a:pt x="7365" y="259715"/>
                  </a:lnTo>
                  <a:lnTo>
                    <a:pt x="11049" y="261874"/>
                  </a:lnTo>
                  <a:lnTo>
                    <a:pt x="15366" y="261874"/>
                  </a:lnTo>
                  <a:lnTo>
                    <a:pt x="53853" y="222708"/>
                  </a:lnTo>
                  <a:lnTo>
                    <a:pt x="86645" y="154227"/>
                  </a:lnTo>
                  <a:lnTo>
                    <a:pt x="98551" y="117808"/>
                  </a:lnTo>
                  <a:lnTo>
                    <a:pt x="108076" y="49911"/>
                  </a:lnTo>
                  <a:lnTo>
                    <a:pt x="107479" y="38121"/>
                  </a:lnTo>
                  <a:lnTo>
                    <a:pt x="81279" y="0"/>
                  </a:lnTo>
                  <a:close/>
                </a:path>
              </a:pathLst>
            </a:custGeom>
            <a:ln w="9144">
              <a:solidFill>
                <a:srgbClr val="1F4E79"/>
              </a:solidFill>
            </a:ln>
          </p:spPr>
          <p:txBody>
            <a:bodyPr wrap="square" lIns="0" tIns="0" rIns="0" bIns="0" rtlCol="0"/>
            <a:lstStyle/>
            <a:p>
              <a:endParaRPr/>
            </a:p>
          </p:txBody>
        </p:sp>
        <p:pic>
          <p:nvPicPr>
            <p:cNvPr id="9" name="object 9"/>
            <p:cNvPicPr/>
            <p:nvPr/>
          </p:nvPicPr>
          <p:blipFill>
            <a:blip r:embed="rId3" cstate="print"/>
            <a:stretch>
              <a:fillRect/>
            </a:stretch>
          </p:blipFill>
          <p:spPr>
            <a:xfrm>
              <a:off x="6201664" y="2861055"/>
              <a:ext cx="170307" cy="229489"/>
            </a:xfrm>
            <a:prstGeom prst="rect">
              <a:avLst/>
            </a:prstGeom>
          </p:spPr>
        </p:pic>
        <p:sp>
          <p:nvSpPr>
            <p:cNvPr id="10" name="object 10"/>
            <p:cNvSpPr/>
            <p:nvPr/>
          </p:nvSpPr>
          <p:spPr>
            <a:xfrm>
              <a:off x="6321552" y="2660268"/>
              <a:ext cx="295910" cy="608330"/>
            </a:xfrm>
            <a:custGeom>
              <a:avLst/>
              <a:gdLst/>
              <a:ahLst/>
              <a:cxnLst/>
              <a:rect l="l" t="t" r="r" b="b"/>
              <a:pathLst>
                <a:path w="295909" h="608329">
                  <a:moveTo>
                    <a:pt x="283591" y="0"/>
                  </a:moveTo>
                  <a:lnTo>
                    <a:pt x="286384" y="0"/>
                  </a:lnTo>
                  <a:lnTo>
                    <a:pt x="288671" y="1015"/>
                  </a:lnTo>
                  <a:lnTo>
                    <a:pt x="290702" y="2793"/>
                  </a:lnTo>
                  <a:lnTo>
                    <a:pt x="293750" y="4952"/>
                  </a:lnTo>
                  <a:lnTo>
                    <a:pt x="295401" y="8000"/>
                  </a:lnTo>
                  <a:lnTo>
                    <a:pt x="295401" y="11810"/>
                  </a:lnTo>
                  <a:lnTo>
                    <a:pt x="295401" y="16636"/>
                  </a:lnTo>
                  <a:lnTo>
                    <a:pt x="291465" y="23748"/>
                  </a:lnTo>
                  <a:lnTo>
                    <a:pt x="283591" y="32892"/>
                  </a:lnTo>
                  <a:lnTo>
                    <a:pt x="254576" y="67989"/>
                  </a:lnTo>
                  <a:lnTo>
                    <a:pt x="226670" y="105762"/>
                  </a:lnTo>
                  <a:lnTo>
                    <a:pt x="199886" y="146205"/>
                  </a:lnTo>
                  <a:lnTo>
                    <a:pt x="174236" y="189312"/>
                  </a:lnTo>
                  <a:lnTo>
                    <a:pt x="149733" y="235076"/>
                  </a:lnTo>
                  <a:lnTo>
                    <a:pt x="174474" y="226169"/>
                  </a:lnTo>
                  <a:lnTo>
                    <a:pt x="195167" y="219821"/>
                  </a:lnTo>
                  <a:lnTo>
                    <a:pt x="211812" y="216021"/>
                  </a:lnTo>
                  <a:lnTo>
                    <a:pt x="224408" y="214756"/>
                  </a:lnTo>
                  <a:lnTo>
                    <a:pt x="231771" y="215233"/>
                  </a:lnTo>
                  <a:lnTo>
                    <a:pt x="260223" y="233933"/>
                  </a:lnTo>
                  <a:lnTo>
                    <a:pt x="260223" y="240791"/>
                  </a:lnTo>
                  <a:lnTo>
                    <a:pt x="260223" y="244347"/>
                  </a:lnTo>
                  <a:lnTo>
                    <a:pt x="258952" y="247650"/>
                  </a:lnTo>
                  <a:lnTo>
                    <a:pt x="256540" y="250570"/>
                  </a:lnTo>
                  <a:lnTo>
                    <a:pt x="253238" y="254761"/>
                  </a:lnTo>
                  <a:lnTo>
                    <a:pt x="248793" y="256920"/>
                  </a:lnTo>
                  <a:lnTo>
                    <a:pt x="243458" y="256920"/>
                  </a:lnTo>
                  <a:lnTo>
                    <a:pt x="239649" y="256920"/>
                  </a:lnTo>
                  <a:lnTo>
                    <a:pt x="232155" y="253745"/>
                  </a:lnTo>
                  <a:lnTo>
                    <a:pt x="220979" y="247522"/>
                  </a:lnTo>
                  <a:lnTo>
                    <a:pt x="217931" y="245998"/>
                  </a:lnTo>
                  <a:lnTo>
                    <a:pt x="213868" y="245236"/>
                  </a:lnTo>
                  <a:lnTo>
                    <a:pt x="209042" y="245236"/>
                  </a:lnTo>
                  <a:lnTo>
                    <a:pt x="191444" y="247141"/>
                  </a:lnTo>
                  <a:lnTo>
                    <a:pt x="172180" y="252856"/>
                  </a:lnTo>
                  <a:lnTo>
                    <a:pt x="151249" y="262381"/>
                  </a:lnTo>
                  <a:lnTo>
                    <a:pt x="128650" y="275716"/>
                  </a:lnTo>
                  <a:lnTo>
                    <a:pt x="137935" y="280765"/>
                  </a:lnTo>
                  <a:lnTo>
                    <a:pt x="145780" y="286575"/>
                  </a:lnTo>
                  <a:lnTo>
                    <a:pt x="165608" y="324754"/>
                  </a:lnTo>
                  <a:lnTo>
                    <a:pt x="168401" y="354075"/>
                  </a:lnTo>
                  <a:lnTo>
                    <a:pt x="165353" y="395624"/>
                  </a:lnTo>
                  <a:lnTo>
                    <a:pt x="156210" y="438340"/>
                  </a:lnTo>
                  <a:lnTo>
                    <a:pt x="140970" y="482199"/>
                  </a:lnTo>
                  <a:lnTo>
                    <a:pt x="119634" y="527176"/>
                  </a:lnTo>
                  <a:lnTo>
                    <a:pt x="98853" y="561308"/>
                  </a:lnTo>
                  <a:lnTo>
                    <a:pt x="68117" y="595606"/>
                  </a:lnTo>
                  <a:lnTo>
                    <a:pt x="35560" y="607821"/>
                  </a:lnTo>
                  <a:lnTo>
                    <a:pt x="27580" y="606821"/>
                  </a:lnTo>
                  <a:lnTo>
                    <a:pt x="2095" y="575913"/>
                  </a:lnTo>
                  <a:lnTo>
                    <a:pt x="0" y="555243"/>
                  </a:lnTo>
                  <a:lnTo>
                    <a:pt x="2355" y="527359"/>
                  </a:lnTo>
                  <a:lnTo>
                    <a:pt x="21163" y="452874"/>
                  </a:lnTo>
                  <a:lnTo>
                    <a:pt x="37592" y="406272"/>
                  </a:lnTo>
                  <a:lnTo>
                    <a:pt x="54308" y="366893"/>
                  </a:lnTo>
                  <a:lnTo>
                    <a:pt x="67095" y="338008"/>
                  </a:lnTo>
                  <a:lnTo>
                    <a:pt x="69881" y="331517"/>
                  </a:lnTo>
                  <a:lnTo>
                    <a:pt x="72620" y="324812"/>
                  </a:lnTo>
                  <a:lnTo>
                    <a:pt x="75311" y="317880"/>
                  </a:lnTo>
                  <a:lnTo>
                    <a:pt x="73533" y="318261"/>
                  </a:lnTo>
                  <a:lnTo>
                    <a:pt x="71882" y="318515"/>
                  </a:lnTo>
                  <a:lnTo>
                    <a:pt x="70358" y="318515"/>
                  </a:lnTo>
                  <a:lnTo>
                    <a:pt x="64262" y="318515"/>
                  </a:lnTo>
                  <a:lnTo>
                    <a:pt x="61340" y="315213"/>
                  </a:lnTo>
                  <a:lnTo>
                    <a:pt x="61340" y="308482"/>
                  </a:lnTo>
                  <a:lnTo>
                    <a:pt x="63936" y="299007"/>
                  </a:lnTo>
                  <a:lnTo>
                    <a:pt x="71723" y="288305"/>
                  </a:lnTo>
                  <a:lnTo>
                    <a:pt x="84701" y="276389"/>
                  </a:lnTo>
                  <a:lnTo>
                    <a:pt x="102870" y="263270"/>
                  </a:lnTo>
                  <a:lnTo>
                    <a:pt x="128329" y="210597"/>
                  </a:lnTo>
                  <a:lnTo>
                    <a:pt x="153479" y="163067"/>
                  </a:lnTo>
                  <a:lnTo>
                    <a:pt x="178343" y="120681"/>
                  </a:lnTo>
                  <a:lnTo>
                    <a:pt x="202946" y="83438"/>
                  </a:lnTo>
                  <a:lnTo>
                    <a:pt x="233235" y="42941"/>
                  </a:lnTo>
                  <a:lnTo>
                    <a:pt x="265124" y="8518"/>
                  </a:lnTo>
                  <a:lnTo>
                    <a:pt x="277991" y="950"/>
                  </a:lnTo>
                  <a:lnTo>
                    <a:pt x="283591" y="0"/>
                  </a:lnTo>
                  <a:close/>
                </a:path>
              </a:pathLst>
            </a:custGeom>
            <a:ln w="9144">
              <a:solidFill>
                <a:srgbClr val="1F4E79"/>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6917308" y="2608706"/>
              <a:ext cx="4534662" cy="512191"/>
            </a:xfrm>
            <a:prstGeom prst="rect">
              <a:avLst/>
            </a:prstGeom>
          </p:spPr>
        </p:pic>
      </p:grpSp>
      <p:sp>
        <p:nvSpPr>
          <p:cNvPr id="12" name="object 12"/>
          <p:cNvSpPr txBox="1"/>
          <p:nvPr/>
        </p:nvSpPr>
        <p:spPr>
          <a:xfrm>
            <a:off x="4774438" y="3781805"/>
            <a:ext cx="2853055" cy="689610"/>
          </a:xfrm>
          <a:prstGeom prst="rect">
            <a:avLst/>
          </a:prstGeom>
        </p:spPr>
        <p:txBody>
          <a:bodyPr vert="horz" wrap="square" lIns="0" tIns="12700" rIns="0" bIns="0" rtlCol="0">
            <a:spAutoFit/>
          </a:bodyPr>
          <a:lstStyle/>
          <a:p>
            <a:pPr marL="12700">
              <a:lnSpc>
                <a:spcPct val="100000"/>
              </a:lnSpc>
              <a:spcBef>
                <a:spcPts val="100"/>
              </a:spcBef>
            </a:pPr>
            <a:r>
              <a:rPr sz="4400" b="1" dirty="0">
                <a:latin typeface="Arial" panose="020B0604020202020204"/>
                <a:cs typeface="Arial" panose="020B0604020202020204"/>
              </a:rPr>
              <a:t>Lecture</a:t>
            </a:r>
            <a:r>
              <a:rPr sz="4400" b="1" spc="-50" dirty="0">
                <a:latin typeface="Arial" panose="020B0604020202020204"/>
                <a:cs typeface="Arial" panose="020B0604020202020204"/>
              </a:rPr>
              <a:t> </a:t>
            </a:r>
            <a:r>
              <a:rPr sz="4400" b="1" dirty="0">
                <a:latin typeface="Arial" panose="020B0604020202020204"/>
                <a:cs typeface="Arial" panose="020B0604020202020204"/>
              </a:rPr>
              <a:t>-</a:t>
            </a:r>
            <a:r>
              <a:rPr sz="4400" b="1" spc="-45" dirty="0">
                <a:latin typeface="Arial" panose="020B0604020202020204"/>
                <a:cs typeface="Arial" panose="020B0604020202020204"/>
              </a:rPr>
              <a:t> </a:t>
            </a:r>
            <a:r>
              <a:rPr lang="en-GB" sz="4400" b="1" spc="-45" dirty="0">
                <a:latin typeface="Arial" panose="020B0604020202020204"/>
                <a:cs typeface="Arial" panose="020B0604020202020204"/>
              </a:rPr>
              <a:t>3</a:t>
            </a:r>
          </a:p>
        </p:txBody>
      </p:sp>
      <p:sp>
        <p:nvSpPr>
          <p:cNvPr id="14" name="Text Box 13"/>
          <p:cNvSpPr txBox="1"/>
          <p:nvPr/>
        </p:nvSpPr>
        <p:spPr>
          <a:xfrm>
            <a:off x="1790700" y="5132070"/>
            <a:ext cx="7920990" cy="494030"/>
          </a:xfrm>
          <a:prstGeom prst="rect">
            <a:avLst/>
          </a:prstGeom>
          <a:noFill/>
          <a:ln w="9525">
            <a:noFill/>
          </a:ln>
        </p:spPr>
        <p:txBody>
          <a:bodyPr>
            <a:noAutofit/>
          </a:bodyPr>
          <a:lstStyle/>
          <a:p>
            <a:pPr indent="0" algn="ctr"/>
            <a:r>
              <a:rPr lang="en-US" sz="3200" b="1">
                <a:latin typeface="Times New Roman" panose="02020603050405020304" charset="0"/>
                <a:cs typeface="Verdana" panose="020B0604030504040204" charset="0"/>
              </a:rPr>
              <a:t>Input/output and</a:t>
            </a:r>
            <a:r>
              <a:rPr lang="en-GB" altLang="en-US" sz="3200" b="1">
                <a:latin typeface="Times New Roman" panose="02020603050405020304" charset="0"/>
                <a:cs typeface="Verdana" panose="020B0604030504040204" charset="0"/>
              </a:rPr>
              <a:t> </a:t>
            </a:r>
            <a:r>
              <a:rPr lang="en-US" sz="3200" b="1">
                <a:latin typeface="Times New Roman" panose="02020603050405020304" charset="0"/>
                <a:cs typeface="Verdana" panose="020B0604030504040204" charset="0"/>
              </a:rPr>
              <a:t>Functions </a:t>
            </a:r>
            <a:endParaRPr lang="en-US" altLang="en-US" sz="3200" b="1">
              <a:latin typeface="Times New Roman" panose="02020603050405020304" charset="0"/>
              <a:cs typeface="Verdana" panose="020B060403050404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75353" y="437515"/>
            <a:ext cx="4241800" cy="574040"/>
          </a:xfrm>
          <a:prstGeom prst="rect">
            <a:avLst/>
          </a:prstGeom>
        </p:spPr>
        <p:txBody>
          <a:bodyPr vert="horz" wrap="square" lIns="0" tIns="12700" rIns="0" bIns="0" rtlCol="0">
            <a:spAutoFit/>
          </a:bodyPr>
          <a:lstStyle/>
          <a:p>
            <a:pPr marL="12700">
              <a:lnSpc>
                <a:spcPct val="100000"/>
              </a:lnSpc>
              <a:spcBef>
                <a:spcPts val="100"/>
              </a:spcBef>
            </a:pPr>
            <a:r>
              <a:rPr spc="-5" dirty="0"/>
              <a:t>Introduction</a:t>
            </a:r>
            <a:r>
              <a:rPr spc="-25" dirty="0"/>
              <a:t> </a:t>
            </a:r>
            <a:r>
              <a:rPr dirty="0"/>
              <a:t>to</a:t>
            </a:r>
            <a:r>
              <a:rPr spc="-25" dirty="0"/>
              <a:t> </a:t>
            </a:r>
            <a:r>
              <a:rPr dirty="0"/>
              <a:t>C++</a:t>
            </a:r>
          </a:p>
        </p:txBody>
      </p:sp>
      <p:sp>
        <p:nvSpPr>
          <p:cNvPr id="3" name="object 3"/>
          <p:cNvSpPr txBox="1"/>
          <p:nvPr/>
        </p:nvSpPr>
        <p:spPr>
          <a:xfrm>
            <a:off x="916939" y="1308506"/>
            <a:ext cx="10513060" cy="3890645"/>
          </a:xfrm>
          <a:prstGeom prst="rect">
            <a:avLst/>
          </a:prstGeom>
        </p:spPr>
        <p:txBody>
          <a:bodyPr vert="horz" wrap="square" lIns="0" tIns="12700" rIns="0" bIns="0" rtlCol="0">
            <a:spAutoFit/>
          </a:bodyPr>
          <a:lstStyle/>
          <a:p>
            <a:pPr marL="0" indent="0">
              <a:buNone/>
            </a:pPr>
            <a:r>
              <a:rPr lang="en-US" altLang="ko-KR" sz="2800" dirty="0">
                <a:latin typeface="Times New Roman" panose="02020603050405020304" charset="0"/>
                <a:cs typeface="Times New Roman" panose="02020603050405020304" charset="0"/>
                <a:sym typeface="+mn-ea"/>
              </a:rPr>
              <a:t>I/O statements and functions</a:t>
            </a:r>
            <a:endParaRPr lang="en-US" altLang="ko-KR" sz="2800" dirty="0">
              <a:latin typeface="Times New Roman" panose="02020603050405020304" charset="0"/>
              <a:cs typeface="Times New Roman" panose="02020603050405020304" charset="0"/>
            </a:endParaRPr>
          </a:p>
          <a:p>
            <a:pPr lvl="1"/>
            <a:r>
              <a:rPr lang="en-US" sz="2800" dirty="0">
                <a:latin typeface="Times New Roman" panose="02020603050405020304" charset="0"/>
                <a:cs typeface="Times New Roman" panose="02020603050405020304" charset="0"/>
                <a:sym typeface="+mn-ea"/>
              </a:rPr>
              <a:t>Using Library Functions</a:t>
            </a:r>
            <a:endParaRPr lang="en-US" sz="2800" dirty="0">
              <a:latin typeface="Times New Roman" panose="02020603050405020304" charset="0"/>
              <a:cs typeface="Times New Roman" panose="02020603050405020304" charset="0"/>
            </a:endParaRPr>
          </a:p>
          <a:p>
            <a:pPr lvl="2"/>
            <a:r>
              <a:rPr lang="en-US" sz="2800" dirty="0">
                <a:latin typeface="Times New Roman" panose="02020603050405020304" charset="0"/>
                <a:cs typeface="Times New Roman" panose="02020603050405020304" charset="0"/>
                <a:sym typeface="+mn-ea"/>
              </a:rPr>
              <a:t>Formatting Numbers for Program Output</a:t>
            </a:r>
            <a:endParaRPr lang="en-US" sz="2800" dirty="0">
              <a:latin typeface="Times New Roman" panose="02020603050405020304" charset="0"/>
              <a:cs typeface="Times New Roman" panose="02020603050405020304" charset="0"/>
            </a:endParaRPr>
          </a:p>
          <a:p>
            <a:pPr lvl="1"/>
            <a:r>
              <a:rPr lang="en-US" sz="2800" dirty="0">
                <a:latin typeface="Times New Roman" panose="02020603050405020304" charset="0"/>
                <a:cs typeface="Times New Roman" panose="02020603050405020304" charset="0"/>
                <a:sym typeface="+mn-ea"/>
              </a:rPr>
              <a:t>Input using the </a:t>
            </a:r>
            <a:r>
              <a:rPr lang="en-US" sz="2800" b="1" dirty="0">
                <a:latin typeface="Times New Roman" panose="02020603050405020304" charset="0"/>
                <a:cs typeface="Times New Roman" panose="02020603050405020304" charset="0"/>
                <a:sym typeface="+mn-ea"/>
              </a:rPr>
              <a:t>cin</a:t>
            </a:r>
            <a:r>
              <a:rPr lang="en-US" sz="2800" dirty="0">
                <a:latin typeface="Times New Roman" panose="02020603050405020304" charset="0"/>
                <a:cs typeface="Times New Roman" panose="02020603050405020304" charset="0"/>
                <a:sym typeface="+mn-ea"/>
              </a:rPr>
              <a:t> object</a:t>
            </a:r>
            <a:endParaRPr lang="en-US" sz="2800" dirty="0">
              <a:latin typeface="Times New Roman" panose="02020603050405020304" charset="0"/>
              <a:cs typeface="Times New Roman" panose="02020603050405020304" charset="0"/>
            </a:endParaRPr>
          </a:p>
          <a:p>
            <a:pPr lvl="1"/>
            <a:r>
              <a:rPr lang="en-US" altLang="ko-KR" sz="2800" dirty="0">
                <a:latin typeface="Times New Roman" panose="02020603050405020304" charset="0"/>
                <a:cs typeface="Times New Roman" panose="02020603050405020304" charset="0"/>
                <a:sym typeface="+mn-ea"/>
              </a:rPr>
              <a:t>Writing Functions</a:t>
            </a:r>
            <a:endParaRPr lang="en-US" altLang="ko-KR" sz="2800" dirty="0">
              <a:latin typeface="Times New Roman" panose="02020603050405020304" charset="0"/>
              <a:cs typeface="Times New Roman" panose="02020603050405020304" charset="0"/>
            </a:endParaRPr>
          </a:p>
          <a:p>
            <a:pPr lvl="2"/>
            <a:r>
              <a:rPr lang="en-US" sz="2800" dirty="0">
                <a:latin typeface="Times New Roman" panose="02020603050405020304" charset="0"/>
                <a:cs typeface="Times New Roman" panose="02020603050405020304" charset="0"/>
                <a:sym typeface="+mn-ea"/>
              </a:rPr>
              <a:t>Function and parameter declarations</a:t>
            </a:r>
            <a:endParaRPr lang="en-US" sz="2800" dirty="0">
              <a:latin typeface="Times New Roman" panose="02020603050405020304" charset="0"/>
              <a:cs typeface="Times New Roman" panose="02020603050405020304" charset="0"/>
            </a:endParaRPr>
          </a:p>
          <a:p>
            <a:pPr lvl="2"/>
            <a:r>
              <a:rPr lang="en-US" sz="2800" dirty="0">
                <a:latin typeface="Times New Roman" panose="02020603050405020304" charset="0"/>
                <a:cs typeface="Times New Roman" panose="02020603050405020304" charset="0"/>
                <a:sym typeface="+mn-ea"/>
              </a:rPr>
              <a:t>Returning a value</a:t>
            </a:r>
            <a:endParaRPr lang="en-US" sz="2800" dirty="0">
              <a:latin typeface="Times New Roman" panose="02020603050405020304" charset="0"/>
              <a:cs typeface="Times New Roman" panose="02020603050405020304" charset="0"/>
            </a:endParaRPr>
          </a:p>
          <a:p>
            <a:pPr lvl="2"/>
            <a:r>
              <a:rPr lang="en-US" sz="2800" dirty="0">
                <a:latin typeface="Times New Roman" panose="02020603050405020304" charset="0"/>
                <a:cs typeface="Times New Roman" panose="02020603050405020304" charset="0"/>
                <a:sym typeface="+mn-ea"/>
              </a:rPr>
              <a:t>Pass by Value and Pass by Reference</a:t>
            </a:r>
            <a:endParaRPr lang="en-US" sz="2800" dirty="0">
              <a:latin typeface="Times New Roman" panose="02020603050405020304" charset="0"/>
              <a:cs typeface="Times New Roman" panose="02020603050405020304" charset="0"/>
            </a:endParaRPr>
          </a:p>
          <a:p>
            <a:pPr lvl="1"/>
            <a:r>
              <a:rPr lang="en-US" sz="2800" dirty="0">
                <a:latin typeface="Times New Roman" panose="02020603050405020304" charset="0"/>
                <a:cs typeface="Times New Roman" panose="02020603050405020304" charset="0"/>
                <a:sym typeface="+mn-ea"/>
              </a:rPr>
              <a:t>Variable Scope and Lifetime</a:t>
            </a:r>
            <a:endParaRPr sz="2800" dirty="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549275" y="453390"/>
            <a:ext cx="11297920" cy="5995670"/>
          </a:xfrm>
        </p:spPr>
        <p:txBody>
          <a:bodyPr>
            <a:noAutofit/>
          </a:bodyPr>
          <a:lstStyle/>
          <a:p>
            <a:pPr indent="0" algn="just">
              <a:buFont typeface="Wingdings" panose="05000000000000000000" charset="0"/>
              <a:buNone/>
            </a:pPr>
            <a:r>
              <a:rPr lang="en-US" altLang="ko-KR" sz="3200" b="1" dirty="0">
                <a:latin typeface="Times New Roman" panose="02020603050405020304" charset="0"/>
                <a:cs typeface="Times New Roman" panose="02020603050405020304" charset="0"/>
                <a:sym typeface="+mn-ea"/>
              </a:rPr>
              <a:t>I/O statements</a:t>
            </a:r>
            <a:endParaRPr lang="en-GB" altLang="en-US" sz="3200" b="1">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C++ I/O operation is using the stream concept. Stream is the sequence of bytes or flow of data. It makes the performance fast.</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If bytes flow from main memory to device like printer, display screen, or a network connection, etc, this is called as output operation.</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If bytes flow from device like printer, display screen, or a network connection, etc to main memory, this is called as input operation.</a:t>
            </a:r>
          </a:p>
          <a:p>
            <a:pPr marL="0" indent="0" algn="just">
              <a:buNone/>
            </a:pPr>
            <a:r>
              <a:rPr lang="en-GB" altLang="en-US" sz="2400" b="1">
                <a:latin typeface="Times New Roman" panose="02020603050405020304" charset="0"/>
                <a:cs typeface="Times New Roman" panose="02020603050405020304" charset="0"/>
              </a:rPr>
              <a:t>I/O Library Header Files</a:t>
            </a:r>
          </a:p>
          <a:p>
            <a:pPr marL="0" indent="0" algn="just">
              <a:buNone/>
            </a:pPr>
            <a:r>
              <a:rPr lang="en-GB" altLang="en-US" sz="2400">
                <a:latin typeface="Times New Roman" panose="02020603050405020304" charset="0"/>
                <a:cs typeface="Times New Roman" panose="02020603050405020304" charset="0"/>
              </a:rPr>
              <a:t>Let us see the common header files used in C++ programming are:</a:t>
            </a:r>
          </a:p>
          <a:p>
            <a:pPr marL="0" indent="0" algn="just">
              <a:buNone/>
            </a:pPr>
            <a:endParaRPr lang="en-GB" altLang="en-US" sz="2400">
              <a:latin typeface="Times New Roman" panose="02020603050405020304" charset="0"/>
              <a:cs typeface="Times New Roman" panose="02020603050405020304" charset="0"/>
            </a:endParaRPr>
          </a:p>
        </p:txBody>
      </p:sp>
      <p:graphicFrame>
        <p:nvGraphicFramePr>
          <p:cNvPr id="4" name="Table 3"/>
          <p:cNvGraphicFramePr/>
          <p:nvPr/>
        </p:nvGraphicFramePr>
        <p:xfrm>
          <a:off x="655320" y="4038600"/>
          <a:ext cx="11161395" cy="2389505"/>
        </p:xfrm>
        <a:graphic>
          <a:graphicData uri="http://schemas.openxmlformats.org/drawingml/2006/table">
            <a:tbl>
              <a:tblPr firstRow="1" bandRow="1">
                <a:tableStyleId>{5C22544A-7EE6-4342-B048-85BDC9FD1C3A}</a:tableStyleId>
              </a:tblPr>
              <a:tblGrid>
                <a:gridCol w="2185670">
                  <a:extLst>
                    <a:ext uri="{9D8B030D-6E8A-4147-A177-3AD203B41FA5}">
                      <a16:colId xmlns:a16="http://schemas.microsoft.com/office/drawing/2014/main" val="20000"/>
                    </a:ext>
                  </a:extLst>
                </a:gridCol>
                <a:gridCol w="8975725">
                  <a:extLst>
                    <a:ext uri="{9D8B030D-6E8A-4147-A177-3AD203B41FA5}">
                      <a16:colId xmlns:a16="http://schemas.microsoft.com/office/drawing/2014/main" val="20001"/>
                    </a:ext>
                  </a:extLst>
                </a:gridCol>
              </a:tblGrid>
              <a:tr h="537845">
                <a:tc>
                  <a:txBody>
                    <a:bodyPr/>
                    <a:lstStyle/>
                    <a:p>
                      <a:pPr>
                        <a:buNone/>
                      </a:pPr>
                      <a:r>
                        <a:rPr lang="en-GB" altLang="en-US">
                          <a:latin typeface="Times New Roman" panose="02020603050405020304" charset="0"/>
                          <a:cs typeface="Times New Roman" panose="02020603050405020304" charset="0"/>
                          <a:sym typeface="+mn-ea"/>
                        </a:rPr>
                        <a:t>Header File </a:t>
                      </a:r>
                      <a:endParaRPr lang="en-GB" altLang="en-US"/>
                    </a:p>
                  </a:txBody>
                  <a:tcPr/>
                </a:tc>
                <a:tc>
                  <a:txBody>
                    <a:bodyPr/>
                    <a:lstStyle/>
                    <a:p>
                      <a:pPr>
                        <a:buNone/>
                      </a:pPr>
                      <a:r>
                        <a:rPr lang="en-GB" altLang="en-US">
                          <a:latin typeface="Times New Roman" panose="02020603050405020304" charset="0"/>
                          <a:cs typeface="Times New Roman" panose="02020603050405020304" charset="0"/>
                          <a:sym typeface="+mn-ea"/>
                        </a:rPr>
                        <a:t>Function and Description</a:t>
                      </a:r>
                      <a:endParaRPr lang="en-GB" altLang="en-US"/>
                    </a:p>
                  </a:txBody>
                  <a:tcPr/>
                </a:tc>
                <a:extLst>
                  <a:ext uri="{0D108BD9-81ED-4DB2-BD59-A6C34878D82A}">
                    <a16:rowId xmlns:a16="http://schemas.microsoft.com/office/drawing/2014/main" val="10000"/>
                  </a:ext>
                </a:extLst>
              </a:tr>
              <a:tr h="640080">
                <a:tc>
                  <a:txBody>
                    <a:bodyPr/>
                    <a:lstStyle/>
                    <a:p>
                      <a:pPr>
                        <a:buNone/>
                      </a:pPr>
                      <a:r>
                        <a:rPr lang="en-GB" altLang="en-US">
                          <a:latin typeface="Times New Roman" panose="02020603050405020304" charset="0"/>
                          <a:cs typeface="Times New Roman" panose="02020603050405020304" charset="0"/>
                          <a:sym typeface="+mn-ea"/>
                        </a:rPr>
                        <a:t>&lt;iostream&gt; </a:t>
                      </a:r>
                      <a:endParaRPr lang="en-GB" altLang="en-US"/>
                    </a:p>
                  </a:txBody>
                  <a:tcPr/>
                </a:tc>
                <a:tc>
                  <a:txBody>
                    <a:bodyPr/>
                    <a:lstStyle/>
                    <a:p>
                      <a:pPr>
                        <a:buNone/>
                      </a:pPr>
                      <a:r>
                        <a:rPr lang="en-GB" altLang="en-US">
                          <a:latin typeface="Times New Roman" panose="02020603050405020304" charset="0"/>
                          <a:cs typeface="Times New Roman" panose="02020603050405020304" charset="0"/>
                          <a:sym typeface="+mn-ea"/>
                        </a:rPr>
                        <a:t>It is used to define the cout, cin and cerr objects, which correspond to standard output stream, standard input stream and standard error stream, respectively.</a:t>
                      </a:r>
                      <a:endParaRPr lang="en-GB" altLang="en-US"/>
                    </a:p>
                  </a:txBody>
                  <a:tcPr/>
                </a:tc>
                <a:extLst>
                  <a:ext uri="{0D108BD9-81ED-4DB2-BD59-A6C34878D82A}">
                    <a16:rowId xmlns:a16="http://schemas.microsoft.com/office/drawing/2014/main" val="10001"/>
                  </a:ext>
                </a:extLst>
              </a:tr>
              <a:tr h="571500">
                <a:tc>
                  <a:txBody>
                    <a:bodyPr/>
                    <a:lstStyle/>
                    <a:p>
                      <a:pPr>
                        <a:buNone/>
                      </a:pPr>
                      <a:r>
                        <a:rPr lang="en-GB" altLang="en-US">
                          <a:latin typeface="Times New Roman" panose="02020603050405020304" charset="0"/>
                          <a:cs typeface="Times New Roman" panose="02020603050405020304" charset="0"/>
                          <a:sym typeface="+mn-ea"/>
                        </a:rPr>
                        <a:t>&lt;iomanip&gt; </a:t>
                      </a:r>
                      <a:endParaRPr lang="en-GB" altLang="en-US"/>
                    </a:p>
                  </a:txBody>
                  <a:tcPr/>
                </a:tc>
                <a:tc>
                  <a:txBody>
                    <a:bodyPr/>
                    <a:lstStyle/>
                    <a:p>
                      <a:pPr>
                        <a:buNone/>
                      </a:pPr>
                      <a:r>
                        <a:rPr lang="en-GB" altLang="en-US">
                          <a:latin typeface="Times New Roman" panose="02020603050405020304" charset="0"/>
                          <a:cs typeface="Times New Roman" panose="02020603050405020304" charset="0"/>
                          <a:sym typeface="+mn-ea"/>
                        </a:rPr>
                        <a:t>It is used to declare services useful for performing formatted I/O, such as setprecision and setw.</a:t>
                      </a:r>
                      <a:endParaRPr lang="en-GB" altLang="en-US"/>
                    </a:p>
                  </a:txBody>
                  <a:tcPr/>
                </a:tc>
                <a:extLst>
                  <a:ext uri="{0D108BD9-81ED-4DB2-BD59-A6C34878D82A}">
                    <a16:rowId xmlns:a16="http://schemas.microsoft.com/office/drawing/2014/main" val="10002"/>
                  </a:ext>
                </a:extLst>
              </a:tr>
              <a:tr h="640080">
                <a:tc>
                  <a:txBody>
                    <a:bodyPr/>
                    <a:lstStyle/>
                    <a:p>
                      <a:pPr>
                        <a:buNone/>
                      </a:pPr>
                      <a:r>
                        <a:rPr lang="en-GB" altLang="en-US">
                          <a:latin typeface="Times New Roman" panose="02020603050405020304" charset="0"/>
                          <a:cs typeface="Times New Roman" panose="02020603050405020304" charset="0"/>
                          <a:sym typeface="+mn-ea"/>
                        </a:rPr>
                        <a:t>&lt;fstream&gt; </a:t>
                      </a:r>
                      <a:endParaRPr lang="en-GB" altLang="en-US"/>
                    </a:p>
                  </a:txBody>
                  <a:tcPr/>
                </a:tc>
                <a:tc>
                  <a:txBody>
                    <a:bodyPr/>
                    <a:lstStyle/>
                    <a:p>
                      <a:pPr>
                        <a:buNone/>
                      </a:pPr>
                      <a:r>
                        <a:rPr lang="en-GB" altLang="en-US">
                          <a:latin typeface="Times New Roman" panose="02020603050405020304" charset="0"/>
                          <a:cs typeface="Times New Roman" panose="02020603050405020304" charset="0"/>
                          <a:sym typeface="+mn-ea"/>
                        </a:rPr>
                        <a:t>It is used to declare services for user-controlled file processing.</a:t>
                      </a:r>
                      <a:endParaRPr lang="en-GB" altLang="en-US"/>
                    </a:p>
                    <a:p>
                      <a:pPr>
                        <a:buNone/>
                      </a:pPr>
                      <a:endParaRPr lang="en-GB" altLang="en-US"/>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09600"/>
            <a:ext cx="10363200" cy="621665"/>
          </a:xfrm>
        </p:spPr>
        <p:txBody>
          <a:bodyPr>
            <a:noAutofit/>
          </a:bodyPr>
          <a:lstStyle/>
          <a:p>
            <a:r>
              <a:rPr lang="en-US" dirty="0">
                <a:sym typeface="+mn-ea"/>
              </a:rPr>
              <a:t>Standard output stream (cout)</a:t>
            </a:r>
          </a:p>
        </p:txBody>
      </p:sp>
      <p:sp>
        <p:nvSpPr>
          <p:cNvPr id="3" name="Subtitle 2"/>
          <p:cNvSpPr>
            <a:spLocks noGrp="1"/>
          </p:cNvSpPr>
          <p:nvPr>
            <p:ph type="subTitle" idx="4"/>
          </p:nvPr>
        </p:nvSpPr>
        <p:spPr>
          <a:xfrm>
            <a:off x="502920" y="1403985"/>
            <a:ext cx="11137265" cy="4768215"/>
          </a:xfrm>
        </p:spPr>
        <p:txBody>
          <a:bodyPr wrap="square">
            <a:noAutofit/>
          </a:bodyPr>
          <a:lstStyle/>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The cout is a predefined object of ostream class. </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It is connected with the standard output device, which is usually a display screen.</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The cout is used in conjunction with stream insertion operator (&lt;&lt;) to display the output on a console.</a:t>
            </a:r>
          </a:p>
          <a:p>
            <a:pPr algn="just"/>
            <a:r>
              <a:rPr lang="en-GB" altLang="en-US" sz="2500">
                <a:latin typeface="Times New Roman" panose="02020603050405020304" charset="0"/>
                <a:cs typeface="Times New Roman" panose="02020603050405020304" charset="0"/>
              </a:rPr>
              <a:t>Let's see the simple example of standard output stream (cout):</a:t>
            </a:r>
          </a:p>
          <a:p>
            <a:pPr algn="just"/>
            <a:endParaRPr lang="en-GB" altLang="en-US" sz="2500">
              <a:latin typeface="Times New Roman" panose="02020603050405020304" charset="0"/>
              <a:cs typeface="Times New Roman" panose="02020603050405020304" charset="0"/>
            </a:endParaRPr>
          </a:p>
          <a:p>
            <a:pPr lvl="1" algn="just"/>
            <a:r>
              <a:rPr lang="en-GB" altLang="en-US" sz="2500">
                <a:latin typeface="Times New Roman" panose="02020603050405020304" charset="0"/>
                <a:cs typeface="Times New Roman" panose="02020603050405020304" charset="0"/>
              </a:rPr>
              <a:t>#include &lt;iostream&gt;  </a:t>
            </a:r>
          </a:p>
          <a:p>
            <a:pPr lvl="1" algn="just"/>
            <a:r>
              <a:rPr lang="en-GB" altLang="en-US" sz="2500">
                <a:latin typeface="Times New Roman" panose="02020603050405020304" charset="0"/>
                <a:cs typeface="Times New Roman" panose="02020603050405020304" charset="0"/>
              </a:rPr>
              <a:t>using namespace std;  </a:t>
            </a:r>
          </a:p>
          <a:p>
            <a:pPr lvl="1" algn="just"/>
            <a:r>
              <a:rPr lang="en-GB" altLang="en-US" sz="2500">
                <a:latin typeface="Times New Roman" panose="02020603050405020304" charset="0"/>
                <a:cs typeface="Times New Roman" panose="02020603050405020304" charset="0"/>
              </a:rPr>
              <a:t>int main( ) {  </a:t>
            </a:r>
          </a:p>
          <a:p>
            <a:pPr lvl="1" algn="just"/>
            <a:r>
              <a:rPr lang="en-GB" altLang="en-US" sz="2500">
                <a:latin typeface="Times New Roman" panose="02020603050405020304" charset="0"/>
                <a:cs typeface="Times New Roman" panose="02020603050405020304" charset="0"/>
              </a:rPr>
              <a:t>   </a:t>
            </a:r>
            <a:r>
              <a:rPr lang="en-GB" altLang="en-US" sz="2500">
                <a:latin typeface="Times New Roman" panose="02020603050405020304" charset="0"/>
                <a:cs typeface="Times New Roman" panose="02020603050405020304" charset="0"/>
                <a:sym typeface="+mn-ea"/>
              </a:rPr>
              <a:t> cout &lt;&lt;</a:t>
            </a:r>
            <a:r>
              <a:rPr lang="en-GB" altLang="en-US" sz="2500">
                <a:latin typeface="Times New Roman" panose="02020603050405020304" charset="0"/>
                <a:cs typeface="Times New Roman" panose="02020603050405020304" charset="0"/>
              </a:rPr>
              <a:t>"Welcome to C++ class";  </a:t>
            </a:r>
          </a:p>
          <a:p>
            <a:pPr lvl="1" algn="just"/>
            <a:r>
              <a:rPr lang="en-GB" altLang="en-US" sz="2500">
                <a:latin typeface="Times New Roman" panose="02020603050405020304" charset="0"/>
                <a:cs typeface="Times New Roman" panose="02020603050405020304"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81000"/>
            <a:ext cx="10363200" cy="612775"/>
          </a:xfrm>
        </p:spPr>
        <p:txBody>
          <a:bodyPr>
            <a:noAutofit/>
          </a:bodyPr>
          <a:lstStyle/>
          <a:p>
            <a:r>
              <a:rPr lang="en-GB" altLang="en-US">
                <a:sym typeface="+mn-ea"/>
              </a:rPr>
              <a:t>Standard input stream (cin)</a:t>
            </a:r>
            <a:endParaRPr lang="en-GB" altLang="en-US"/>
          </a:p>
        </p:txBody>
      </p:sp>
      <p:sp>
        <p:nvSpPr>
          <p:cNvPr id="3" name="Subtitle 2"/>
          <p:cNvSpPr>
            <a:spLocks noGrp="1"/>
          </p:cNvSpPr>
          <p:nvPr>
            <p:ph type="subTitle" idx="4"/>
          </p:nvPr>
        </p:nvSpPr>
        <p:spPr>
          <a:xfrm>
            <a:off x="344805" y="966470"/>
            <a:ext cx="11204575" cy="5754370"/>
          </a:xfrm>
        </p:spPr>
        <p:txBody>
          <a:bodyPr>
            <a:noAutofit/>
          </a:bodyPr>
          <a:lstStyle/>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The cin is a predefined object of istream class.</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It is connected with the standard input device, which is usually a keyboard. The cin is used in conjunction with stream extraction operator (&gt;&gt;) to read the input from a console.</a:t>
            </a:r>
          </a:p>
          <a:p>
            <a:pPr indent="0" algn="just">
              <a:buFont typeface="Wingdings" panose="05000000000000000000" charset="0"/>
              <a:buNone/>
            </a:pPr>
            <a:r>
              <a:rPr lang="en-GB" altLang="en-US" sz="2500">
                <a:latin typeface="Times New Roman" panose="02020603050405020304" charset="0"/>
                <a:cs typeface="Times New Roman" panose="02020603050405020304" charset="0"/>
              </a:rPr>
              <a:t>Let's see the simple example of standard input stream (cin):</a:t>
            </a:r>
          </a:p>
          <a:p>
            <a:pPr marL="457200" lvl="1" indent="457200" algn="just"/>
            <a:r>
              <a:rPr lang="en-GB" altLang="en-US" sz="2500">
                <a:latin typeface="Times New Roman" panose="02020603050405020304" charset="0"/>
                <a:cs typeface="Times New Roman" panose="02020603050405020304" charset="0"/>
              </a:rPr>
              <a:t>#include &lt;iostream&gt;  </a:t>
            </a:r>
          </a:p>
          <a:p>
            <a:pPr lvl="2" algn="just"/>
            <a:r>
              <a:rPr lang="en-GB" altLang="en-US" sz="2500">
                <a:latin typeface="Times New Roman" panose="02020603050405020304" charset="0"/>
                <a:cs typeface="Times New Roman" panose="02020603050405020304" charset="0"/>
              </a:rPr>
              <a:t>using namespace std;  </a:t>
            </a:r>
          </a:p>
          <a:p>
            <a:pPr lvl="2" algn="just"/>
            <a:r>
              <a:rPr lang="en-GB" altLang="en-US" sz="2500">
                <a:latin typeface="Times New Roman" panose="02020603050405020304" charset="0"/>
                <a:cs typeface="Times New Roman" panose="02020603050405020304" charset="0"/>
              </a:rPr>
              <a:t>int main( ) {  </a:t>
            </a:r>
          </a:p>
          <a:p>
            <a:pPr lvl="2" algn="just"/>
            <a:r>
              <a:rPr lang="en-GB" altLang="en-US" sz="2500">
                <a:latin typeface="Times New Roman" panose="02020603050405020304" charset="0"/>
                <a:cs typeface="Times New Roman" panose="02020603050405020304" charset="0"/>
              </a:rPr>
              <a:t>  int age;  </a:t>
            </a:r>
          </a:p>
          <a:p>
            <a:pPr lvl="2" algn="just"/>
            <a:r>
              <a:rPr lang="en-GB" altLang="en-US" sz="2500">
                <a:latin typeface="Times New Roman" panose="02020603050405020304" charset="0"/>
                <a:cs typeface="Times New Roman" panose="02020603050405020304" charset="0"/>
              </a:rPr>
              <a:t>   cout &lt;&lt; "Enter your age: ";  </a:t>
            </a:r>
          </a:p>
          <a:p>
            <a:pPr lvl="2" algn="just"/>
            <a:r>
              <a:rPr lang="en-GB" altLang="en-US" sz="2500">
                <a:latin typeface="Times New Roman" panose="02020603050405020304" charset="0"/>
                <a:cs typeface="Times New Roman" panose="02020603050405020304" charset="0"/>
              </a:rPr>
              <a:t>   cin &gt;&gt; age;  </a:t>
            </a:r>
          </a:p>
          <a:p>
            <a:pPr lvl="2" algn="just"/>
            <a:r>
              <a:rPr lang="en-GB" altLang="en-US" sz="2500">
                <a:latin typeface="Times New Roman" panose="02020603050405020304" charset="0"/>
                <a:cs typeface="Times New Roman" panose="02020603050405020304" charset="0"/>
              </a:rPr>
              <a:t>   cout &lt;&lt; "Your age is: " &lt;&lt; age &lt;&lt; endl;  </a:t>
            </a:r>
          </a:p>
          <a:p>
            <a:pPr marL="457200" lvl="1" indent="457200" algn="just"/>
            <a:r>
              <a:rPr lang="en-GB" altLang="en-US" sz="2500">
                <a:latin typeface="Times New Roman" panose="02020603050405020304" charset="0"/>
                <a:cs typeface="Times New Roman" panose="02020603050405020304" charset="0"/>
              </a:rPr>
              <a:t>} </a:t>
            </a:r>
          </a:p>
          <a:p>
            <a:pPr marL="342900" indent="-342900" algn="just">
              <a:buFont typeface="Wingdings" panose="05000000000000000000" charset="0"/>
              <a:buChar char="Ø"/>
            </a:pPr>
            <a:r>
              <a:rPr lang="en-US" sz="2500" b="1" dirty="0">
                <a:latin typeface="Times New Roman" panose="02020603050405020304" charset="0"/>
                <a:cs typeface="Times New Roman" panose="02020603050405020304" charset="0"/>
                <a:sym typeface="+mn-ea"/>
              </a:rPr>
              <a:t>cin </a:t>
            </a:r>
            <a:r>
              <a:rPr lang="en-US" sz="2500" dirty="0">
                <a:latin typeface="Times New Roman" panose="02020603050405020304" charset="0"/>
                <a:cs typeface="Times New Roman" panose="02020603050405020304" charset="0"/>
                <a:sym typeface="+mn-ea"/>
              </a:rPr>
              <a:t>can accept multiple input values to be stored in different variables</a:t>
            </a:r>
          </a:p>
          <a:p>
            <a:pPr indent="0" algn="just">
              <a:buFont typeface="Wingdings" panose="05000000000000000000" charset="0"/>
              <a:buNone/>
            </a:pPr>
            <a:r>
              <a:rPr lang="en-US" sz="2500" dirty="0">
                <a:latin typeface="Times New Roman" panose="02020603050405020304" charset="0"/>
                <a:cs typeface="Times New Roman" panose="02020603050405020304" charset="0"/>
                <a:sym typeface="+mn-ea"/>
              </a:rPr>
              <a:t>	Example:</a:t>
            </a:r>
            <a:r>
              <a:rPr lang="en-GB" altLang="en-US" sz="2500" dirty="0">
                <a:latin typeface="Times New Roman" panose="02020603050405020304" charset="0"/>
                <a:cs typeface="Times New Roman" panose="02020603050405020304" charset="0"/>
                <a:sym typeface="+mn-ea"/>
              </a:rPr>
              <a:t> </a:t>
            </a:r>
            <a:r>
              <a:rPr lang="en-US" sz="2500" b="1" dirty="0">
                <a:latin typeface="Times New Roman" panose="02020603050405020304" charset="0"/>
                <a:cs typeface="Times New Roman" panose="02020603050405020304" charset="0"/>
                <a:sym typeface="+mn-ea"/>
              </a:rPr>
              <a:t>cin &gt;&gt; num1 &gt;&gt; num2</a:t>
            </a:r>
            <a:endParaRPr lang="en-GB" altLang="en-US" sz="25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609600"/>
            <a:ext cx="10363200" cy="631825"/>
          </a:xfrm>
        </p:spPr>
        <p:txBody>
          <a:bodyPr>
            <a:noAutofit/>
          </a:bodyPr>
          <a:lstStyle/>
          <a:p>
            <a:r>
              <a:rPr lang="en-US" dirty="0">
                <a:sym typeface="+mn-ea"/>
              </a:rPr>
              <a:t>Formatting Numbers for Program Output</a:t>
            </a:r>
            <a:endParaRPr lang="en-GB" altLang="en-US" dirty="0"/>
          </a:p>
        </p:txBody>
      </p:sp>
      <p:sp>
        <p:nvSpPr>
          <p:cNvPr id="3" name="Subtitle 2"/>
          <p:cNvSpPr>
            <a:spLocks noGrp="1"/>
          </p:cNvSpPr>
          <p:nvPr>
            <p:ph type="subTitle" idx="4"/>
          </p:nvPr>
        </p:nvSpPr>
        <p:spPr>
          <a:xfrm>
            <a:off x="649605" y="1424305"/>
            <a:ext cx="10796905" cy="5324475"/>
          </a:xfrm>
        </p:spPr>
        <p:txBody>
          <a:bodyPr>
            <a:noAutofit/>
          </a:bodyPr>
          <a:lstStyle/>
          <a:p>
            <a:pPr marL="342900" indent="-342900">
              <a:buFont typeface="Wingdings" panose="05000000000000000000" charset="0"/>
              <a:buChar char="Ø"/>
            </a:pPr>
            <a:r>
              <a:rPr lang="en-US" sz="2500" dirty="0">
                <a:latin typeface="Times New Roman" panose="02020603050405020304" charset="0"/>
                <a:cs typeface="Times New Roman" panose="02020603050405020304" charset="0"/>
                <a:sym typeface="+mn-ea"/>
              </a:rPr>
              <a:t>Proper output formatting</a:t>
            </a:r>
            <a:r>
              <a:rPr lang="en-US" sz="2500" b="1" dirty="0">
                <a:latin typeface="Times New Roman" panose="02020603050405020304" charset="0"/>
                <a:cs typeface="Times New Roman" panose="02020603050405020304" charset="0"/>
                <a:sym typeface="+mn-ea"/>
              </a:rPr>
              <a:t> </a:t>
            </a:r>
            <a:r>
              <a:rPr lang="en-US" sz="2500" dirty="0">
                <a:latin typeface="Times New Roman" panose="02020603050405020304" charset="0"/>
                <a:cs typeface="Times New Roman" panose="02020603050405020304" charset="0"/>
                <a:sym typeface="+mn-ea"/>
              </a:rPr>
              <a:t>contributes to ease of use and user satisfaction</a:t>
            </a:r>
            <a:endParaRPr lang="en-US" sz="2500" dirty="0">
              <a:latin typeface="Times New Roman" panose="02020603050405020304" charset="0"/>
              <a:cs typeface="Times New Roman" panose="02020603050405020304" charset="0"/>
            </a:endParaRPr>
          </a:p>
          <a:p>
            <a:pPr marL="342900" indent="-342900">
              <a:buFont typeface="Wingdings" panose="05000000000000000000" charset="0"/>
              <a:buChar char="Ø"/>
            </a:pPr>
            <a:r>
              <a:rPr lang="en-US" sz="2500" b="1" dirty="0">
                <a:latin typeface="Times New Roman" panose="02020603050405020304" charset="0"/>
                <a:cs typeface="Times New Roman" panose="02020603050405020304" charset="0"/>
                <a:sym typeface="+mn-ea"/>
              </a:rPr>
              <a:t>cout</a:t>
            </a:r>
            <a:r>
              <a:rPr lang="en-US" sz="2500" dirty="0">
                <a:latin typeface="Times New Roman" panose="02020603050405020304" charset="0"/>
                <a:cs typeface="Times New Roman" panose="02020603050405020304" charset="0"/>
                <a:sym typeface="+mn-ea"/>
              </a:rPr>
              <a:t> with stream manipulators can control output formatting</a:t>
            </a:r>
          </a:p>
          <a:p>
            <a:endParaRPr lang="en-GB" altLang="en-US"/>
          </a:p>
          <a:p>
            <a:endParaRPr lang="en-GB" altLang="en-US"/>
          </a:p>
        </p:txBody>
      </p:sp>
      <p:graphicFrame>
        <p:nvGraphicFramePr>
          <p:cNvPr id="5" name="Content Placeholder 6"/>
          <p:cNvGraphicFramePr/>
          <p:nvPr/>
        </p:nvGraphicFramePr>
        <p:xfrm>
          <a:off x="914400" y="2286000"/>
          <a:ext cx="10021570" cy="4124960"/>
        </p:xfrm>
        <a:graphic>
          <a:graphicData uri="http://schemas.openxmlformats.org/drawingml/2006/table">
            <a:tbl>
              <a:tblPr firstRow="1" bandRow="1">
                <a:tableStyleId>{5C22544A-7EE6-4342-B048-85BDC9FD1C3A}</a:tableStyleId>
              </a:tblPr>
              <a:tblGrid>
                <a:gridCol w="3256915">
                  <a:extLst>
                    <a:ext uri="{9D8B030D-6E8A-4147-A177-3AD203B41FA5}">
                      <a16:colId xmlns:a16="http://schemas.microsoft.com/office/drawing/2014/main" val="20000"/>
                    </a:ext>
                  </a:extLst>
                </a:gridCol>
                <a:gridCol w="6764655">
                  <a:extLst>
                    <a:ext uri="{9D8B030D-6E8A-4147-A177-3AD203B41FA5}">
                      <a16:colId xmlns:a16="http://schemas.microsoft.com/office/drawing/2014/main" val="20001"/>
                    </a:ext>
                  </a:extLst>
                </a:gridCol>
              </a:tblGrid>
              <a:tr h="375920">
                <a:tc>
                  <a:txBody>
                    <a:bodyPr/>
                    <a:lstStyle/>
                    <a:p>
                      <a:r>
                        <a:rPr lang="en-US" dirty="0">
                          <a:latin typeface="Times New Roman" panose="02020603050405020304" charset="0"/>
                          <a:cs typeface="Times New Roman" panose="02020603050405020304" charset="0"/>
                        </a:rPr>
                        <a:t>Manipulator</a:t>
                      </a:r>
                    </a:p>
                  </a:txBody>
                  <a:tcPr/>
                </a:tc>
                <a:tc>
                  <a:txBody>
                    <a:bodyPr/>
                    <a:lstStyle/>
                    <a:p>
                      <a:r>
                        <a:rPr lang="en-US" dirty="0">
                          <a:latin typeface="Times New Roman" panose="02020603050405020304" charset="0"/>
                          <a:cs typeface="Times New Roman" panose="02020603050405020304" charset="0"/>
                        </a:rPr>
                        <a:t>Action</a:t>
                      </a:r>
                    </a:p>
                  </a:txBody>
                  <a:tcPr/>
                </a:tc>
                <a:extLst>
                  <a:ext uri="{0D108BD9-81ED-4DB2-BD59-A6C34878D82A}">
                    <a16:rowId xmlns:a16="http://schemas.microsoft.com/office/drawing/2014/main" val="10000"/>
                  </a:ext>
                </a:extLst>
              </a:tr>
              <a:tr h="457200">
                <a:tc>
                  <a:txBody>
                    <a:bodyPr/>
                    <a:lstStyle/>
                    <a:p>
                      <a:r>
                        <a:rPr lang="en-US" sz="2400" dirty="0">
                          <a:latin typeface="Times New Roman" panose="02020603050405020304" charset="0"/>
                          <a:cs typeface="Times New Roman" panose="02020603050405020304" charset="0"/>
                        </a:rPr>
                        <a:t>setw (n)</a:t>
                      </a:r>
                    </a:p>
                  </a:txBody>
                  <a:tcPr/>
                </a:tc>
                <a:tc>
                  <a:txBody>
                    <a:bodyPr/>
                    <a:lstStyle/>
                    <a:p>
                      <a:r>
                        <a:rPr lang="en-US" sz="2400" dirty="0">
                          <a:latin typeface="Times New Roman" panose="02020603050405020304" charset="0"/>
                          <a:cs typeface="Times New Roman" panose="02020603050405020304" charset="0"/>
                        </a:rPr>
                        <a:t>Set the field</a:t>
                      </a:r>
                      <a:r>
                        <a:rPr lang="en-US" sz="2400" baseline="0" dirty="0">
                          <a:latin typeface="Times New Roman" panose="02020603050405020304" charset="0"/>
                          <a:cs typeface="Times New Roman" panose="02020603050405020304" charset="0"/>
                        </a:rPr>
                        <a:t> width to n</a:t>
                      </a:r>
                      <a:endParaRPr lang="en-US" sz="24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1"/>
                  </a:ext>
                </a:extLst>
              </a:tr>
              <a:tr h="822960">
                <a:tc>
                  <a:txBody>
                    <a:bodyPr/>
                    <a:lstStyle/>
                    <a:p>
                      <a:r>
                        <a:rPr lang="en-US" sz="2400" dirty="0">
                          <a:latin typeface="Times New Roman" panose="02020603050405020304" charset="0"/>
                          <a:cs typeface="Times New Roman" panose="02020603050405020304" charset="0"/>
                        </a:rPr>
                        <a:t>scientific</a:t>
                      </a:r>
                    </a:p>
                  </a:txBody>
                  <a:tcPr/>
                </a:tc>
                <a:tc>
                  <a:txBody>
                    <a:bodyPr/>
                    <a:lstStyle/>
                    <a:p>
                      <a:r>
                        <a:rPr lang="en-US" sz="2400" dirty="0">
                          <a:latin typeface="Times New Roman" panose="02020603050405020304" charset="0"/>
                          <a:cs typeface="Times New Roman" panose="02020603050405020304" charset="0"/>
                        </a:rPr>
                        <a:t>Set the output to display real numbers in scientific</a:t>
                      </a:r>
                      <a:r>
                        <a:rPr lang="en-US" sz="2400" baseline="0" dirty="0">
                          <a:latin typeface="Times New Roman" panose="02020603050405020304" charset="0"/>
                          <a:cs typeface="Times New Roman" panose="02020603050405020304" charset="0"/>
                        </a:rPr>
                        <a:t>  notation</a:t>
                      </a:r>
                      <a:endParaRPr lang="en-US" sz="24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2"/>
                  </a:ext>
                </a:extLst>
              </a:tr>
              <a:tr h="822960">
                <a:tc>
                  <a:txBody>
                    <a:bodyPr/>
                    <a:lstStyle/>
                    <a:p>
                      <a:r>
                        <a:rPr lang="en-US" sz="2400" dirty="0">
                          <a:latin typeface="Times New Roman" panose="02020603050405020304" charset="0"/>
                          <a:cs typeface="Times New Roman" panose="02020603050405020304" charset="0"/>
                        </a:rPr>
                        <a:t>endl</a:t>
                      </a:r>
                    </a:p>
                  </a:txBody>
                  <a:tcPr/>
                </a:tc>
                <a:tc>
                  <a:txBody>
                    <a:bodyPr/>
                    <a:lstStyle/>
                    <a:p>
                      <a:r>
                        <a:rPr lang="en-US" sz="2400" dirty="0">
                          <a:latin typeface="Times New Roman" panose="02020603050405020304" charset="0"/>
                          <a:cs typeface="Times New Roman" panose="02020603050405020304" charset="0"/>
                        </a:rPr>
                        <a:t>Output a newline</a:t>
                      </a:r>
                      <a:r>
                        <a:rPr lang="en-US" sz="2400" baseline="0" dirty="0">
                          <a:latin typeface="Times New Roman" panose="02020603050405020304" charset="0"/>
                          <a:cs typeface="Times New Roman" panose="02020603050405020304" charset="0"/>
                        </a:rPr>
                        <a:t> character and display all characters in the buffer</a:t>
                      </a:r>
                      <a:endParaRPr lang="en-US" sz="24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3"/>
                  </a:ext>
                </a:extLst>
              </a:tr>
              <a:tr h="1188720">
                <a:tc>
                  <a:txBody>
                    <a:bodyPr/>
                    <a:lstStyle/>
                    <a:p>
                      <a:r>
                        <a:rPr lang="en-US" sz="2400" dirty="0">
                          <a:latin typeface="Times New Roman" panose="02020603050405020304" charset="0"/>
                          <a:cs typeface="Times New Roman" panose="02020603050405020304" charset="0"/>
                        </a:rPr>
                        <a:t>fixed</a:t>
                      </a:r>
                    </a:p>
                  </a:txBody>
                  <a:tcPr/>
                </a:tc>
                <a:tc>
                  <a:txBody>
                    <a:bodyPr/>
                    <a:lstStyle/>
                    <a:p>
                      <a:r>
                        <a:rPr lang="en-US" sz="2400" dirty="0">
                          <a:latin typeface="Times New Roman" panose="02020603050405020304" charset="0"/>
                          <a:cs typeface="Times New Roman" panose="02020603050405020304" charset="0"/>
                        </a:rPr>
                        <a:t>Always show a decimal point and use a default of six digits after</a:t>
                      </a:r>
                      <a:r>
                        <a:rPr lang="en-US" sz="2400" baseline="0" dirty="0">
                          <a:latin typeface="Times New Roman" panose="02020603050405020304" charset="0"/>
                          <a:cs typeface="Times New Roman" panose="02020603050405020304" charset="0"/>
                        </a:rPr>
                        <a:t> the decimal point. Fill with trailing zeros, if necessary.</a:t>
                      </a:r>
                      <a:endParaRPr lang="en-US" sz="24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4"/>
                  </a:ext>
                </a:extLst>
              </a:tr>
              <a:tr h="457200">
                <a:tc>
                  <a:txBody>
                    <a:bodyPr/>
                    <a:lstStyle/>
                    <a:p>
                      <a:r>
                        <a:rPr lang="en-US" sz="2400" dirty="0">
                          <a:latin typeface="Times New Roman" panose="02020603050405020304" charset="0"/>
                          <a:cs typeface="Times New Roman" panose="02020603050405020304" charset="0"/>
                        </a:rPr>
                        <a:t>setprecision(n)</a:t>
                      </a:r>
                    </a:p>
                  </a:txBody>
                  <a:tcPr/>
                </a:tc>
                <a:tc>
                  <a:txBody>
                    <a:bodyPr/>
                    <a:lstStyle/>
                    <a:p>
                      <a:r>
                        <a:rPr lang="en-US" sz="2400" dirty="0">
                          <a:latin typeface="Times New Roman" panose="02020603050405020304" charset="0"/>
                          <a:cs typeface="Times New Roman" panose="02020603050405020304" charset="0"/>
                        </a:rPr>
                        <a:t>Set the floating-point</a:t>
                      </a:r>
                      <a:r>
                        <a:rPr lang="en-US" sz="2400" baseline="0" dirty="0">
                          <a:latin typeface="Times New Roman" panose="02020603050405020304" charset="0"/>
                          <a:cs typeface="Times New Roman" panose="02020603050405020304" charset="0"/>
                        </a:rPr>
                        <a:t> precision to n places. </a:t>
                      </a:r>
                      <a:endParaRPr lang="en-US" sz="2400" dirty="0">
                        <a:latin typeface="Times New Roman" panose="02020603050405020304" charset="0"/>
                        <a:cs typeface="Times New Roman" panose="02020603050405020304" charset="0"/>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504507" y="304800"/>
            <a:ext cx="11182985" cy="5826760"/>
          </a:xfrm>
        </p:spPr>
        <p:txBody>
          <a:bodyPr>
            <a:noAutofit/>
          </a:bodyPr>
          <a:lstStyle/>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field width manipulator must be included for each value in the data stream sent to </a:t>
            </a:r>
            <a:r>
              <a:rPr lang="en-US" sz="2500" b="1" dirty="0">
                <a:latin typeface="Times New Roman" panose="02020603050405020304" charset="0"/>
                <a:cs typeface="Times New Roman" panose="02020603050405020304" charset="0"/>
                <a:sym typeface="+mn-ea"/>
              </a:rPr>
              <a:t>cout</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Other manipulators remain in effect until they are changed</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Formatting floating-point numbers requires three field-width manipulators to:</a:t>
            </a:r>
            <a:endParaRPr lang="en-US" sz="2500" dirty="0">
              <a:latin typeface="Times New Roman" panose="02020603050405020304" charset="0"/>
              <a:cs typeface="Times New Roman" panose="02020603050405020304" charset="0"/>
            </a:endParaRPr>
          </a:p>
          <a:p>
            <a:pPr marL="1257300" lvl="2" indent="-342900" algn="just">
              <a:buFont typeface="Wingdings" panose="05000000000000000000" charset="0"/>
              <a:buChar char="§"/>
            </a:pPr>
            <a:r>
              <a:rPr lang="en-US" sz="2400" dirty="0">
                <a:latin typeface="Times New Roman" panose="02020603050405020304" charset="0"/>
                <a:cs typeface="Times New Roman" panose="02020603050405020304" charset="0"/>
                <a:sym typeface="+mn-ea"/>
              </a:rPr>
              <a:t>Set the total width of the display</a:t>
            </a:r>
            <a:endParaRPr lang="en-US" sz="2400" dirty="0">
              <a:latin typeface="Times New Roman" panose="02020603050405020304" charset="0"/>
              <a:cs typeface="Times New Roman" panose="02020603050405020304" charset="0"/>
            </a:endParaRPr>
          </a:p>
          <a:p>
            <a:pPr marL="1257300" lvl="2" indent="-342900" algn="just">
              <a:buFont typeface="Wingdings" panose="05000000000000000000" charset="0"/>
              <a:buChar char="§"/>
            </a:pPr>
            <a:r>
              <a:rPr lang="en-US" sz="2400" dirty="0">
                <a:latin typeface="Times New Roman" panose="02020603050405020304" charset="0"/>
                <a:cs typeface="Times New Roman" panose="02020603050405020304" charset="0"/>
                <a:sym typeface="+mn-ea"/>
              </a:rPr>
              <a:t>Force a decimal place</a:t>
            </a:r>
            <a:endParaRPr lang="en-US" sz="2400" dirty="0">
              <a:latin typeface="Times New Roman" panose="02020603050405020304" charset="0"/>
              <a:cs typeface="Times New Roman" panose="02020603050405020304" charset="0"/>
            </a:endParaRPr>
          </a:p>
          <a:p>
            <a:pPr marL="1257300" lvl="2" indent="-342900" algn="just">
              <a:buFont typeface="Wingdings" panose="05000000000000000000" charset="0"/>
              <a:buChar char="§"/>
            </a:pPr>
            <a:r>
              <a:rPr lang="en-US" sz="2400" dirty="0">
                <a:latin typeface="Times New Roman" panose="02020603050405020304" charset="0"/>
                <a:cs typeface="Times New Roman" panose="02020603050405020304" charset="0"/>
                <a:sym typeface="+mn-ea"/>
              </a:rPr>
              <a:t>Set the number of significant digits after the decimal point</a:t>
            </a:r>
            <a:endParaRPr lang="en-US" sz="2400" dirty="0">
              <a:latin typeface="Times New Roman" panose="02020603050405020304" charset="0"/>
              <a:cs typeface="Times New Roman" panose="02020603050405020304" charset="0"/>
            </a:endParaRPr>
          </a:p>
          <a:p>
            <a:pPr algn="just"/>
            <a:r>
              <a:rPr lang="en-US" sz="2400" dirty="0">
                <a:latin typeface="Times New Roman" panose="02020603050405020304" charset="0"/>
                <a:cs typeface="Times New Roman" panose="02020603050405020304" charset="0"/>
                <a:sym typeface="+mn-ea"/>
              </a:rPr>
              <a:t>Example:</a:t>
            </a:r>
            <a:endParaRPr lang="en-US" sz="2400" dirty="0">
              <a:latin typeface="Times New Roman" panose="02020603050405020304" charset="0"/>
              <a:cs typeface="Times New Roman" panose="02020603050405020304" charset="0"/>
            </a:endParaRPr>
          </a:p>
          <a:p>
            <a:pPr algn="just">
              <a:buNone/>
            </a:pPr>
            <a:r>
              <a:rPr lang="en-US" sz="2400" dirty="0">
                <a:latin typeface="Times New Roman" panose="02020603050405020304" charset="0"/>
                <a:cs typeface="Times New Roman" panose="02020603050405020304" charset="0"/>
                <a:sym typeface="+mn-ea"/>
              </a:rPr>
              <a:t>   cout &lt;&lt; "|" &lt;&lt; </a:t>
            </a:r>
            <a:r>
              <a:rPr lang="en-US" sz="2400" dirty="0" err="1">
                <a:latin typeface="Times New Roman" panose="02020603050405020304" charset="0"/>
                <a:cs typeface="Times New Roman" panose="02020603050405020304" charset="0"/>
                <a:sym typeface="+mn-ea"/>
              </a:rPr>
              <a:t>setw</a:t>
            </a:r>
            <a:r>
              <a:rPr lang="en-US" sz="2400" dirty="0">
                <a:latin typeface="Times New Roman" panose="02020603050405020304" charset="0"/>
                <a:cs typeface="Times New Roman" panose="02020603050405020304" charset="0"/>
                <a:sym typeface="+mn-ea"/>
              </a:rPr>
              <a:t>(10) &lt;&lt; fixed</a:t>
            </a:r>
            <a:r>
              <a:rPr lang="en-GB" altLang="en-US" sz="2400" dirty="0">
                <a:latin typeface="Times New Roman" panose="02020603050405020304" charset="0"/>
                <a:cs typeface="Times New Roman" panose="02020603050405020304" charset="0"/>
                <a:sym typeface="+mn-ea"/>
              </a:rPr>
              <a:t> </a:t>
            </a:r>
            <a:r>
              <a:rPr lang="en-US" sz="2400" dirty="0">
                <a:latin typeface="Times New Roman" panose="02020603050405020304" charset="0"/>
                <a:cs typeface="Times New Roman" panose="02020603050405020304" charset="0"/>
                <a:sym typeface="+mn-ea"/>
              </a:rPr>
              <a:t>&lt;&lt; </a:t>
            </a:r>
            <a:r>
              <a:rPr lang="en-US" sz="2400" dirty="0" err="1">
                <a:latin typeface="Times New Roman" panose="02020603050405020304" charset="0"/>
                <a:cs typeface="Times New Roman" panose="02020603050405020304" charset="0"/>
                <a:sym typeface="+mn-ea"/>
              </a:rPr>
              <a:t>setprecision</a:t>
            </a:r>
            <a:r>
              <a:rPr lang="en-US" sz="2400" dirty="0">
                <a:latin typeface="Times New Roman" panose="02020603050405020304" charset="0"/>
                <a:cs typeface="Times New Roman" panose="02020603050405020304" charset="0"/>
                <a:sym typeface="+mn-ea"/>
              </a:rPr>
              <a:t>(3) &lt;&lt; 25.67 &lt;&lt; "|";</a:t>
            </a:r>
            <a:endParaRPr lang="en-US" sz="2400" dirty="0">
              <a:latin typeface="Times New Roman" panose="02020603050405020304" charset="0"/>
              <a:cs typeface="Times New Roman" panose="02020603050405020304" charset="0"/>
            </a:endParaRPr>
          </a:p>
          <a:p>
            <a:pPr algn="just">
              <a:buNone/>
            </a:pPr>
            <a:r>
              <a:rPr lang="en-US" sz="2400" dirty="0">
                <a:latin typeface="Times New Roman" panose="02020603050405020304" charset="0"/>
                <a:cs typeface="Times New Roman" panose="02020603050405020304" charset="0"/>
                <a:sym typeface="+mn-ea"/>
              </a:rPr>
              <a:t> 	produces this output: | 25.670|</a:t>
            </a:r>
            <a:r>
              <a:rPr lang="en-GB" altLang="en-US" sz="2400" dirty="0">
                <a:latin typeface="Times New Roman" panose="02020603050405020304" charset="0"/>
                <a:cs typeface="Times New Roman" panose="02020603050405020304" charset="0"/>
                <a:sym typeface="+mn-ea"/>
              </a:rPr>
              <a:t>4</a:t>
            </a:r>
          </a:p>
          <a:p>
            <a:pPr algn="just">
              <a:buNone/>
            </a:pPr>
            <a:r>
              <a:rPr lang="en-US" sz="2400" b="1" dirty="0">
                <a:latin typeface="Times New Roman" panose="02020603050405020304" charset="0"/>
                <a:cs typeface="Times New Roman" panose="02020603050405020304" charset="0"/>
                <a:sym typeface="+mn-ea"/>
              </a:rPr>
              <a:t>Case Study:</a:t>
            </a:r>
          </a:p>
          <a:p>
            <a:pPr algn="just">
              <a:buNone/>
            </a:pPr>
            <a:r>
              <a:rPr lang="en-US" sz="2400" b="1" dirty="0">
                <a:latin typeface="Times New Roman" panose="02020603050405020304" charset="0"/>
                <a:cs typeface="Times New Roman" panose="02020603050405020304" charset="0"/>
                <a:sym typeface="+mn-ea"/>
              </a:rPr>
              <a:t>Length Conversion:</a:t>
            </a:r>
            <a:r>
              <a:rPr lang="en-US" sz="2400" dirty="0">
                <a:latin typeface="Times New Roman" panose="02020603050405020304" charset="0"/>
                <a:cs typeface="Times New Roman" panose="02020603050405020304" charset="0"/>
                <a:sym typeface="+mn-ea"/>
              </a:rPr>
              <a:t> Write a program that takes as input given lengths expressed in feet and inches. The program should then convert and output the lengths in centimeters. Assume that the given lengths in feet and inches are integers. </a:t>
            </a:r>
            <a:endParaRPr lang="en-GB" altLang="en-US" sz="2400" dirty="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842010"/>
          </a:xfrm>
        </p:spPr>
        <p:txBody>
          <a:bodyPr>
            <a:noAutofit/>
          </a:bodyPr>
          <a:lstStyle/>
          <a:p>
            <a:r>
              <a:rPr lang="en-US" dirty="0">
                <a:latin typeface="Times New Roman" panose="02020603050405020304" charset="0"/>
                <a:cs typeface="Times New Roman" panose="02020603050405020304" charset="0"/>
                <a:sym typeface="+mn-ea"/>
              </a:rPr>
              <a:t>Functions</a:t>
            </a:r>
            <a:endParaRPr lang="en-GB" altLang="en-US"/>
          </a:p>
        </p:txBody>
      </p:sp>
      <p:sp>
        <p:nvSpPr>
          <p:cNvPr id="3" name="Subtitle 2"/>
          <p:cNvSpPr>
            <a:spLocks noGrp="1"/>
          </p:cNvSpPr>
          <p:nvPr>
            <p:ph type="subTitle" idx="4"/>
          </p:nvPr>
        </p:nvSpPr>
        <p:spPr>
          <a:xfrm>
            <a:off x="317500" y="1277620"/>
            <a:ext cx="11671935" cy="5027930"/>
          </a:xfrm>
        </p:spPr>
        <p:txBody>
          <a:bodyPr>
            <a:noAutofit/>
          </a:bodyPr>
          <a:lstStyle/>
          <a:p>
            <a:pPr algn="just">
              <a:buFont typeface="Wingdings" panose="05000000000000000000" pitchFamily="2" charset="2"/>
              <a:buChar char="Ø"/>
            </a:pPr>
            <a:r>
              <a:rPr lang="en-GB" altLang="en-US" sz="2500">
                <a:latin typeface="Times New Roman" panose="02020603050405020304" charset="0"/>
                <a:cs typeface="Times New Roman" panose="02020603050405020304" charset="0"/>
                <a:sym typeface="+mn-ea"/>
              </a:rPr>
              <a:t>A function is a group of statements that together perform a task. Every C++ program has at least one function, which is main(), and all the most trivial programs can define additional functions.</a:t>
            </a:r>
          </a:p>
          <a:p>
            <a:pPr algn="just">
              <a:buFont typeface="Wingdings" panose="05000000000000000000" pitchFamily="2" charset="2"/>
              <a:buChar char="Ø"/>
            </a:pPr>
            <a:r>
              <a:rPr lang="en-US" altLang="en-US" sz="2500" dirty="0">
                <a:latin typeface="Times New Roman" panose="02020603050405020304" charset="0"/>
                <a:ea typeface="Times New Roman" panose="02020603050405020304" charset="0"/>
                <a:cs typeface="Times New Roman" panose="02020603050405020304" charset="0"/>
                <a:sym typeface="+mn-ea"/>
              </a:rPr>
              <a:t>A function is known with various names like a method or a sub-routine or a procedure etc.</a:t>
            </a:r>
          </a:p>
          <a:p>
            <a:pPr algn="just">
              <a:buFont typeface="Wingdings" panose="05000000000000000000" pitchFamily="2" charset="2"/>
              <a:buChar char="Ø"/>
            </a:pPr>
            <a:r>
              <a:rPr lang="en-US" altLang="en-US" sz="2500" dirty="0">
                <a:latin typeface="Times New Roman" panose="02020603050405020304" charset="0"/>
                <a:ea typeface="Times New Roman" panose="02020603050405020304" charset="0"/>
                <a:cs typeface="Times New Roman" panose="02020603050405020304" charset="0"/>
                <a:sym typeface="+mn-ea"/>
              </a:rPr>
              <a:t>When </a:t>
            </a:r>
            <a:r>
              <a:rPr lang="en-US" altLang="en-US" sz="2500" dirty="0">
                <a:solidFill>
                  <a:srgbClr val="FF0000"/>
                </a:solidFill>
                <a:latin typeface="Times New Roman" panose="02020603050405020304" charset="0"/>
                <a:ea typeface="Times New Roman" panose="02020603050405020304" charset="0"/>
                <a:cs typeface="Times New Roman" panose="02020603050405020304" charset="0"/>
                <a:sym typeface="+mn-ea"/>
              </a:rPr>
              <a:t>your program starts</a:t>
            </a:r>
            <a:r>
              <a:rPr lang="en-US" altLang="en-US" sz="2500" dirty="0">
                <a:latin typeface="Times New Roman" panose="02020603050405020304" charset="0"/>
                <a:ea typeface="Times New Roman" panose="02020603050405020304" charset="0"/>
                <a:cs typeface="Times New Roman" panose="02020603050405020304" charset="0"/>
                <a:sym typeface="+mn-ea"/>
              </a:rPr>
              <a:t>,</a:t>
            </a:r>
            <a:r>
              <a:rPr lang="en-US" altLang="en-US" sz="2500" dirty="0">
                <a:solidFill>
                  <a:schemeClr val="tx2">
                    <a:lumMod val="60000"/>
                    <a:lumOff val="40000"/>
                  </a:schemeClr>
                </a:solidFill>
                <a:latin typeface="Times New Roman" panose="02020603050405020304" charset="0"/>
                <a:ea typeface="Times New Roman" panose="02020603050405020304" charset="0"/>
                <a:cs typeface="Times New Roman" panose="02020603050405020304" charset="0"/>
                <a:sym typeface="+mn-ea"/>
              </a:rPr>
              <a:t> main() </a:t>
            </a:r>
            <a:r>
              <a:rPr lang="en-US" altLang="en-US" sz="2500" dirty="0">
                <a:latin typeface="Times New Roman" panose="02020603050405020304" charset="0"/>
                <a:ea typeface="Times New Roman" panose="02020603050405020304" charset="0"/>
                <a:cs typeface="Times New Roman" panose="02020603050405020304" charset="0"/>
                <a:sym typeface="+mn-ea"/>
              </a:rPr>
              <a:t>is called</a:t>
            </a:r>
            <a:r>
              <a:rPr lang="en-GB" altLang="en-US" sz="2500" dirty="0">
                <a:latin typeface="Times New Roman" panose="02020603050405020304" charset="0"/>
                <a:ea typeface="Times New Roman" panose="02020603050405020304" charset="0"/>
                <a:cs typeface="Times New Roman" panose="02020603050405020304" charset="0"/>
                <a:sym typeface="+mn-ea"/>
              </a:rPr>
              <a:t> </a:t>
            </a:r>
            <a:r>
              <a:rPr lang="en-US" altLang="en-US" sz="2500" dirty="0">
                <a:solidFill>
                  <a:srgbClr val="00B0F0"/>
                </a:solidFill>
                <a:latin typeface="Times New Roman" panose="02020603050405020304" charset="0"/>
                <a:ea typeface="Times New Roman" panose="02020603050405020304" charset="0"/>
                <a:cs typeface="Times New Roman" panose="02020603050405020304" charset="0"/>
                <a:sym typeface="+mn-ea"/>
              </a:rPr>
              <a:t>automatically</a:t>
            </a:r>
            <a:r>
              <a:rPr lang="en-US" altLang="en-US" sz="2500" dirty="0">
                <a:latin typeface="Times New Roman" panose="02020603050405020304" charset="0"/>
                <a:ea typeface="Times New Roman" panose="02020603050405020304" charset="0"/>
                <a:cs typeface="Times New Roman" panose="02020603050405020304" charset="0"/>
                <a:sym typeface="+mn-ea"/>
              </a:rPr>
              <a:t>. </a:t>
            </a:r>
            <a:r>
              <a:rPr lang="en-GB" altLang="en-US" sz="2500" dirty="0">
                <a:latin typeface="Times New Roman" panose="02020603050405020304" charset="0"/>
                <a:ea typeface="Times New Roman" panose="02020603050405020304" charset="0"/>
                <a:cs typeface="Times New Roman" panose="02020603050405020304" charset="0"/>
                <a:sym typeface="+mn-ea"/>
              </a:rPr>
              <a:t> </a:t>
            </a:r>
            <a:r>
              <a:rPr lang="en-US" altLang="en-US" sz="2500" dirty="0">
                <a:latin typeface="Times New Roman" panose="02020603050405020304" charset="0"/>
                <a:ea typeface="Times New Roman" panose="02020603050405020304" charset="0"/>
                <a:cs typeface="Times New Roman" panose="02020603050405020304" charset="0"/>
                <a:sym typeface="+mn-ea"/>
              </a:rPr>
              <a:t>main( ) </a:t>
            </a:r>
            <a:r>
              <a:rPr lang="en-US" altLang="en-US" sz="2500" dirty="0">
                <a:solidFill>
                  <a:srgbClr val="FF0000"/>
                </a:solidFill>
                <a:latin typeface="Times New Roman" panose="02020603050405020304" charset="0"/>
                <a:ea typeface="Times New Roman" panose="02020603050405020304" charset="0"/>
                <a:cs typeface="Times New Roman" panose="02020603050405020304" charset="0"/>
                <a:sym typeface="+mn-ea"/>
              </a:rPr>
              <a:t>might call other functions</a:t>
            </a:r>
            <a:r>
              <a:rPr lang="en-US" altLang="en-US" sz="2500" dirty="0">
                <a:latin typeface="Times New Roman" panose="02020603050405020304" charset="0"/>
                <a:ea typeface="Times New Roman" panose="02020603050405020304" charset="0"/>
                <a:cs typeface="Times New Roman" panose="02020603050405020304" charset="0"/>
                <a:sym typeface="+mn-ea"/>
              </a:rPr>
              <a:t>, some of which might call still others.</a:t>
            </a:r>
          </a:p>
          <a:p>
            <a:pPr algn="just">
              <a:buFont typeface="Wingdings" panose="05000000000000000000" pitchFamily="2" charset="2"/>
              <a:buChar char="Ø"/>
            </a:pPr>
            <a:r>
              <a:rPr lang="en-GB" altLang="en-US" sz="2500">
                <a:latin typeface="Times New Roman" panose="02020603050405020304" charset="0"/>
                <a:cs typeface="Times New Roman" panose="02020603050405020304" charset="0"/>
              </a:rPr>
              <a:t>A C++ function definition consists of a </a:t>
            </a:r>
            <a:r>
              <a:rPr lang="en-GB" altLang="en-US" sz="2500" b="1">
                <a:latin typeface="Times New Roman" panose="02020603050405020304" charset="0"/>
                <a:cs typeface="Times New Roman" panose="02020603050405020304" charset="0"/>
              </a:rPr>
              <a:t>function header</a:t>
            </a:r>
            <a:r>
              <a:rPr lang="en-GB" altLang="en-US" sz="2500">
                <a:latin typeface="Times New Roman" panose="02020603050405020304" charset="0"/>
                <a:cs typeface="Times New Roman" panose="02020603050405020304" charset="0"/>
              </a:rPr>
              <a:t> and a </a:t>
            </a:r>
            <a:r>
              <a:rPr lang="en-GB" altLang="en-US" sz="2500" b="1">
                <a:latin typeface="Times New Roman" panose="02020603050405020304" charset="0"/>
                <a:cs typeface="Times New Roman" panose="02020603050405020304" charset="0"/>
              </a:rPr>
              <a:t>function body.</a:t>
            </a:r>
            <a:endParaRPr lang="en-GB" altLang="en-US" sz="2500">
              <a:latin typeface="Times New Roman" panose="02020603050405020304" charset="0"/>
              <a:cs typeface="Times New Roman" panose="02020603050405020304" charset="0"/>
            </a:endParaRPr>
          </a:p>
          <a:p>
            <a:pPr algn="just">
              <a:buFont typeface="Wingdings" panose="05000000000000000000" pitchFamily="2" charset="2"/>
              <a:buChar char="Ø"/>
            </a:pPr>
            <a:r>
              <a:rPr lang="en-GB" altLang="en-US" sz="2500" b="1">
                <a:latin typeface="Times New Roman" panose="02020603050405020304" charset="0"/>
                <a:cs typeface="Times New Roman" panose="02020603050405020304" charset="0"/>
              </a:rPr>
              <a:t>A</a:t>
            </a:r>
            <a:r>
              <a:rPr lang="en-GB" altLang="en-US" sz="2500">
                <a:latin typeface="Times New Roman" panose="02020603050405020304" charset="0"/>
                <a:cs typeface="Times New Roman" panose="02020603050405020304" charset="0"/>
              </a:rPr>
              <a:t> </a:t>
            </a:r>
            <a:r>
              <a:rPr lang="en-GB" altLang="en-US" sz="2500" b="1">
                <a:latin typeface="Times New Roman" panose="02020603050405020304" charset="0"/>
                <a:cs typeface="Times New Roman" panose="02020603050405020304" charset="0"/>
              </a:rPr>
              <a:t>function declaration</a:t>
            </a:r>
            <a:r>
              <a:rPr lang="en-GB" altLang="en-US" sz="2500">
                <a:latin typeface="Times New Roman" panose="02020603050405020304" charset="0"/>
                <a:cs typeface="Times New Roman" panose="02020603050405020304" charset="0"/>
              </a:rPr>
              <a:t> tells the compiler about a function's name, return type, and parameters. </a:t>
            </a:r>
            <a:r>
              <a:rPr lang="en-GB" altLang="en-US" sz="2500" b="1">
                <a:latin typeface="Times New Roman" panose="02020603050405020304" charset="0"/>
                <a:cs typeface="Times New Roman" panose="02020603050405020304" charset="0"/>
              </a:rPr>
              <a:t>A function definition</a:t>
            </a:r>
            <a:r>
              <a:rPr lang="en-GB" altLang="en-US" sz="2500">
                <a:latin typeface="Times New Roman" panose="02020603050405020304" charset="0"/>
                <a:cs typeface="Times New Roman" panose="02020603050405020304" charset="0"/>
              </a:rPr>
              <a:t> provides the actual body of the function.</a:t>
            </a:r>
          </a:p>
          <a:p>
            <a:pPr algn="just">
              <a:buFont typeface="Wingdings" panose="05000000000000000000" pitchFamily="2" charset="2"/>
              <a:buChar char="Ø"/>
            </a:pPr>
            <a:r>
              <a:rPr lang="en-US" altLang="en-US" sz="2500" dirty="0">
                <a:latin typeface="Times New Roman" panose="02020603050405020304" charset="0"/>
                <a:ea typeface="Times New Roman" panose="02020603050405020304" charset="0"/>
                <a:cs typeface="Times New Roman" panose="02020603050405020304" charset="0"/>
                <a:sym typeface="+mn-ea"/>
              </a:rPr>
              <a:t>The</a:t>
            </a:r>
            <a:r>
              <a:rPr lang="en-US" altLang="en-US" sz="2500" dirty="0">
                <a:solidFill>
                  <a:srgbClr val="FF0000"/>
                </a:solidFill>
                <a:latin typeface="Times New Roman" panose="02020603050405020304" charset="0"/>
                <a:ea typeface="Times New Roman" panose="02020603050405020304" charset="0"/>
                <a:cs typeface="Times New Roman" panose="02020603050405020304" charset="0"/>
                <a:sym typeface="+mn-ea"/>
              </a:rPr>
              <a:t> reason why we use functions</a:t>
            </a:r>
            <a:r>
              <a:rPr lang="en-US" altLang="en-US" sz="2500" dirty="0">
                <a:latin typeface="Times New Roman" panose="02020603050405020304" charset="0"/>
                <a:ea typeface="Times New Roman" panose="02020603050405020304" charset="0"/>
                <a:cs typeface="Times New Roman" panose="02020603050405020304" charset="0"/>
                <a:sym typeface="+mn-ea"/>
              </a:rPr>
              <a:t> is to aid </a:t>
            </a:r>
            <a:r>
              <a:rPr lang="en-US" altLang="en-US" sz="2500" dirty="0">
                <a:solidFill>
                  <a:srgbClr val="0070C0"/>
                </a:solidFill>
                <a:latin typeface="Times New Roman" panose="02020603050405020304" charset="0"/>
                <a:ea typeface="Times New Roman" panose="02020603050405020304" charset="0"/>
                <a:cs typeface="Times New Roman" panose="02020603050405020304" charset="0"/>
                <a:sym typeface="+mn-ea"/>
              </a:rPr>
              <a:t>modularization</a:t>
            </a:r>
            <a:r>
              <a:rPr lang="en-US" altLang="en-US" sz="2500" dirty="0">
                <a:latin typeface="Times New Roman" panose="02020603050405020304" charset="0"/>
                <a:ea typeface="Times New Roman" panose="02020603050405020304" charset="0"/>
                <a:cs typeface="Times New Roman" panose="02020603050405020304" charset="0"/>
                <a:sym typeface="+mn-ea"/>
              </a:rPr>
              <a:t> of a program</a:t>
            </a:r>
            <a:r>
              <a:rPr lang="en-GB" altLang="en-US" sz="2500" dirty="0">
                <a:latin typeface="Times New Roman" panose="02020603050405020304" charset="0"/>
                <a:ea typeface="Times New Roman" panose="02020603050405020304" charset="0"/>
                <a:cs typeface="Times New Roman" panose="02020603050405020304" charset="0"/>
                <a:sym typeface="+mn-ea"/>
              </a:rPr>
              <a:t> and a</a:t>
            </a:r>
            <a:r>
              <a:rPr lang="en-US" altLang="en-US" sz="2500" dirty="0">
                <a:latin typeface="Times New Roman" panose="02020603050405020304" charset="0"/>
                <a:ea typeface="Times New Roman" panose="02020603050405020304" charset="0"/>
                <a:cs typeface="Times New Roman" panose="02020603050405020304" charset="0"/>
                <a:sym typeface="+mn-ea"/>
              </a:rPr>
              <a:t> function </a:t>
            </a:r>
            <a:r>
              <a:rPr lang="en-US" altLang="en-US" sz="2500" dirty="0">
                <a:solidFill>
                  <a:srgbClr val="FF0000"/>
                </a:solidFill>
                <a:latin typeface="Times New Roman" panose="02020603050405020304" charset="0"/>
                <a:ea typeface="Times New Roman" panose="02020603050405020304" charset="0"/>
                <a:cs typeface="Times New Roman" panose="02020603050405020304" charset="0"/>
                <a:sym typeface="+mn-ea"/>
              </a:rPr>
              <a:t>reduces program size</a:t>
            </a:r>
            <a:r>
              <a:rPr lang="en-US" altLang="en-US" sz="2500" dirty="0">
                <a:latin typeface="Times New Roman" panose="02020603050405020304" charset="0"/>
                <a:ea typeface="Times New Roman" panose="02020603050405020304" charset="0"/>
                <a:cs typeface="Times New Roman" panose="02020603050405020304" charset="0"/>
                <a:sym typeface="+mn-ea"/>
              </a:rPr>
              <a:t>.</a:t>
            </a:r>
            <a:endParaRPr lang="en-US" altLang="en-US" sz="2500" dirty="0">
              <a:latin typeface="Times New Roman" panose="02020603050405020304" charset="0"/>
              <a:ea typeface="Times New Roman" panose="02020603050405020304" charset="0"/>
              <a:cs typeface="Times New Roman" panose="02020603050405020304" charset="0"/>
            </a:endParaRPr>
          </a:p>
          <a:p>
            <a:pPr algn="just">
              <a:buFont typeface="Wingdings" panose="05000000000000000000" pitchFamily="2" charset="2"/>
              <a:buChar char="Ø"/>
            </a:pPr>
            <a:r>
              <a:rPr lang="en-US" altLang="en-US" sz="2500" dirty="0">
                <a:solidFill>
                  <a:srgbClr val="FF0000"/>
                </a:solidFill>
                <a:latin typeface="Times New Roman" panose="02020603050405020304" charset="0"/>
                <a:ea typeface="Times New Roman" panose="02020603050405020304" charset="0"/>
                <a:cs typeface="Times New Roman" panose="02020603050405020304" charset="0"/>
                <a:sym typeface="+mn-ea"/>
              </a:rPr>
              <a:t>Any fragments of code</a:t>
            </a:r>
            <a:r>
              <a:rPr lang="en-US" altLang="en-US" sz="2500" dirty="0">
                <a:latin typeface="Times New Roman" panose="02020603050405020304" charset="0"/>
                <a:ea typeface="Times New Roman" panose="02020603050405020304" charset="0"/>
                <a:cs typeface="Times New Roman" panose="02020603050405020304" charset="0"/>
                <a:sym typeface="+mn-ea"/>
              </a:rPr>
              <a:t> that are </a:t>
            </a:r>
            <a:r>
              <a:rPr lang="en-US" altLang="en-US" sz="2500" dirty="0">
                <a:solidFill>
                  <a:srgbClr val="00B0F0"/>
                </a:solidFill>
                <a:latin typeface="Times New Roman" panose="02020603050405020304" charset="0"/>
                <a:ea typeface="Times New Roman" panose="02020603050405020304" charset="0"/>
                <a:cs typeface="Times New Roman" panose="02020603050405020304" charset="0"/>
                <a:sym typeface="+mn-ea"/>
              </a:rPr>
              <a:t>needed</a:t>
            </a:r>
            <a:r>
              <a:rPr lang="en-GB" altLang="en-US" sz="2500" dirty="0">
                <a:solidFill>
                  <a:srgbClr val="00B0F0"/>
                </a:solidFill>
                <a:latin typeface="Times New Roman" panose="02020603050405020304" charset="0"/>
                <a:ea typeface="Times New Roman" panose="02020603050405020304" charset="0"/>
                <a:cs typeface="Times New Roman" panose="02020603050405020304" charset="0"/>
                <a:sym typeface="+mn-ea"/>
              </a:rPr>
              <a:t> </a:t>
            </a:r>
            <a:r>
              <a:rPr lang="en-US" altLang="en-US" sz="2500" dirty="0">
                <a:solidFill>
                  <a:srgbClr val="00B0F0"/>
                </a:solidFill>
                <a:latin typeface="Times New Roman" panose="02020603050405020304" charset="0"/>
                <a:ea typeface="Times New Roman" panose="02020603050405020304" charset="0"/>
                <a:cs typeface="Times New Roman" panose="02020603050405020304" charset="0"/>
                <a:sym typeface="+mn-ea"/>
              </a:rPr>
              <a:t>frequently</a:t>
            </a:r>
            <a:r>
              <a:rPr lang="en-US" altLang="en-US" sz="2500" dirty="0">
                <a:latin typeface="Times New Roman" panose="02020603050405020304" charset="0"/>
                <a:ea typeface="Times New Roman" panose="02020603050405020304" charset="0"/>
                <a:cs typeface="Times New Roman" panose="02020603050405020304" charset="0"/>
                <a:sym typeface="+mn-ea"/>
              </a:rPr>
              <a:t> in a program are </a:t>
            </a:r>
            <a:r>
              <a:rPr lang="en-US" altLang="en-US" sz="2500" dirty="0">
                <a:solidFill>
                  <a:srgbClr val="FF0000"/>
                </a:solidFill>
                <a:latin typeface="Times New Roman" panose="02020603050405020304" charset="0"/>
                <a:ea typeface="Times New Roman" panose="02020603050405020304" charset="0"/>
                <a:cs typeface="Times New Roman" panose="02020603050405020304" charset="0"/>
                <a:sym typeface="+mn-ea"/>
              </a:rPr>
              <a:t>best </a:t>
            </a:r>
            <a:r>
              <a:rPr lang="en-GB" altLang="en-US" sz="2500" dirty="0">
                <a:solidFill>
                  <a:srgbClr val="FF0000"/>
                </a:solidFill>
                <a:latin typeface="Times New Roman" panose="02020603050405020304" charset="0"/>
                <a:ea typeface="Times New Roman" panose="02020603050405020304" charset="0"/>
                <a:cs typeface="Times New Roman" panose="02020603050405020304" charset="0"/>
                <a:sym typeface="+mn-ea"/>
              </a:rPr>
              <a:t>c</a:t>
            </a:r>
            <a:r>
              <a:rPr lang="en-US" altLang="en-US" sz="2500" dirty="0">
                <a:solidFill>
                  <a:srgbClr val="FF0000"/>
                </a:solidFill>
                <a:latin typeface="Times New Roman" panose="02020603050405020304" charset="0"/>
                <a:ea typeface="Times New Roman" panose="02020603050405020304" charset="0"/>
                <a:cs typeface="Times New Roman" panose="02020603050405020304" charset="0"/>
                <a:sym typeface="+mn-ea"/>
              </a:rPr>
              <a:t>andidates</a:t>
            </a:r>
            <a:r>
              <a:rPr lang="en-US" altLang="en-US" sz="2500" dirty="0">
                <a:latin typeface="Times New Roman" panose="02020603050405020304" charset="0"/>
                <a:ea typeface="Times New Roman" panose="02020603050405020304" charset="0"/>
                <a:cs typeface="Times New Roman" panose="02020603050405020304" charset="0"/>
                <a:sym typeface="+mn-ea"/>
              </a:rPr>
              <a:t> to be written as a function.</a:t>
            </a:r>
            <a:endParaRPr lang="en-GB" altLang="en-US" sz="2500">
              <a:latin typeface="Times New Roman" panose="02020603050405020304" charset="0"/>
              <a:cs typeface="Times New Roman" panose="02020603050405020304" charset="0"/>
            </a:endParaRPr>
          </a:p>
          <a:p>
            <a:pPr indent="0" algn="just">
              <a:buFont typeface="Wingdings" panose="05000000000000000000" pitchFamily="2" charset="2"/>
              <a:buNone/>
            </a:pPr>
            <a:endParaRPr lang="en-GB" altLang="en-US" sz="25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10363200" cy="522605"/>
          </a:xfrm>
        </p:spPr>
        <p:txBody>
          <a:bodyPr/>
          <a:lstStyle/>
          <a:p>
            <a:r>
              <a:rPr lang="en-GB" altLang="en-US" sz="3400">
                <a:latin typeface="Times New Roman" panose="02020603050405020304" charset="0"/>
                <a:cs typeface="Times New Roman" panose="02020603050405020304" charset="0"/>
              </a:rPr>
              <a:t>Advantage of functions</a:t>
            </a:r>
          </a:p>
        </p:txBody>
      </p:sp>
      <p:sp>
        <p:nvSpPr>
          <p:cNvPr id="3" name="Subtitle 2"/>
          <p:cNvSpPr>
            <a:spLocks noGrp="1"/>
          </p:cNvSpPr>
          <p:nvPr>
            <p:ph type="subTitle" idx="4"/>
          </p:nvPr>
        </p:nvSpPr>
        <p:spPr>
          <a:xfrm>
            <a:off x="533400" y="675005"/>
            <a:ext cx="10895330" cy="6047105"/>
          </a:xfrm>
        </p:spPr>
        <p:txBody>
          <a:bodyPr>
            <a:noAutofit/>
          </a:bodyPr>
          <a:lstStyle/>
          <a:p>
            <a:pPr marL="342900" indent="-342900" algn="just">
              <a:buFont typeface="Wingdings" panose="05000000000000000000" charset="0"/>
              <a:buChar char="Ø"/>
            </a:pPr>
            <a:r>
              <a:rPr lang="en-GB" altLang="en-US" sz="2400">
                <a:latin typeface="Times New Roman" panose="02020603050405020304" charset="0"/>
                <a:cs typeface="Times New Roman" panose="02020603050405020304" charset="0"/>
              </a:rPr>
              <a:t>Code Reusability</a:t>
            </a:r>
          </a:p>
          <a:p>
            <a:pPr algn="just"/>
            <a:r>
              <a:rPr lang="en-GB" altLang="en-US" sz="2400">
                <a:latin typeface="Times New Roman" panose="02020603050405020304" charset="0"/>
                <a:cs typeface="Times New Roman" panose="02020603050405020304" charset="0"/>
              </a:rPr>
              <a:t>By creating functions in C++, you can call it many times. So we don't need to write the same code again and again.</a:t>
            </a:r>
          </a:p>
          <a:p>
            <a:pPr marL="342900" indent="-342900" algn="just">
              <a:buFont typeface="Wingdings" panose="05000000000000000000" charset="0"/>
              <a:buChar char="Ø"/>
            </a:pPr>
            <a:r>
              <a:rPr lang="en-GB" altLang="en-US" sz="2400">
                <a:latin typeface="Times New Roman" panose="02020603050405020304" charset="0"/>
                <a:cs typeface="Times New Roman" panose="02020603050405020304" charset="0"/>
              </a:rPr>
              <a:t>Code optimization</a:t>
            </a:r>
          </a:p>
          <a:p>
            <a:pPr algn="just"/>
            <a:r>
              <a:rPr lang="en-GB" altLang="en-US" sz="2400">
                <a:latin typeface="Times New Roman" panose="02020603050405020304" charset="0"/>
                <a:cs typeface="Times New Roman" panose="02020603050405020304" charset="0"/>
              </a:rPr>
              <a:t>It makes the code optimized, we don't need to write much code.</a:t>
            </a:r>
          </a:p>
          <a:p>
            <a:pPr algn="just"/>
            <a:r>
              <a:rPr lang="en-GB" altLang="en-US" sz="3000" b="1">
                <a:latin typeface="Times New Roman" panose="02020603050405020304" charset="0"/>
                <a:cs typeface="Times New Roman" panose="02020603050405020304" charset="0"/>
              </a:rPr>
              <a:t>Types of Functions</a:t>
            </a:r>
          </a:p>
          <a:p>
            <a:pPr algn="just"/>
            <a:r>
              <a:rPr lang="en-GB" altLang="en-US" sz="2400">
                <a:latin typeface="Times New Roman" panose="02020603050405020304" charset="0"/>
                <a:cs typeface="Times New Roman" panose="02020603050405020304" charset="0"/>
              </a:rPr>
              <a:t>There are two types of functions in C++ programming:</a:t>
            </a:r>
          </a:p>
          <a:p>
            <a:pPr algn="just"/>
            <a:r>
              <a:rPr lang="en-GB" altLang="en-US" sz="2400">
                <a:solidFill>
                  <a:srgbClr val="FF0000"/>
                </a:solidFill>
                <a:latin typeface="Times New Roman" panose="02020603050405020304" charset="0"/>
                <a:cs typeface="Times New Roman" panose="02020603050405020304" charset="0"/>
              </a:rPr>
              <a:t>1. </a:t>
            </a:r>
            <a:r>
              <a:rPr lang="en-GB" altLang="en-US" sz="2400" b="1">
                <a:solidFill>
                  <a:srgbClr val="FF0000"/>
                </a:solidFill>
                <a:latin typeface="Times New Roman" panose="02020603050405020304" charset="0"/>
                <a:cs typeface="Times New Roman" panose="02020603050405020304" charset="0"/>
              </a:rPr>
              <a:t>Library Functions:</a:t>
            </a:r>
            <a:r>
              <a:rPr lang="en-GB" altLang="en-US" sz="2400">
                <a:latin typeface="Times New Roman" panose="02020603050405020304" charset="0"/>
                <a:cs typeface="Times New Roman" panose="02020603050405020304" charset="0"/>
              </a:rPr>
              <a:t> are the functions which are declared in the C++ header files.</a:t>
            </a:r>
          </a:p>
          <a:p>
            <a:pPr algn="just"/>
            <a:r>
              <a:rPr lang="en-GB" altLang="en-US" sz="2400">
                <a:latin typeface="Times New Roman" panose="02020603050405020304" charset="0"/>
                <a:cs typeface="Times New Roman" panose="02020603050405020304" charset="0"/>
              </a:rPr>
              <a:t>if you </a:t>
            </a:r>
            <a:r>
              <a:rPr lang="en-US" sz="2400" dirty="0">
                <a:latin typeface="Times New Roman" panose="02020603050405020304" charset="0"/>
                <a:cs typeface="Times New Roman" panose="02020603050405020304" charset="0"/>
                <a:sym typeface="+mn-ea"/>
              </a:rPr>
              <a:t>include the </a:t>
            </a:r>
            <a:r>
              <a:rPr lang="en-US" sz="2400" b="1" dirty="0">
                <a:latin typeface="Times New Roman" panose="02020603050405020304" charset="0"/>
                <a:cs typeface="Times New Roman" panose="02020603050405020304" charset="0"/>
                <a:sym typeface="+mn-ea"/>
              </a:rPr>
              <a:t>cmath</a:t>
            </a:r>
            <a:r>
              <a:rPr lang="en-US" sz="2400" dirty="0">
                <a:latin typeface="Times New Roman" panose="02020603050405020304" charset="0"/>
                <a:cs typeface="Times New Roman" panose="02020603050405020304" charset="0"/>
                <a:sym typeface="+mn-ea"/>
              </a:rPr>
              <a:t> header file:</a:t>
            </a:r>
            <a:r>
              <a:rPr lang="en-GB" altLang="en-US" sz="2400" dirty="0">
                <a:latin typeface="Times New Roman" panose="02020603050405020304" charset="0"/>
                <a:cs typeface="Times New Roman" panose="02020603050405020304" charset="0"/>
                <a:sym typeface="+mn-ea"/>
              </a:rPr>
              <a:t>  </a:t>
            </a:r>
            <a:r>
              <a:rPr lang="en-US" sz="2400" b="1" dirty="0">
                <a:latin typeface="Times New Roman" panose="02020603050405020304" charset="0"/>
                <a:cs typeface="Times New Roman" panose="02020603050405020304" charset="0"/>
                <a:sym typeface="+mn-ea"/>
              </a:rPr>
              <a:t>#include &lt;cmath&gt;</a:t>
            </a:r>
            <a:r>
              <a:rPr lang="en-GB" altLang="en-US" sz="2400" b="1" dirty="0">
                <a:latin typeface="Times New Roman" panose="02020603050405020304" charset="0"/>
                <a:cs typeface="Times New Roman" panose="02020603050405020304" charset="0"/>
                <a:sym typeface="+mn-ea"/>
              </a:rPr>
              <a:t> </a:t>
            </a:r>
            <a:r>
              <a:rPr lang="en-GB" altLang="en-US" sz="2400" dirty="0">
                <a:latin typeface="Times New Roman" panose="02020603050405020304" charset="0"/>
                <a:cs typeface="Times New Roman" panose="02020603050405020304" charset="0"/>
                <a:sym typeface="+mn-ea"/>
              </a:rPr>
              <a:t>you can access predifend method under the cmath header file see it below </a:t>
            </a:r>
          </a:p>
          <a:p>
            <a:pPr algn="just"/>
            <a:endParaRPr lang="en-GB" altLang="en-US" sz="2400">
              <a:latin typeface="Times New Roman" panose="02020603050405020304" charset="0"/>
              <a:cs typeface="Times New Roman" panose="02020603050405020304" charset="0"/>
            </a:endParaRPr>
          </a:p>
          <a:p>
            <a:pPr algn="just"/>
            <a:endParaRPr lang="en-GB" altLang="en-US" sz="2400">
              <a:latin typeface="Times New Roman" panose="02020603050405020304" charset="0"/>
              <a:cs typeface="Times New Roman" panose="02020603050405020304" charset="0"/>
            </a:endParaRPr>
          </a:p>
          <a:p>
            <a:pPr algn="just"/>
            <a:endParaRPr lang="en-GB" altLang="en-US" sz="2400">
              <a:latin typeface="Times New Roman" panose="02020603050405020304" charset="0"/>
              <a:cs typeface="Times New Roman" panose="02020603050405020304" charset="0"/>
            </a:endParaRPr>
          </a:p>
        </p:txBody>
      </p:sp>
      <p:pic>
        <p:nvPicPr>
          <p:cNvPr id="5"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4495800"/>
            <a:ext cx="879475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317500" y="876300"/>
            <a:ext cx="11671935" cy="5429250"/>
          </a:xfrm>
        </p:spPr>
        <p:txBody>
          <a:bodyPr>
            <a:noAutofit/>
          </a:bodyPr>
          <a:lstStyle/>
          <a:p>
            <a:pPr indent="0" algn="just">
              <a:buFont typeface="Wingdings" panose="05000000000000000000" pitchFamily="2" charset="2"/>
              <a:buNone/>
            </a:pPr>
            <a:r>
              <a:rPr lang="en-US" sz="2500" dirty="0">
                <a:latin typeface="Times New Roman" panose="02020603050405020304" charset="0"/>
                <a:cs typeface="Times New Roman" panose="02020603050405020304" charset="0"/>
                <a:sym typeface="+mn-ea"/>
              </a:rPr>
              <a:t>Using Mathematical Library Functions</a:t>
            </a:r>
            <a:r>
              <a:rPr lang="en-GB" altLang="en-US" sz="2500" dirty="0">
                <a:latin typeface="Times New Roman" panose="02020603050405020304" charset="0"/>
                <a:cs typeface="Times New Roman" panose="02020603050405020304" charset="0"/>
                <a:sym typeface="+mn-ea"/>
              </a:rPr>
              <a:t> example </a:t>
            </a: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endParaRPr lang="en-GB" altLang="en-US" sz="2500">
              <a:solidFill>
                <a:srgbClr val="FF0000"/>
              </a:solidFill>
              <a:latin typeface="Times New Roman" panose="02020603050405020304" charset="0"/>
              <a:cs typeface="Times New Roman" panose="02020603050405020304" charset="0"/>
              <a:sym typeface="+mn-ea"/>
            </a:endParaRPr>
          </a:p>
          <a:p>
            <a:pPr indent="0" algn="just">
              <a:buFont typeface="Wingdings" panose="05000000000000000000" pitchFamily="2" charset="2"/>
              <a:buNone/>
            </a:pPr>
            <a:r>
              <a:rPr lang="en-GB" altLang="en-US" sz="2500" b="1">
                <a:solidFill>
                  <a:srgbClr val="FF0000"/>
                </a:solidFill>
                <a:latin typeface="Times New Roman" panose="02020603050405020304" charset="0"/>
                <a:cs typeface="Times New Roman" panose="02020603050405020304" charset="0"/>
                <a:sym typeface="+mn-ea"/>
              </a:rPr>
              <a:t>2. User-defined functions:</a:t>
            </a:r>
            <a:r>
              <a:rPr lang="en-GB" altLang="en-US" sz="2500">
                <a:latin typeface="Times New Roman" panose="02020603050405020304" charset="0"/>
                <a:cs typeface="Times New Roman" panose="02020603050405020304" charset="0"/>
                <a:sym typeface="+mn-ea"/>
              </a:rPr>
              <a:t> are the functions which are created by the C++ programmer, so that he/she can use it many times. It reduces complexity of a big program and optimizes the code.</a:t>
            </a:r>
            <a:endParaRPr lang="en-GB" altLang="en-US" sz="2500">
              <a:latin typeface="Times New Roman" panose="02020603050405020304" charset="0"/>
              <a:cs typeface="Times New Roman" panose="02020603050405020304"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8335645" cy="2813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584835"/>
          </a:xfrm>
        </p:spPr>
        <p:txBody>
          <a:bodyPr>
            <a:noAutofit/>
          </a:bodyPr>
          <a:lstStyle/>
          <a:p>
            <a:r>
              <a:rPr lang="en-GB" altLang="en-US">
                <a:latin typeface="Times New Roman" panose="02020603050405020304" charset="0"/>
                <a:cs typeface="Times New Roman" panose="02020603050405020304" charset="0"/>
                <a:sym typeface="+mn-ea"/>
              </a:rPr>
              <a:t>Function Declarations</a:t>
            </a:r>
            <a:endParaRPr lang="en-GB" altLang="en-US">
              <a:latin typeface="Times New Roman" panose="02020603050405020304" charset="0"/>
              <a:cs typeface="Times New Roman" panose="02020603050405020304" charset="0"/>
            </a:endParaRPr>
          </a:p>
        </p:txBody>
      </p:sp>
      <p:sp>
        <p:nvSpPr>
          <p:cNvPr id="3" name="Subtitle 2"/>
          <p:cNvSpPr>
            <a:spLocks noGrp="1"/>
          </p:cNvSpPr>
          <p:nvPr>
            <p:ph type="subTitle" idx="4"/>
          </p:nvPr>
        </p:nvSpPr>
        <p:spPr>
          <a:xfrm>
            <a:off x="152400" y="1181735"/>
            <a:ext cx="11544935" cy="5099050"/>
          </a:xfrm>
        </p:spPr>
        <p:txBody>
          <a:bodyPr>
            <a:noAutofit/>
          </a:bodyPr>
          <a:lstStyle/>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As you </a:t>
            </a:r>
            <a:r>
              <a:rPr lang="en-US" sz="2500" dirty="0">
                <a:solidFill>
                  <a:srgbClr val="FF0000"/>
                </a:solidFill>
                <a:latin typeface="Times New Roman" panose="02020603050405020304" charset="0"/>
                <a:cs typeface="Times New Roman" panose="02020603050405020304" charset="0"/>
                <a:sym typeface="+mn-ea"/>
              </a:rPr>
              <a:t>can’t use variables</a:t>
            </a:r>
            <a:r>
              <a:rPr lang="en-US" sz="2500" dirty="0">
                <a:latin typeface="Times New Roman" panose="02020603050405020304" charset="0"/>
                <a:cs typeface="Times New Roman" panose="02020603050405020304" charset="0"/>
                <a:sym typeface="+mn-ea"/>
              </a:rPr>
              <a:t> before declarations (telling the compiler what the variable is), you </a:t>
            </a:r>
            <a:r>
              <a:rPr lang="en-US" sz="2500" dirty="0">
                <a:solidFill>
                  <a:srgbClr val="FF0000"/>
                </a:solidFill>
                <a:latin typeface="Times New Roman" panose="02020603050405020304" charset="0"/>
                <a:cs typeface="Times New Roman" panose="02020603050405020304" charset="0"/>
                <a:sym typeface="+mn-ea"/>
              </a:rPr>
              <a:t>can’t use function </a:t>
            </a:r>
            <a:r>
              <a:rPr lang="en-US" sz="2500" dirty="0">
                <a:latin typeface="Times New Roman" panose="02020603050405020304" charset="0"/>
                <a:cs typeface="Times New Roman" panose="02020603050405020304" charset="0"/>
                <a:sym typeface="+mn-ea"/>
              </a:rPr>
              <a:t>before </a:t>
            </a:r>
            <a:r>
              <a:rPr lang="en-US" sz="2500" dirty="0">
                <a:solidFill>
                  <a:schemeClr val="accent1"/>
                </a:solidFill>
                <a:latin typeface="Times New Roman" panose="02020603050405020304" charset="0"/>
                <a:cs typeface="Times New Roman" panose="02020603050405020304" charset="0"/>
                <a:sym typeface="+mn-ea"/>
              </a:rPr>
              <a:t>telling the compiler</a:t>
            </a:r>
            <a:r>
              <a:rPr lang="en-US" sz="2500" dirty="0">
                <a:latin typeface="Times New Roman" panose="02020603050405020304" charset="0"/>
                <a:cs typeface="Times New Roman" panose="02020603050405020304" charset="0"/>
                <a:sym typeface="+mn-ea"/>
              </a:rPr>
              <a:t> what this function is. </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a:t>
            </a:r>
            <a:r>
              <a:rPr lang="en-US" sz="2500" dirty="0">
                <a:solidFill>
                  <a:srgbClr val="FF0000"/>
                </a:solidFill>
                <a:latin typeface="Times New Roman" panose="02020603050405020304" charset="0"/>
                <a:cs typeface="Times New Roman" panose="02020603050405020304" charset="0"/>
                <a:sym typeface="+mn-ea"/>
              </a:rPr>
              <a:t>common approach</a:t>
            </a:r>
            <a:r>
              <a:rPr lang="en-US" sz="2500" dirty="0">
                <a:latin typeface="Times New Roman" panose="02020603050405020304" charset="0"/>
                <a:cs typeface="Times New Roman" panose="02020603050405020304" charset="0"/>
                <a:sym typeface="+mn-ea"/>
              </a:rPr>
              <a:t> to declare functions is at the </a:t>
            </a:r>
            <a:r>
              <a:rPr lang="en-US" sz="2500" dirty="0">
                <a:solidFill>
                  <a:srgbClr val="00B0F0"/>
                </a:solidFill>
                <a:latin typeface="Times New Roman" panose="02020603050405020304" charset="0"/>
                <a:cs typeface="Times New Roman" panose="02020603050405020304" charset="0"/>
                <a:sym typeface="+mn-ea"/>
              </a:rPr>
              <a:t>beginning of the program</a:t>
            </a:r>
            <a:r>
              <a:rPr lang="en-US" sz="2500" dirty="0">
                <a:latin typeface="Times New Roman" panose="02020603050405020304" charset="0"/>
                <a:cs typeface="Times New Roman" panose="02020603050405020304" charset="0"/>
                <a:sym typeface="+mn-ea"/>
              </a:rPr>
              <a:t>. </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function declaration (function prototype) tells the compiler that later on in the program a function introduced in the declaration is going to be used. </a:t>
            </a:r>
          </a:p>
          <a:p>
            <a:pPr marL="342900" indent="-342900" algn="just">
              <a:buFont typeface="Wingdings" panose="05000000000000000000" charset="0"/>
              <a:buChar char="Ø"/>
            </a:pPr>
            <a:r>
              <a:rPr lang="en-US" sz="2500" b="1" dirty="0">
                <a:latin typeface="Times New Roman" panose="02020603050405020304" charset="0"/>
                <a:cs typeface="Times New Roman" panose="02020603050405020304" charset="0"/>
                <a:sym typeface="+mn-ea"/>
              </a:rPr>
              <a:t>Function declaration</a:t>
            </a:r>
            <a:r>
              <a:rPr lang="en-US" sz="2500" dirty="0">
                <a:latin typeface="Times New Roman" panose="02020603050405020304" charset="0"/>
                <a:cs typeface="Times New Roman" panose="02020603050405020304" charset="0"/>
                <a:sym typeface="+mn-ea"/>
              </a:rPr>
              <a:t> is terminated with </a:t>
            </a:r>
            <a:r>
              <a:rPr lang="en-US" sz="2500" dirty="0">
                <a:solidFill>
                  <a:srgbClr val="FF0000"/>
                </a:solidFill>
                <a:latin typeface="Times New Roman" panose="02020603050405020304" charset="0"/>
                <a:cs typeface="Times New Roman" panose="02020603050405020304" charset="0"/>
                <a:sym typeface="+mn-ea"/>
              </a:rPr>
              <a:t>semicolon</a:t>
            </a:r>
            <a:r>
              <a:rPr lang="en-US" sz="2500" dirty="0">
                <a:latin typeface="Times New Roman" panose="02020603050405020304" charset="0"/>
                <a:cs typeface="Times New Roman" panose="02020603050405020304" charset="0"/>
                <a:sym typeface="+mn-ea"/>
              </a:rPr>
              <a:t>. If the </a:t>
            </a:r>
            <a:r>
              <a:rPr lang="en-US" sz="2500" dirty="0">
                <a:solidFill>
                  <a:srgbClr val="FF0000"/>
                </a:solidFill>
                <a:latin typeface="Times New Roman" panose="02020603050405020304" charset="0"/>
                <a:cs typeface="Times New Roman" panose="02020603050405020304" charset="0"/>
                <a:sym typeface="+mn-ea"/>
              </a:rPr>
              <a:t>function has arguments</a:t>
            </a:r>
            <a:r>
              <a:rPr lang="en-US" sz="2500" dirty="0">
                <a:latin typeface="Times New Roman" panose="02020603050405020304" charset="0"/>
                <a:cs typeface="Times New Roman" panose="02020603050405020304" charset="0"/>
                <a:sym typeface="+mn-ea"/>
              </a:rPr>
              <a:t>, then they should be </a:t>
            </a:r>
            <a:r>
              <a:rPr lang="en-US" sz="2500" dirty="0">
                <a:solidFill>
                  <a:srgbClr val="00B0F0"/>
                </a:solidFill>
                <a:latin typeface="Times New Roman" panose="02020603050405020304" charset="0"/>
                <a:cs typeface="Times New Roman" panose="02020603050405020304" charset="0"/>
                <a:sym typeface="+mn-ea"/>
              </a:rPr>
              <a:t>indicated in the declaration</a:t>
            </a:r>
            <a:r>
              <a:rPr lang="en-US" sz="2500" dirty="0">
                <a:latin typeface="Times New Roman" panose="02020603050405020304" charset="0"/>
                <a:cs typeface="Times New Roman" panose="02020603050405020304" charset="0"/>
                <a:sym typeface="+mn-ea"/>
              </a:rPr>
              <a:t>.</a:t>
            </a:r>
            <a:endParaRPr lang="en-GB" altLang="en-US" sz="2500">
              <a:latin typeface="Times New Roman" panose="02020603050405020304" charset="0"/>
              <a:cs typeface="Times New Roman" panose="02020603050405020304" charset="0"/>
            </a:endParaRPr>
          </a:p>
          <a:p>
            <a:pPr indent="0" algn="just">
              <a:buFont typeface="Wingdings" panose="05000000000000000000" charset="0"/>
              <a:buNone/>
            </a:pPr>
            <a:r>
              <a:rPr lang="en-GB" altLang="en-US" sz="2500">
                <a:latin typeface="Times New Roman" panose="02020603050405020304" charset="0"/>
                <a:cs typeface="Times New Roman" panose="02020603050405020304" charset="0"/>
              </a:rPr>
              <a:t>A function declaration has the following parts </a:t>
            </a:r>
          </a:p>
          <a:p>
            <a:pPr marL="914400" lvl="2" indent="457200" algn="just">
              <a:buFont typeface="Wingdings" panose="05000000000000000000" charset="0"/>
              <a:buNone/>
            </a:pPr>
            <a:r>
              <a:rPr lang="en-GB" altLang="en-US" sz="2500">
                <a:solidFill>
                  <a:srgbClr val="0070C0"/>
                </a:solidFill>
                <a:latin typeface="Times New Roman" panose="02020603050405020304" charset="0"/>
                <a:cs typeface="Times New Roman" panose="02020603050405020304" charset="0"/>
              </a:rPr>
              <a:t>     return_type  function_name( parameter list );</a:t>
            </a:r>
          </a:p>
          <a:p>
            <a:pPr marL="457200" lvl="1" indent="457200" algn="just"/>
            <a:r>
              <a:rPr lang="en-GB" altLang="en-US" sz="2500">
                <a:latin typeface="Times New Roman" panose="02020603050405020304" charset="0"/>
                <a:cs typeface="Times New Roman" panose="02020603050405020304" charset="0"/>
                <a:sym typeface="+mn-ea"/>
              </a:rPr>
              <a:t>Examples :-  </a:t>
            </a:r>
            <a:r>
              <a:rPr lang="en-GB" altLang="en-US" sz="2500">
                <a:latin typeface="Times New Roman" panose="02020603050405020304" charset="0"/>
                <a:cs typeface="Times New Roman" panose="02020603050405020304" charset="0"/>
              </a:rPr>
              <a:t> int max(int num1, int num2);</a:t>
            </a:r>
          </a:p>
          <a:p>
            <a:pPr marL="457200" lvl="1" indent="457200" algn="just"/>
            <a:endParaRPr lang="en-GB" altLang="en-US" sz="25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Parameter names are not important in function declaration only their type is required, so following is also valid declaration −   int max(int, int);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7555" y="406400"/>
            <a:ext cx="10629900" cy="551815"/>
          </a:xfrm>
        </p:spPr>
        <p:txBody>
          <a:bodyPr>
            <a:noAutofit/>
          </a:bodyPr>
          <a:lstStyle/>
          <a:p>
            <a:r>
              <a:rPr lang="en-US" dirty="0">
                <a:solidFill>
                  <a:schemeClr val="accent1"/>
                </a:solidFill>
                <a:latin typeface="Times New Roman" panose="02020603050405020304" charset="0"/>
                <a:cs typeface="Times New Roman" panose="02020603050405020304" charset="0"/>
                <a:sym typeface="+mn-ea"/>
              </a:rPr>
              <a:t>Function Definition</a:t>
            </a:r>
            <a:br>
              <a:rPr lang="en-US" dirty="0">
                <a:solidFill>
                  <a:schemeClr val="accent1"/>
                </a:solidFill>
                <a:latin typeface="Times New Roman" panose="02020603050405020304" charset="0"/>
                <a:cs typeface="Times New Roman" panose="02020603050405020304" charset="0"/>
                <a:sym typeface="+mn-ea"/>
              </a:rPr>
            </a:br>
            <a:endParaRPr lang="en-US" altLang="en-US" dirty="0">
              <a:solidFill>
                <a:schemeClr val="accent1"/>
              </a:solidFill>
              <a:latin typeface="Times New Roman" panose="02020603050405020304" charset="0"/>
              <a:cs typeface="Times New Roman" panose="02020603050405020304" charset="0"/>
              <a:sym typeface="+mn-ea"/>
            </a:endParaRPr>
          </a:p>
        </p:txBody>
      </p:sp>
      <p:sp>
        <p:nvSpPr>
          <p:cNvPr id="3" name="Subtitle 2"/>
          <p:cNvSpPr>
            <a:spLocks noGrp="1"/>
          </p:cNvSpPr>
          <p:nvPr>
            <p:ph type="subTitle" idx="4"/>
          </p:nvPr>
        </p:nvSpPr>
        <p:spPr>
          <a:xfrm>
            <a:off x="381000" y="1001395"/>
            <a:ext cx="11330940" cy="5525770"/>
          </a:xfrm>
        </p:spPr>
        <p:txBody>
          <a:bodyPr>
            <a:noAutofit/>
          </a:bodyPr>
          <a:lstStyle/>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A </a:t>
            </a:r>
            <a:r>
              <a:rPr lang="en-US" sz="2500" b="1" dirty="0">
                <a:latin typeface="Times New Roman" panose="02020603050405020304" charset="0"/>
                <a:cs typeface="Times New Roman" panose="02020603050405020304" charset="0"/>
                <a:sym typeface="+mn-ea"/>
              </a:rPr>
              <a:t>function definition </a:t>
            </a:r>
            <a:r>
              <a:rPr lang="en-US" sz="2500" dirty="0">
                <a:latin typeface="Times New Roman" panose="02020603050405020304" charset="0"/>
                <a:cs typeface="Times New Roman" panose="02020603050405020304" charset="0"/>
                <a:sym typeface="+mn-ea"/>
              </a:rPr>
              <a:t>consists of two parts: </a:t>
            </a:r>
            <a:r>
              <a:rPr lang="en-US" sz="2500" b="1" dirty="0">
                <a:latin typeface="Times New Roman" panose="02020603050405020304" charset="0"/>
                <a:cs typeface="Times New Roman" panose="02020603050405020304" charset="0"/>
                <a:sym typeface="+mn-ea"/>
              </a:rPr>
              <a:t>interface </a:t>
            </a:r>
            <a:r>
              <a:rPr lang="en-US" sz="2500" dirty="0">
                <a:latin typeface="Times New Roman" panose="02020603050405020304" charset="0"/>
                <a:cs typeface="Times New Roman" panose="02020603050405020304" charset="0"/>
                <a:sym typeface="+mn-ea"/>
              </a:rPr>
              <a:t>and </a:t>
            </a:r>
            <a:r>
              <a:rPr lang="en-US" sz="2500" b="1" dirty="0">
                <a:latin typeface="Times New Roman" panose="02020603050405020304" charset="0"/>
                <a:cs typeface="Times New Roman" panose="02020603050405020304" charset="0"/>
                <a:sym typeface="+mn-ea"/>
              </a:rPr>
              <a:t>body</a:t>
            </a:r>
            <a:r>
              <a:rPr lang="en-US" sz="2500" dirty="0">
                <a:latin typeface="Times New Roman" panose="02020603050405020304" charset="0"/>
                <a:cs typeface="Times New Roman" panose="02020603050405020304" charset="0"/>
                <a:sym typeface="+mn-ea"/>
              </a:rPr>
              <a:t>. </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a:t>
            </a:r>
            <a:r>
              <a:rPr lang="en-US" sz="2500" b="1" dirty="0">
                <a:latin typeface="Times New Roman" panose="02020603050405020304" charset="0"/>
                <a:cs typeface="Times New Roman" panose="02020603050405020304" charset="0"/>
                <a:sym typeface="+mn-ea"/>
              </a:rPr>
              <a:t>interface </a:t>
            </a:r>
            <a:r>
              <a:rPr lang="en-US" sz="2500" dirty="0">
                <a:latin typeface="Times New Roman" panose="02020603050405020304" charset="0"/>
                <a:cs typeface="Times New Roman" panose="02020603050405020304" charset="0"/>
                <a:sym typeface="+mn-ea"/>
              </a:rPr>
              <a:t>of a function (called its </a:t>
            </a:r>
            <a:r>
              <a:rPr lang="en-US" sz="2500" b="1" dirty="0">
                <a:latin typeface="Times New Roman" panose="02020603050405020304" charset="0"/>
                <a:cs typeface="Times New Roman" panose="02020603050405020304" charset="0"/>
                <a:sym typeface="+mn-ea"/>
              </a:rPr>
              <a:t>prototyp</a:t>
            </a:r>
            <a:r>
              <a:rPr lang="en-US" sz="2500" dirty="0">
                <a:latin typeface="Times New Roman" panose="02020603050405020304" charset="0"/>
                <a:cs typeface="Times New Roman" panose="02020603050405020304" charset="0"/>
                <a:sym typeface="+mn-ea"/>
              </a:rPr>
              <a:t>e) specifies how it may be used.</a:t>
            </a:r>
          </a:p>
          <a:p>
            <a:pPr marL="0" indent="0" algn="just">
              <a:buNone/>
            </a:pPr>
            <a:r>
              <a:rPr lang="en-US" sz="2500" dirty="0">
                <a:latin typeface="Times New Roman" panose="02020603050405020304" charset="0"/>
                <a:cs typeface="Times New Roman" panose="02020603050405020304" charset="0"/>
                <a:sym typeface="+mn-ea"/>
              </a:rPr>
              <a:t>It consists of </a:t>
            </a:r>
            <a:r>
              <a:rPr lang="en-US" sz="2500" b="1" dirty="0">
                <a:solidFill>
                  <a:srgbClr val="FF0000"/>
                </a:solidFill>
                <a:latin typeface="Times New Roman" panose="02020603050405020304" charset="0"/>
                <a:cs typeface="Times New Roman" panose="02020603050405020304" charset="0"/>
                <a:sym typeface="+mn-ea"/>
              </a:rPr>
              <a:t>three entities</a:t>
            </a:r>
            <a:r>
              <a:rPr lang="en-US" sz="2500" dirty="0">
                <a:latin typeface="Times New Roman" panose="02020603050405020304" charset="0"/>
                <a:cs typeface="Times New Roman" panose="02020603050405020304" charset="0"/>
                <a:sym typeface="+mn-ea"/>
              </a:rPr>
              <a:t>:</a:t>
            </a:r>
            <a:endParaRPr lang="en-US" sz="2500" dirty="0">
              <a:latin typeface="Times New Roman" panose="02020603050405020304" charset="0"/>
              <a:cs typeface="Times New Roman" panose="02020603050405020304" charset="0"/>
            </a:endParaRPr>
          </a:p>
          <a:p>
            <a:pPr marL="800100" lvl="1" indent="-342900" algn="just">
              <a:buFont typeface="Wingdings" panose="05000000000000000000" charset="0"/>
              <a:buChar char="§"/>
            </a:pPr>
            <a:r>
              <a:rPr lang="en-US" sz="2500" dirty="0">
                <a:latin typeface="Times New Roman" panose="02020603050405020304" charset="0"/>
                <a:cs typeface="Times New Roman" panose="02020603050405020304" charset="0"/>
                <a:sym typeface="+mn-ea"/>
              </a:rPr>
              <a:t>The function </a:t>
            </a:r>
            <a:r>
              <a:rPr lang="en-US" sz="2500" b="1" dirty="0">
                <a:latin typeface="Times New Roman" panose="02020603050405020304" charset="0"/>
                <a:cs typeface="Times New Roman" panose="02020603050405020304" charset="0"/>
                <a:sym typeface="+mn-ea"/>
              </a:rPr>
              <a:t>nam</a:t>
            </a:r>
            <a:r>
              <a:rPr lang="en-US" sz="2500" dirty="0">
                <a:latin typeface="Times New Roman" panose="02020603050405020304" charset="0"/>
                <a:cs typeface="Times New Roman" panose="02020603050405020304" charset="0"/>
                <a:sym typeface="+mn-ea"/>
              </a:rPr>
              <a:t>e. This is simply a unique identifier.</a:t>
            </a:r>
          </a:p>
          <a:p>
            <a:pPr marL="800100" lvl="1" indent="-342900" algn="just">
              <a:buFont typeface="Wingdings" panose="05000000000000000000" charset="0"/>
              <a:buChar char="§"/>
            </a:pPr>
            <a:r>
              <a:rPr lang="en-US" sz="2500" dirty="0">
                <a:latin typeface="Times New Roman" panose="02020603050405020304" charset="0"/>
                <a:cs typeface="Times New Roman" panose="02020603050405020304" charset="0"/>
                <a:sym typeface="+mn-ea"/>
              </a:rPr>
              <a:t>The function </a:t>
            </a:r>
            <a:r>
              <a:rPr lang="en-US" sz="2500" b="1" dirty="0">
                <a:latin typeface="Times New Roman" panose="02020603050405020304" charset="0"/>
                <a:cs typeface="Times New Roman" panose="02020603050405020304" charset="0"/>
                <a:sym typeface="+mn-ea"/>
              </a:rPr>
              <a:t>parameters </a:t>
            </a:r>
            <a:r>
              <a:rPr lang="en-US" sz="2500" dirty="0">
                <a:latin typeface="Times New Roman" panose="02020603050405020304" charset="0"/>
                <a:cs typeface="Times New Roman" panose="02020603050405020304" charset="0"/>
                <a:sym typeface="+mn-ea"/>
              </a:rPr>
              <a:t>(also called its </a:t>
            </a:r>
            <a:r>
              <a:rPr lang="en-US" sz="2500" b="1" dirty="0">
                <a:latin typeface="Times New Roman" panose="02020603050405020304" charset="0"/>
                <a:cs typeface="Times New Roman" panose="02020603050405020304" charset="0"/>
                <a:sym typeface="+mn-ea"/>
              </a:rPr>
              <a:t>signatur</a:t>
            </a:r>
            <a:r>
              <a:rPr lang="en-US" sz="2500" dirty="0">
                <a:latin typeface="Times New Roman" panose="02020603050405020304" charset="0"/>
                <a:cs typeface="Times New Roman" panose="02020603050405020304" charset="0"/>
                <a:sym typeface="+mn-ea"/>
              </a:rPr>
              <a:t>e)</a:t>
            </a:r>
            <a:r>
              <a:rPr lang="en-GB" altLang="en-US" sz="2500" dirty="0">
                <a:latin typeface="Times New Roman" panose="02020603050405020304" charset="0"/>
                <a:cs typeface="Times New Roman" panose="02020603050405020304" charset="0"/>
                <a:sym typeface="+mn-ea"/>
              </a:rPr>
              <a:t>-: t</a:t>
            </a:r>
            <a:r>
              <a:rPr lang="en-US" sz="2500" dirty="0">
                <a:latin typeface="Times New Roman" panose="02020603050405020304" charset="0"/>
                <a:cs typeface="Times New Roman" panose="02020603050405020304" charset="0"/>
                <a:sym typeface="+mn-ea"/>
              </a:rPr>
              <a:t>his is a set of zero or more typed identifiers used for passing</a:t>
            </a:r>
            <a:r>
              <a:rPr lang="en-GB" altLang="en-US" sz="2500" dirty="0">
                <a:latin typeface="Times New Roman" panose="02020603050405020304" charset="0"/>
                <a:cs typeface="Times New Roman" panose="02020603050405020304" charset="0"/>
                <a:sym typeface="+mn-ea"/>
              </a:rPr>
              <a:t> </a:t>
            </a:r>
            <a:r>
              <a:rPr lang="en-US" sz="2500" dirty="0">
                <a:latin typeface="Times New Roman" panose="02020603050405020304" charset="0"/>
                <a:cs typeface="Times New Roman" panose="02020603050405020304" charset="0"/>
                <a:sym typeface="+mn-ea"/>
              </a:rPr>
              <a:t>values to and from the function.</a:t>
            </a:r>
            <a:endParaRPr lang="en-US" sz="2500" dirty="0">
              <a:latin typeface="Times New Roman" panose="02020603050405020304" charset="0"/>
              <a:cs typeface="Times New Roman" panose="02020603050405020304" charset="0"/>
            </a:endParaRPr>
          </a:p>
          <a:p>
            <a:pPr marL="800100" lvl="1" indent="-342900" algn="just">
              <a:buFont typeface="Wingdings" panose="05000000000000000000" charset="0"/>
              <a:buChar char="§"/>
            </a:pPr>
            <a:r>
              <a:rPr lang="en-US" sz="2500" dirty="0">
                <a:latin typeface="Times New Roman" panose="02020603050405020304" charset="0"/>
                <a:cs typeface="Times New Roman" panose="02020603050405020304" charset="0"/>
                <a:sym typeface="+mn-ea"/>
              </a:rPr>
              <a:t>The function </a:t>
            </a:r>
            <a:r>
              <a:rPr lang="en-US" sz="2500" b="1" dirty="0">
                <a:latin typeface="Times New Roman" panose="02020603050405020304" charset="0"/>
                <a:cs typeface="Times New Roman" panose="02020603050405020304" charset="0"/>
                <a:sym typeface="+mn-ea"/>
              </a:rPr>
              <a:t>return typ</a:t>
            </a:r>
            <a:r>
              <a:rPr lang="en-US" sz="2500" dirty="0">
                <a:latin typeface="Times New Roman" panose="02020603050405020304" charset="0"/>
                <a:cs typeface="Times New Roman" panose="02020603050405020304" charset="0"/>
                <a:sym typeface="+mn-ea"/>
              </a:rPr>
              <a:t>e. This specifies the type of  value the function returns. A function which returns nothing should have the return type </a:t>
            </a:r>
            <a:r>
              <a:rPr lang="en-US" sz="2500" b="1" dirty="0">
                <a:latin typeface="Times New Roman" panose="02020603050405020304" charset="0"/>
                <a:cs typeface="Times New Roman" panose="02020603050405020304" charset="0"/>
                <a:sym typeface="+mn-ea"/>
              </a:rPr>
              <a:t>void</a:t>
            </a:r>
            <a:r>
              <a:rPr lang="en-US" sz="2500" dirty="0">
                <a:latin typeface="Times New Roman" panose="02020603050405020304" charset="0"/>
                <a:cs typeface="Times New Roman" panose="02020603050405020304" charset="0"/>
                <a:sym typeface="+mn-ea"/>
              </a:rPr>
              <a:t>.</a:t>
            </a:r>
            <a:endParaRPr lang="en-US" sz="2500" dirty="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a:t>
            </a:r>
            <a:r>
              <a:rPr lang="en-US" sz="2500" b="1" dirty="0">
                <a:latin typeface="Times New Roman" panose="02020603050405020304" charset="0"/>
                <a:cs typeface="Times New Roman" panose="02020603050405020304" charset="0"/>
                <a:sym typeface="+mn-ea"/>
              </a:rPr>
              <a:t>body </a:t>
            </a:r>
            <a:r>
              <a:rPr lang="en-US" sz="2500" dirty="0">
                <a:latin typeface="Times New Roman" panose="02020603050405020304" charset="0"/>
                <a:cs typeface="Times New Roman" panose="02020603050405020304" charset="0"/>
                <a:sym typeface="+mn-ea"/>
              </a:rPr>
              <a:t>of a function </a:t>
            </a:r>
            <a:r>
              <a:rPr lang="en-US" sz="2500" dirty="0">
                <a:solidFill>
                  <a:srgbClr val="00B0F0"/>
                </a:solidFill>
                <a:latin typeface="Times New Roman" panose="02020603050405020304" charset="0"/>
                <a:cs typeface="Times New Roman" panose="02020603050405020304" charset="0"/>
                <a:sym typeface="+mn-ea"/>
              </a:rPr>
              <a:t>contains the computational steps </a:t>
            </a:r>
            <a:r>
              <a:rPr lang="en-US" sz="2500" dirty="0">
                <a:latin typeface="Times New Roman" panose="02020603050405020304" charset="0"/>
                <a:cs typeface="Times New Roman" panose="02020603050405020304" charset="0"/>
                <a:sym typeface="+mn-ea"/>
              </a:rPr>
              <a:t>(statements) that comprise the function. </a:t>
            </a:r>
          </a:p>
          <a:p>
            <a:pPr marL="914400" lvl="2" indent="0">
              <a:buNone/>
            </a:pPr>
            <a:endParaRPr lang="en-GB" altLang="en-US" sz="2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28600"/>
            <a:ext cx="10629900" cy="563880"/>
          </a:xfrm>
        </p:spPr>
        <p:txBody>
          <a:bodyPr>
            <a:noAutofit/>
          </a:bodyPr>
          <a:lstStyle/>
          <a:p>
            <a:r>
              <a:rPr lang="en-US" dirty="0">
                <a:latin typeface="Times New Roman" panose="02020603050405020304" charset="0"/>
                <a:cs typeface="Times New Roman" panose="02020603050405020304" charset="0"/>
                <a:sym typeface="+mn-ea"/>
              </a:rPr>
              <a:t>function definition</a:t>
            </a:r>
            <a:r>
              <a:rPr lang="en-GB" altLang="en-US" dirty="0">
                <a:latin typeface="Times New Roman" panose="02020603050405020304" charset="0"/>
                <a:cs typeface="Times New Roman" panose="02020603050405020304" charset="0"/>
                <a:sym typeface="+mn-ea"/>
              </a:rPr>
              <a:t> example </a:t>
            </a:r>
            <a:endParaRPr lang="en-GB" altLang="en-US"/>
          </a:p>
        </p:txBody>
      </p:sp>
      <p:sp>
        <p:nvSpPr>
          <p:cNvPr id="3" name="Subtitle 2"/>
          <p:cNvSpPr>
            <a:spLocks noGrp="1"/>
          </p:cNvSpPr>
          <p:nvPr>
            <p:ph type="subTitle" idx="4"/>
          </p:nvPr>
        </p:nvSpPr>
        <p:spPr>
          <a:xfrm>
            <a:off x="533400" y="885825"/>
            <a:ext cx="11135995" cy="4948555"/>
          </a:xfrm>
        </p:spPr>
        <p:txBody>
          <a:bodyPr>
            <a:noAutofit/>
          </a:bodyPr>
          <a:lstStyle/>
          <a:p>
            <a:pPr marL="914400" lvl="2" indent="0">
              <a:buNone/>
            </a:pPr>
            <a:r>
              <a:rPr lang="en-GB" altLang="en-US" sz="2500">
                <a:latin typeface="Times New Roman" panose="02020603050405020304" charset="0"/>
                <a:cs typeface="Times New Roman" panose="02020603050405020304" charset="0"/>
                <a:sym typeface="+mn-ea"/>
              </a:rPr>
              <a:t>int max(int num1, int num2) </a:t>
            </a:r>
          </a:p>
          <a:p>
            <a:pPr marL="914400" lvl="2" indent="0">
              <a:buNone/>
            </a:pPr>
            <a:r>
              <a:rPr lang="en-GB" altLang="en-US" sz="2500">
                <a:latin typeface="Times New Roman" panose="02020603050405020304" charset="0"/>
                <a:cs typeface="Times New Roman" panose="02020603050405020304" charset="0"/>
                <a:sym typeface="+mn-ea"/>
              </a:rPr>
              <a:t>{</a:t>
            </a:r>
            <a:endParaRPr lang="en-GB" altLang="en-US" sz="2500">
              <a:latin typeface="Times New Roman" panose="02020603050405020304" charset="0"/>
              <a:cs typeface="Times New Roman" panose="02020603050405020304" charset="0"/>
            </a:endParaRPr>
          </a:p>
          <a:p>
            <a:pPr marL="914400" lvl="2" indent="0">
              <a:buNone/>
            </a:pPr>
            <a:r>
              <a:rPr lang="en-GB" altLang="en-US" sz="2500">
                <a:latin typeface="Times New Roman" panose="02020603050405020304" charset="0"/>
                <a:cs typeface="Times New Roman" panose="02020603050405020304" charset="0"/>
                <a:sym typeface="+mn-ea"/>
              </a:rPr>
              <a:t>    int result;</a:t>
            </a:r>
            <a:endParaRPr lang="en-GB" altLang="en-US" sz="2500">
              <a:latin typeface="Times New Roman" panose="02020603050405020304" charset="0"/>
              <a:cs typeface="Times New Roman" panose="02020603050405020304" charset="0"/>
            </a:endParaRPr>
          </a:p>
          <a:p>
            <a:pPr marL="914400" lvl="2" indent="0">
              <a:buNone/>
            </a:pPr>
            <a:r>
              <a:rPr lang="en-GB" altLang="en-US" sz="2500">
                <a:latin typeface="Times New Roman" panose="02020603050405020304" charset="0"/>
                <a:cs typeface="Times New Roman" panose="02020603050405020304" charset="0"/>
                <a:sym typeface="+mn-ea"/>
              </a:rPr>
              <a:t>    if (num1 &gt; num2)</a:t>
            </a:r>
            <a:endParaRPr lang="en-GB" altLang="en-US" sz="2500">
              <a:latin typeface="Times New Roman" panose="02020603050405020304" charset="0"/>
              <a:cs typeface="Times New Roman" panose="02020603050405020304" charset="0"/>
            </a:endParaRPr>
          </a:p>
          <a:p>
            <a:pPr marL="914400" lvl="2" indent="0">
              <a:buNone/>
            </a:pPr>
            <a:r>
              <a:rPr lang="en-GB" altLang="en-US" sz="2500">
                <a:latin typeface="Times New Roman" panose="02020603050405020304" charset="0"/>
                <a:cs typeface="Times New Roman" panose="02020603050405020304" charset="0"/>
                <a:sym typeface="+mn-ea"/>
              </a:rPr>
              <a:t>      result = num1;</a:t>
            </a:r>
            <a:endParaRPr lang="en-GB" altLang="en-US" sz="2500">
              <a:latin typeface="Times New Roman" panose="02020603050405020304" charset="0"/>
              <a:cs typeface="Times New Roman" panose="02020603050405020304" charset="0"/>
            </a:endParaRPr>
          </a:p>
          <a:p>
            <a:pPr marL="914400" lvl="2" indent="0">
              <a:buNone/>
            </a:pPr>
            <a:r>
              <a:rPr lang="en-GB" altLang="en-US" sz="2500">
                <a:latin typeface="Times New Roman" panose="02020603050405020304" charset="0"/>
                <a:cs typeface="Times New Roman" panose="02020603050405020304" charset="0"/>
                <a:sym typeface="+mn-ea"/>
              </a:rPr>
              <a:t>   else</a:t>
            </a:r>
            <a:endParaRPr lang="en-GB" altLang="en-US" sz="2500">
              <a:latin typeface="Times New Roman" panose="02020603050405020304" charset="0"/>
              <a:cs typeface="Times New Roman" panose="02020603050405020304" charset="0"/>
            </a:endParaRPr>
          </a:p>
          <a:p>
            <a:pPr marL="914400" lvl="2" indent="0">
              <a:buNone/>
            </a:pPr>
            <a:r>
              <a:rPr lang="en-GB" altLang="en-US" sz="2500">
                <a:latin typeface="Times New Roman" panose="02020603050405020304" charset="0"/>
                <a:cs typeface="Times New Roman" panose="02020603050405020304" charset="0"/>
                <a:sym typeface="+mn-ea"/>
              </a:rPr>
              <a:t>      result = num2;</a:t>
            </a:r>
            <a:endParaRPr lang="en-GB" altLang="en-US" sz="2500">
              <a:latin typeface="Times New Roman" panose="02020603050405020304" charset="0"/>
              <a:cs typeface="Times New Roman" panose="02020603050405020304" charset="0"/>
            </a:endParaRPr>
          </a:p>
          <a:p>
            <a:pPr marL="914400" lvl="2" indent="0">
              <a:buNone/>
            </a:pPr>
            <a:r>
              <a:rPr lang="en-GB" altLang="en-US" sz="2500">
                <a:latin typeface="Times New Roman" panose="02020603050405020304" charset="0"/>
                <a:cs typeface="Times New Roman" panose="02020603050405020304" charset="0"/>
                <a:sym typeface="+mn-ea"/>
              </a:rPr>
              <a:t>    return result; </a:t>
            </a:r>
          </a:p>
          <a:p>
            <a:pPr marL="914400" lvl="2" indent="0">
              <a:buNone/>
            </a:pPr>
            <a:r>
              <a:rPr lang="en-GB" altLang="en-US" sz="2500">
                <a:latin typeface="Times New Roman" panose="02020603050405020304" charset="0"/>
                <a:cs typeface="Times New Roman" panose="02020603050405020304" charset="0"/>
                <a:sym typeface="+mn-ea"/>
              </a:rPr>
              <a:t>    }</a:t>
            </a:r>
          </a:p>
          <a:p>
            <a:pPr marL="914400" lvl="2" indent="0">
              <a:buNone/>
            </a:pPr>
            <a:endParaRPr lang="en-US" sz="2500" dirty="0">
              <a:latin typeface="Times New Roman" panose="02020603050405020304" charset="0"/>
              <a:cs typeface="Times New Roman" panose="02020603050405020304" charset="0"/>
              <a:sym typeface="+mn-ea"/>
            </a:endParaRPr>
          </a:p>
          <a:p>
            <a:pPr marL="0" indent="0">
              <a:buNone/>
            </a:pPr>
            <a:r>
              <a:rPr lang="en-US" sz="2500" dirty="0">
                <a:latin typeface="Times New Roman" panose="02020603050405020304" charset="0"/>
                <a:cs typeface="Times New Roman" panose="02020603050405020304" charset="0"/>
                <a:sym typeface="+mn-ea"/>
              </a:rPr>
              <a:t>The function body is placed in </a:t>
            </a:r>
            <a:r>
              <a:rPr lang="en-US" sz="2500" dirty="0">
                <a:solidFill>
                  <a:srgbClr val="FF0000"/>
                </a:solidFill>
                <a:latin typeface="Times New Roman" panose="02020603050405020304" charset="0"/>
                <a:cs typeface="Times New Roman" panose="02020603050405020304" charset="0"/>
                <a:sym typeface="+mn-ea"/>
              </a:rPr>
              <a:t>one place in memory</a:t>
            </a:r>
            <a:r>
              <a:rPr lang="en-US" sz="2500" dirty="0">
                <a:latin typeface="Times New Roman" panose="02020603050405020304" charset="0"/>
                <a:cs typeface="Times New Roman" panose="02020603050405020304" charset="0"/>
                <a:sym typeface="+mn-ea"/>
              </a:rPr>
              <a:t>. But it could be </a:t>
            </a:r>
            <a:r>
              <a:rPr lang="en-US" sz="2500" dirty="0">
                <a:solidFill>
                  <a:srgbClr val="FF0000"/>
                </a:solidFill>
                <a:latin typeface="Times New Roman" panose="02020603050405020304" charset="0"/>
                <a:cs typeface="Times New Roman" panose="02020603050405020304" charset="0"/>
                <a:sym typeface="+mn-ea"/>
              </a:rPr>
              <a:t>invoked in several places</a:t>
            </a:r>
            <a:r>
              <a:rPr lang="en-US" sz="2500" dirty="0">
                <a:latin typeface="Times New Roman" panose="02020603050405020304" charset="0"/>
                <a:cs typeface="Times New Roman" panose="02020603050405020304" charset="0"/>
                <a:sym typeface="+mn-ea"/>
              </a:rPr>
              <a:t> in the program. </a:t>
            </a:r>
            <a:endParaRPr lang="en-US" sz="2500" dirty="0">
              <a:latin typeface="Times New Roman" panose="02020603050405020304" charset="0"/>
              <a:cs typeface="Times New Roman" panose="02020603050405020304" charset="0"/>
            </a:endParaRPr>
          </a:p>
          <a:p>
            <a:endParaRPr lang="en-GB" altLang="en-US" sz="2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10629900" cy="546735"/>
          </a:xfrm>
        </p:spPr>
        <p:txBody>
          <a:bodyPr>
            <a:noAutofit/>
          </a:bodyPr>
          <a:lstStyle/>
          <a:p>
            <a:r>
              <a:rPr lang="en-US" sz="3400" dirty="0">
                <a:latin typeface="Times New Roman" panose="02020603050405020304" charset="0"/>
                <a:cs typeface="Times New Roman" panose="02020603050405020304" charset="0"/>
                <a:sym typeface="+mn-ea"/>
              </a:rPr>
              <a:t>Calling </a:t>
            </a:r>
            <a:r>
              <a:rPr lang="en-GB" altLang="en-US" sz="3400" dirty="0">
                <a:latin typeface="Times New Roman" panose="02020603050405020304" charset="0"/>
                <a:cs typeface="Times New Roman" panose="02020603050405020304" charset="0"/>
                <a:sym typeface="+mn-ea"/>
              </a:rPr>
              <a:t>F</a:t>
            </a:r>
            <a:r>
              <a:rPr lang="en-US" sz="3400" dirty="0">
                <a:latin typeface="Times New Roman" panose="02020603050405020304" charset="0"/>
                <a:cs typeface="Times New Roman" panose="02020603050405020304" charset="0"/>
                <a:sym typeface="+mn-ea"/>
              </a:rPr>
              <a:t>unctions</a:t>
            </a:r>
            <a:br>
              <a:rPr lang="en-US" sz="3400" dirty="0">
                <a:latin typeface="Times New Roman" panose="02020603050405020304" charset="0"/>
                <a:cs typeface="Times New Roman" panose="02020603050405020304" charset="0"/>
                <a:sym typeface="+mn-ea"/>
              </a:rPr>
            </a:br>
            <a:endParaRPr lang="en-GB" altLang="en-US" sz="3400"/>
          </a:p>
        </p:txBody>
      </p:sp>
      <p:sp>
        <p:nvSpPr>
          <p:cNvPr id="3" name="Subtitle 2"/>
          <p:cNvSpPr>
            <a:spLocks noGrp="1"/>
          </p:cNvSpPr>
          <p:nvPr>
            <p:ph type="subTitle" idx="4"/>
          </p:nvPr>
        </p:nvSpPr>
        <p:spPr>
          <a:xfrm>
            <a:off x="533400" y="965200"/>
            <a:ext cx="10955020" cy="5704205"/>
          </a:xfrm>
        </p:spPr>
        <p:txBody>
          <a:bodyPr>
            <a:noAutofit/>
          </a:bodyPr>
          <a:lstStyle/>
          <a:p>
            <a:pPr marL="342900" indent="-342900" algn="just">
              <a:buFont typeface="Wingdings" panose="05000000000000000000" charset="0"/>
              <a:buChar char="Ø"/>
            </a:pPr>
            <a:r>
              <a:rPr lang="en-US" sz="2500" dirty="0">
                <a:solidFill>
                  <a:schemeClr val="tx2">
                    <a:lumMod val="60000"/>
                    <a:lumOff val="40000"/>
                  </a:schemeClr>
                </a:solidFill>
                <a:latin typeface="Times New Roman" panose="02020603050405020304" charset="0"/>
                <a:cs typeface="Times New Roman" panose="02020603050405020304" charset="0"/>
                <a:sym typeface="+mn-ea"/>
              </a:rPr>
              <a:t>Calling functions</a:t>
            </a:r>
            <a:r>
              <a:rPr lang="en-US" sz="2500" dirty="0">
                <a:latin typeface="Times New Roman" panose="02020603050405020304" charset="0"/>
                <a:cs typeface="Times New Roman" panose="02020603050405020304" charset="0"/>
                <a:sym typeface="+mn-ea"/>
              </a:rPr>
              <a:t> is </a:t>
            </a:r>
            <a:r>
              <a:rPr lang="en-US" sz="2500" dirty="0">
                <a:solidFill>
                  <a:srgbClr val="FF0000"/>
                </a:solidFill>
                <a:latin typeface="Times New Roman" panose="02020603050405020304" charset="0"/>
                <a:cs typeface="Times New Roman" panose="02020603050405020304" charset="0"/>
                <a:sym typeface="+mn-ea"/>
              </a:rPr>
              <a:t>invoking </a:t>
            </a:r>
            <a:r>
              <a:rPr lang="en-GB" altLang="en-US" sz="2500" dirty="0">
                <a:solidFill>
                  <a:srgbClr val="FF0000"/>
                </a:solidFill>
                <a:latin typeface="Times New Roman" panose="02020603050405020304" charset="0"/>
                <a:cs typeface="Times New Roman" panose="02020603050405020304" charset="0"/>
                <a:sym typeface="+mn-ea"/>
              </a:rPr>
              <a:t>function</a:t>
            </a:r>
            <a:r>
              <a:rPr lang="en-US" sz="2500" dirty="0">
                <a:solidFill>
                  <a:srgbClr val="FF0000"/>
                </a:solidFill>
                <a:latin typeface="Times New Roman" panose="02020603050405020304" charset="0"/>
                <a:cs typeface="Times New Roman" panose="02020603050405020304" charset="0"/>
                <a:sym typeface="+mn-ea"/>
              </a:rPr>
              <a:t> to execute</a:t>
            </a:r>
            <a:r>
              <a:rPr lang="en-US" sz="2500" dirty="0">
                <a:latin typeface="Times New Roman" panose="02020603050405020304" charset="0"/>
                <a:cs typeface="Times New Roman" panose="02020603050405020304" charset="0"/>
                <a:sym typeface="+mn-ea"/>
              </a:rPr>
              <a:t>. </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function call involves the </a:t>
            </a:r>
            <a:r>
              <a:rPr lang="en-US" sz="2500" dirty="0">
                <a:solidFill>
                  <a:schemeClr val="tx2">
                    <a:lumMod val="60000"/>
                    <a:lumOff val="40000"/>
                  </a:schemeClr>
                </a:solidFill>
                <a:latin typeface="Times New Roman" panose="02020603050405020304" charset="0"/>
                <a:cs typeface="Times New Roman" panose="02020603050405020304" charset="0"/>
                <a:sym typeface="+mn-ea"/>
              </a:rPr>
              <a:t>function name</a:t>
            </a:r>
            <a:r>
              <a:rPr lang="en-US" sz="2500" dirty="0">
                <a:latin typeface="Times New Roman" panose="02020603050405020304" charset="0"/>
                <a:cs typeface="Times New Roman" panose="02020603050405020304" charset="0"/>
                <a:sym typeface="+mn-ea"/>
              </a:rPr>
              <a:t>, followed by </a:t>
            </a:r>
            <a:r>
              <a:rPr lang="en-US" sz="2500" dirty="0">
                <a:solidFill>
                  <a:schemeClr val="tx2">
                    <a:lumMod val="60000"/>
                    <a:lumOff val="40000"/>
                  </a:schemeClr>
                </a:solidFill>
                <a:latin typeface="Times New Roman" panose="02020603050405020304" charset="0"/>
                <a:cs typeface="Times New Roman" panose="02020603050405020304" charset="0"/>
                <a:sym typeface="+mn-ea"/>
              </a:rPr>
              <a:t>parentheses</a:t>
            </a:r>
            <a:r>
              <a:rPr lang="en-US" sz="2500" dirty="0">
                <a:latin typeface="Times New Roman" panose="02020603050405020304" charset="0"/>
                <a:cs typeface="Times New Roman" panose="02020603050405020304" charset="0"/>
                <a:sym typeface="+mn-ea"/>
              </a:rPr>
              <a:t>.</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function call is </a:t>
            </a:r>
            <a:r>
              <a:rPr lang="en-US" sz="2500" dirty="0">
                <a:solidFill>
                  <a:srgbClr val="FF0000"/>
                </a:solidFill>
                <a:latin typeface="Times New Roman" panose="02020603050405020304" charset="0"/>
                <a:cs typeface="Times New Roman" panose="02020603050405020304" charset="0"/>
                <a:sym typeface="+mn-ea"/>
              </a:rPr>
              <a:t>similar to its declaration</a:t>
            </a:r>
            <a:r>
              <a:rPr lang="en-US" sz="2500" dirty="0">
                <a:latin typeface="Times New Roman" panose="02020603050405020304" charset="0"/>
                <a:cs typeface="Times New Roman" panose="02020603050405020304" charset="0"/>
                <a:sym typeface="+mn-ea"/>
              </a:rPr>
              <a:t> except that the </a:t>
            </a:r>
            <a:r>
              <a:rPr lang="en-US" sz="2500" b="1" dirty="0">
                <a:latin typeface="Times New Roman" panose="02020603050405020304" charset="0"/>
                <a:cs typeface="Times New Roman" panose="02020603050405020304" charset="0"/>
                <a:sym typeface="+mn-ea"/>
              </a:rPr>
              <a:t>return type is not mentioned</a:t>
            </a:r>
            <a:r>
              <a:rPr lang="en-US" sz="2500" dirty="0">
                <a:latin typeface="Times New Roman" panose="02020603050405020304" charset="0"/>
                <a:cs typeface="Times New Roman" panose="02020603050405020304" charset="0"/>
                <a:sym typeface="+mn-ea"/>
              </a:rPr>
              <a:t>. </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a:t>
            </a:r>
            <a:r>
              <a:rPr lang="en-US" sz="2500" dirty="0">
                <a:solidFill>
                  <a:srgbClr val="FF0000"/>
                </a:solidFill>
                <a:latin typeface="Times New Roman" panose="02020603050405020304" charset="0"/>
                <a:cs typeface="Times New Roman" panose="02020603050405020304" charset="0"/>
                <a:sym typeface="+mn-ea"/>
              </a:rPr>
              <a:t>call is terminated</a:t>
            </a:r>
            <a:r>
              <a:rPr lang="en-US" sz="2500" dirty="0">
                <a:latin typeface="Times New Roman" panose="02020603050405020304" charset="0"/>
                <a:cs typeface="Times New Roman" panose="02020603050405020304" charset="0"/>
                <a:sym typeface="+mn-ea"/>
              </a:rPr>
              <a:t> by </a:t>
            </a:r>
            <a:r>
              <a:rPr lang="en-US" sz="2500" dirty="0">
                <a:solidFill>
                  <a:schemeClr val="tx2">
                    <a:lumMod val="60000"/>
                    <a:lumOff val="40000"/>
                  </a:schemeClr>
                </a:solidFill>
                <a:latin typeface="Times New Roman" panose="02020603050405020304" charset="0"/>
                <a:cs typeface="Times New Roman" panose="02020603050405020304" charset="0"/>
                <a:sym typeface="+mn-ea"/>
              </a:rPr>
              <a:t>semicolon</a:t>
            </a:r>
            <a:r>
              <a:rPr lang="en-US" sz="2500" dirty="0">
                <a:latin typeface="Times New Roman" panose="02020603050405020304" charset="0"/>
                <a:cs typeface="Times New Roman" panose="02020603050405020304" charset="0"/>
                <a:sym typeface="+mn-ea"/>
              </a:rPr>
              <a:t>.</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Executing the call statement causes the function</a:t>
            </a:r>
            <a:r>
              <a:rPr lang="en-GB" altLang="en-US" sz="2500" dirty="0">
                <a:latin typeface="Times New Roman" panose="02020603050405020304" charset="0"/>
                <a:cs typeface="Times New Roman" panose="02020603050405020304" charset="0"/>
                <a:sym typeface="+mn-ea"/>
              </a:rPr>
              <a:t> </a:t>
            </a:r>
            <a:r>
              <a:rPr lang="en-US" sz="2500" dirty="0">
                <a:latin typeface="Times New Roman" panose="02020603050405020304" charset="0"/>
                <a:cs typeface="Times New Roman" panose="02020603050405020304" charset="0"/>
                <a:sym typeface="+mn-ea"/>
              </a:rPr>
              <a:t>to execute, i.e. control is transferred to the function, the statements in the function definition are executed and then control returns to the statement following the function call. </a:t>
            </a:r>
            <a:endParaRPr lang="en-US" sz="2500" dirty="0">
              <a:latin typeface="Times New Roman" panose="02020603050405020304" charset="0"/>
              <a:cs typeface="Times New Roman" panose="02020603050405020304" charset="0"/>
            </a:endParaRPr>
          </a:p>
          <a:p>
            <a:pPr marL="342900" indent="-342900" algn="just">
              <a:buFont typeface="Wingdings" panose="05000000000000000000" charset="0"/>
              <a:buChar char="Ø"/>
            </a:pPr>
            <a:endParaRPr lang="en-GB" altLang="en-US" sz="2500"/>
          </a:p>
        </p:txBody>
      </p:sp>
      <p:pic>
        <p:nvPicPr>
          <p:cNvPr id="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191000"/>
            <a:ext cx="6615430" cy="2478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757555" y="294640"/>
            <a:ext cx="10725785" cy="6403975"/>
          </a:xfrm>
        </p:spPr>
        <p:txBody>
          <a:bodyPr>
            <a:noAutofit/>
          </a:bodyPr>
          <a:lstStyle/>
          <a:p>
            <a:pPr lvl="1"/>
            <a:r>
              <a:rPr lang="en-GB" altLang="en-US" sz="2400">
                <a:latin typeface="Times New Roman" panose="02020603050405020304" charset="0"/>
                <a:cs typeface="Times New Roman" panose="02020603050405020304" charset="0"/>
              </a:rPr>
              <a:t>#include &lt;iostream&gt;</a:t>
            </a:r>
          </a:p>
          <a:p>
            <a:pPr lvl="1"/>
            <a:r>
              <a:rPr lang="en-GB" altLang="en-US" sz="2400">
                <a:latin typeface="Times New Roman" panose="02020603050405020304" charset="0"/>
                <a:cs typeface="Times New Roman" panose="02020603050405020304" charset="0"/>
              </a:rPr>
              <a:t>using namespace std;</a:t>
            </a:r>
          </a:p>
          <a:p>
            <a:pPr lvl="1"/>
            <a:r>
              <a:rPr lang="en-GB" altLang="en-US" sz="2400">
                <a:latin typeface="Times New Roman" panose="02020603050405020304" charset="0"/>
                <a:cs typeface="Times New Roman" panose="02020603050405020304" charset="0"/>
              </a:rPr>
              <a:t> int max(int num1, int num2); </a:t>
            </a:r>
            <a:r>
              <a:rPr lang="en-GB" altLang="en-US" sz="2400">
                <a:solidFill>
                  <a:srgbClr val="FF0000"/>
                </a:solidFill>
                <a:latin typeface="Times New Roman" panose="02020603050405020304" charset="0"/>
                <a:cs typeface="Times New Roman" panose="02020603050405020304" charset="0"/>
                <a:sym typeface="+mn-ea"/>
              </a:rPr>
              <a:t>// function declaration</a:t>
            </a:r>
            <a:endParaRPr lang="en-GB" altLang="en-US" sz="2400">
              <a:latin typeface="Times New Roman" panose="02020603050405020304" charset="0"/>
              <a:cs typeface="Times New Roman" panose="02020603050405020304" charset="0"/>
            </a:endParaRPr>
          </a:p>
          <a:p>
            <a:pPr lvl="1"/>
            <a:r>
              <a:rPr lang="en-GB" altLang="en-US" sz="2400">
                <a:latin typeface="Times New Roman" panose="02020603050405020304" charset="0"/>
                <a:cs typeface="Times New Roman" panose="02020603050405020304" charset="0"/>
              </a:rPr>
              <a:t>int main () {</a:t>
            </a:r>
          </a:p>
          <a:p>
            <a:pPr lvl="1"/>
            <a:r>
              <a:rPr lang="en-GB" altLang="en-US" sz="2400">
                <a:latin typeface="Times New Roman" panose="02020603050405020304" charset="0"/>
                <a:cs typeface="Times New Roman" panose="02020603050405020304" charset="0"/>
              </a:rPr>
              <a:t>   int a = 100, b = 200, int ret;</a:t>
            </a:r>
          </a:p>
          <a:p>
            <a:pPr lvl="1"/>
            <a:r>
              <a:rPr lang="en-GB" altLang="en-US" sz="2400">
                <a:latin typeface="Times New Roman" panose="02020603050405020304" charset="0"/>
                <a:cs typeface="Times New Roman" panose="02020603050405020304" charset="0"/>
              </a:rPr>
              <a:t>   ret = max(a, b);  </a:t>
            </a:r>
            <a:r>
              <a:rPr lang="en-GB" altLang="en-US" sz="2400">
                <a:solidFill>
                  <a:srgbClr val="FF0000"/>
                </a:solidFill>
                <a:latin typeface="Times New Roman" panose="02020603050405020304" charset="0"/>
                <a:cs typeface="Times New Roman" panose="02020603050405020304" charset="0"/>
                <a:sym typeface="+mn-ea"/>
              </a:rPr>
              <a:t>// calling a function to get max value.</a:t>
            </a:r>
            <a:endParaRPr lang="en-GB" altLang="en-US" sz="2400">
              <a:solidFill>
                <a:srgbClr val="FF0000"/>
              </a:solidFill>
              <a:latin typeface="Times New Roman" panose="02020603050405020304" charset="0"/>
              <a:cs typeface="Times New Roman" panose="02020603050405020304" charset="0"/>
            </a:endParaRPr>
          </a:p>
          <a:p>
            <a:pPr lvl="1"/>
            <a:r>
              <a:rPr lang="en-GB" altLang="en-US" sz="2400">
                <a:latin typeface="Times New Roman" panose="02020603050405020304" charset="0"/>
                <a:cs typeface="Times New Roman" panose="02020603050405020304" charset="0"/>
              </a:rPr>
              <a:t>   cout &lt;&lt; "Max value is : " &lt;&lt; ret &lt;&lt; endl;</a:t>
            </a:r>
          </a:p>
          <a:p>
            <a:pPr lvl="1"/>
            <a:r>
              <a:rPr lang="en-GB" altLang="en-US" sz="2400">
                <a:latin typeface="Times New Roman" panose="02020603050405020304" charset="0"/>
                <a:cs typeface="Times New Roman" panose="02020603050405020304" charset="0"/>
              </a:rPr>
              <a:t>    return 0;</a:t>
            </a:r>
          </a:p>
          <a:p>
            <a:pPr lvl="1"/>
            <a:r>
              <a:rPr lang="en-GB" altLang="en-US" sz="2400">
                <a:latin typeface="Times New Roman" panose="02020603050405020304" charset="0"/>
                <a:cs typeface="Times New Roman" panose="02020603050405020304" charset="0"/>
              </a:rPr>
              <a:t>}</a:t>
            </a:r>
          </a:p>
          <a:p>
            <a:pPr lvl="1"/>
            <a:r>
              <a:rPr lang="en-GB" altLang="en-US" sz="2400">
                <a:latin typeface="Times New Roman" panose="02020603050405020304" charset="0"/>
                <a:cs typeface="Times New Roman" panose="02020603050405020304" charset="0"/>
              </a:rPr>
              <a:t> </a:t>
            </a:r>
            <a:r>
              <a:rPr lang="en-GB" altLang="en-US" sz="2400">
                <a:solidFill>
                  <a:srgbClr val="FF0000"/>
                </a:solidFill>
                <a:latin typeface="Times New Roman" panose="02020603050405020304" charset="0"/>
                <a:cs typeface="Times New Roman" panose="02020603050405020304" charset="0"/>
              </a:rPr>
              <a:t>// function defination </a:t>
            </a:r>
            <a:endParaRPr lang="en-GB" altLang="en-US" sz="2400">
              <a:latin typeface="Times New Roman" panose="02020603050405020304" charset="0"/>
              <a:cs typeface="Times New Roman" panose="02020603050405020304" charset="0"/>
            </a:endParaRPr>
          </a:p>
          <a:p>
            <a:pPr lvl="1"/>
            <a:r>
              <a:rPr lang="en-GB" altLang="en-US" sz="2400">
                <a:latin typeface="Times New Roman" panose="02020603050405020304" charset="0"/>
                <a:cs typeface="Times New Roman" panose="02020603050405020304" charset="0"/>
              </a:rPr>
              <a:t>int max(int num1, int num2) {</a:t>
            </a:r>
          </a:p>
          <a:p>
            <a:pPr lvl="1"/>
            <a:r>
              <a:rPr lang="en-GB" altLang="en-US" sz="2400">
                <a:latin typeface="Times New Roman" panose="02020603050405020304" charset="0"/>
                <a:cs typeface="Times New Roman" panose="02020603050405020304" charset="0"/>
              </a:rPr>
              <a:t>     int result;</a:t>
            </a:r>
          </a:p>
          <a:p>
            <a:pPr lvl="1"/>
            <a:r>
              <a:rPr lang="en-GB" altLang="en-US" sz="2400">
                <a:latin typeface="Times New Roman" panose="02020603050405020304" charset="0"/>
                <a:cs typeface="Times New Roman" panose="02020603050405020304" charset="0"/>
              </a:rPr>
              <a:t>    if (num1 &gt; num2)</a:t>
            </a:r>
          </a:p>
          <a:p>
            <a:pPr lvl="1"/>
            <a:r>
              <a:rPr lang="en-GB" altLang="en-US" sz="2400">
                <a:latin typeface="Times New Roman" panose="02020603050405020304" charset="0"/>
                <a:cs typeface="Times New Roman" panose="02020603050405020304" charset="0"/>
              </a:rPr>
              <a:t>      result = num1;</a:t>
            </a:r>
          </a:p>
          <a:p>
            <a:pPr lvl="1"/>
            <a:r>
              <a:rPr lang="en-GB" altLang="en-US" sz="2400">
                <a:latin typeface="Times New Roman" panose="02020603050405020304" charset="0"/>
                <a:cs typeface="Times New Roman" panose="02020603050405020304" charset="0"/>
              </a:rPr>
              <a:t>   else</a:t>
            </a:r>
          </a:p>
          <a:p>
            <a:pPr lvl="1"/>
            <a:r>
              <a:rPr lang="en-GB" altLang="en-US" sz="2400">
                <a:latin typeface="Times New Roman" panose="02020603050405020304" charset="0"/>
                <a:cs typeface="Times New Roman" panose="02020603050405020304" charset="0"/>
              </a:rPr>
              <a:t>      result = num2;</a:t>
            </a:r>
          </a:p>
          <a:p>
            <a:pPr lvl="1"/>
            <a:r>
              <a:rPr lang="en-GB" altLang="en-US" sz="2400">
                <a:latin typeface="Times New Roman" panose="02020603050405020304" charset="0"/>
                <a:cs typeface="Times New Roman" panose="02020603050405020304" charset="0"/>
              </a:rPr>
              <a:t>    return result;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842010"/>
          </a:xfrm>
        </p:spPr>
        <p:txBody>
          <a:bodyPr>
            <a:noAutofit/>
          </a:bodyPr>
          <a:lstStyle/>
          <a:p>
            <a:r>
              <a:rPr lang="en-US" dirty="0">
                <a:sym typeface="+mn-ea"/>
              </a:rPr>
              <a:t>Pass By Value </a:t>
            </a:r>
            <a:r>
              <a:rPr lang="en-US" b="0" dirty="0">
                <a:sym typeface="+mn-ea"/>
              </a:rPr>
              <a:t>and</a:t>
            </a:r>
            <a:r>
              <a:rPr lang="en-US" dirty="0">
                <a:sym typeface="+mn-ea"/>
              </a:rPr>
              <a:t> Pass By Reference</a:t>
            </a:r>
            <a:endParaRPr lang="en-GB" altLang="en-US"/>
          </a:p>
        </p:txBody>
      </p:sp>
      <p:sp>
        <p:nvSpPr>
          <p:cNvPr id="3" name="Subtitle 2"/>
          <p:cNvSpPr>
            <a:spLocks noGrp="1"/>
          </p:cNvSpPr>
          <p:nvPr>
            <p:ph type="subTitle" idx="4"/>
          </p:nvPr>
        </p:nvSpPr>
        <p:spPr>
          <a:xfrm>
            <a:off x="757555" y="1139190"/>
            <a:ext cx="10725785" cy="5247640"/>
          </a:xfrm>
        </p:spPr>
        <p:txBody>
          <a:bodyPr>
            <a:noAutofit/>
          </a:bodyPr>
          <a:lstStyle/>
          <a:p>
            <a:r>
              <a:rPr lang="en-US" sz="2800" b="1" dirty="0">
                <a:latin typeface="Times New Roman" panose="02020603050405020304" charset="0"/>
                <a:cs typeface="Times New Roman" panose="02020603050405020304" charset="0"/>
                <a:sym typeface="+mn-ea"/>
              </a:rPr>
              <a:t>Pass </a:t>
            </a:r>
            <a:r>
              <a:rPr lang="en-GB" altLang="en-US" sz="2800" b="1">
                <a:latin typeface="Times New Roman" panose="02020603050405020304" charset="0"/>
                <a:cs typeface="Times New Roman" panose="02020603050405020304" charset="0"/>
              </a:rPr>
              <a:t>By Value</a:t>
            </a:r>
          </a:p>
          <a:p>
            <a:pPr marL="342900" indent="-342900">
              <a:buFont typeface="Wingdings" panose="05000000000000000000" charset="0"/>
              <a:buChar char="Ø"/>
            </a:pPr>
            <a:r>
              <a:rPr lang="en-GB" altLang="en-US" sz="2500">
                <a:latin typeface="Times New Roman" panose="02020603050405020304" charset="0"/>
                <a:cs typeface="Times New Roman" panose="02020603050405020304" charset="0"/>
              </a:rPr>
              <a:t>In call by value method of parameter passing, the values of actual parameters are copied to the function’s formal parameters.</a:t>
            </a:r>
          </a:p>
          <a:p>
            <a:pPr marL="800100" lvl="1" indent="-342900">
              <a:buFont typeface="Wingdings" panose="05000000000000000000" charset="0"/>
              <a:buChar char="§"/>
            </a:pPr>
            <a:r>
              <a:rPr lang="en-GB" altLang="en-US" sz="2500">
                <a:latin typeface="Times New Roman" panose="02020603050405020304" charset="0"/>
                <a:cs typeface="Times New Roman" panose="02020603050405020304" charset="0"/>
              </a:rPr>
              <a:t>There are two copies of parameters stored in different memory locations.</a:t>
            </a:r>
          </a:p>
          <a:p>
            <a:pPr marL="800100" lvl="1" indent="-342900">
              <a:buFont typeface="Wingdings" panose="05000000000000000000" charset="0"/>
              <a:buChar char="§"/>
            </a:pPr>
            <a:r>
              <a:rPr lang="en-GB" altLang="en-US" sz="2500">
                <a:latin typeface="Times New Roman" panose="02020603050405020304" charset="0"/>
                <a:cs typeface="Times New Roman" panose="02020603050405020304" charset="0"/>
              </a:rPr>
              <a:t>One is the original copy and the other is the function copy.</a:t>
            </a:r>
          </a:p>
          <a:p>
            <a:r>
              <a:rPr lang="en-GB" altLang="en-US" sz="2500">
                <a:latin typeface="Times New Roman" panose="02020603050405020304" charset="0"/>
                <a:cs typeface="Times New Roman" panose="02020603050405020304" charset="0"/>
              </a:rPr>
              <a:t> Any changes made inside functions are not reflected in the actual parameters of the caller.</a:t>
            </a:r>
          </a:p>
          <a:p>
            <a:r>
              <a:rPr lang="en-GB" altLang="en-US" sz="2500" b="1">
                <a:latin typeface="Times New Roman" panose="02020603050405020304" charset="0"/>
                <a:cs typeface="Times New Roman" panose="02020603050405020304" charset="0"/>
              </a:rPr>
              <a:t>Advantages of Call by Value in C++</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Functions are free to modify the passed values without affecting the original data.</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Great while working with multithreaded or asynchronous programs where we need to keep track of the values.</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Pass by value method can be used to convert a string from an integer without modifying its value.</a:t>
            </a:r>
          </a:p>
          <a:p>
            <a:pPr indent="0" algn="just">
              <a:buFont typeface="Wingdings" panose="05000000000000000000" charset="0"/>
              <a:buNone/>
            </a:pPr>
            <a:endParaRPr lang="en-GB" altLang="en-US" sz="25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842010"/>
          </a:xfrm>
        </p:spPr>
        <p:txBody>
          <a:bodyPr>
            <a:noAutofit/>
          </a:bodyPr>
          <a:lstStyle/>
          <a:p>
            <a:r>
              <a:rPr lang="en-US" dirty="0">
                <a:sym typeface="+mn-ea"/>
              </a:rPr>
              <a:t>Pass By Value and Pass By Reference</a:t>
            </a:r>
            <a:endParaRPr lang="en-GB" altLang="en-US"/>
          </a:p>
        </p:txBody>
      </p:sp>
      <p:sp>
        <p:nvSpPr>
          <p:cNvPr id="3" name="Subtitle 2"/>
          <p:cNvSpPr>
            <a:spLocks noGrp="1"/>
          </p:cNvSpPr>
          <p:nvPr>
            <p:ph type="subTitle" idx="4"/>
          </p:nvPr>
        </p:nvSpPr>
        <p:spPr>
          <a:xfrm>
            <a:off x="757555" y="1139190"/>
            <a:ext cx="10725785" cy="5247640"/>
          </a:xfrm>
        </p:spPr>
        <p:txBody>
          <a:bodyPr>
            <a:noAutofit/>
          </a:bodyPr>
          <a:lstStyle/>
          <a:p>
            <a:r>
              <a:rPr sz="2800" b="1">
                <a:latin typeface="Times New Roman" panose="02020603050405020304" charset="0"/>
                <a:cs typeface="Times New Roman" panose="02020603050405020304" charset="0"/>
              </a:rPr>
              <a:t>Disadvantages of Call by Value in C++</a:t>
            </a:r>
          </a:p>
          <a:p>
            <a:pPr marL="342900" indent="-342900">
              <a:buFont typeface="Wingdings" panose="05000000000000000000" charset="0"/>
              <a:buChar char="Ø"/>
            </a:pPr>
            <a:r>
              <a:rPr sz="2500">
                <a:latin typeface="Times New Roman" panose="02020603050405020304" charset="0"/>
                <a:cs typeface="Times New Roman" panose="02020603050405020304" charset="0"/>
              </a:rPr>
              <a:t>Since pass by value is implemented by passing a copy of the data, the data size increases (doubles). This may not be an issue with smaller programs but can cost efficiency in larger programs.</a:t>
            </a:r>
          </a:p>
          <a:p>
            <a:pPr marL="342900" indent="-342900">
              <a:buFont typeface="Wingdings" panose="05000000000000000000" charset="0"/>
              <a:buChar char="Ø"/>
            </a:pPr>
            <a:r>
              <a:rPr sz="2500">
                <a:latin typeface="Times New Roman" panose="02020603050405020304" charset="0"/>
                <a:cs typeface="Times New Roman" panose="02020603050405020304" charset="0"/>
              </a:rPr>
              <a:t>If the argument is too large, copying the values can take a significant amount of time.</a:t>
            </a:r>
          </a:p>
          <a:p>
            <a:pPr marL="342900" indent="-342900">
              <a:buFont typeface="Wingdings" panose="05000000000000000000" charset="0"/>
              <a:buChar char="Ø"/>
            </a:pPr>
            <a:r>
              <a:rPr sz="2500">
                <a:latin typeface="Times New Roman" panose="02020603050405020304" charset="0"/>
                <a:cs typeface="Times New Roman" panose="02020603050405020304" charset="0"/>
              </a:rPr>
              <a:t>There is no way to propagate back the updated values through the parameters.</a:t>
            </a:r>
          </a:p>
          <a:p>
            <a:pPr marL="342900" indent="-342900">
              <a:buFont typeface="Wingdings" panose="05000000000000000000" charset="0"/>
              <a:buChar char="Ø"/>
            </a:pPr>
            <a:endParaRPr sz="2500">
              <a:latin typeface="Times New Roman" panose="02020603050405020304" charset="0"/>
              <a:cs typeface="Times New Roman" panose="02020603050405020304" charset="0"/>
            </a:endParaRPr>
          </a:p>
          <a:p>
            <a:pPr indent="0">
              <a:buFont typeface="Wingdings" panose="05000000000000000000" charset="0"/>
              <a:buNone/>
            </a:pPr>
            <a:r>
              <a:rPr lang="en-GB" altLang="en-US" sz="2500">
                <a:latin typeface="Times New Roman" panose="02020603050405020304" charset="0"/>
                <a:cs typeface="Times New Roman" panose="02020603050405020304" charset="0"/>
                <a:sym typeface="+mn-ea"/>
              </a:rPr>
              <a:t>Consider the following example</a:t>
            </a:r>
            <a:endParaRPr sz="25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757555" y="262890"/>
            <a:ext cx="10725785" cy="6363335"/>
          </a:xfrm>
        </p:spPr>
        <p:txBody>
          <a:bodyPr>
            <a:noAutofit/>
          </a:bodyPr>
          <a:lstStyle/>
          <a:p>
            <a:r>
              <a:rPr lang="en-GB" altLang="en-US" sz="2400">
                <a:latin typeface="Times New Roman" panose="02020603050405020304" charset="0"/>
                <a:cs typeface="Times New Roman" panose="02020603050405020304" charset="0"/>
              </a:rPr>
              <a:t>// C++ program to illustrate call by value</a:t>
            </a:r>
          </a:p>
          <a:p>
            <a:r>
              <a:rPr lang="en-GB" altLang="en-US" sz="2400">
                <a:latin typeface="Times New Roman" panose="02020603050405020304" charset="0"/>
                <a:cs typeface="Times New Roman" panose="02020603050405020304" charset="0"/>
              </a:rPr>
              <a:t>#include &lt;iostream&gt;</a:t>
            </a:r>
          </a:p>
          <a:p>
            <a:r>
              <a:rPr lang="en-GB" altLang="en-US" sz="2400">
                <a:latin typeface="Times New Roman" panose="02020603050405020304" charset="0"/>
                <a:cs typeface="Times New Roman" panose="02020603050405020304" charset="0"/>
              </a:rPr>
              <a:t>using namespace std;</a:t>
            </a:r>
          </a:p>
          <a:p>
            <a:r>
              <a:rPr lang="en-GB" altLang="en-US" sz="2400">
                <a:latin typeface="Times New Roman" panose="02020603050405020304" charset="0"/>
                <a:cs typeface="Times New Roman" panose="02020603050405020304" charset="0"/>
              </a:rPr>
              <a:t>void swapx(int x, int y);</a:t>
            </a:r>
            <a:r>
              <a:rPr lang="en-GB" altLang="en-US" sz="2400">
                <a:latin typeface="Times New Roman" panose="02020603050405020304" charset="0"/>
                <a:cs typeface="Times New Roman" panose="02020603050405020304" charset="0"/>
                <a:sym typeface="+mn-ea"/>
              </a:rPr>
              <a:t>// Function Prototype</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int main()</a:t>
            </a:r>
          </a:p>
          <a:p>
            <a:r>
              <a:rPr lang="en-GB" altLang="en-US" sz="2400">
                <a:latin typeface="Times New Roman" panose="02020603050405020304" charset="0"/>
                <a:cs typeface="Times New Roman" panose="02020603050405020304" charset="0"/>
              </a:rPr>
              <a:t>{	int a = 10, b = 20;</a:t>
            </a:r>
          </a:p>
          <a:p>
            <a:r>
              <a:rPr lang="en-GB" altLang="en-US" sz="2400">
                <a:latin typeface="Times New Roman" panose="02020603050405020304" charset="0"/>
                <a:cs typeface="Times New Roman" panose="02020603050405020304" charset="0"/>
              </a:rPr>
              <a:t>	swapx(a, b);</a:t>
            </a:r>
            <a:r>
              <a:rPr lang="en-GB" altLang="en-US" sz="2400">
                <a:latin typeface="Times New Roman" panose="02020603050405020304" charset="0"/>
                <a:cs typeface="Times New Roman" panose="02020603050405020304" charset="0"/>
                <a:sym typeface="+mn-ea"/>
              </a:rPr>
              <a:t>	// Pass by Values</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	cout &lt;&lt; "In the Caller:\n";</a:t>
            </a:r>
          </a:p>
          <a:p>
            <a:r>
              <a:rPr lang="en-GB" altLang="en-US" sz="2400">
                <a:latin typeface="Times New Roman" panose="02020603050405020304" charset="0"/>
                <a:cs typeface="Times New Roman" panose="02020603050405020304" charset="0"/>
              </a:rPr>
              <a:t>	cout &lt;&lt; "a = " &lt;&lt; a &lt;&lt; " b = " &lt;&lt; b &lt;&lt; endl;</a:t>
            </a:r>
          </a:p>
          <a:p>
            <a:r>
              <a:rPr lang="en-GB" altLang="en-US" sz="2400">
                <a:latin typeface="Times New Roman" panose="02020603050405020304" charset="0"/>
                <a:cs typeface="Times New Roman" panose="02020603050405020304" charset="0"/>
              </a:rPr>
              <a:t>	return 0; }</a:t>
            </a:r>
          </a:p>
          <a:p>
            <a:r>
              <a:rPr lang="en-GB" altLang="en-US" sz="2400">
                <a:latin typeface="Times New Roman" panose="02020603050405020304" charset="0"/>
                <a:cs typeface="Times New Roman" panose="02020603050405020304" charset="0"/>
              </a:rPr>
              <a:t>void swapx(int x, int y) </a:t>
            </a:r>
            <a:r>
              <a:rPr lang="en-GB" altLang="en-US" sz="2400">
                <a:latin typeface="Times New Roman" panose="02020603050405020304" charset="0"/>
                <a:cs typeface="Times New Roman" panose="02020603050405020304" charset="0"/>
                <a:sym typeface="+mn-ea"/>
              </a:rPr>
              <a:t>// Swap functions that swaps two values</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	int t;</a:t>
            </a:r>
          </a:p>
          <a:p>
            <a:r>
              <a:rPr lang="en-GB" altLang="en-US" sz="2400">
                <a:latin typeface="Times New Roman" panose="02020603050405020304" charset="0"/>
                <a:cs typeface="Times New Roman" panose="02020603050405020304" charset="0"/>
              </a:rPr>
              <a:t>	t = x;</a:t>
            </a:r>
          </a:p>
          <a:p>
            <a:r>
              <a:rPr lang="en-GB" altLang="en-US" sz="2400">
                <a:latin typeface="Times New Roman" panose="02020603050405020304" charset="0"/>
                <a:cs typeface="Times New Roman" panose="02020603050405020304" charset="0"/>
              </a:rPr>
              <a:t>	x = y;</a:t>
            </a:r>
          </a:p>
          <a:p>
            <a:r>
              <a:rPr lang="en-GB" altLang="en-US" sz="2400">
                <a:latin typeface="Times New Roman" panose="02020603050405020304" charset="0"/>
                <a:cs typeface="Times New Roman" panose="02020603050405020304" charset="0"/>
              </a:rPr>
              <a:t>	y = t;</a:t>
            </a:r>
          </a:p>
          <a:p>
            <a:r>
              <a:rPr lang="en-GB" altLang="en-US" sz="2400">
                <a:latin typeface="Times New Roman" panose="02020603050405020304" charset="0"/>
                <a:cs typeface="Times New Roman" panose="02020603050405020304" charset="0"/>
              </a:rPr>
              <a:t>	cout &lt;&lt; "In the Function:\n";</a:t>
            </a:r>
          </a:p>
          <a:p>
            <a:r>
              <a:rPr lang="en-GB" altLang="en-US" sz="2400">
                <a:latin typeface="Times New Roman" panose="02020603050405020304" charset="0"/>
                <a:cs typeface="Times New Roman" panose="02020603050405020304" charset="0"/>
              </a:rPr>
              <a:t>	cout &lt;&lt; "x = " &lt;&lt; x &lt;&lt; " y = " &lt;&lt; y &lt;&lt; endl;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842010"/>
          </a:xfrm>
        </p:spPr>
        <p:txBody>
          <a:bodyPr>
            <a:noAutofit/>
          </a:bodyPr>
          <a:lstStyle/>
          <a:p>
            <a:endParaRPr lang="en-GB" altLang="en-US"/>
          </a:p>
        </p:txBody>
      </p:sp>
      <p:sp>
        <p:nvSpPr>
          <p:cNvPr id="3" name="Subtitle 2"/>
          <p:cNvSpPr>
            <a:spLocks noGrp="1"/>
          </p:cNvSpPr>
          <p:nvPr>
            <p:ph type="subTitle" idx="4"/>
          </p:nvPr>
        </p:nvSpPr>
        <p:spPr>
          <a:xfrm>
            <a:off x="757555" y="1766570"/>
            <a:ext cx="10725785" cy="4538980"/>
          </a:xfrm>
        </p:spPr>
        <p:txBody>
          <a:bodyPr>
            <a:noAutofit/>
          </a:bodyPr>
          <a:lstStyle/>
          <a:p>
            <a:pPr lvl="1"/>
            <a:r>
              <a:rPr lang="en-GB" altLang="en-US" sz="2400" b="1">
                <a:latin typeface="Times New Roman" panose="02020603050405020304" charset="0"/>
                <a:cs typeface="Times New Roman" panose="02020603050405020304" charset="0"/>
              </a:rPr>
              <a:t>Output</a:t>
            </a:r>
          </a:p>
          <a:p>
            <a:pPr indent="457200"/>
            <a:r>
              <a:rPr lang="en-GB" altLang="en-US" sz="2400">
                <a:latin typeface="Times New Roman" panose="02020603050405020304" charset="0"/>
                <a:cs typeface="Times New Roman" panose="02020603050405020304" charset="0"/>
              </a:rPr>
              <a:t>Inside Function:</a:t>
            </a:r>
          </a:p>
          <a:p>
            <a:pPr lvl="1" indent="457200"/>
            <a:r>
              <a:rPr lang="en-GB" altLang="en-US" sz="2400">
                <a:latin typeface="Times New Roman" panose="02020603050405020304" charset="0"/>
                <a:cs typeface="Times New Roman" panose="02020603050405020304" charset="0"/>
              </a:rPr>
              <a:t>x = 20 y = 10</a:t>
            </a:r>
          </a:p>
          <a:p>
            <a:pPr lvl="1"/>
            <a:r>
              <a:rPr lang="en-GB" altLang="en-US" sz="2400">
                <a:latin typeface="Times New Roman" panose="02020603050405020304" charset="0"/>
                <a:cs typeface="Times New Roman" panose="02020603050405020304" charset="0"/>
              </a:rPr>
              <a:t>In the Caller:</a:t>
            </a:r>
          </a:p>
          <a:p>
            <a:pPr lvl="1" indent="457200"/>
            <a:r>
              <a:rPr lang="en-GB" altLang="en-US" sz="2400">
                <a:latin typeface="Times New Roman" panose="02020603050405020304" charset="0"/>
                <a:cs typeface="Times New Roman" panose="02020603050405020304" charset="0"/>
              </a:rPr>
              <a:t>a = 10 b = 20</a:t>
            </a:r>
          </a:p>
          <a:p>
            <a:r>
              <a:rPr lang="en-GB" altLang="en-US" sz="2400">
                <a:latin typeface="Times New Roman" panose="02020603050405020304" charset="0"/>
                <a:cs typeface="Times New Roman" panose="02020603050405020304" charset="0"/>
              </a:rPr>
              <a:t>Thus actual values of a and b remain unchanged even after exchanging the values of x and y in the function.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10629900" cy="530225"/>
          </a:xfrm>
        </p:spPr>
        <p:txBody>
          <a:bodyPr>
            <a:noAutofit/>
          </a:bodyPr>
          <a:lstStyle/>
          <a:p>
            <a:r>
              <a:rPr lang="en-GB" altLang="en-US"/>
              <a:t>Call by Reference</a:t>
            </a:r>
          </a:p>
        </p:txBody>
      </p:sp>
      <p:sp>
        <p:nvSpPr>
          <p:cNvPr id="3" name="Subtitle 2"/>
          <p:cNvSpPr>
            <a:spLocks noGrp="1"/>
          </p:cNvSpPr>
          <p:nvPr>
            <p:ph type="subTitle" idx="4"/>
          </p:nvPr>
        </p:nvSpPr>
        <p:spPr>
          <a:xfrm>
            <a:off x="757555" y="1009650"/>
            <a:ext cx="10874375" cy="5606415"/>
          </a:xfrm>
        </p:spPr>
        <p:txBody>
          <a:bodyPr>
            <a:noAutofit/>
          </a:bodyPr>
          <a:lstStyle/>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In call by reference method of parameter passing, the address of the actual parameters is passed to the function as the formal parameters.</a:t>
            </a:r>
          </a:p>
          <a:p>
            <a:pPr marL="800100" lvl="1" indent="-342900" algn="just">
              <a:buFont typeface="Wingdings" panose="05000000000000000000" charset="0"/>
              <a:buChar char="§"/>
            </a:pPr>
            <a:r>
              <a:rPr lang="en-US" sz="2500" dirty="0">
                <a:latin typeface="Times New Roman" panose="02020603050405020304" charset="0"/>
                <a:cs typeface="Times New Roman" panose="02020603050405020304" charset="0"/>
                <a:sym typeface="+mn-ea"/>
              </a:rPr>
              <a:t>Giving a called function direct access to its calling function’s variables</a:t>
            </a:r>
            <a:endParaRPr lang="en-GB" altLang="en-US" sz="2500">
              <a:latin typeface="Times New Roman" panose="02020603050405020304" charset="0"/>
              <a:cs typeface="Times New Roman" panose="02020603050405020304" charset="0"/>
            </a:endParaRPr>
          </a:p>
          <a:p>
            <a:pPr marL="800100" lvl="1" indent="-342900" algn="just">
              <a:buFont typeface="Wingdings" panose="05000000000000000000" charset="0"/>
              <a:buChar char="§"/>
            </a:pPr>
            <a:r>
              <a:rPr lang="en-GB" altLang="en-US" sz="2500">
                <a:latin typeface="Times New Roman" panose="02020603050405020304" charset="0"/>
                <a:cs typeface="Times New Roman" panose="02020603050405020304" charset="0"/>
              </a:rPr>
              <a:t>Both the actual and formal parameters refer to the same locations.</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 Any changes made inside the function are actually reflected in the actual parameters of the caller.</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It is perfectly valid for a function to use pass-by-value for some of its parameters and pass-by-reference for others. </a:t>
            </a:r>
          </a:p>
          <a:p>
            <a:pPr marL="342900" indent="-342900" algn="just">
              <a:buFont typeface="Wingdings" panose="05000000000000000000" charset="0"/>
              <a:buChar char="Ø"/>
            </a:pPr>
            <a:r>
              <a:rPr lang="en-US" sz="2500" dirty="0">
                <a:solidFill>
                  <a:srgbClr val="222222"/>
                </a:solidFill>
                <a:latin typeface="Times New Roman" panose="02020603050405020304" charset="0"/>
                <a:cs typeface="Times New Roman" panose="02020603050405020304" charset="0"/>
                <a:sym typeface="+mn-ea"/>
              </a:rPr>
              <a:t>Whether a value or an address is actually passed </a:t>
            </a:r>
            <a:r>
              <a:rPr lang="en-US" sz="2500" b="1" dirty="0">
                <a:solidFill>
                  <a:srgbClr val="222222"/>
                </a:solidFill>
                <a:latin typeface="Times New Roman" panose="02020603050405020304" charset="0"/>
                <a:cs typeface="Times New Roman" panose="02020603050405020304" charset="0"/>
                <a:sym typeface="+mn-ea"/>
              </a:rPr>
              <a:t>depends</a:t>
            </a:r>
            <a:r>
              <a:rPr lang="en-US" sz="2500" dirty="0">
                <a:solidFill>
                  <a:srgbClr val="222222"/>
                </a:solidFill>
                <a:latin typeface="Times New Roman" panose="02020603050405020304" charset="0"/>
                <a:cs typeface="Times New Roman" panose="02020603050405020304" charset="0"/>
                <a:sym typeface="+mn-ea"/>
              </a:rPr>
              <a:t> on the </a:t>
            </a:r>
            <a:r>
              <a:rPr lang="en-US" sz="2500" b="1" dirty="0">
                <a:solidFill>
                  <a:srgbClr val="222222"/>
                </a:solidFill>
                <a:latin typeface="Times New Roman" panose="02020603050405020304" charset="0"/>
                <a:cs typeface="Times New Roman" panose="02020603050405020304" charset="0"/>
                <a:sym typeface="+mn-ea"/>
              </a:rPr>
              <a:t>parameter</a:t>
            </a:r>
            <a:r>
              <a:rPr lang="en-US" sz="2500" dirty="0">
                <a:solidFill>
                  <a:srgbClr val="222222"/>
                </a:solidFill>
                <a:latin typeface="Times New Roman" panose="02020603050405020304" charset="0"/>
                <a:cs typeface="Times New Roman" panose="02020603050405020304" charset="0"/>
                <a:sym typeface="+mn-ea"/>
              </a:rPr>
              <a:t> types declared</a:t>
            </a:r>
            <a:r>
              <a:rPr lang="en-GB" altLang="en-US" sz="2500" dirty="0">
                <a:solidFill>
                  <a:srgbClr val="222222"/>
                </a:solidFill>
                <a:latin typeface="Times New Roman" panose="02020603050405020304" charset="0"/>
                <a:cs typeface="Times New Roman" panose="02020603050405020304" charset="0"/>
                <a:sym typeface="+mn-ea"/>
              </a:rPr>
              <a:t>; </a:t>
            </a:r>
            <a:r>
              <a:rPr lang="en-US" sz="2500" dirty="0">
                <a:latin typeface="Times New Roman" panose="02020603050405020304" charset="0"/>
                <a:cs typeface="Times New Roman" panose="02020603050405020304" charset="0"/>
                <a:sym typeface="+mn-ea"/>
              </a:rPr>
              <a:t>Address operator (</a:t>
            </a:r>
            <a:r>
              <a:rPr lang="en-US" sz="2500" b="1" dirty="0">
                <a:latin typeface="Times New Roman" panose="02020603050405020304" charset="0"/>
                <a:cs typeface="Times New Roman" panose="02020603050405020304" charset="0"/>
                <a:sym typeface="+mn-ea"/>
              </a:rPr>
              <a:t>&amp;</a:t>
            </a:r>
            <a:r>
              <a:rPr lang="en-US" sz="2500" dirty="0">
                <a:latin typeface="Times New Roman" panose="02020603050405020304" charset="0"/>
                <a:cs typeface="Times New Roman" panose="02020603050405020304" charset="0"/>
                <a:sym typeface="+mn-ea"/>
              </a:rPr>
              <a:t>) provides the variable’s address</a:t>
            </a:r>
          </a:p>
          <a:p>
            <a:pPr indent="0" algn="just">
              <a:buFont typeface="Wingdings" panose="05000000000000000000" charset="0"/>
              <a:buNone/>
            </a:pPr>
            <a:r>
              <a:rPr lang="en-GB" altLang="en-US" sz="2500" b="1">
                <a:latin typeface="Times New Roman" panose="02020603050405020304" charset="0"/>
                <a:cs typeface="Times New Roman" panose="02020603050405020304" charset="0"/>
              </a:rPr>
              <a:t>When to use Call by Reference in C++?</a:t>
            </a:r>
          </a:p>
          <a:p>
            <a:pPr marL="342900" indent="-342900" algn="just">
              <a:buFont typeface="Wingdings" panose="05000000000000000000" charset="0"/>
              <a:buChar char="§"/>
            </a:pPr>
            <a:r>
              <a:rPr lang="en-GB" altLang="en-US" sz="2500">
                <a:latin typeface="Times New Roman" panose="02020603050405020304" charset="0"/>
                <a:cs typeface="Times New Roman" panose="02020603050405020304" charset="0"/>
              </a:rPr>
              <a:t>When we are changing the parameters passed by the client program.</a:t>
            </a:r>
          </a:p>
          <a:p>
            <a:pPr marL="342900" indent="-342900" algn="just">
              <a:buFont typeface="Wingdings" panose="05000000000000000000" charset="0"/>
              <a:buChar char="§"/>
            </a:pPr>
            <a:r>
              <a:rPr lang="en-GB" altLang="en-US" sz="2500">
                <a:latin typeface="Times New Roman" panose="02020603050405020304" charset="0"/>
                <a:cs typeface="Times New Roman" panose="02020603050405020304" charset="0"/>
              </a:rPr>
              <a:t>When passing large structures and classes to make the program efficient.</a:t>
            </a:r>
          </a:p>
          <a:p>
            <a:pPr marL="342900" indent="-342900" algn="just">
              <a:buFont typeface="Wingdings" panose="05000000000000000000" charset="0"/>
              <a:buChar char="§"/>
            </a:pPr>
            <a:r>
              <a:rPr lang="en-GB" altLang="en-US" sz="2500">
                <a:latin typeface="Times New Roman" panose="02020603050405020304" charset="0"/>
                <a:cs typeface="Times New Roman" panose="02020603050405020304" charset="0"/>
              </a:rPr>
              <a:t>To avoid copying the values and reducing the space complexity.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530225"/>
          </a:xfrm>
        </p:spPr>
        <p:txBody>
          <a:bodyPr>
            <a:noAutofit/>
          </a:bodyPr>
          <a:lstStyle/>
          <a:p>
            <a:r>
              <a:rPr lang="en-GB" altLang="en-US"/>
              <a:t>Call by Reference</a:t>
            </a:r>
          </a:p>
        </p:txBody>
      </p:sp>
      <p:sp>
        <p:nvSpPr>
          <p:cNvPr id="3" name="Subtitle 2"/>
          <p:cNvSpPr>
            <a:spLocks noGrp="1"/>
          </p:cNvSpPr>
          <p:nvPr>
            <p:ph type="subTitle" idx="4"/>
          </p:nvPr>
        </p:nvSpPr>
        <p:spPr>
          <a:xfrm>
            <a:off x="757555" y="1334770"/>
            <a:ext cx="10725785" cy="4970780"/>
          </a:xfrm>
        </p:spPr>
        <p:txBody>
          <a:bodyPr>
            <a:noAutofit/>
          </a:bodyPr>
          <a:lstStyle/>
          <a:p>
            <a:pPr marL="342900" indent="-342900" algn="just">
              <a:buFont typeface="Wingdings" panose="05000000000000000000" charset="0"/>
              <a:buChar char="Ø"/>
            </a:pPr>
            <a:r>
              <a:rPr lang="en-GB" altLang="en-US" sz="2500" b="1">
                <a:latin typeface="Times New Roman" panose="02020603050405020304" charset="0"/>
                <a:cs typeface="Times New Roman" panose="02020603050405020304" charset="0"/>
              </a:rPr>
              <a:t>Advantages of Call by Reference in C++</a:t>
            </a:r>
          </a:p>
          <a:p>
            <a:pPr marL="342900" indent="-342900" algn="just">
              <a:buFont typeface="Wingdings" panose="05000000000000000000" charset="0"/>
              <a:buChar char="§"/>
            </a:pPr>
            <a:r>
              <a:rPr lang="en-GB" altLang="en-US" sz="2500">
                <a:latin typeface="Times New Roman" panose="02020603050405020304" charset="0"/>
                <a:cs typeface="Times New Roman" panose="02020603050405020304" charset="0"/>
              </a:rPr>
              <a:t>We can produce efficient programs since no copy of the data is made.</a:t>
            </a:r>
          </a:p>
          <a:p>
            <a:pPr marL="342900" indent="-342900" algn="just">
              <a:buFont typeface="Wingdings" panose="05000000000000000000" charset="0"/>
              <a:buChar char="§"/>
            </a:pPr>
            <a:r>
              <a:rPr lang="en-GB" altLang="en-US" sz="2500">
                <a:latin typeface="Times New Roman" panose="02020603050405020304" charset="0"/>
                <a:cs typeface="Times New Roman" panose="02020603050405020304" charset="0"/>
              </a:rPr>
              <a:t>It enhances the ease of exchanging the information between functions through the use of parameters.</a:t>
            </a:r>
          </a:p>
          <a:p>
            <a:pPr marL="342900" indent="-342900" algn="just">
              <a:buFont typeface="Wingdings" panose="05000000000000000000" charset="0"/>
              <a:buChar char="Ø"/>
            </a:pPr>
            <a:r>
              <a:rPr lang="en-GB" altLang="en-US" sz="2500" b="1">
                <a:latin typeface="Times New Roman" panose="02020603050405020304" charset="0"/>
                <a:cs typeface="Times New Roman" panose="02020603050405020304" charset="0"/>
              </a:rPr>
              <a:t>Disadvantages of Call by Reference in C++</a:t>
            </a:r>
          </a:p>
          <a:p>
            <a:pPr marL="342900" indent="-342900" algn="just">
              <a:buFont typeface="Wingdings" panose="05000000000000000000" charset="0"/>
              <a:buChar char="§"/>
            </a:pPr>
            <a:r>
              <a:rPr lang="en-GB" altLang="en-US" sz="2500">
                <a:latin typeface="Times New Roman" panose="02020603050405020304" charset="0"/>
                <a:cs typeface="Times New Roman" panose="02020603050405020304" charset="0"/>
              </a:rPr>
              <a:t>This method is not recommended while developing multithreaded programs since it can cause loss of data.</a:t>
            </a:r>
          </a:p>
          <a:p>
            <a:pPr marL="342900" indent="-342900" algn="just">
              <a:buFont typeface="Wingdings" panose="05000000000000000000" charset="0"/>
              <a:buChar char="§"/>
            </a:pPr>
            <a:r>
              <a:rPr lang="en-GB" altLang="en-US" sz="2500">
                <a:latin typeface="Times New Roman" panose="02020603050405020304" charset="0"/>
                <a:cs typeface="Times New Roman" panose="02020603050405020304" charset="0"/>
              </a:rPr>
              <a:t>Being a high-level mechanism, pass by reference can only be used within a single program.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757555" y="262890"/>
            <a:ext cx="10725785" cy="6470015"/>
          </a:xfrm>
        </p:spPr>
        <p:txBody>
          <a:bodyPr>
            <a:noAutofit/>
          </a:bodyPr>
          <a:lstStyle/>
          <a:p>
            <a:r>
              <a:rPr lang="en-GB" altLang="en-US" sz="2400">
                <a:latin typeface="Times New Roman" panose="02020603050405020304" charset="0"/>
                <a:cs typeface="Times New Roman" panose="02020603050405020304" charset="0"/>
              </a:rPr>
              <a:t>// C++ program to illustrate Call by Reference</a:t>
            </a:r>
          </a:p>
          <a:p>
            <a:r>
              <a:rPr lang="en-GB" altLang="en-US" sz="2400">
                <a:latin typeface="Times New Roman" panose="02020603050405020304" charset="0"/>
                <a:cs typeface="Times New Roman" panose="02020603050405020304" charset="0"/>
              </a:rPr>
              <a:t>#include &lt;iostream&gt;</a:t>
            </a:r>
          </a:p>
          <a:p>
            <a:r>
              <a:rPr lang="en-GB" altLang="en-US" sz="2400">
                <a:latin typeface="Times New Roman" panose="02020603050405020304" charset="0"/>
                <a:cs typeface="Times New Roman" panose="02020603050405020304" charset="0"/>
              </a:rPr>
              <a:t>using namespace std;</a:t>
            </a:r>
          </a:p>
          <a:p>
            <a:r>
              <a:rPr lang="en-GB" altLang="en-US" sz="2400">
                <a:latin typeface="Times New Roman" panose="02020603050405020304" charset="0"/>
                <a:cs typeface="Times New Roman" panose="02020603050405020304" charset="0"/>
              </a:rPr>
              <a:t>void swapx(int&amp;, int&amp;); </a:t>
            </a:r>
            <a:r>
              <a:rPr lang="en-GB" altLang="en-US" sz="2400">
                <a:latin typeface="Times New Roman" panose="02020603050405020304" charset="0"/>
                <a:cs typeface="Times New Roman" panose="02020603050405020304" charset="0"/>
                <a:sym typeface="+mn-ea"/>
              </a:rPr>
              <a:t>// Function Prototype</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int main() {	</a:t>
            </a:r>
          </a:p>
          <a:p>
            <a:pPr marL="457200" lvl="1" indent="457200"/>
            <a:r>
              <a:rPr lang="en-GB" altLang="en-US" sz="2400">
                <a:latin typeface="Times New Roman" panose="02020603050405020304" charset="0"/>
                <a:cs typeface="Times New Roman" panose="02020603050405020304" charset="0"/>
              </a:rPr>
              <a:t>int a = 10, b = 20;</a:t>
            </a:r>
          </a:p>
          <a:p>
            <a:r>
              <a:rPr lang="en-GB" altLang="en-US" sz="2400">
                <a:latin typeface="Times New Roman" panose="02020603050405020304" charset="0"/>
                <a:cs typeface="Times New Roman" panose="02020603050405020304" charset="0"/>
              </a:rPr>
              <a:t> 	swapx(a, b); </a:t>
            </a:r>
            <a:r>
              <a:rPr lang="en-GB" altLang="en-US" sz="2400">
                <a:latin typeface="Times New Roman" panose="02020603050405020304" charset="0"/>
                <a:cs typeface="Times New Roman" panose="02020603050405020304" charset="0"/>
                <a:sym typeface="+mn-ea"/>
              </a:rPr>
              <a:t>// Pass reference</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	cout &lt;&lt; "In the Caller:\n";</a:t>
            </a:r>
          </a:p>
          <a:p>
            <a:r>
              <a:rPr lang="en-GB" altLang="en-US" sz="2400">
                <a:latin typeface="Times New Roman" panose="02020603050405020304" charset="0"/>
                <a:cs typeface="Times New Roman" panose="02020603050405020304" charset="0"/>
              </a:rPr>
              <a:t>	cout &lt;&lt; "a = " &lt;&lt; a &lt;&lt; " b = " &lt;&lt; b &lt;&lt; endl;</a:t>
            </a:r>
          </a:p>
          <a:p>
            <a:r>
              <a:rPr lang="en-GB" altLang="en-US" sz="2400">
                <a:latin typeface="Times New Roman" panose="02020603050405020304" charset="0"/>
                <a:cs typeface="Times New Roman" panose="02020603050405020304" charset="0"/>
              </a:rPr>
              <a:t>	return 0;}</a:t>
            </a:r>
          </a:p>
          <a:p>
            <a:r>
              <a:rPr lang="en-GB" altLang="en-US" sz="2400">
                <a:latin typeface="Times New Roman" panose="02020603050405020304" charset="0"/>
                <a:cs typeface="Times New Roman" panose="02020603050405020304" charset="0"/>
              </a:rPr>
              <a:t>void swapx(int&amp; x, int&amp; y)   </a:t>
            </a:r>
            <a:r>
              <a:rPr lang="en-GB" altLang="en-US" sz="2400">
                <a:latin typeface="Times New Roman" panose="02020603050405020304" charset="0"/>
                <a:cs typeface="Times New Roman" panose="02020603050405020304" charset="0"/>
                <a:sym typeface="+mn-ea"/>
              </a:rPr>
              <a:t>// Function to swap two variables by references</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	int t;</a:t>
            </a:r>
          </a:p>
          <a:p>
            <a:r>
              <a:rPr lang="en-GB" altLang="en-US" sz="2400">
                <a:latin typeface="Times New Roman" panose="02020603050405020304" charset="0"/>
                <a:cs typeface="Times New Roman" panose="02020603050405020304" charset="0"/>
              </a:rPr>
              <a:t>	t = x;</a:t>
            </a:r>
          </a:p>
          <a:p>
            <a:r>
              <a:rPr lang="en-GB" altLang="en-US" sz="2400">
                <a:latin typeface="Times New Roman" panose="02020603050405020304" charset="0"/>
                <a:cs typeface="Times New Roman" panose="02020603050405020304" charset="0"/>
              </a:rPr>
              <a:t>	x = y;</a:t>
            </a:r>
          </a:p>
          <a:p>
            <a:r>
              <a:rPr lang="en-GB" altLang="en-US" sz="2400">
                <a:latin typeface="Times New Roman" panose="02020603050405020304" charset="0"/>
                <a:cs typeface="Times New Roman" panose="02020603050405020304" charset="0"/>
              </a:rPr>
              <a:t>	y = t;</a:t>
            </a:r>
          </a:p>
          <a:p>
            <a:r>
              <a:rPr lang="en-GB" altLang="en-US" sz="2400">
                <a:latin typeface="Times New Roman" panose="02020603050405020304" charset="0"/>
                <a:cs typeface="Times New Roman" panose="02020603050405020304" charset="0"/>
              </a:rPr>
              <a:t>	cout &lt;&lt; "In the Caller:\n";</a:t>
            </a:r>
          </a:p>
          <a:p>
            <a:r>
              <a:rPr lang="en-GB" altLang="en-US" sz="2400">
                <a:latin typeface="Times New Roman" panose="02020603050405020304" charset="0"/>
                <a:cs typeface="Times New Roman" panose="02020603050405020304" charset="0"/>
              </a:rPr>
              <a:t>	cout &lt;&lt; "x = " &lt;&lt; x &lt;&lt; " y = " &lt;&lt; y &lt;&lt; endl;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842010"/>
          </a:xfrm>
        </p:spPr>
        <p:txBody>
          <a:bodyPr>
            <a:noAutofit/>
          </a:bodyPr>
          <a:lstStyle/>
          <a:p>
            <a:endParaRPr lang="en-GB" altLang="en-US"/>
          </a:p>
        </p:txBody>
      </p:sp>
      <p:sp>
        <p:nvSpPr>
          <p:cNvPr id="3" name="Subtitle 2"/>
          <p:cNvSpPr>
            <a:spLocks noGrp="1"/>
          </p:cNvSpPr>
          <p:nvPr>
            <p:ph type="subTitle" idx="4"/>
          </p:nvPr>
        </p:nvSpPr>
        <p:spPr>
          <a:xfrm>
            <a:off x="757555" y="1766570"/>
            <a:ext cx="10725785" cy="4538980"/>
          </a:xfrm>
        </p:spPr>
        <p:txBody>
          <a:bodyPr>
            <a:noAutofit/>
          </a:bodyPr>
          <a:lstStyle/>
          <a:p>
            <a:pPr lvl="1"/>
            <a:r>
              <a:rPr lang="en-GB" altLang="en-US" sz="2400" b="1">
                <a:latin typeface="Times New Roman" panose="02020603050405020304" charset="0"/>
                <a:cs typeface="Times New Roman" panose="02020603050405020304" charset="0"/>
              </a:rPr>
              <a:t>Output</a:t>
            </a:r>
          </a:p>
          <a:p>
            <a:pPr lvl="1"/>
            <a:endParaRPr lang="en-GB" altLang="en-US" sz="2400">
              <a:latin typeface="Times New Roman" panose="02020603050405020304" charset="0"/>
              <a:cs typeface="Times New Roman" panose="02020603050405020304" charset="0"/>
            </a:endParaRPr>
          </a:p>
          <a:p>
            <a:pPr lvl="1"/>
            <a:r>
              <a:rPr lang="en-GB" altLang="en-US" sz="2400">
                <a:latin typeface="Times New Roman" panose="02020603050405020304" charset="0"/>
                <a:cs typeface="Times New Roman" panose="02020603050405020304" charset="0"/>
              </a:rPr>
              <a:t>Inside the Function:</a:t>
            </a:r>
          </a:p>
          <a:p>
            <a:pPr lvl="1" indent="457200"/>
            <a:r>
              <a:rPr lang="en-GB" altLang="en-US" sz="2400">
                <a:latin typeface="Times New Roman" panose="02020603050405020304" charset="0"/>
                <a:cs typeface="Times New Roman" panose="02020603050405020304" charset="0"/>
              </a:rPr>
              <a:t>x = 20 y = 10</a:t>
            </a:r>
          </a:p>
          <a:p>
            <a:pPr lvl="1"/>
            <a:r>
              <a:rPr lang="en-GB" altLang="en-US" sz="2400">
                <a:latin typeface="Times New Roman" panose="02020603050405020304" charset="0"/>
                <a:cs typeface="Times New Roman" panose="02020603050405020304" charset="0"/>
              </a:rPr>
              <a:t>Inside the Caller:</a:t>
            </a:r>
          </a:p>
          <a:p>
            <a:pPr lvl="1" indent="457200"/>
            <a:r>
              <a:rPr lang="en-GB" altLang="en-US" sz="2400">
                <a:latin typeface="Times New Roman" panose="02020603050405020304" charset="0"/>
                <a:cs typeface="Times New Roman" panose="02020603050405020304" charset="0"/>
              </a:rPr>
              <a:t>a = 20 b = 10</a:t>
            </a:r>
          </a:p>
          <a:p>
            <a:r>
              <a:rPr lang="en-GB" altLang="en-US" sz="2400">
                <a:latin typeface="Times New Roman" panose="02020603050405020304" charset="0"/>
                <a:cs typeface="Times New Roman" panose="02020603050405020304" charset="0"/>
              </a:rPr>
              <a:t>Thus actual values of a and b get changed after exchanging values of x and 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842010"/>
          </a:xfrm>
        </p:spPr>
        <p:txBody>
          <a:bodyPr>
            <a:noAutofit/>
          </a:bodyPr>
          <a:lstStyle/>
          <a:p>
            <a:r>
              <a:rPr lang="en-US" dirty="0">
                <a:latin typeface="Times New Roman" panose="02020603050405020304" charset="0"/>
                <a:cs typeface="Times New Roman" panose="02020603050405020304" charset="0"/>
                <a:sym typeface="+mn-ea"/>
              </a:rPr>
              <a:t>Default Arguments</a:t>
            </a:r>
            <a:endParaRPr lang="en-GB" altLang="en-US"/>
          </a:p>
        </p:txBody>
      </p:sp>
      <p:sp>
        <p:nvSpPr>
          <p:cNvPr id="3" name="Subtitle 2"/>
          <p:cNvSpPr>
            <a:spLocks noGrp="1"/>
          </p:cNvSpPr>
          <p:nvPr>
            <p:ph type="subTitle" idx="4"/>
          </p:nvPr>
        </p:nvSpPr>
        <p:spPr>
          <a:xfrm>
            <a:off x="570230" y="1375410"/>
            <a:ext cx="11222355" cy="4930140"/>
          </a:xfrm>
        </p:spPr>
        <p:txBody>
          <a:bodyPr>
            <a:noAutofit/>
          </a:bodyPr>
          <a:lstStyle/>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When you define a function, you can specify a default value for each of the last parameters. This value will be used if the corresponding argument is left blank when calling to the function.</a:t>
            </a:r>
          </a:p>
          <a:p>
            <a:pPr marL="342900" indent="-342900" algn="just">
              <a:buFont typeface="Wingdings" panose="05000000000000000000" charset="0"/>
              <a:buChar char="Ø"/>
            </a:pPr>
            <a:r>
              <a:rPr lang="en-GB" altLang="en-US" sz="2500">
                <a:latin typeface="Times New Roman" panose="02020603050405020304" charset="0"/>
                <a:cs typeface="Times New Roman" panose="02020603050405020304" charset="0"/>
              </a:rPr>
              <a:t>This is done by using the assignment operator and assigning values for the arguments in the function definition. If a value for that parameter is not passed when the function is called, the default given value is used, but if a value is specified, this default value is ignored and the passed value is used instead. </a:t>
            </a:r>
          </a:p>
          <a:p>
            <a:pPr marL="342900" indent="-342900" algn="just">
              <a:buFont typeface="Wingdings" panose="05000000000000000000" charset="0"/>
              <a:buChar char="Ø"/>
            </a:pPr>
            <a:r>
              <a:rPr lang="en-US" sz="2500" dirty="0">
                <a:solidFill>
                  <a:srgbClr val="FF0000"/>
                </a:solidFill>
                <a:latin typeface="Times New Roman" panose="02020603050405020304" charset="0"/>
                <a:cs typeface="Times New Roman" panose="02020603050405020304" charset="0"/>
                <a:sym typeface="+mn-ea"/>
              </a:rPr>
              <a:t>Default arguments</a:t>
            </a:r>
            <a:r>
              <a:rPr lang="en-US" sz="2500" dirty="0">
                <a:latin typeface="Times New Roman" panose="02020603050405020304" charset="0"/>
                <a:cs typeface="Times New Roman" panose="02020603050405020304" charset="0"/>
                <a:sym typeface="+mn-ea"/>
              </a:rPr>
              <a:t> are </a:t>
            </a:r>
            <a:r>
              <a:rPr lang="en-US" sz="2500" dirty="0">
                <a:solidFill>
                  <a:srgbClr val="00B0F0"/>
                </a:solidFill>
                <a:latin typeface="Times New Roman" panose="02020603050405020304" charset="0"/>
                <a:cs typeface="Times New Roman" panose="02020603050405020304" charset="0"/>
                <a:sym typeface="+mn-ea"/>
              </a:rPr>
              <a:t>suitable for situations where certain (or all) function parameters frequently take the same values</a:t>
            </a:r>
            <a:r>
              <a:rPr lang="en-US" sz="2500" dirty="0">
                <a:latin typeface="Times New Roman" panose="02020603050405020304" charset="0"/>
                <a:cs typeface="Times New Roman" panose="02020603050405020304" charset="0"/>
                <a:sym typeface="+mn-ea"/>
              </a:rPr>
              <a:t>.</a:t>
            </a:r>
            <a:endParaRPr lang="en-GB" altLang="en-US" sz="2500">
              <a:latin typeface="Times New Roman" panose="02020603050405020304" charset="0"/>
              <a:cs typeface="Times New Roman" panose="02020603050405020304" charset="0"/>
            </a:endParaRPr>
          </a:p>
          <a:p>
            <a:pPr algn="just"/>
            <a:endParaRPr lang="en-GB" altLang="en-US" sz="2500">
              <a:latin typeface="Times New Roman" panose="02020603050405020304" charset="0"/>
              <a:cs typeface="Times New Roman" panose="02020603050405020304" charset="0"/>
            </a:endParaRPr>
          </a:p>
          <a:p>
            <a:pPr algn="just"/>
            <a:r>
              <a:rPr lang="en-GB" altLang="en-US" sz="2500">
                <a:latin typeface="Times New Roman" panose="02020603050405020304" charset="0"/>
                <a:cs typeface="Times New Roman" panose="02020603050405020304" charset="0"/>
              </a:rPr>
              <a:t>Consider the following example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757555" y="1043305"/>
            <a:ext cx="10725785" cy="5392420"/>
          </a:xfrm>
        </p:spPr>
        <p:txBody>
          <a:bodyPr>
            <a:noAutofit/>
          </a:bodyPr>
          <a:lstStyle/>
          <a:p>
            <a:r>
              <a:rPr lang="en-GB" altLang="en-US" sz="2500">
                <a:latin typeface="Times New Roman" panose="02020603050405020304" charset="0"/>
                <a:cs typeface="Times New Roman" panose="02020603050405020304" charset="0"/>
              </a:rPr>
              <a:t>#include &lt;iostream&gt;</a:t>
            </a:r>
          </a:p>
          <a:p>
            <a:r>
              <a:rPr lang="en-GB" altLang="en-US" sz="2500">
                <a:latin typeface="Times New Roman" panose="02020603050405020304" charset="0"/>
                <a:cs typeface="Times New Roman" panose="02020603050405020304" charset="0"/>
              </a:rPr>
              <a:t>using namespace std;</a:t>
            </a:r>
          </a:p>
          <a:p>
            <a:r>
              <a:rPr lang="en-GB" altLang="en-US" sz="2500">
                <a:latin typeface="Times New Roman" panose="02020603050405020304" charset="0"/>
                <a:cs typeface="Times New Roman" panose="02020603050405020304" charset="0"/>
              </a:rPr>
              <a:t> int sum(int a, int b = 20) {</a:t>
            </a:r>
          </a:p>
          <a:p>
            <a:r>
              <a:rPr lang="en-GB" altLang="en-US" sz="2500">
                <a:latin typeface="Times New Roman" panose="02020603050405020304" charset="0"/>
                <a:cs typeface="Times New Roman" panose="02020603050405020304" charset="0"/>
              </a:rPr>
              <a:t>   int result = a + b;</a:t>
            </a:r>
          </a:p>
          <a:p>
            <a:r>
              <a:rPr lang="en-GB" altLang="en-US" sz="2500">
                <a:latin typeface="Times New Roman" panose="02020603050405020304" charset="0"/>
                <a:cs typeface="Times New Roman" panose="02020603050405020304" charset="0"/>
              </a:rPr>
              <a:t>     return result;}</a:t>
            </a:r>
          </a:p>
          <a:p>
            <a:r>
              <a:rPr lang="en-GB" altLang="en-US" sz="2500">
                <a:latin typeface="Times New Roman" panose="02020603050405020304" charset="0"/>
                <a:cs typeface="Times New Roman" panose="02020603050405020304" charset="0"/>
              </a:rPr>
              <a:t>int main () {</a:t>
            </a:r>
          </a:p>
          <a:p>
            <a:r>
              <a:rPr lang="en-GB" altLang="en-US" sz="2500">
                <a:latin typeface="Times New Roman" panose="02020603050405020304" charset="0"/>
                <a:cs typeface="Times New Roman" panose="02020603050405020304" charset="0"/>
              </a:rPr>
              <a:t>      int a = 100, b = 200, result;  </a:t>
            </a:r>
            <a:r>
              <a:rPr lang="en-GB" altLang="en-US" sz="2500">
                <a:latin typeface="Times New Roman" panose="02020603050405020304" charset="0"/>
                <a:cs typeface="Times New Roman" panose="02020603050405020304" charset="0"/>
                <a:sym typeface="+mn-ea"/>
              </a:rPr>
              <a:t> </a:t>
            </a:r>
            <a:endParaRPr lang="en-GB" altLang="en-US" sz="2500">
              <a:latin typeface="Times New Roman" panose="02020603050405020304" charset="0"/>
              <a:cs typeface="Times New Roman" panose="02020603050405020304" charset="0"/>
            </a:endParaRPr>
          </a:p>
          <a:p>
            <a:r>
              <a:rPr lang="en-GB" altLang="en-US" sz="2500">
                <a:latin typeface="Times New Roman" panose="02020603050405020304" charset="0"/>
                <a:cs typeface="Times New Roman" panose="02020603050405020304" charset="0"/>
              </a:rPr>
              <a:t>      result = sum(a, b);  </a:t>
            </a:r>
            <a:r>
              <a:rPr lang="en-GB" altLang="en-US" sz="2500">
                <a:latin typeface="Times New Roman" panose="02020603050405020304" charset="0"/>
                <a:cs typeface="Times New Roman" panose="02020603050405020304" charset="0"/>
                <a:sym typeface="+mn-ea"/>
              </a:rPr>
              <a:t> // calling a function to add the values.</a:t>
            </a:r>
            <a:endParaRPr lang="en-GB" altLang="en-US" sz="2500">
              <a:latin typeface="Times New Roman" panose="02020603050405020304" charset="0"/>
              <a:cs typeface="Times New Roman" panose="02020603050405020304" charset="0"/>
            </a:endParaRPr>
          </a:p>
          <a:p>
            <a:r>
              <a:rPr lang="en-GB" altLang="en-US" sz="2500">
                <a:latin typeface="Times New Roman" panose="02020603050405020304" charset="0"/>
                <a:cs typeface="Times New Roman" panose="02020603050405020304" charset="0"/>
              </a:rPr>
              <a:t>   cout &lt;&lt; "Total value is :" &lt;&lt; result &lt;&lt; endl; // output :- </a:t>
            </a:r>
            <a:r>
              <a:rPr lang="en-GB" altLang="en-US" sz="2500">
                <a:latin typeface="Times New Roman" panose="02020603050405020304" charset="0"/>
                <a:cs typeface="Times New Roman" panose="02020603050405020304" charset="0"/>
                <a:sym typeface="+mn-ea"/>
              </a:rPr>
              <a:t>Total value is :300</a:t>
            </a:r>
            <a:endParaRPr lang="en-GB" altLang="en-US" sz="2500">
              <a:latin typeface="Times New Roman" panose="02020603050405020304" charset="0"/>
              <a:cs typeface="Times New Roman" panose="02020603050405020304" charset="0"/>
            </a:endParaRPr>
          </a:p>
          <a:p>
            <a:r>
              <a:rPr lang="en-GB" altLang="en-US" sz="2500">
                <a:latin typeface="Times New Roman" panose="02020603050405020304" charset="0"/>
                <a:cs typeface="Times New Roman" panose="02020603050405020304" charset="0"/>
              </a:rPr>
              <a:t>     result = sum(a);  </a:t>
            </a:r>
            <a:r>
              <a:rPr lang="en-GB" altLang="en-US" sz="2500">
                <a:latin typeface="Times New Roman" panose="02020603050405020304" charset="0"/>
                <a:cs typeface="Times New Roman" panose="02020603050405020304" charset="0"/>
                <a:sym typeface="+mn-ea"/>
              </a:rPr>
              <a:t>   // calling a function again as follows.</a:t>
            </a:r>
            <a:endParaRPr lang="en-GB" altLang="en-US" sz="2500">
              <a:latin typeface="Times New Roman" panose="02020603050405020304" charset="0"/>
              <a:cs typeface="Times New Roman" panose="02020603050405020304" charset="0"/>
            </a:endParaRPr>
          </a:p>
          <a:p>
            <a:r>
              <a:rPr lang="en-GB" altLang="en-US" sz="2500">
                <a:latin typeface="Times New Roman" panose="02020603050405020304" charset="0"/>
                <a:cs typeface="Times New Roman" panose="02020603050405020304" charset="0"/>
              </a:rPr>
              <a:t>   cout &lt;&lt; "Total value is :" &lt;&lt; result &lt;&lt; endl; // </a:t>
            </a:r>
            <a:r>
              <a:rPr lang="en-GB" altLang="en-US" sz="2500">
                <a:latin typeface="Times New Roman" panose="02020603050405020304" charset="0"/>
                <a:cs typeface="Times New Roman" panose="02020603050405020304" charset="0"/>
                <a:sym typeface="+mn-ea"/>
              </a:rPr>
              <a:t>output :- Total value is :120</a:t>
            </a:r>
            <a:endParaRPr lang="en-GB" altLang="en-US" sz="2500">
              <a:latin typeface="Times New Roman" panose="02020603050405020304" charset="0"/>
              <a:cs typeface="Times New Roman" panose="02020603050405020304" charset="0"/>
            </a:endParaRPr>
          </a:p>
          <a:p>
            <a:r>
              <a:rPr lang="en-GB" altLang="en-US" sz="2500">
                <a:latin typeface="Times New Roman" panose="02020603050405020304" charset="0"/>
                <a:cs typeface="Times New Roman" panose="02020603050405020304" charset="0"/>
              </a:rPr>
              <a:t>    return 0;</a:t>
            </a:r>
          </a:p>
          <a:p>
            <a:r>
              <a:rPr lang="en-GB" altLang="en-US" sz="2500">
                <a:latin typeface="Times New Roman" panose="02020603050405020304" charset="0"/>
                <a:cs typeface="Times New Roman" panose="02020603050405020304"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0"/>
            <a:ext cx="10629900" cy="600710"/>
          </a:xfrm>
        </p:spPr>
        <p:txBody>
          <a:bodyPr>
            <a:noAutofit/>
          </a:bodyPr>
          <a:lstStyle/>
          <a:p>
            <a:pPr algn="ctr"/>
            <a:r>
              <a:rPr lang="en-US" dirty="0">
                <a:latin typeface="Times New Roman" panose="02020603050405020304" charset="0"/>
                <a:cs typeface="Times New Roman" panose="02020603050405020304" charset="0"/>
                <a:sym typeface="+mn-ea"/>
              </a:rPr>
              <a:t>Overloaded </a:t>
            </a:r>
            <a:r>
              <a:rPr lang="en-GB" altLang="en-US" dirty="0">
                <a:latin typeface="Times New Roman" panose="02020603050405020304" charset="0"/>
                <a:cs typeface="Times New Roman" panose="02020603050405020304" charset="0"/>
                <a:sym typeface="+mn-ea"/>
              </a:rPr>
              <a:t>F</a:t>
            </a:r>
            <a:r>
              <a:rPr lang="en-US" dirty="0">
                <a:latin typeface="Times New Roman" panose="02020603050405020304" charset="0"/>
                <a:cs typeface="Times New Roman" panose="02020603050405020304" charset="0"/>
                <a:sym typeface="+mn-ea"/>
              </a:rPr>
              <a:t>unctions</a:t>
            </a:r>
            <a:endParaRPr lang="en-GB" altLang="en-US"/>
          </a:p>
        </p:txBody>
      </p:sp>
      <p:sp>
        <p:nvSpPr>
          <p:cNvPr id="3" name="Subtitle 2"/>
          <p:cNvSpPr>
            <a:spLocks noGrp="1"/>
          </p:cNvSpPr>
          <p:nvPr>
            <p:ph type="subTitle" idx="4"/>
          </p:nvPr>
        </p:nvSpPr>
        <p:spPr>
          <a:xfrm>
            <a:off x="394970" y="1265555"/>
            <a:ext cx="11410950" cy="5039995"/>
          </a:xfrm>
        </p:spPr>
        <p:txBody>
          <a:bodyPr>
            <a:noAutofit/>
          </a:bodyPr>
          <a:lstStyle/>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Two different functions can have the same name if the prototype of their arguments are different. That means that you can give the same name to more than one function if they have either a different number of arguments or different types in their arguments.</a:t>
            </a:r>
            <a:endParaRPr lang="en-GB" altLang="en-US" sz="25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1282700" y="637540"/>
            <a:ext cx="9765665" cy="5906770"/>
          </a:xfrm>
        </p:spPr>
        <p:txBody>
          <a:bodyPr>
            <a:noAutofit/>
          </a:bodyPr>
          <a:lstStyle/>
          <a:p>
            <a:pPr marL="0" indent="0">
              <a:buNone/>
            </a:pPr>
            <a:r>
              <a:rPr lang="en-US" sz="2500" b="1" dirty="0">
                <a:latin typeface="Times New Roman" panose="02020603050405020304" charset="0"/>
                <a:cs typeface="Times New Roman" panose="02020603050405020304" charset="0"/>
                <a:sym typeface="+mn-ea"/>
              </a:rPr>
              <a:t>Example </a:t>
            </a:r>
            <a:endParaRPr lang="en-US" sz="2500" dirty="0">
              <a:latin typeface="Times New Roman" panose="02020603050405020304" charset="0"/>
              <a:cs typeface="Times New Roman" panose="02020603050405020304" charset="0"/>
            </a:endParaRPr>
          </a:p>
          <a:p>
            <a:pPr marL="0" indent="0">
              <a:buNone/>
            </a:pPr>
            <a:r>
              <a:rPr lang="en-US" sz="2500" dirty="0">
                <a:latin typeface="Times New Roman" panose="02020603050405020304" charset="0"/>
                <a:cs typeface="Times New Roman" panose="02020603050405020304" charset="0"/>
                <a:sym typeface="+mn-ea"/>
              </a:rPr>
              <a:t> </a:t>
            </a:r>
            <a:r>
              <a:rPr lang="en-US" sz="2700" dirty="0">
                <a:latin typeface="Times New Roman" panose="02020603050405020304" charset="0"/>
                <a:cs typeface="Times New Roman" panose="02020603050405020304" charset="0"/>
                <a:sym typeface="+mn-ea"/>
              </a:rPr>
              <a:t># include&lt;</a:t>
            </a:r>
            <a:r>
              <a:rPr lang="en-US" sz="2700" dirty="0" err="1">
                <a:latin typeface="Times New Roman" panose="02020603050405020304" charset="0"/>
                <a:cs typeface="Times New Roman" panose="02020603050405020304" charset="0"/>
                <a:sym typeface="+mn-ea"/>
              </a:rPr>
              <a:t>iostream</a:t>
            </a:r>
            <a:r>
              <a:rPr lang="en-US" sz="2700" dirty="0">
                <a:latin typeface="Times New Roman" panose="02020603050405020304" charset="0"/>
                <a:cs typeface="Times New Roman" panose="02020603050405020304" charset="0"/>
                <a:sym typeface="+mn-ea"/>
              </a:rPr>
              <a:t>&gt;</a:t>
            </a:r>
          </a:p>
          <a:p>
            <a:pPr marL="0" indent="0">
              <a:buNone/>
            </a:pPr>
            <a:r>
              <a:rPr lang="en-GB" altLang="en-US" sz="2700" dirty="0">
                <a:latin typeface="Times New Roman" panose="02020603050405020304" charset="0"/>
                <a:cs typeface="Times New Roman" panose="02020603050405020304" charset="0"/>
                <a:sym typeface="+mn-ea"/>
              </a:rPr>
              <a:t>using namespace std;</a:t>
            </a:r>
            <a:endParaRPr lang="en-US" sz="2700" dirty="0">
              <a:latin typeface="Times New Roman" panose="02020603050405020304" charset="0"/>
              <a:cs typeface="Times New Roman" panose="02020603050405020304" charset="0"/>
            </a:endParaRPr>
          </a:p>
          <a:p>
            <a:pPr marL="0" indent="0">
              <a:buNone/>
            </a:pP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a:t>
            </a:r>
            <a:r>
              <a:rPr lang="en-US" sz="2700" dirty="0" err="1">
                <a:latin typeface="Times New Roman" panose="02020603050405020304" charset="0"/>
                <a:cs typeface="Times New Roman" panose="02020603050405020304" charset="0"/>
                <a:sym typeface="+mn-ea"/>
              </a:rPr>
              <a:t>devide</a:t>
            </a:r>
            <a:r>
              <a:rPr lang="en-US" sz="2700" dirty="0">
                <a:latin typeface="Times New Roman" panose="02020603050405020304" charset="0"/>
                <a:cs typeface="Times New Roman" panose="02020603050405020304" charset="0"/>
                <a:sym typeface="+mn-ea"/>
              </a:rPr>
              <a:t> (</a:t>
            </a: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a, </a:t>
            </a: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b=2);</a:t>
            </a:r>
            <a:endParaRPr lang="en-US" sz="2700" dirty="0">
              <a:latin typeface="Times New Roman" panose="02020603050405020304" charset="0"/>
              <a:cs typeface="Times New Roman" panose="02020603050405020304" charset="0"/>
            </a:endParaRPr>
          </a:p>
          <a:p>
            <a:pPr marL="0" indent="0">
              <a:buNone/>
            </a:pP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a:t>
            </a:r>
            <a:r>
              <a:rPr lang="en-US" sz="2700" dirty="0" err="1">
                <a:latin typeface="Times New Roman" panose="02020603050405020304" charset="0"/>
                <a:cs typeface="Times New Roman" panose="02020603050405020304" charset="0"/>
                <a:sym typeface="+mn-ea"/>
              </a:rPr>
              <a:t>devide</a:t>
            </a:r>
            <a:r>
              <a:rPr lang="en-US" sz="2700" dirty="0">
                <a:latin typeface="Times New Roman" panose="02020603050405020304" charset="0"/>
                <a:cs typeface="Times New Roman" panose="02020603050405020304" charset="0"/>
                <a:sym typeface="+mn-ea"/>
              </a:rPr>
              <a:t>(</a:t>
            </a: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z, </a:t>
            </a: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r, </a:t>
            </a: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y);</a:t>
            </a:r>
            <a:endParaRPr lang="en-US" sz="2700" dirty="0">
              <a:latin typeface="Times New Roman" panose="02020603050405020304" charset="0"/>
              <a:cs typeface="Times New Roman" panose="02020603050405020304" charset="0"/>
            </a:endParaRPr>
          </a:p>
          <a:p>
            <a:pPr marL="0" indent="0">
              <a:buNone/>
            </a:pPr>
            <a:r>
              <a:rPr lang="en-US" sz="2700" dirty="0">
                <a:latin typeface="Times New Roman" panose="02020603050405020304" charset="0"/>
                <a:cs typeface="Times New Roman" panose="02020603050405020304" charset="0"/>
                <a:sym typeface="+mn-ea"/>
              </a:rPr>
              <a:t>float </a:t>
            </a:r>
            <a:r>
              <a:rPr lang="en-US" sz="2700" dirty="0" err="1">
                <a:latin typeface="Times New Roman" panose="02020603050405020304" charset="0"/>
                <a:cs typeface="Times New Roman" panose="02020603050405020304" charset="0"/>
                <a:sym typeface="+mn-ea"/>
              </a:rPr>
              <a:t>devide</a:t>
            </a:r>
            <a:r>
              <a:rPr lang="en-US" sz="2700" dirty="0">
                <a:latin typeface="Times New Roman" panose="02020603050405020304" charset="0"/>
                <a:cs typeface="Times New Roman" panose="02020603050405020304" charset="0"/>
                <a:sym typeface="+mn-ea"/>
              </a:rPr>
              <a:t> (float a, float b);</a:t>
            </a:r>
            <a:endParaRPr lang="en-US" sz="2700" dirty="0">
              <a:latin typeface="Times New Roman" panose="02020603050405020304" charset="0"/>
              <a:cs typeface="Times New Roman" panose="02020603050405020304" charset="0"/>
            </a:endParaRPr>
          </a:p>
          <a:p>
            <a:pPr marL="0" indent="0">
              <a:buNone/>
            </a:pP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main(){</a:t>
            </a:r>
          </a:p>
          <a:p>
            <a:pPr marL="0" indent="0">
              <a:buNone/>
            </a:pPr>
            <a:r>
              <a:rPr lang="en-US" sz="2700" dirty="0" err="1">
                <a:latin typeface="Times New Roman" panose="02020603050405020304" charset="0"/>
                <a:cs typeface="Times New Roman" panose="02020603050405020304" charset="0"/>
                <a:sym typeface="+mn-ea"/>
              </a:rPr>
              <a:t>int</a:t>
            </a:r>
            <a:r>
              <a:rPr lang="en-US" sz="2700" dirty="0">
                <a:latin typeface="Times New Roman" panose="02020603050405020304" charset="0"/>
                <a:cs typeface="Times New Roman" panose="02020603050405020304" charset="0"/>
                <a:sym typeface="+mn-ea"/>
              </a:rPr>
              <a:t> x=20, y=2;</a:t>
            </a:r>
            <a:endParaRPr lang="en-US" sz="2700" dirty="0">
              <a:latin typeface="Times New Roman" panose="02020603050405020304" charset="0"/>
              <a:cs typeface="Times New Roman" panose="02020603050405020304" charset="0"/>
            </a:endParaRPr>
          </a:p>
          <a:p>
            <a:pPr marL="0" indent="0">
              <a:buNone/>
            </a:pPr>
            <a:r>
              <a:rPr lang="en-US" sz="2700" dirty="0">
                <a:latin typeface="Times New Roman" panose="02020603050405020304" charset="0"/>
                <a:cs typeface="Times New Roman" panose="02020603050405020304" charset="0"/>
                <a:sym typeface="+mn-ea"/>
              </a:rPr>
              <a:t>float n=5.0, m=2.0;</a:t>
            </a:r>
            <a:endParaRPr lang="en-US" sz="2700" dirty="0">
              <a:latin typeface="Times New Roman" panose="02020603050405020304" charset="0"/>
              <a:cs typeface="Times New Roman" panose="02020603050405020304" charset="0"/>
            </a:endParaRPr>
          </a:p>
          <a:p>
            <a:pPr marL="0" indent="0">
              <a:buNone/>
            </a:pPr>
            <a:r>
              <a:rPr lang="en-US" sz="2700" dirty="0">
                <a:latin typeface="Times New Roman" panose="02020603050405020304" charset="0"/>
                <a:cs typeface="Times New Roman" panose="02020603050405020304" charset="0"/>
                <a:sym typeface="+mn-ea"/>
              </a:rPr>
              <a:t> </a:t>
            </a:r>
            <a:r>
              <a:rPr lang="en-US" sz="2700" dirty="0" err="1">
                <a:latin typeface="Times New Roman" panose="02020603050405020304" charset="0"/>
                <a:cs typeface="Times New Roman" panose="02020603050405020304" charset="0"/>
                <a:sym typeface="+mn-ea"/>
              </a:rPr>
              <a:t>cout</a:t>
            </a:r>
            <a:r>
              <a:rPr lang="en-US" sz="2700" dirty="0">
                <a:latin typeface="Times New Roman" panose="02020603050405020304" charset="0"/>
                <a:cs typeface="Times New Roman" panose="02020603050405020304" charset="0"/>
                <a:sym typeface="+mn-ea"/>
              </a:rPr>
              <a:t>&lt;&lt;</a:t>
            </a:r>
            <a:r>
              <a:rPr lang="en-US" sz="2700" dirty="0" err="1">
                <a:latin typeface="Times New Roman" panose="02020603050405020304" charset="0"/>
                <a:cs typeface="Times New Roman" panose="02020603050405020304" charset="0"/>
                <a:sym typeface="+mn-ea"/>
              </a:rPr>
              <a:t>devide</a:t>
            </a:r>
            <a:r>
              <a:rPr lang="en-US" sz="2700" dirty="0">
                <a:latin typeface="Times New Roman" panose="02020603050405020304" charset="0"/>
                <a:cs typeface="Times New Roman" panose="02020603050405020304" charset="0"/>
                <a:sym typeface="+mn-ea"/>
              </a:rPr>
              <a:t>(</a:t>
            </a:r>
            <a:r>
              <a:rPr lang="en-US" sz="2700" dirty="0" err="1">
                <a:latin typeface="Times New Roman" panose="02020603050405020304" charset="0"/>
                <a:cs typeface="Times New Roman" panose="02020603050405020304" charset="0"/>
                <a:sym typeface="+mn-ea"/>
              </a:rPr>
              <a:t>x,y</a:t>
            </a:r>
            <a:r>
              <a:rPr lang="en-US" sz="2700" dirty="0">
                <a:latin typeface="Times New Roman" panose="02020603050405020304" charset="0"/>
                <a:cs typeface="Times New Roman" panose="02020603050405020304" charset="0"/>
                <a:sym typeface="+mn-ea"/>
              </a:rPr>
              <a:t>)</a:t>
            </a:r>
            <a:r>
              <a:rPr lang="en-GB" altLang="en-US" sz="2700" dirty="0">
                <a:latin typeface="Times New Roman" panose="02020603050405020304" charset="0"/>
                <a:cs typeface="Times New Roman" panose="02020603050405020304" charset="0"/>
                <a:sym typeface="+mn-ea"/>
              </a:rPr>
              <a:t>&lt;&lt;endl;</a:t>
            </a:r>
            <a:endParaRPr lang="en-US" sz="2700" dirty="0">
              <a:latin typeface="Times New Roman" panose="02020603050405020304" charset="0"/>
              <a:cs typeface="Times New Roman" panose="02020603050405020304" charset="0"/>
            </a:endParaRPr>
          </a:p>
          <a:p>
            <a:pPr marL="0" indent="0">
              <a:buNone/>
            </a:pPr>
            <a:r>
              <a:rPr lang="en-US" sz="2700" dirty="0" err="1">
                <a:latin typeface="Times New Roman" panose="02020603050405020304" charset="0"/>
                <a:cs typeface="Times New Roman" panose="02020603050405020304" charset="0"/>
                <a:sym typeface="+mn-ea"/>
              </a:rPr>
              <a:t>cout</a:t>
            </a:r>
            <a:r>
              <a:rPr lang="en-US" sz="2700" dirty="0">
                <a:latin typeface="Times New Roman" panose="02020603050405020304" charset="0"/>
                <a:cs typeface="Times New Roman" panose="02020603050405020304" charset="0"/>
                <a:sym typeface="+mn-ea"/>
              </a:rPr>
              <a:t>&lt;&lt;</a:t>
            </a:r>
            <a:r>
              <a:rPr lang="en-US" sz="2700" dirty="0" err="1">
                <a:latin typeface="Times New Roman" panose="02020603050405020304" charset="0"/>
                <a:cs typeface="Times New Roman" panose="02020603050405020304" charset="0"/>
                <a:sym typeface="+mn-ea"/>
              </a:rPr>
              <a:t>devide</a:t>
            </a:r>
            <a:r>
              <a:rPr lang="en-US" sz="2700" dirty="0">
                <a:latin typeface="Times New Roman" panose="02020603050405020304" charset="0"/>
                <a:cs typeface="Times New Roman" panose="02020603050405020304" charset="0"/>
                <a:sym typeface="+mn-ea"/>
              </a:rPr>
              <a:t>(</a:t>
            </a:r>
            <a:r>
              <a:rPr lang="en-US" sz="2700" dirty="0" err="1">
                <a:latin typeface="Times New Roman" panose="02020603050405020304" charset="0"/>
                <a:cs typeface="Times New Roman" panose="02020603050405020304" charset="0"/>
                <a:sym typeface="+mn-ea"/>
              </a:rPr>
              <a:t>n,m</a:t>
            </a:r>
            <a:r>
              <a:rPr lang="en-US" sz="2700" dirty="0">
                <a:latin typeface="Times New Roman" panose="02020603050405020304" charset="0"/>
                <a:cs typeface="Times New Roman" panose="02020603050405020304" charset="0"/>
                <a:sym typeface="+mn-ea"/>
              </a:rPr>
              <a:t>)</a:t>
            </a:r>
            <a:r>
              <a:rPr lang="en-GB" altLang="en-US" sz="2700" dirty="0">
                <a:latin typeface="Times New Roman" panose="02020603050405020304" charset="0"/>
                <a:cs typeface="Times New Roman" panose="02020603050405020304" charset="0"/>
                <a:sym typeface="+mn-ea"/>
              </a:rPr>
              <a:t>&lt;&lt;endl;</a:t>
            </a:r>
            <a:endParaRPr lang="en-US" sz="2700" dirty="0">
              <a:latin typeface="Times New Roman" panose="02020603050405020304" charset="0"/>
              <a:cs typeface="Times New Roman" panose="02020603050405020304" charset="0"/>
            </a:endParaRPr>
          </a:p>
          <a:p>
            <a:pPr marL="0" indent="0">
              <a:buNone/>
            </a:pPr>
            <a:r>
              <a:rPr lang="pt-BR" sz="2700" dirty="0">
                <a:latin typeface="Times New Roman" panose="02020603050405020304" charset="0"/>
                <a:cs typeface="Times New Roman" panose="02020603050405020304" charset="0"/>
                <a:sym typeface="+mn-ea"/>
              </a:rPr>
              <a:t>cout&lt;&lt;devide(n,m,m)</a:t>
            </a:r>
            <a:r>
              <a:rPr lang="en-GB" altLang="pt-BR" sz="2700" dirty="0">
                <a:latin typeface="Times New Roman" panose="02020603050405020304" charset="0"/>
                <a:cs typeface="Times New Roman" panose="02020603050405020304" charset="0"/>
                <a:sym typeface="+mn-ea"/>
              </a:rPr>
              <a:t>&lt;&lt;endl;</a:t>
            </a:r>
            <a:endParaRPr lang="en-US" sz="2700" dirty="0">
              <a:latin typeface="Times New Roman" panose="02020603050405020304" charset="0"/>
              <a:cs typeface="Times New Roman" panose="02020603050405020304" charset="0"/>
            </a:endParaRPr>
          </a:p>
          <a:p>
            <a:pPr marL="0" indent="0">
              <a:buNone/>
            </a:pPr>
            <a:r>
              <a:rPr lang="en-US" sz="2700" dirty="0">
                <a:latin typeface="Times New Roman" panose="02020603050405020304" charset="0"/>
                <a:cs typeface="Times New Roman" panose="02020603050405020304" charset="0"/>
                <a:sym typeface="+mn-ea"/>
              </a:rPr>
              <a:t>return 0;</a:t>
            </a:r>
            <a:endParaRPr lang="en-US" sz="2700" dirty="0">
              <a:latin typeface="Times New Roman" panose="02020603050405020304" charset="0"/>
              <a:cs typeface="Times New Roman" panose="02020603050405020304" charset="0"/>
            </a:endParaRPr>
          </a:p>
          <a:p>
            <a:pPr marL="0" indent="0">
              <a:buNone/>
            </a:pPr>
            <a:r>
              <a:rPr lang="en-US" sz="2700" dirty="0">
                <a:latin typeface="Times New Roman" panose="02020603050405020304" charset="0"/>
                <a:cs typeface="Times New Roman" panose="02020603050405020304" charset="0"/>
                <a:sym typeface="+mn-ea"/>
              </a:rPr>
              <a:t>}</a:t>
            </a:r>
            <a:endParaRPr lang="en-US" altLang="en-US" sz="2700" dirty="0">
              <a:latin typeface="Times New Roman" panose="02020603050405020304" charset="0"/>
              <a:cs typeface="Times New Roman" panose="02020603050405020304"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885825" y="804545"/>
            <a:ext cx="10100945" cy="5577205"/>
          </a:xfrm>
        </p:spPr>
        <p:txBody>
          <a:bodyPr>
            <a:noAutofit/>
          </a:bodyPr>
          <a:lstStyle/>
          <a:p>
            <a:pPr marL="0" indent="0">
              <a:buNone/>
            </a:pPr>
            <a:r>
              <a:rPr lang="en-US" sz="2800" dirty="0" err="1">
                <a:latin typeface="Times New Roman" panose="02020603050405020304" charset="0"/>
                <a:cs typeface="Times New Roman" panose="02020603050405020304" charset="0"/>
                <a:sym typeface="+mn-ea"/>
              </a:rPr>
              <a:t>int</a:t>
            </a:r>
            <a:r>
              <a:rPr lang="en-US" sz="2800" dirty="0">
                <a:latin typeface="Times New Roman" panose="02020603050405020304" charset="0"/>
                <a:cs typeface="Times New Roman" panose="02020603050405020304" charset="0"/>
                <a:sym typeface="+mn-ea"/>
              </a:rPr>
              <a:t> </a:t>
            </a:r>
            <a:r>
              <a:rPr lang="en-US" sz="2800" dirty="0" err="1">
                <a:latin typeface="Times New Roman" panose="02020603050405020304" charset="0"/>
                <a:cs typeface="Times New Roman" panose="02020603050405020304" charset="0"/>
                <a:sym typeface="+mn-ea"/>
              </a:rPr>
              <a:t>devide</a:t>
            </a:r>
            <a:r>
              <a:rPr lang="en-US" sz="2800" dirty="0">
                <a:latin typeface="Times New Roman" panose="02020603050405020304" charset="0"/>
                <a:cs typeface="Times New Roman" panose="02020603050405020304" charset="0"/>
                <a:sym typeface="+mn-ea"/>
              </a:rPr>
              <a:t> (</a:t>
            </a:r>
            <a:r>
              <a:rPr lang="en-US" sz="2800" dirty="0" err="1">
                <a:latin typeface="Times New Roman" panose="02020603050405020304" charset="0"/>
                <a:cs typeface="Times New Roman" panose="02020603050405020304" charset="0"/>
                <a:sym typeface="+mn-ea"/>
              </a:rPr>
              <a:t>int</a:t>
            </a:r>
            <a:r>
              <a:rPr lang="en-US" sz="2800" dirty="0">
                <a:latin typeface="Times New Roman" panose="02020603050405020304" charset="0"/>
                <a:cs typeface="Times New Roman" panose="02020603050405020304" charset="0"/>
                <a:sym typeface="+mn-ea"/>
              </a:rPr>
              <a:t> a, </a:t>
            </a:r>
            <a:r>
              <a:rPr lang="en-US" sz="2800" dirty="0" err="1">
                <a:latin typeface="Times New Roman" panose="02020603050405020304" charset="0"/>
                <a:cs typeface="Times New Roman" panose="02020603050405020304" charset="0"/>
                <a:sym typeface="+mn-ea"/>
              </a:rPr>
              <a:t>int</a:t>
            </a:r>
            <a:r>
              <a:rPr lang="en-US" sz="2800" dirty="0">
                <a:latin typeface="Times New Roman" panose="02020603050405020304" charset="0"/>
                <a:cs typeface="Times New Roman" panose="02020603050405020304" charset="0"/>
                <a:sym typeface="+mn-ea"/>
              </a:rPr>
              <a:t> b)</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return a/b;</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a:t>
            </a:r>
            <a:endParaRPr lang="en-US" sz="2800" dirty="0">
              <a:latin typeface="Times New Roman" panose="02020603050405020304" charset="0"/>
              <a:cs typeface="Times New Roman" panose="02020603050405020304" charset="0"/>
            </a:endParaRPr>
          </a:p>
          <a:p>
            <a:pPr marL="0" indent="0">
              <a:buNone/>
            </a:pPr>
            <a:r>
              <a:rPr lang="en-US" sz="2800" dirty="0" err="1">
                <a:latin typeface="Times New Roman" panose="02020603050405020304" charset="0"/>
                <a:cs typeface="Times New Roman" panose="02020603050405020304" charset="0"/>
                <a:sym typeface="+mn-ea"/>
              </a:rPr>
              <a:t>int</a:t>
            </a:r>
            <a:r>
              <a:rPr lang="en-US" sz="2800" dirty="0">
                <a:latin typeface="Times New Roman" panose="02020603050405020304" charset="0"/>
                <a:cs typeface="Times New Roman" panose="02020603050405020304" charset="0"/>
                <a:sym typeface="+mn-ea"/>
              </a:rPr>
              <a:t> </a:t>
            </a:r>
            <a:r>
              <a:rPr lang="en-US" sz="2800" dirty="0" err="1">
                <a:latin typeface="Times New Roman" panose="02020603050405020304" charset="0"/>
                <a:cs typeface="Times New Roman" panose="02020603050405020304" charset="0"/>
                <a:sym typeface="+mn-ea"/>
              </a:rPr>
              <a:t>devide</a:t>
            </a:r>
            <a:r>
              <a:rPr lang="en-US" sz="2800" dirty="0">
                <a:latin typeface="Times New Roman" panose="02020603050405020304" charset="0"/>
                <a:cs typeface="Times New Roman" panose="02020603050405020304" charset="0"/>
                <a:sym typeface="+mn-ea"/>
              </a:rPr>
              <a:t> (</a:t>
            </a:r>
            <a:r>
              <a:rPr lang="en-US" sz="2800" dirty="0" err="1">
                <a:latin typeface="Times New Roman" panose="02020603050405020304" charset="0"/>
                <a:cs typeface="Times New Roman" panose="02020603050405020304" charset="0"/>
                <a:sym typeface="+mn-ea"/>
              </a:rPr>
              <a:t>int</a:t>
            </a:r>
            <a:r>
              <a:rPr lang="en-US" sz="2800" dirty="0">
                <a:latin typeface="Times New Roman" panose="02020603050405020304" charset="0"/>
                <a:cs typeface="Times New Roman" panose="02020603050405020304" charset="0"/>
                <a:sym typeface="+mn-ea"/>
              </a:rPr>
              <a:t> a, </a:t>
            </a:r>
            <a:r>
              <a:rPr lang="en-US" sz="2800" dirty="0" err="1">
                <a:latin typeface="Times New Roman" panose="02020603050405020304" charset="0"/>
                <a:cs typeface="Times New Roman" panose="02020603050405020304" charset="0"/>
                <a:sym typeface="+mn-ea"/>
              </a:rPr>
              <a:t>int</a:t>
            </a:r>
            <a:r>
              <a:rPr lang="en-US" sz="2800" dirty="0">
                <a:latin typeface="Times New Roman" panose="02020603050405020304" charset="0"/>
                <a:cs typeface="Times New Roman" panose="02020603050405020304" charset="0"/>
                <a:sym typeface="+mn-ea"/>
              </a:rPr>
              <a:t> b, </a:t>
            </a:r>
            <a:r>
              <a:rPr lang="en-US" sz="2800" dirty="0" err="1">
                <a:latin typeface="Times New Roman" panose="02020603050405020304" charset="0"/>
                <a:cs typeface="Times New Roman" panose="02020603050405020304" charset="0"/>
                <a:sym typeface="+mn-ea"/>
              </a:rPr>
              <a:t>int</a:t>
            </a:r>
            <a:r>
              <a:rPr lang="en-US" sz="2800" dirty="0">
                <a:latin typeface="Times New Roman" panose="02020603050405020304" charset="0"/>
                <a:cs typeface="Times New Roman" panose="02020603050405020304" charset="0"/>
                <a:sym typeface="+mn-ea"/>
              </a:rPr>
              <a:t> c)</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a:t>
            </a:r>
            <a:endParaRPr lang="en-US" sz="2800" dirty="0">
              <a:latin typeface="Times New Roman" panose="02020603050405020304" charset="0"/>
              <a:cs typeface="Times New Roman" panose="02020603050405020304" charset="0"/>
            </a:endParaRPr>
          </a:p>
          <a:p>
            <a:pPr marL="0" indent="0">
              <a:buNone/>
            </a:pPr>
            <a:r>
              <a:rPr lang="en-US" sz="2800" dirty="0" err="1">
                <a:latin typeface="Times New Roman" panose="02020603050405020304" charset="0"/>
                <a:cs typeface="Times New Roman" panose="02020603050405020304" charset="0"/>
                <a:sym typeface="+mn-ea"/>
              </a:rPr>
              <a:t>int</a:t>
            </a:r>
            <a:r>
              <a:rPr lang="en-US" sz="2800" dirty="0">
                <a:latin typeface="Times New Roman" panose="02020603050405020304" charset="0"/>
                <a:cs typeface="Times New Roman" panose="02020603050405020304" charset="0"/>
                <a:sym typeface="+mn-ea"/>
              </a:rPr>
              <a:t> w=a/b </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return w/c;</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float </a:t>
            </a:r>
            <a:r>
              <a:rPr lang="en-US" sz="2800" dirty="0" err="1">
                <a:latin typeface="Times New Roman" panose="02020603050405020304" charset="0"/>
                <a:cs typeface="Times New Roman" panose="02020603050405020304" charset="0"/>
                <a:sym typeface="+mn-ea"/>
              </a:rPr>
              <a:t>devide</a:t>
            </a:r>
            <a:r>
              <a:rPr lang="en-US" sz="2800" dirty="0">
                <a:latin typeface="Times New Roman" panose="02020603050405020304" charset="0"/>
                <a:cs typeface="Times New Roman" panose="02020603050405020304" charset="0"/>
                <a:sym typeface="+mn-ea"/>
              </a:rPr>
              <a:t> (float x, float y)</a:t>
            </a:r>
            <a:endParaRPr lang="en-US" sz="2800" dirty="0">
              <a:latin typeface="Times New Roman" panose="02020603050405020304" charset="0"/>
              <a:cs typeface="Times New Roman" panose="02020603050405020304" charset="0"/>
            </a:endParaRPr>
          </a:p>
          <a:p>
            <a:pPr marL="0" indent="0">
              <a:buNone/>
            </a:pPr>
            <a:r>
              <a:rPr lang="pt-BR" sz="2800" dirty="0">
                <a:latin typeface="Times New Roman" panose="02020603050405020304" charset="0"/>
                <a:cs typeface="Times New Roman" panose="02020603050405020304" charset="0"/>
                <a:sym typeface="+mn-ea"/>
              </a:rPr>
              <a:t>{</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return x/y;</a:t>
            </a:r>
            <a:endParaRPr lang="en-US" sz="2800" dirty="0">
              <a:latin typeface="Times New Roman" panose="02020603050405020304" charset="0"/>
              <a:cs typeface="Times New Roman" panose="02020603050405020304" charset="0"/>
            </a:endParaRPr>
          </a:p>
          <a:p>
            <a:pPr marL="0" indent="0">
              <a:buNone/>
            </a:pPr>
            <a:r>
              <a:rPr lang="en-US" sz="2800" dirty="0">
                <a:latin typeface="Times New Roman" panose="02020603050405020304" charset="0"/>
                <a:cs typeface="Times New Roman" panose="02020603050405020304" charset="0"/>
                <a:sym typeface="+mn-ea"/>
              </a:rPr>
              <a:t>}</a:t>
            </a:r>
            <a:endParaRPr lang="en-US" sz="2800" dirty="0">
              <a:latin typeface="Times New Roman" panose="02020603050405020304" charset="0"/>
              <a:cs typeface="Times New Roman" panose="02020603050405020304" charset="0"/>
            </a:endParaRPr>
          </a:p>
          <a:p>
            <a:pPr marL="0" indent="0">
              <a:buNone/>
            </a:pPr>
            <a:endParaRPr lang="en-US" sz="2800" dirty="0">
              <a:latin typeface="Times New Roman" panose="02020603050405020304" charset="0"/>
              <a:cs typeface="Times New Roman" panose="02020603050405020304" charset="0"/>
            </a:endParaRPr>
          </a:p>
          <a:p>
            <a:endParaRPr lang="en-US" altLang="en-US" sz="2800" dirty="0">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10629900" cy="600710"/>
          </a:xfrm>
        </p:spPr>
        <p:txBody>
          <a:bodyPr>
            <a:noAutofit/>
          </a:bodyPr>
          <a:lstStyle/>
          <a:p>
            <a:pPr algn="ctr"/>
            <a:r>
              <a:rPr lang="en-US" dirty="0">
                <a:latin typeface="Times New Roman" panose="02020603050405020304" charset="0"/>
                <a:cs typeface="Times New Roman" panose="02020603050405020304" charset="0"/>
                <a:sym typeface="+mn-ea"/>
              </a:rPr>
              <a:t>Global and Local Scope</a:t>
            </a:r>
            <a:br>
              <a:rPr lang="en-US" dirty="0">
                <a:latin typeface="Times New Roman" panose="02020603050405020304" charset="0"/>
                <a:cs typeface="Times New Roman" panose="02020603050405020304" charset="0"/>
                <a:sym typeface="+mn-ea"/>
              </a:rPr>
            </a:br>
            <a:endParaRPr lang="en-GB" altLang="en-US"/>
          </a:p>
        </p:txBody>
      </p:sp>
      <p:sp>
        <p:nvSpPr>
          <p:cNvPr id="3" name="Subtitle 2"/>
          <p:cNvSpPr>
            <a:spLocks noGrp="1"/>
          </p:cNvSpPr>
          <p:nvPr>
            <p:ph type="subTitle" idx="4"/>
          </p:nvPr>
        </p:nvSpPr>
        <p:spPr>
          <a:xfrm>
            <a:off x="394970" y="1157605"/>
            <a:ext cx="11410950" cy="5147945"/>
          </a:xfrm>
        </p:spPr>
        <p:txBody>
          <a:bodyPr>
            <a:noAutofit/>
          </a:bodyPr>
          <a:lstStyle/>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Everything defined </a:t>
            </a:r>
            <a:r>
              <a:rPr lang="en-US" sz="2500" dirty="0">
                <a:solidFill>
                  <a:srgbClr val="FF0000"/>
                </a:solidFill>
                <a:latin typeface="Times New Roman" panose="02020603050405020304" charset="0"/>
                <a:cs typeface="Times New Roman" panose="02020603050405020304" charset="0"/>
                <a:sym typeface="+mn-ea"/>
              </a:rPr>
              <a:t>at the program scope level</a:t>
            </a:r>
            <a:r>
              <a:rPr lang="en-US" sz="2500" dirty="0">
                <a:latin typeface="Times New Roman" panose="02020603050405020304" charset="0"/>
                <a:cs typeface="Times New Roman" panose="02020603050405020304" charset="0"/>
                <a:sym typeface="+mn-ea"/>
              </a:rPr>
              <a:t> (i.e., outside functions) is said to have a </a:t>
            </a:r>
            <a:r>
              <a:rPr lang="en-US" sz="2500" b="1" dirty="0">
                <a:latin typeface="Times New Roman" panose="02020603050405020304" charset="0"/>
                <a:cs typeface="Times New Roman" panose="02020603050405020304" charset="0"/>
                <a:sym typeface="+mn-ea"/>
              </a:rPr>
              <a:t>global scope.</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Thus the </a:t>
            </a:r>
            <a:r>
              <a:rPr lang="en-US" sz="2500" dirty="0">
                <a:solidFill>
                  <a:srgbClr val="FF0000"/>
                </a:solidFill>
                <a:latin typeface="Times New Roman" panose="02020603050405020304" charset="0"/>
                <a:cs typeface="Times New Roman" panose="02020603050405020304" charset="0"/>
                <a:sym typeface="+mn-ea"/>
              </a:rPr>
              <a:t>sample functions</a:t>
            </a:r>
            <a:r>
              <a:rPr lang="en-US" sz="2500" dirty="0">
                <a:latin typeface="Times New Roman" panose="02020603050405020304" charset="0"/>
                <a:cs typeface="Times New Roman" panose="02020603050405020304" charset="0"/>
                <a:sym typeface="+mn-ea"/>
              </a:rPr>
              <a:t> we have seen so far </a:t>
            </a:r>
            <a:r>
              <a:rPr lang="en-US" sz="2500" dirty="0">
                <a:solidFill>
                  <a:srgbClr val="FF0000"/>
                </a:solidFill>
                <a:latin typeface="Times New Roman" panose="02020603050405020304" charset="0"/>
                <a:cs typeface="Times New Roman" panose="02020603050405020304" charset="0"/>
                <a:sym typeface="+mn-ea"/>
              </a:rPr>
              <a:t>all have a global scope</a:t>
            </a:r>
            <a:r>
              <a:rPr lang="en-US" sz="2500" dirty="0">
                <a:latin typeface="Times New Roman" panose="02020603050405020304" charset="0"/>
                <a:cs typeface="Times New Roman" panose="02020603050405020304" charset="0"/>
                <a:sym typeface="+mn-ea"/>
              </a:rPr>
              <a:t>. </a:t>
            </a:r>
          </a:p>
          <a:p>
            <a:pPr marL="342900" indent="-342900" algn="just">
              <a:buFont typeface="Wingdings" panose="05000000000000000000" charset="0"/>
              <a:buChar char="Ø"/>
            </a:pPr>
            <a:r>
              <a:rPr lang="en-US" sz="2500" b="1" dirty="0">
                <a:latin typeface="Times New Roman" panose="02020603050405020304" charset="0"/>
                <a:cs typeface="Times New Roman" panose="02020603050405020304" charset="0"/>
                <a:sym typeface="+mn-ea"/>
              </a:rPr>
              <a:t>Variables</a:t>
            </a:r>
            <a:r>
              <a:rPr lang="en-US" sz="2500" dirty="0">
                <a:latin typeface="Times New Roman" panose="02020603050405020304" charset="0"/>
                <a:cs typeface="Times New Roman" panose="02020603050405020304" charset="0"/>
                <a:sym typeface="+mn-ea"/>
              </a:rPr>
              <a:t> may also be defined </a:t>
            </a:r>
            <a:r>
              <a:rPr lang="en-US" sz="2500" dirty="0">
                <a:solidFill>
                  <a:srgbClr val="FF0000"/>
                </a:solidFill>
                <a:latin typeface="Times New Roman" panose="02020603050405020304" charset="0"/>
                <a:cs typeface="Times New Roman" panose="02020603050405020304" charset="0"/>
                <a:sym typeface="+mn-ea"/>
              </a:rPr>
              <a:t>at the global scope</a:t>
            </a:r>
            <a:r>
              <a:rPr lang="en-GB" altLang="en-US" sz="2500" dirty="0">
                <a:solidFill>
                  <a:srgbClr val="FF0000"/>
                </a:solidFill>
                <a:latin typeface="Times New Roman" panose="02020603050405020304" charset="0"/>
                <a:cs typeface="Times New Roman" panose="02020603050405020304" charset="0"/>
                <a:sym typeface="+mn-ea"/>
              </a:rPr>
              <a:t>.</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Since </a:t>
            </a:r>
            <a:r>
              <a:rPr lang="en-US" sz="2500" b="1" dirty="0">
                <a:latin typeface="Times New Roman" panose="02020603050405020304" charset="0"/>
                <a:cs typeface="Times New Roman" panose="02020603050405020304" charset="0"/>
                <a:sym typeface="+mn-ea"/>
              </a:rPr>
              <a:t>global entities </a:t>
            </a:r>
            <a:r>
              <a:rPr lang="en-US" sz="2500" dirty="0">
                <a:latin typeface="Times New Roman" panose="02020603050405020304" charset="0"/>
                <a:cs typeface="Times New Roman" panose="02020603050405020304" charset="0"/>
                <a:sym typeface="+mn-ea"/>
              </a:rPr>
              <a:t>are</a:t>
            </a:r>
            <a:r>
              <a:rPr lang="en-US" sz="2500" dirty="0">
                <a:solidFill>
                  <a:schemeClr val="tx2">
                    <a:lumMod val="60000"/>
                    <a:lumOff val="40000"/>
                  </a:schemeClr>
                </a:solidFill>
                <a:latin typeface="Times New Roman" panose="02020603050405020304" charset="0"/>
                <a:cs typeface="Times New Roman" panose="02020603050405020304" charset="0"/>
                <a:sym typeface="+mn-ea"/>
              </a:rPr>
              <a:t> visible at the program level</a:t>
            </a:r>
            <a:r>
              <a:rPr lang="en-US" sz="2500" dirty="0">
                <a:latin typeface="Times New Roman" panose="02020603050405020304" charset="0"/>
                <a:cs typeface="Times New Roman" panose="02020603050405020304" charset="0"/>
                <a:sym typeface="+mn-ea"/>
              </a:rPr>
              <a:t>, they must also be </a:t>
            </a:r>
            <a:r>
              <a:rPr lang="en-US" sz="2500" dirty="0">
                <a:solidFill>
                  <a:srgbClr val="FF0000"/>
                </a:solidFill>
                <a:latin typeface="Times New Roman" panose="02020603050405020304" charset="0"/>
                <a:cs typeface="Times New Roman" panose="02020603050405020304" charset="0"/>
                <a:sym typeface="+mn-ea"/>
              </a:rPr>
              <a:t>unique at the program level. </a:t>
            </a:r>
            <a:r>
              <a:rPr lang="en-US" sz="2500" dirty="0">
                <a:latin typeface="Times New Roman" panose="02020603050405020304" charset="0"/>
                <a:cs typeface="Times New Roman" panose="02020603050405020304" charset="0"/>
                <a:sym typeface="+mn-ea"/>
              </a:rPr>
              <a:t>This means that the </a:t>
            </a:r>
            <a:r>
              <a:rPr lang="en-US" sz="2500" dirty="0">
                <a:solidFill>
                  <a:srgbClr val="FF0000"/>
                </a:solidFill>
                <a:latin typeface="Times New Roman" panose="02020603050405020304" charset="0"/>
                <a:cs typeface="Times New Roman" panose="02020603050405020304" charset="0"/>
                <a:sym typeface="+mn-ea"/>
              </a:rPr>
              <a:t>same global variable</a:t>
            </a:r>
            <a:r>
              <a:rPr lang="en-US" sz="2500" dirty="0">
                <a:latin typeface="Times New Roman" panose="02020603050405020304" charset="0"/>
                <a:cs typeface="Times New Roman" panose="02020603050405020304" charset="0"/>
                <a:sym typeface="+mn-ea"/>
              </a:rPr>
              <a:t> or </a:t>
            </a:r>
            <a:r>
              <a:rPr lang="en-US" sz="2500" dirty="0">
                <a:solidFill>
                  <a:srgbClr val="FF0000"/>
                </a:solidFill>
                <a:latin typeface="Times New Roman" panose="02020603050405020304" charset="0"/>
                <a:cs typeface="Times New Roman" panose="02020603050405020304" charset="0"/>
                <a:sym typeface="+mn-ea"/>
              </a:rPr>
              <a:t>function</a:t>
            </a:r>
            <a:r>
              <a:rPr lang="en-US" sz="2500" dirty="0">
                <a:latin typeface="Times New Roman" panose="02020603050405020304" charset="0"/>
                <a:cs typeface="Times New Roman" panose="02020603050405020304" charset="0"/>
                <a:sym typeface="+mn-ea"/>
              </a:rPr>
              <a:t> may </a:t>
            </a:r>
            <a:r>
              <a:rPr lang="en-US" sz="2500" dirty="0">
                <a:solidFill>
                  <a:srgbClr val="00B0F0"/>
                </a:solidFill>
                <a:latin typeface="Times New Roman" panose="02020603050405020304" charset="0"/>
                <a:cs typeface="Times New Roman" panose="02020603050405020304" charset="0"/>
                <a:sym typeface="+mn-ea"/>
              </a:rPr>
              <a:t>not be </a:t>
            </a:r>
            <a:r>
              <a:rPr lang="en-US" sz="2500" i="1" dirty="0">
                <a:solidFill>
                  <a:srgbClr val="00B0F0"/>
                </a:solidFill>
                <a:latin typeface="Times New Roman" panose="02020603050405020304" charset="0"/>
                <a:cs typeface="Times New Roman" panose="02020603050405020304" charset="0"/>
                <a:sym typeface="+mn-ea"/>
              </a:rPr>
              <a:t>defined </a:t>
            </a:r>
            <a:r>
              <a:rPr lang="en-US" sz="2500" dirty="0">
                <a:solidFill>
                  <a:srgbClr val="00B0F0"/>
                </a:solidFill>
                <a:latin typeface="Times New Roman" panose="02020603050405020304" charset="0"/>
                <a:cs typeface="Times New Roman" panose="02020603050405020304" charset="0"/>
                <a:sym typeface="+mn-ea"/>
              </a:rPr>
              <a:t>more than once at the global level</a:t>
            </a:r>
            <a:r>
              <a:rPr lang="en-US" sz="2500" dirty="0">
                <a:latin typeface="Times New Roman" panose="02020603050405020304" charset="0"/>
                <a:cs typeface="Times New Roman" panose="02020603050405020304" charset="0"/>
                <a:sym typeface="+mn-ea"/>
              </a:rPr>
              <a:t>. </a:t>
            </a:r>
          </a:p>
          <a:p>
            <a:pPr marL="342900" indent="-342900" algn="just">
              <a:buFont typeface="Wingdings" panose="05000000000000000000" charset="0"/>
              <a:buChar char="Ø"/>
            </a:pPr>
            <a:r>
              <a:rPr lang="en-US" sz="2500" b="1" dirty="0">
                <a:latin typeface="Times New Roman" panose="02020603050405020304" charset="0"/>
                <a:cs typeface="Times New Roman" panose="02020603050405020304" charset="0"/>
                <a:sym typeface="+mn-ea"/>
              </a:rPr>
              <a:t>Global entities </a:t>
            </a:r>
            <a:r>
              <a:rPr lang="en-US" sz="2500" dirty="0">
                <a:latin typeface="Times New Roman" panose="02020603050405020304" charset="0"/>
                <a:cs typeface="Times New Roman" panose="02020603050405020304" charset="0"/>
                <a:sym typeface="+mn-ea"/>
              </a:rPr>
              <a:t>are generally </a:t>
            </a:r>
            <a:r>
              <a:rPr lang="en-US" sz="2500" dirty="0">
                <a:solidFill>
                  <a:srgbClr val="00B0F0"/>
                </a:solidFill>
                <a:latin typeface="Times New Roman" panose="02020603050405020304" charset="0"/>
                <a:cs typeface="Times New Roman" panose="02020603050405020304" charset="0"/>
                <a:sym typeface="+mn-ea"/>
              </a:rPr>
              <a:t>accessible everywhere in the program</a:t>
            </a:r>
            <a:r>
              <a:rPr lang="en-US" sz="2500" dirty="0">
                <a:latin typeface="Times New Roman" panose="02020603050405020304" charset="0"/>
                <a:cs typeface="Times New Roman" panose="02020603050405020304" charset="0"/>
                <a:sym typeface="+mn-ea"/>
              </a:rPr>
              <a:t>.</a:t>
            </a:r>
          </a:p>
          <a:p>
            <a:pPr marL="342900" indent="-342900" algn="just">
              <a:buFont typeface="Wingdings" panose="05000000000000000000" charset="0"/>
              <a:buChar char="Ø"/>
            </a:pPr>
            <a:r>
              <a:rPr lang="en-US" sz="2500" dirty="0">
                <a:solidFill>
                  <a:srgbClr val="FF0000"/>
                </a:solidFill>
                <a:latin typeface="Times New Roman" panose="02020603050405020304" charset="0"/>
                <a:cs typeface="Times New Roman" panose="02020603050405020304" charset="0"/>
                <a:sym typeface="+mn-ea"/>
              </a:rPr>
              <a:t>Un initialized global variables </a:t>
            </a:r>
            <a:r>
              <a:rPr lang="en-US" sz="2500" dirty="0">
                <a:latin typeface="Times New Roman" panose="02020603050405020304" charset="0"/>
                <a:cs typeface="Times New Roman" panose="02020603050405020304" charset="0"/>
                <a:sym typeface="+mn-ea"/>
              </a:rPr>
              <a:t>are automatically</a:t>
            </a:r>
            <a:r>
              <a:rPr lang="en-US" sz="2500" dirty="0">
                <a:solidFill>
                  <a:srgbClr val="FF0000"/>
                </a:solidFill>
                <a:latin typeface="Times New Roman" panose="02020603050405020304" charset="0"/>
                <a:cs typeface="Times New Roman" panose="02020603050405020304" charset="0"/>
                <a:sym typeface="+mn-ea"/>
              </a:rPr>
              <a:t> initialized to zero</a:t>
            </a:r>
            <a:r>
              <a:rPr lang="en-US" sz="2500" dirty="0">
                <a:latin typeface="Times New Roman" panose="02020603050405020304" charset="0"/>
                <a:cs typeface="Times New Roman" panose="02020603050405020304" charset="0"/>
                <a:sym typeface="+mn-ea"/>
              </a:rPr>
              <a:t>. </a:t>
            </a:r>
            <a:endParaRPr lang="en-US" sz="2500" dirty="0">
              <a:latin typeface="Times New Roman" panose="02020603050405020304" charset="0"/>
              <a:cs typeface="Times New Roman" panose="02020603050405020304" charset="0"/>
            </a:endParaRPr>
          </a:p>
          <a:p>
            <a:pPr marL="0" indent="0" algn="just">
              <a:buFont typeface="Wingdings" panose="05000000000000000000" pitchFamily="2" charset="2"/>
              <a:buNone/>
            </a:pPr>
            <a:endParaRPr lang="en-GB" altLang="en-US" sz="25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655320" y="492760"/>
            <a:ext cx="10828020" cy="6194425"/>
          </a:xfrm>
        </p:spPr>
        <p:txBody>
          <a:bodyPr>
            <a:noAutofit/>
          </a:bodyPr>
          <a:lstStyle/>
          <a:p>
            <a:pPr marL="342900" indent="-342900" algn="just">
              <a:buFont typeface="Wingdings" panose="05000000000000000000" charset="0"/>
              <a:buChar char="Ø"/>
            </a:pPr>
            <a:r>
              <a:rPr lang="en-US" sz="2500" b="1" dirty="0">
                <a:latin typeface="Times New Roman" panose="02020603050405020304" charset="0"/>
                <a:cs typeface="Times New Roman" panose="02020603050405020304" charset="0"/>
                <a:sym typeface="+mn-ea"/>
              </a:rPr>
              <a:t>Each block</a:t>
            </a:r>
            <a:r>
              <a:rPr lang="en-US" sz="2500" dirty="0">
                <a:latin typeface="Times New Roman" panose="02020603050405020304" charset="0"/>
                <a:cs typeface="Times New Roman" panose="02020603050405020304" charset="0"/>
                <a:sym typeface="+mn-ea"/>
              </a:rPr>
              <a:t> in a program defines a </a:t>
            </a:r>
            <a:r>
              <a:rPr lang="en-US" sz="2500" b="1" dirty="0">
                <a:latin typeface="Times New Roman" panose="02020603050405020304" charset="0"/>
                <a:cs typeface="Times New Roman" panose="02020603050405020304" charset="0"/>
                <a:sym typeface="+mn-ea"/>
              </a:rPr>
              <a:t>local scope</a:t>
            </a:r>
            <a:r>
              <a:rPr lang="en-US" sz="2500" dirty="0">
                <a:latin typeface="Times New Roman" panose="02020603050405020304" charset="0"/>
                <a:cs typeface="Times New Roman" panose="02020603050405020304" charset="0"/>
                <a:sym typeface="+mn-ea"/>
              </a:rPr>
              <a:t>. Thus the </a:t>
            </a:r>
            <a:r>
              <a:rPr lang="en-US" sz="2500" b="1" dirty="0">
                <a:latin typeface="Times New Roman" panose="02020603050405020304" charset="0"/>
                <a:cs typeface="Times New Roman" panose="02020603050405020304" charset="0"/>
                <a:sym typeface="+mn-ea"/>
              </a:rPr>
              <a:t>body of a function</a:t>
            </a:r>
            <a:r>
              <a:rPr lang="en-US" sz="2500" dirty="0">
                <a:latin typeface="Times New Roman" panose="02020603050405020304" charset="0"/>
                <a:cs typeface="Times New Roman" panose="02020603050405020304" charset="0"/>
                <a:sym typeface="+mn-ea"/>
              </a:rPr>
              <a:t> represents a </a:t>
            </a:r>
            <a:r>
              <a:rPr lang="en-US" sz="2500" dirty="0">
                <a:solidFill>
                  <a:srgbClr val="00B0F0"/>
                </a:solidFill>
                <a:latin typeface="Times New Roman" panose="02020603050405020304" charset="0"/>
                <a:cs typeface="Times New Roman" panose="02020603050405020304" charset="0"/>
                <a:sym typeface="+mn-ea"/>
              </a:rPr>
              <a:t>local scope</a:t>
            </a:r>
            <a:r>
              <a:rPr lang="en-US" sz="2500" dirty="0">
                <a:latin typeface="Times New Roman" panose="02020603050405020304" charset="0"/>
                <a:cs typeface="Times New Roman" panose="02020603050405020304" charset="0"/>
                <a:sym typeface="+mn-ea"/>
              </a:rPr>
              <a:t>. </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The </a:t>
            </a:r>
            <a:r>
              <a:rPr lang="en-US" sz="2500" dirty="0">
                <a:solidFill>
                  <a:srgbClr val="FF0000"/>
                </a:solidFill>
                <a:latin typeface="Times New Roman" panose="02020603050405020304" charset="0"/>
                <a:cs typeface="Times New Roman" panose="02020603050405020304" charset="0"/>
                <a:sym typeface="+mn-ea"/>
              </a:rPr>
              <a:t>parameters of a function</a:t>
            </a:r>
            <a:r>
              <a:rPr lang="en-US" sz="2500" dirty="0">
                <a:latin typeface="Times New Roman" panose="02020603050405020304" charset="0"/>
                <a:cs typeface="Times New Roman" panose="02020603050405020304" charset="0"/>
                <a:sym typeface="+mn-ea"/>
              </a:rPr>
              <a:t> have the</a:t>
            </a:r>
            <a:r>
              <a:rPr lang="en-US" sz="2500" dirty="0">
                <a:solidFill>
                  <a:srgbClr val="00B0F0"/>
                </a:solidFill>
                <a:latin typeface="Times New Roman" panose="02020603050405020304" charset="0"/>
                <a:cs typeface="Times New Roman" panose="02020603050405020304" charset="0"/>
                <a:sym typeface="+mn-ea"/>
              </a:rPr>
              <a:t> same scope as the function body</a:t>
            </a:r>
            <a:r>
              <a:rPr lang="en-US" sz="2500" dirty="0">
                <a:latin typeface="Times New Roman" panose="02020603050405020304" charset="0"/>
                <a:cs typeface="Times New Roman" panose="02020603050405020304" charset="0"/>
                <a:sym typeface="+mn-ea"/>
              </a:rPr>
              <a:t>. </a:t>
            </a:r>
          </a:p>
          <a:p>
            <a:pPr marL="34290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Variables defined within a local scope are visible to that scope only. Hence, a variable need only be unique within its own scope.</a:t>
            </a:r>
          </a:p>
          <a:p>
            <a:pPr marL="342900" indent="-342900" algn="just">
              <a:buFont typeface="Wingdings" panose="05000000000000000000" charset="0"/>
              <a:buChar char="Ø"/>
            </a:pPr>
            <a:r>
              <a:rPr lang="en-US" sz="2500" b="1" dirty="0">
                <a:latin typeface="Times New Roman" panose="02020603050405020304" charset="0"/>
                <a:cs typeface="Times New Roman" panose="02020603050405020304" charset="0"/>
                <a:sym typeface="+mn-ea"/>
              </a:rPr>
              <a:t>Local scopes may be nested</a:t>
            </a:r>
            <a:r>
              <a:rPr lang="en-US" sz="2500" dirty="0">
                <a:latin typeface="Times New Roman" panose="02020603050405020304" charset="0"/>
                <a:cs typeface="Times New Roman" panose="02020603050405020304" charset="0"/>
                <a:sym typeface="+mn-ea"/>
              </a:rPr>
              <a:t>, in which case the </a:t>
            </a:r>
            <a:r>
              <a:rPr lang="en-US" sz="2500" dirty="0">
                <a:solidFill>
                  <a:srgbClr val="00B0F0"/>
                </a:solidFill>
                <a:latin typeface="Times New Roman" panose="02020603050405020304" charset="0"/>
                <a:cs typeface="Times New Roman" panose="02020603050405020304" charset="0"/>
                <a:sym typeface="+mn-ea"/>
              </a:rPr>
              <a:t>inner scopes override</a:t>
            </a:r>
            <a:r>
              <a:rPr lang="en-US" sz="2500" dirty="0">
                <a:latin typeface="Times New Roman" panose="02020603050405020304" charset="0"/>
                <a:cs typeface="Times New Roman" panose="02020603050405020304" charset="0"/>
                <a:sym typeface="+mn-ea"/>
              </a:rPr>
              <a:t> the </a:t>
            </a:r>
            <a:r>
              <a:rPr lang="en-US" sz="2500" dirty="0">
                <a:solidFill>
                  <a:srgbClr val="FF0000"/>
                </a:solidFill>
                <a:latin typeface="Times New Roman" panose="02020603050405020304" charset="0"/>
                <a:cs typeface="Times New Roman" panose="02020603050405020304" charset="0"/>
                <a:sym typeface="+mn-ea"/>
              </a:rPr>
              <a:t>outer scopes</a:t>
            </a:r>
            <a:r>
              <a:rPr lang="en-US" sz="2500" dirty="0">
                <a:latin typeface="Times New Roman" panose="02020603050405020304" charset="0"/>
                <a:cs typeface="Times New Roman" panose="02020603050405020304" charset="0"/>
                <a:sym typeface="+mn-ea"/>
              </a:rPr>
              <a:t>. </a:t>
            </a:r>
          </a:p>
          <a:p>
            <a:pPr marL="0" indent="0" algn="just">
              <a:buNone/>
            </a:pPr>
            <a:r>
              <a:rPr lang="en-US" sz="2400" b="1" dirty="0">
                <a:latin typeface="Times New Roman" panose="02020603050405020304" charset="0"/>
                <a:cs typeface="Times New Roman" panose="02020603050405020304" charset="0"/>
                <a:sym typeface="+mn-ea"/>
              </a:rPr>
              <a:t>For example</a:t>
            </a:r>
            <a:endParaRPr lang="en-US" sz="2400" b="1" dirty="0">
              <a:latin typeface="Times New Roman" panose="02020603050405020304" charset="0"/>
              <a:cs typeface="Times New Roman" panose="02020603050405020304" charset="0"/>
            </a:endParaRPr>
          </a:p>
          <a:p>
            <a:pPr marL="1371600" lvl="3" indent="0" algn="just">
              <a:buNone/>
            </a:pPr>
            <a:r>
              <a:rPr lang="en-US" sz="2400" dirty="0">
                <a:latin typeface="Times New Roman" panose="02020603050405020304" charset="0"/>
                <a:cs typeface="Times New Roman" panose="02020603050405020304" charset="0"/>
                <a:sym typeface="+mn-ea"/>
              </a:rPr>
              <a:t>   </a:t>
            </a:r>
            <a:endParaRPr lang="en-GB" altLang="en-US" sz="240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573145"/>
            <a:ext cx="8841105" cy="252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10629900" cy="559435"/>
          </a:xfrm>
        </p:spPr>
        <p:txBody>
          <a:bodyPr>
            <a:noAutofit/>
          </a:bodyPr>
          <a:lstStyle/>
          <a:p>
            <a:r>
              <a:rPr lang="en-US" dirty="0">
                <a:latin typeface="Times New Roman" panose="02020603050405020304" charset="0"/>
                <a:cs typeface="Times New Roman" panose="02020603050405020304" charset="0"/>
                <a:sym typeface="+mn-ea"/>
              </a:rPr>
              <a:t>Scope Resolution Operator</a:t>
            </a:r>
            <a:endParaRPr lang="en-GB" altLang="en-US">
              <a:latin typeface="Times New Roman" panose="02020603050405020304" charset="0"/>
              <a:cs typeface="Times New Roman" panose="02020603050405020304" charset="0"/>
            </a:endParaRPr>
          </a:p>
        </p:txBody>
      </p:sp>
      <p:sp>
        <p:nvSpPr>
          <p:cNvPr id="3" name="Subtitle 2"/>
          <p:cNvSpPr>
            <a:spLocks noGrp="1"/>
          </p:cNvSpPr>
          <p:nvPr>
            <p:ph type="subTitle" idx="4"/>
          </p:nvPr>
        </p:nvSpPr>
        <p:spPr>
          <a:xfrm>
            <a:off x="757555" y="1108710"/>
            <a:ext cx="10725785" cy="5196840"/>
          </a:xfrm>
        </p:spPr>
        <p:txBody>
          <a:bodyPr>
            <a:noAutofit/>
          </a:bodyPr>
          <a:lstStyle/>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To </a:t>
            </a:r>
            <a:r>
              <a:rPr lang="en-US" sz="2500" dirty="0">
                <a:solidFill>
                  <a:srgbClr val="0000FF"/>
                </a:solidFill>
                <a:latin typeface="Times New Roman" panose="02020603050405020304" charset="0"/>
                <a:cs typeface="Times New Roman" panose="02020603050405020304" charset="0"/>
                <a:sym typeface="+mn-ea"/>
              </a:rPr>
              <a:t>reference a global variable</a:t>
            </a:r>
            <a:r>
              <a:rPr lang="en-US" sz="2500" dirty="0">
                <a:latin typeface="Times New Roman" panose="02020603050405020304" charset="0"/>
                <a:cs typeface="Times New Roman" panose="02020603050405020304" charset="0"/>
                <a:sym typeface="+mn-ea"/>
              </a:rPr>
              <a:t> when a local variable of the same name is in scope, use C++’s </a:t>
            </a:r>
            <a:r>
              <a:rPr lang="en-US" sz="2500" dirty="0">
                <a:solidFill>
                  <a:srgbClr val="0000FF"/>
                </a:solidFill>
                <a:latin typeface="Times New Roman" panose="02020603050405020304" charset="0"/>
                <a:cs typeface="Times New Roman" panose="02020603050405020304" charset="0"/>
                <a:sym typeface="+mn-ea"/>
              </a:rPr>
              <a:t>scope resolution operator,</a:t>
            </a:r>
            <a:r>
              <a:rPr lang="en-US" sz="2500" dirty="0">
                <a:latin typeface="Times New Roman" panose="02020603050405020304" charset="0"/>
                <a:cs typeface="Times New Roman" panose="02020603050405020304" charset="0"/>
                <a:sym typeface="+mn-ea"/>
              </a:rPr>
              <a:t> which is </a:t>
            </a:r>
            <a:r>
              <a:rPr lang="en-US" sz="2500" b="1" dirty="0">
                <a:solidFill>
                  <a:srgbClr val="FF0000"/>
                </a:solidFill>
                <a:latin typeface="Times New Roman" panose="02020603050405020304" charset="0"/>
                <a:cs typeface="Times New Roman" panose="02020603050405020304" charset="0"/>
                <a:sym typeface="+mn-ea"/>
              </a:rPr>
              <a:t>::</a:t>
            </a:r>
            <a:endParaRPr lang="en-US" sz="2500" dirty="0">
              <a:latin typeface="Times New Roman" panose="02020603050405020304" charset="0"/>
              <a:cs typeface="Times New Roman" panose="02020603050405020304" charset="0"/>
            </a:endParaRPr>
          </a:p>
          <a:p>
            <a:pPr lvl="1"/>
            <a:endParaRPr lang="en-GB" altLang="en-US" sz="2500">
              <a:latin typeface="Times New Roman" panose="02020603050405020304" charset="0"/>
              <a:cs typeface="Times New Roman" panose="0202060305040502030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002790"/>
            <a:ext cx="7488555" cy="2855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598170"/>
          </a:xfrm>
        </p:spPr>
        <p:txBody>
          <a:bodyPr>
            <a:noAutofit/>
          </a:bodyPr>
          <a:lstStyle/>
          <a:p>
            <a:r>
              <a:rPr lang="en-US" dirty="0">
                <a:latin typeface="Times New Roman" panose="02020603050405020304" charset="0"/>
                <a:cs typeface="Times New Roman" panose="02020603050405020304" charset="0"/>
                <a:sym typeface="+mn-ea"/>
              </a:rPr>
              <a:t>Misuse of Globals</a:t>
            </a:r>
            <a:endParaRPr lang="en-GB" altLang="en-US">
              <a:latin typeface="Times New Roman" panose="02020603050405020304" charset="0"/>
              <a:cs typeface="Times New Roman" panose="02020603050405020304" charset="0"/>
            </a:endParaRPr>
          </a:p>
        </p:txBody>
      </p:sp>
      <p:sp>
        <p:nvSpPr>
          <p:cNvPr id="3" name="Subtitle 2"/>
          <p:cNvSpPr>
            <a:spLocks noGrp="1"/>
          </p:cNvSpPr>
          <p:nvPr>
            <p:ph type="subTitle" idx="4"/>
          </p:nvPr>
        </p:nvSpPr>
        <p:spPr>
          <a:xfrm>
            <a:off x="429260" y="1299210"/>
            <a:ext cx="11054080" cy="4918075"/>
          </a:xfrm>
        </p:spPr>
        <p:txBody>
          <a:bodyPr>
            <a:noAutofit/>
          </a:bodyPr>
          <a:lstStyle/>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Global variables allow programmers to “jump around” the normal safeguards provided by functions</a:t>
            </a:r>
          </a:p>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Instead of passing variables to a function, it is possible to make all variables global:    </a:t>
            </a:r>
            <a:r>
              <a:rPr lang="en-US" sz="2500" b="1" dirty="0">
                <a:latin typeface="Times New Roman" panose="02020603050405020304" charset="0"/>
                <a:cs typeface="Times New Roman" panose="02020603050405020304" charset="0"/>
                <a:sym typeface="+mn-ea"/>
              </a:rPr>
              <a:t>do not do this</a:t>
            </a:r>
          </a:p>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Indiscriminate use of global variables destroys the safeguards C++ provides to make functions independent and insulated from each other</a:t>
            </a:r>
          </a:p>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Using only global variables can be especially disastrous in large programs with many user-created functions</a:t>
            </a:r>
            <a:endParaRPr lang="en-US" sz="2500" dirty="0">
              <a:latin typeface="Times New Roman" panose="02020603050405020304" charset="0"/>
              <a:cs typeface="Times New Roman" panose="02020603050405020304" charset="0"/>
            </a:endParaRPr>
          </a:p>
          <a:p>
            <a:pPr marL="342900" lvl="0" indent="-342900" algn="just">
              <a:buFont typeface="Wingdings" panose="05000000000000000000" charset="0"/>
              <a:buChar char="Ø"/>
            </a:pPr>
            <a:endParaRPr lang="en-GB" altLang="en-US" sz="2500">
              <a:latin typeface="Times New Roman" panose="02020603050405020304" charset="0"/>
              <a:cs typeface="Times New Roman"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674370"/>
          </a:xfrm>
        </p:spPr>
        <p:txBody>
          <a:bodyPr>
            <a:noAutofit/>
          </a:bodyPr>
          <a:lstStyle/>
          <a:p>
            <a:r>
              <a:rPr lang="en-US" dirty="0">
                <a:latin typeface="Times New Roman" panose="02020603050405020304" charset="0"/>
                <a:cs typeface="Times New Roman" panose="02020603050405020304" charset="0"/>
                <a:sym typeface="+mn-ea"/>
              </a:rPr>
              <a:t>Lifetime of Variables</a:t>
            </a:r>
            <a:endParaRPr lang="en-GB" altLang="en-US">
              <a:latin typeface="Times New Roman" panose="02020603050405020304" charset="0"/>
              <a:cs typeface="Times New Roman" panose="02020603050405020304" charset="0"/>
            </a:endParaRPr>
          </a:p>
        </p:txBody>
      </p:sp>
      <p:sp>
        <p:nvSpPr>
          <p:cNvPr id="3" name="Subtitle 2"/>
          <p:cNvSpPr>
            <a:spLocks noGrp="1"/>
          </p:cNvSpPr>
          <p:nvPr>
            <p:ph type="subTitle" idx="4"/>
          </p:nvPr>
        </p:nvSpPr>
        <p:spPr>
          <a:xfrm>
            <a:off x="757555" y="1261110"/>
            <a:ext cx="10725785" cy="5044440"/>
          </a:xfrm>
        </p:spPr>
        <p:txBody>
          <a:bodyPr>
            <a:noAutofit/>
          </a:bodyPr>
          <a:lstStyle/>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A variable’s scope can be thought of as the space in the program where the variable is valid</a:t>
            </a:r>
          </a:p>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In addition to space dimension represented by scope, </a:t>
            </a:r>
            <a:r>
              <a:rPr lang="en-US" sz="2500" dirty="0">
                <a:solidFill>
                  <a:srgbClr val="0000FF"/>
                </a:solidFill>
                <a:latin typeface="Times New Roman" panose="02020603050405020304" charset="0"/>
                <a:cs typeface="Times New Roman" panose="02020603050405020304" charset="0"/>
                <a:sym typeface="+mn-ea"/>
              </a:rPr>
              <a:t>variables have a time dimension </a:t>
            </a:r>
            <a:r>
              <a:rPr lang="en-US" sz="2500" dirty="0">
                <a:latin typeface="Times New Roman" panose="02020603050405020304" charset="0"/>
                <a:cs typeface="Times New Roman" panose="02020603050405020304" charset="0"/>
                <a:sym typeface="+mn-ea"/>
              </a:rPr>
              <a:t>that refers to the length of time storage locations are reserved for a variable</a:t>
            </a:r>
          </a:p>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This time, dimension is referred to as the variable’s lifetime</a:t>
            </a:r>
          </a:p>
          <a:p>
            <a:pPr marL="342900" lvl="0" indent="-342900" algn="just">
              <a:buFont typeface="Wingdings" panose="05000000000000000000" charset="0"/>
              <a:buChar char="Ø"/>
            </a:pPr>
            <a:r>
              <a:rPr lang="en-US" sz="2500" dirty="0">
                <a:solidFill>
                  <a:srgbClr val="0000FF"/>
                </a:solidFill>
                <a:latin typeface="Times New Roman" panose="02020603050405020304" charset="0"/>
                <a:cs typeface="Times New Roman" panose="02020603050405020304" charset="0"/>
                <a:sym typeface="+mn-ea"/>
              </a:rPr>
              <a:t>When and how long a variable’s storage locations are kept before they are released </a:t>
            </a:r>
            <a:r>
              <a:rPr lang="en-US" sz="2500" dirty="0">
                <a:latin typeface="Times New Roman" panose="02020603050405020304" charset="0"/>
                <a:cs typeface="Times New Roman" panose="02020603050405020304" charset="0"/>
                <a:sym typeface="+mn-ea"/>
              </a:rPr>
              <a:t>can be determined by the variable’s storage category</a:t>
            </a:r>
            <a:endParaRPr lang="en-US" sz="2500" dirty="0">
              <a:latin typeface="Times New Roman" panose="02020603050405020304" charset="0"/>
              <a:cs typeface="Times New Roman" panose="02020603050405020304" charset="0"/>
            </a:endParaRPr>
          </a:p>
          <a:p>
            <a:pPr lvl="1" algn="just"/>
            <a:endParaRPr lang="en-GB" altLang="en-US" sz="2500">
              <a:latin typeface="Times New Roman" panose="02020603050405020304" charset="0"/>
              <a:cs typeface="Times New Roman"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842010"/>
          </a:xfrm>
        </p:spPr>
        <p:txBody>
          <a:bodyPr>
            <a:noAutofit/>
          </a:bodyPr>
          <a:lstStyle/>
          <a:p>
            <a:r>
              <a:rPr lang="en-US" dirty="0">
                <a:latin typeface="Times New Roman" panose="02020603050405020304" charset="0"/>
                <a:cs typeface="Times New Roman" panose="02020603050405020304" charset="0"/>
                <a:sym typeface="+mn-ea"/>
              </a:rPr>
              <a:t>Variable Storage Categories</a:t>
            </a:r>
            <a:endParaRPr lang="en-GB" altLang="en-US">
              <a:latin typeface="Times New Roman" panose="02020603050405020304" charset="0"/>
              <a:cs typeface="Times New Roman" panose="02020603050405020304" charset="0"/>
            </a:endParaRPr>
          </a:p>
        </p:txBody>
      </p:sp>
      <p:sp>
        <p:nvSpPr>
          <p:cNvPr id="3" name="Subtitle 2"/>
          <p:cNvSpPr>
            <a:spLocks noGrp="1"/>
          </p:cNvSpPr>
          <p:nvPr>
            <p:ph type="subTitle" idx="4"/>
          </p:nvPr>
        </p:nvSpPr>
        <p:spPr>
          <a:xfrm>
            <a:off x="757555" y="1310005"/>
            <a:ext cx="10725785" cy="4511040"/>
          </a:xfrm>
        </p:spPr>
        <p:txBody>
          <a:bodyPr>
            <a:noAutofit/>
          </a:bodyPr>
          <a:lstStyle/>
          <a:p>
            <a:pPr lvl="0" indent="0">
              <a:buFont typeface="Wingdings" panose="05000000000000000000" charset="0"/>
              <a:buNone/>
            </a:pPr>
            <a:r>
              <a:rPr lang="en-US" sz="2500" dirty="0">
                <a:latin typeface="Times New Roman" panose="02020603050405020304" charset="0"/>
                <a:cs typeface="Times New Roman" panose="02020603050405020304" charset="0"/>
                <a:sym typeface="+mn-ea"/>
              </a:rPr>
              <a:t>The four available storage categories are:</a:t>
            </a:r>
            <a:endParaRPr lang="en-US" sz="2500" dirty="0">
              <a:latin typeface="Times New Roman" panose="02020603050405020304" charset="0"/>
              <a:cs typeface="Times New Roman" panose="02020603050405020304" charset="0"/>
            </a:endParaRPr>
          </a:p>
          <a:p>
            <a:pPr lvl="1"/>
            <a:r>
              <a:rPr lang="en-US" sz="2500" dirty="0">
                <a:latin typeface="Times New Roman" panose="02020603050405020304" charset="0"/>
                <a:cs typeface="Times New Roman" panose="02020603050405020304" charset="0"/>
                <a:sym typeface="+mn-ea"/>
              </a:rPr>
              <a:t>auto</a:t>
            </a:r>
            <a:endParaRPr lang="en-US" sz="2500" dirty="0">
              <a:latin typeface="Times New Roman" panose="02020603050405020304" charset="0"/>
              <a:cs typeface="Times New Roman" panose="02020603050405020304" charset="0"/>
            </a:endParaRPr>
          </a:p>
          <a:p>
            <a:pPr lvl="1"/>
            <a:r>
              <a:rPr lang="en-US" sz="2500" dirty="0">
                <a:latin typeface="Times New Roman" panose="02020603050405020304" charset="0"/>
                <a:cs typeface="Times New Roman" panose="02020603050405020304" charset="0"/>
                <a:sym typeface="+mn-ea"/>
              </a:rPr>
              <a:t>static</a:t>
            </a:r>
            <a:endParaRPr lang="en-US" sz="2500" dirty="0">
              <a:latin typeface="Times New Roman" panose="02020603050405020304" charset="0"/>
              <a:cs typeface="Times New Roman" panose="02020603050405020304" charset="0"/>
            </a:endParaRPr>
          </a:p>
          <a:p>
            <a:pPr lvl="1"/>
            <a:r>
              <a:rPr lang="en-US" sz="2500" dirty="0">
                <a:latin typeface="Times New Roman" panose="02020603050405020304" charset="0"/>
                <a:cs typeface="Times New Roman" panose="02020603050405020304" charset="0"/>
                <a:sym typeface="+mn-ea"/>
              </a:rPr>
              <a:t>extern</a:t>
            </a:r>
            <a:endParaRPr lang="en-US" sz="2500" dirty="0">
              <a:latin typeface="Times New Roman" panose="02020603050405020304" charset="0"/>
              <a:cs typeface="Times New Roman" panose="02020603050405020304" charset="0"/>
            </a:endParaRPr>
          </a:p>
          <a:p>
            <a:pPr lvl="1"/>
            <a:r>
              <a:rPr lang="en-US" sz="2500" dirty="0">
                <a:latin typeface="Times New Roman" panose="02020603050405020304" charset="0"/>
                <a:cs typeface="Times New Roman" panose="02020603050405020304" charset="0"/>
                <a:sym typeface="+mn-ea"/>
              </a:rPr>
              <a:t>register</a:t>
            </a:r>
            <a:endParaRPr lang="en-US" sz="2500" dirty="0">
              <a:latin typeface="Times New Roman" panose="02020603050405020304" charset="0"/>
              <a:cs typeface="Times New Roman" panose="02020603050405020304" charset="0"/>
            </a:endParaRPr>
          </a:p>
          <a:p>
            <a:pPr lvl="1"/>
            <a:endParaRPr lang="en-GB" altLang="en-US" sz="2500">
              <a:latin typeface="Times New Roman" panose="02020603050405020304" charset="0"/>
              <a:cs typeface="Times New Roman"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610870"/>
          </a:xfrm>
        </p:spPr>
        <p:txBody>
          <a:bodyPr>
            <a:noAutofit/>
          </a:bodyPr>
          <a:lstStyle/>
          <a:p>
            <a:r>
              <a:rPr lang="en-US" dirty="0">
                <a:latin typeface="Times New Roman" panose="02020603050405020304" charset="0"/>
                <a:cs typeface="Times New Roman" panose="02020603050405020304" charset="0"/>
                <a:sym typeface="+mn-ea"/>
              </a:rPr>
              <a:t>Local Variable Storage Categories</a:t>
            </a:r>
            <a:endParaRPr lang="en-GB" altLang="en-US">
              <a:latin typeface="Times New Roman" panose="02020603050405020304" charset="0"/>
              <a:cs typeface="Times New Roman" panose="02020603050405020304" charset="0"/>
            </a:endParaRPr>
          </a:p>
        </p:txBody>
      </p:sp>
      <p:sp>
        <p:nvSpPr>
          <p:cNvPr id="3" name="Subtitle 2"/>
          <p:cNvSpPr>
            <a:spLocks noGrp="1"/>
          </p:cNvSpPr>
          <p:nvPr>
            <p:ph type="subTitle" idx="4"/>
          </p:nvPr>
        </p:nvSpPr>
        <p:spPr>
          <a:xfrm>
            <a:off x="757555" y="1375410"/>
            <a:ext cx="10725785" cy="4930140"/>
          </a:xfrm>
        </p:spPr>
        <p:txBody>
          <a:bodyPr>
            <a:noAutofit/>
          </a:bodyPr>
          <a:lstStyle/>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Local variables can be members only of the auto, static, or register storage categories</a:t>
            </a:r>
          </a:p>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Storage for automatic local variables is reserved or </a:t>
            </a:r>
            <a:r>
              <a:rPr lang="en-US" sz="2500" dirty="0">
                <a:solidFill>
                  <a:srgbClr val="0000FF"/>
                </a:solidFill>
                <a:latin typeface="Times New Roman" panose="02020603050405020304" charset="0"/>
                <a:cs typeface="Times New Roman" panose="02020603050405020304" charset="0"/>
                <a:sym typeface="+mn-ea"/>
              </a:rPr>
              <a:t>created automatically each time a function is called</a:t>
            </a:r>
          </a:p>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As long as the function hasn’t returned control to its calling function, all automatic variables local to the function are “alive”</a:t>
            </a:r>
          </a:p>
          <a:p>
            <a:pPr marL="342900" lvl="0" indent="-342900" algn="just">
              <a:buFont typeface="Wingdings" panose="05000000000000000000" charset="0"/>
              <a:buChar char="Ø"/>
            </a:pPr>
            <a:r>
              <a:rPr lang="en-US" sz="2500" dirty="0">
                <a:latin typeface="Times New Roman" panose="02020603050405020304" charset="0"/>
                <a:cs typeface="Times New Roman" panose="02020603050405020304" charset="0"/>
                <a:sym typeface="+mn-ea"/>
              </a:rPr>
              <a:t>A local static variable isn’t created and destroyed each time the function declaring it is called</a:t>
            </a:r>
          </a:p>
          <a:p>
            <a:pPr marL="342900" lvl="0" indent="-342900" algn="just">
              <a:buFont typeface="Wingdings" panose="05000000000000000000" charset="0"/>
              <a:buChar char="Ø"/>
            </a:pPr>
            <a:r>
              <a:rPr lang="en-US" sz="2500" dirty="0">
                <a:solidFill>
                  <a:srgbClr val="0000FF"/>
                </a:solidFill>
                <a:latin typeface="Times New Roman" panose="02020603050405020304" charset="0"/>
                <a:cs typeface="Times New Roman" panose="02020603050405020304" charset="0"/>
                <a:sym typeface="+mn-ea"/>
              </a:rPr>
              <a:t>Local static variables remain in existence for the program’s lifetime</a:t>
            </a:r>
            <a:endParaRPr lang="en-US" sz="2500" dirty="0">
              <a:solidFill>
                <a:srgbClr val="0000FF"/>
              </a:solidFill>
              <a:latin typeface="Times New Roman" panose="02020603050405020304" charset="0"/>
              <a:cs typeface="Times New Roman" panose="02020603050405020304" charset="0"/>
            </a:endParaRPr>
          </a:p>
          <a:p>
            <a:pPr lvl="1" algn="just"/>
            <a:endParaRPr lang="en-GB" altLang="en-US" sz="2500">
              <a:latin typeface="Times New Roman" panose="02020603050405020304" charset="0"/>
              <a:cs typeface="Times New Roman" panose="020206030504050203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219200"/>
            <a:ext cx="10943590" cy="4344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7"/>
          <p:cNvSpPr>
            <a:spLocks noGrp="1"/>
          </p:cNvSpPr>
          <p:nvPr>
            <p:ph type="ctrTitle"/>
          </p:nvPr>
        </p:nvSpPr>
        <p:spPr>
          <a:xfrm>
            <a:off x="757555" y="304800"/>
            <a:ext cx="10629900" cy="619125"/>
          </a:xfrm>
        </p:spPr>
        <p:txBody>
          <a:bodyPr>
            <a:noAutofit/>
          </a:bodyPr>
          <a:lstStyle/>
          <a:p>
            <a:r>
              <a:rPr lang="en-US" dirty="0">
                <a:sym typeface="+mn-ea"/>
              </a:rPr>
              <a:t>Local Automatic Variable</a:t>
            </a:r>
            <a:endParaRPr lang="en-GB"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7555" y="381000"/>
            <a:ext cx="10629900" cy="584835"/>
          </a:xfrm>
        </p:spPr>
        <p:txBody>
          <a:bodyPr>
            <a:noAutofit/>
          </a:bodyPr>
          <a:lstStyle/>
          <a:p>
            <a:r>
              <a:rPr lang="en-US" dirty="0">
                <a:sym typeface="+mn-ea"/>
              </a:rPr>
              <a:t>Local Static Variable</a:t>
            </a:r>
            <a:endParaRPr lang="en-GB" alt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10361930" cy="4392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533400"/>
            <a:ext cx="10629900" cy="661670"/>
          </a:xfrm>
        </p:spPr>
        <p:txBody>
          <a:bodyPr>
            <a:noAutofit/>
          </a:bodyPr>
          <a:lstStyle/>
          <a:p>
            <a:r>
              <a:rPr lang="en-US" dirty="0">
                <a:latin typeface="Times New Roman" panose="02020603050405020304" charset="0"/>
                <a:cs typeface="Times New Roman" panose="02020603050405020304" charset="0"/>
                <a:sym typeface="+mn-ea"/>
              </a:rPr>
              <a:t>Global Variable Storage Categories</a:t>
            </a:r>
            <a:endParaRPr lang="en-GB" altLang="en-US">
              <a:latin typeface="Times New Roman" panose="02020603050405020304" charset="0"/>
              <a:cs typeface="Times New Roman" panose="02020603050405020304" charset="0"/>
            </a:endParaRPr>
          </a:p>
        </p:txBody>
      </p:sp>
      <p:sp>
        <p:nvSpPr>
          <p:cNvPr id="3" name="Subtitle 2"/>
          <p:cNvSpPr>
            <a:spLocks noGrp="1"/>
          </p:cNvSpPr>
          <p:nvPr>
            <p:ph type="subTitle" idx="4"/>
          </p:nvPr>
        </p:nvSpPr>
        <p:spPr>
          <a:xfrm>
            <a:off x="757555" y="1221740"/>
            <a:ext cx="10725785" cy="5083810"/>
          </a:xfrm>
        </p:spPr>
        <p:txBody>
          <a:bodyPr>
            <a:noAutofit/>
          </a:bodyPr>
          <a:lstStyle/>
          <a:p>
            <a:pPr marL="342900" lvl="0" indent="-342900" algn="just">
              <a:buFont typeface="Wingdings" panose="05000000000000000000" charset="0"/>
              <a:buChar char="Ø"/>
            </a:pPr>
            <a:r>
              <a:rPr lang="en-US" sz="2400" dirty="0">
                <a:latin typeface="Times New Roman" panose="02020603050405020304" charset="0"/>
                <a:cs typeface="Times New Roman" panose="02020603050405020304" charset="0"/>
                <a:sym typeface="+mn-ea"/>
              </a:rPr>
              <a:t>Global variables are created by definition statements external to a function</a:t>
            </a:r>
            <a:r>
              <a:rPr lang="en-GB" altLang="en-US" sz="2400" dirty="0">
                <a:latin typeface="Times New Roman" panose="02020603050405020304" charset="0"/>
                <a:cs typeface="Times New Roman" panose="02020603050405020304" charset="0"/>
                <a:sym typeface="+mn-ea"/>
              </a:rPr>
              <a:t> </a:t>
            </a:r>
            <a:r>
              <a:rPr lang="en-US" sz="2400" dirty="0">
                <a:latin typeface="Times New Roman" panose="02020603050405020304" charset="0"/>
                <a:cs typeface="Times New Roman" panose="02020603050405020304" charset="0"/>
                <a:sym typeface="+mn-ea"/>
              </a:rPr>
              <a:t>By their nature, global variables do not come and go with the calling of a function</a:t>
            </a:r>
            <a:r>
              <a:rPr lang="en-GB" altLang="en-US" sz="2400" dirty="0">
                <a:latin typeface="Times New Roman" panose="02020603050405020304" charset="0"/>
                <a:cs typeface="Times New Roman" panose="02020603050405020304" charset="0"/>
                <a:sym typeface="+mn-ea"/>
              </a:rPr>
              <a:t> </a:t>
            </a:r>
            <a:r>
              <a:rPr lang="en-US" sz="2400" dirty="0">
                <a:latin typeface="Times New Roman" panose="02020603050405020304" charset="0"/>
                <a:cs typeface="Times New Roman" panose="02020603050405020304" charset="0"/>
                <a:sym typeface="+mn-ea"/>
              </a:rPr>
              <a:t>After a global variable is created, it exists until the program in which it’s declared has</a:t>
            </a:r>
            <a:r>
              <a:rPr lang="en-GB" altLang="en-US" sz="2400" dirty="0">
                <a:latin typeface="Times New Roman" panose="02020603050405020304" charset="0"/>
                <a:cs typeface="Times New Roman" panose="02020603050405020304" charset="0"/>
                <a:sym typeface="+mn-ea"/>
              </a:rPr>
              <a:t> </a:t>
            </a:r>
            <a:r>
              <a:rPr lang="en-US" sz="2400" dirty="0">
                <a:latin typeface="Times New Roman" panose="02020603050405020304" charset="0"/>
                <a:cs typeface="Times New Roman" panose="02020603050405020304" charset="0"/>
                <a:sym typeface="+mn-ea"/>
              </a:rPr>
              <a:t>finished executing</a:t>
            </a:r>
          </a:p>
          <a:p>
            <a:pPr marL="342900" lvl="0" indent="-342900" algn="just">
              <a:buFont typeface="Wingdings" panose="05000000000000000000" charset="0"/>
              <a:buChar char="Ø"/>
            </a:pPr>
            <a:r>
              <a:rPr lang="en-US" sz="2400" dirty="0">
                <a:latin typeface="Times New Roman" panose="02020603050405020304" charset="0"/>
                <a:cs typeface="Times New Roman" panose="02020603050405020304" charset="0"/>
                <a:sym typeface="+mn-ea"/>
              </a:rPr>
              <a:t>Global variables can be declared with the static or extern storage category, but not both</a:t>
            </a:r>
            <a:endParaRPr lang="en-US" sz="2400" dirty="0">
              <a:latin typeface="Times New Roman" panose="02020603050405020304" charset="0"/>
              <a:cs typeface="Times New Roman" panose="02020603050405020304" charset="0"/>
            </a:endParaRPr>
          </a:p>
          <a:p>
            <a:pPr marL="342900" lvl="0" indent="-342900" algn="just">
              <a:buFont typeface="Wingdings" panose="05000000000000000000" charset="0"/>
              <a:buChar char="Ø"/>
            </a:pPr>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
            <a:ext cx="10629900" cy="581660"/>
          </a:xfrm>
        </p:spPr>
        <p:txBody>
          <a:bodyPr>
            <a:noAutofit/>
          </a:bodyPr>
          <a:lstStyle/>
          <a:p>
            <a:r>
              <a:rPr lang="en-US" dirty="0">
                <a:latin typeface="Times New Roman" panose="02020603050405020304" charset="0"/>
                <a:cs typeface="Times New Roman" panose="02020603050405020304" charset="0"/>
                <a:sym typeface="+mn-ea"/>
              </a:rPr>
              <a:t>Quiz </a:t>
            </a:r>
            <a:endParaRPr lang="en-GB" altLang="en-US" dirty="0">
              <a:latin typeface="Times New Roman" panose="02020603050405020304" charset="0"/>
              <a:cs typeface="Times New Roman" panose="02020603050405020304" charset="0"/>
            </a:endParaRPr>
          </a:p>
        </p:txBody>
      </p:sp>
      <p:sp>
        <p:nvSpPr>
          <p:cNvPr id="3" name="Subtitle 2"/>
          <p:cNvSpPr>
            <a:spLocks noGrp="1"/>
          </p:cNvSpPr>
          <p:nvPr>
            <p:ph type="subTitle" idx="4"/>
          </p:nvPr>
        </p:nvSpPr>
        <p:spPr>
          <a:xfrm>
            <a:off x="757555" y="610235"/>
            <a:ext cx="10725785" cy="5977890"/>
          </a:xfrm>
        </p:spPr>
        <p:txBody>
          <a:bodyPr>
            <a:noAutofit/>
          </a:bodyPr>
          <a:lstStyle/>
          <a:p>
            <a:pPr lvl="1"/>
            <a:r>
              <a:rPr lang="en-GB" altLang="en-US" sz="2400" b="1" dirty="0">
                <a:latin typeface="Times New Roman" panose="02020603050405020304" charset="0"/>
                <a:cs typeface="Times New Roman" panose="02020603050405020304" charset="0"/>
                <a:sym typeface="+mn-ea"/>
              </a:rPr>
              <a:t>1. </a:t>
            </a:r>
            <a:r>
              <a:rPr lang="en-US" sz="2400" b="1" dirty="0">
                <a:latin typeface="Times New Roman" panose="02020603050405020304" charset="0"/>
                <a:cs typeface="Times New Roman" panose="02020603050405020304" charset="0"/>
                <a:sym typeface="+mn-ea"/>
              </a:rPr>
              <a:t>Identify the error and </a:t>
            </a:r>
            <a:r>
              <a:rPr lang="en-US" sz="2400" b="1" dirty="0" err="1">
                <a:latin typeface="Times New Roman" panose="02020603050405020304" charset="0"/>
                <a:cs typeface="Times New Roman" panose="02020603050405020304" charset="0"/>
                <a:sym typeface="+mn-ea"/>
              </a:rPr>
              <a:t>reWrite</a:t>
            </a:r>
            <a:r>
              <a:rPr lang="en-US" sz="2400" b="1" dirty="0">
                <a:latin typeface="Times New Roman" panose="02020603050405020304" charset="0"/>
                <a:cs typeface="Times New Roman" panose="02020603050405020304" charset="0"/>
                <a:sym typeface="+mn-ea"/>
              </a:rPr>
              <a:t> of the following code.</a:t>
            </a:r>
          </a:p>
          <a:p>
            <a:pPr lvl="1"/>
            <a:r>
              <a:rPr lang="en-US" sz="1500" dirty="0">
                <a:latin typeface="Times New Roman" panose="02020603050405020304" charset="0"/>
                <a:cs typeface="Times New Roman" panose="02020603050405020304" charset="0"/>
                <a:sym typeface="+mn-ea"/>
              </a:rPr>
              <a:t>#include&lt;</a:t>
            </a:r>
            <a:r>
              <a:rPr lang="en-US" sz="1500" dirty="0" err="1">
                <a:latin typeface="Times New Roman" panose="02020603050405020304" charset="0"/>
                <a:cs typeface="Times New Roman" panose="02020603050405020304" charset="0"/>
                <a:sym typeface="+mn-ea"/>
              </a:rPr>
              <a:t>iostream</a:t>
            </a:r>
            <a:r>
              <a:rPr lang="en-US" sz="1500" dirty="0">
                <a:latin typeface="Times New Roman" panose="02020603050405020304" charset="0"/>
                <a:cs typeface="Times New Roman" panose="02020603050405020304" charset="0"/>
                <a:sym typeface="+mn-ea"/>
              </a:rPr>
              <a:t>&gt;</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using namespace </a:t>
            </a:r>
            <a:r>
              <a:rPr lang="en-US" sz="1500" dirty="0" err="1">
                <a:latin typeface="Times New Roman" panose="02020603050405020304" charset="0"/>
                <a:cs typeface="Times New Roman" panose="02020603050405020304" charset="0"/>
                <a:sym typeface="+mn-ea"/>
              </a:rPr>
              <a:t>std</a:t>
            </a:r>
            <a:r>
              <a:rPr lang="en-US" sz="1500" dirty="0">
                <a:latin typeface="Times New Roman" panose="02020603050405020304" charset="0"/>
                <a:cs typeface="Times New Roman" panose="02020603050405020304" charset="0"/>
                <a:sym typeface="+mn-ea"/>
              </a:rPr>
              <a:t>;</a:t>
            </a:r>
            <a:endParaRPr lang="en-US" sz="1500" dirty="0">
              <a:latin typeface="Times New Roman" panose="02020603050405020304" charset="0"/>
              <a:cs typeface="Times New Roman" panose="02020603050405020304" charset="0"/>
            </a:endParaRPr>
          </a:p>
          <a:p>
            <a:pPr lvl="1"/>
            <a:r>
              <a:rPr lang="en-US" sz="1500" dirty="0" err="1">
                <a:latin typeface="Times New Roman" panose="02020603050405020304" charset="0"/>
                <a:cs typeface="Times New Roman" panose="02020603050405020304" charset="0"/>
                <a:sym typeface="+mn-ea"/>
              </a:rPr>
              <a:t>int</a:t>
            </a:r>
            <a:r>
              <a:rPr lang="en-US" sz="1500" dirty="0">
                <a:latin typeface="Times New Roman" panose="02020603050405020304" charset="0"/>
                <a:cs typeface="Times New Roman" panose="02020603050405020304" charset="0"/>
                <a:sym typeface="+mn-ea"/>
              </a:rPr>
              <a:t> main() {</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count=0;</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++count;</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a:t>
            </a:r>
            <a:r>
              <a:rPr lang="en-US" sz="1500" dirty="0" err="1">
                <a:latin typeface="Times New Roman" panose="02020603050405020304" charset="0"/>
                <a:cs typeface="Times New Roman" panose="02020603050405020304" charset="0"/>
                <a:sym typeface="+mn-ea"/>
              </a:rPr>
              <a:t>cout</a:t>
            </a:r>
            <a:r>
              <a:rPr lang="en-US" sz="1500" dirty="0">
                <a:latin typeface="Times New Roman" panose="02020603050405020304" charset="0"/>
                <a:cs typeface="Times New Roman" panose="02020603050405020304" charset="0"/>
                <a:sym typeface="+mn-ea"/>
              </a:rPr>
              <a:t>&lt;&lt;"value of counter is:'&lt;&lt;</a:t>
            </a:r>
            <a:r>
              <a:rPr lang="en-US" sz="1500" dirty="0" err="1">
                <a:latin typeface="Times New Roman" panose="02020603050405020304" charset="0"/>
                <a:cs typeface="Times New Roman" panose="02020603050405020304" charset="0"/>
                <a:sym typeface="+mn-ea"/>
              </a:rPr>
              <a:t>countt</a:t>
            </a:r>
            <a:r>
              <a:rPr lang="en-US" sz="1500" dirty="0">
                <a:latin typeface="Times New Roman" panose="02020603050405020304" charset="0"/>
                <a:cs typeface="Times New Roman" panose="02020603050405020304" charset="0"/>
                <a:sym typeface="+mn-ea"/>
              </a:rPr>
              <a:t>;</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return 0 }</a:t>
            </a:r>
          </a:p>
          <a:p>
            <a:pPr lvl="1"/>
            <a:r>
              <a:rPr lang="en-GB" altLang="en-US" sz="2400" b="1" dirty="0">
                <a:latin typeface="Times New Roman" panose="02020603050405020304" charset="0"/>
                <a:cs typeface="Times New Roman" panose="02020603050405020304" charset="0"/>
                <a:sym typeface="+mn-ea"/>
              </a:rPr>
              <a:t>2. </a:t>
            </a:r>
            <a:r>
              <a:rPr lang="en-US" sz="2400" b="1" dirty="0">
                <a:latin typeface="Times New Roman" panose="02020603050405020304" charset="0"/>
                <a:cs typeface="Times New Roman" panose="02020603050405020304" charset="0"/>
                <a:sym typeface="+mn-ea"/>
              </a:rPr>
              <a:t>Write the output of the following code.</a:t>
            </a:r>
          </a:p>
          <a:p>
            <a:pPr lvl="1"/>
            <a:r>
              <a:rPr lang="en-US" sz="1500" dirty="0">
                <a:latin typeface="Times New Roman" panose="02020603050405020304" charset="0"/>
                <a:cs typeface="Times New Roman" panose="02020603050405020304" charset="0"/>
                <a:sym typeface="+mn-ea"/>
              </a:rPr>
              <a:t>count=0;</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++count;</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a:t>
            </a:r>
            <a:r>
              <a:rPr lang="en-US" sz="1500" dirty="0" err="1">
                <a:latin typeface="Times New Roman" panose="02020603050405020304" charset="0"/>
                <a:cs typeface="Times New Roman" panose="02020603050405020304" charset="0"/>
                <a:sym typeface="+mn-ea"/>
              </a:rPr>
              <a:t>cout</a:t>
            </a:r>
            <a:r>
              <a:rPr lang="en-US" sz="1500" dirty="0">
                <a:latin typeface="Times New Roman" panose="02020603050405020304" charset="0"/>
                <a:cs typeface="Times New Roman" panose="02020603050405020304" charset="0"/>
                <a:sym typeface="+mn-ea"/>
              </a:rPr>
              <a:t>&lt;&lt;"value of counter is:"&lt;&lt;count&lt;&lt;",";</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count=count+10;</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count--;</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count=count%2;</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a:t>
            </a:r>
            <a:r>
              <a:rPr lang="en-US" sz="1500" dirty="0" err="1">
                <a:latin typeface="Times New Roman" panose="02020603050405020304" charset="0"/>
                <a:cs typeface="Times New Roman" panose="02020603050405020304" charset="0"/>
                <a:sym typeface="+mn-ea"/>
              </a:rPr>
              <a:t>cout</a:t>
            </a:r>
            <a:r>
              <a:rPr lang="en-US" sz="1500" dirty="0">
                <a:latin typeface="Times New Roman" panose="02020603050405020304" charset="0"/>
                <a:cs typeface="Times New Roman" panose="02020603050405020304" charset="0"/>
                <a:sym typeface="+mn-ea"/>
              </a:rPr>
              <a:t>&lt;&lt;count++&lt;&lt;“/t";</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count=count*10;</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--count;</a:t>
            </a:r>
            <a:endParaRPr lang="en-US" sz="1500" dirty="0">
              <a:latin typeface="Times New Roman" panose="02020603050405020304" charset="0"/>
              <a:cs typeface="Times New Roman" panose="02020603050405020304" charset="0"/>
            </a:endParaRPr>
          </a:p>
          <a:p>
            <a:pPr lvl="1"/>
            <a:r>
              <a:rPr lang="en-US" sz="1500" dirty="0">
                <a:latin typeface="Times New Roman" panose="02020603050405020304" charset="0"/>
                <a:cs typeface="Times New Roman" panose="02020603050405020304" charset="0"/>
                <a:sym typeface="+mn-ea"/>
              </a:rPr>
              <a:t> </a:t>
            </a:r>
            <a:r>
              <a:rPr lang="en-US" sz="1500" dirty="0" err="1">
                <a:latin typeface="Times New Roman" panose="02020603050405020304" charset="0"/>
                <a:cs typeface="Times New Roman" panose="02020603050405020304" charset="0"/>
                <a:sym typeface="+mn-ea"/>
              </a:rPr>
              <a:t>cout</a:t>
            </a:r>
            <a:r>
              <a:rPr lang="en-US" sz="1500" dirty="0">
                <a:latin typeface="Times New Roman" panose="02020603050405020304" charset="0"/>
                <a:cs typeface="Times New Roman" panose="02020603050405020304" charset="0"/>
                <a:sym typeface="+mn-ea"/>
              </a:rPr>
              <a:t>&lt;&lt;count;</a:t>
            </a:r>
          </a:p>
          <a:p>
            <a:pPr lvl="1"/>
            <a:r>
              <a:rPr lang="en-GB" altLang="en-US" sz="2000" b="1" dirty="0">
                <a:latin typeface="Times New Roman" panose="02020603050405020304" charset="0"/>
                <a:cs typeface="Times New Roman" panose="02020603050405020304" charset="0"/>
                <a:sym typeface="+mn-ea"/>
              </a:rPr>
              <a:t>3. Write a program in C++ that converts </a:t>
            </a:r>
            <a:r>
              <a:rPr lang="en-GB" altLang="en-US" sz="2000" b="1" dirty="0" err="1">
                <a:latin typeface="Times New Roman" panose="02020603050405020304" charset="0"/>
                <a:cs typeface="Times New Roman" panose="02020603050405020304" charset="0"/>
                <a:sym typeface="+mn-ea"/>
              </a:rPr>
              <a:t>kilometers</a:t>
            </a:r>
            <a:r>
              <a:rPr lang="en-GB" altLang="en-US" sz="2000" b="1" dirty="0">
                <a:latin typeface="Times New Roman" panose="02020603050405020304" charset="0"/>
                <a:cs typeface="Times New Roman" panose="02020603050405020304" charset="0"/>
                <a:sym typeface="+mn-ea"/>
              </a:rPr>
              <a:t> per hour to miles per hour using function. </a:t>
            </a:r>
            <a:endParaRPr lang="en-GB" altLang="en-US" sz="2000" b="1" dirty="0">
              <a:latin typeface="Times New Roman" panose="02020603050405020304" charset="0"/>
              <a:cs typeface="Times New Roman" panose="02020603050405020304" charset="0"/>
            </a:endParaRPr>
          </a:p>
          <a:p>
            <a:pPr lvl="1"/>
            <a:r>
              <a:rPr lang="en-GB" altLang="en-US" sz="2000" b="1" dirty="0">
                <a:latin typeface="Times New Roman" panose="02020603050405020304" charset="0"/>
                <a:cs typeface="Times New Roman" panose="02020603050405020304" charset="0"/>
                <a:sym typeface="+mn-ea"/>
              </a:rPr>
              <a:t>4. Write a program in C++ to convert temperature in Kelvin to Fahrenheit using function.</a:t>
            </a:r>
            <a:endParaRPr lang="en-US" sz="2000" b="1" dirty="0">
              <a:latin typeface="Times New Roman" panose="02020603050405020304" charset="0"/>
              <a:cs typeface="Times New Roman" panose="02020603050405020304" charset="0"/>
              <a:sym typeface="+mn-ea"/>
            </a:endParaRPr>
          </a:p>
          <a:p>
            <a:pPr lvl="1"/>
            <a:endParaRPr lang="en-GB" altLang="en-US" sz="2000" b="1" dirty="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3577</Words>
  <Application>Microsoft Office PowerPoint</Application>
  <PresentationFormat>Widescreen</PresentationFormat>
  <Paragraphs>353</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맑은 고딕</vt:lpstr>
      <vt:lpstr>Arial</vt:lpstr>
      <vt:lpstr>Calibri</vt:lpstr>
      <vt:lpstr>Times New Roman</vt:lpstr>
      <vt:lpstr>Verdana</vt:lpstr>
      <vt:lpstr>Wingdings</vt:lpstr>
      <vt:lpstr>Office Theme</vt:lpstr>
      <vt:lpstr>PowerPoint Presentation</vt:lpstr>
      <vt:lpstr>Introduction to C++</vt:lpstr>
      <vt:lpstr>PowerPoint Presentation</vt:lpstr>
      <vt:lpstr>Standard output stream (cout)</vt:lpstr>
      <vt:lpstr>Standard input stream (cin)</vt:lpstr>
      <vt:lpstr>Formatting Numbers for Program Output</vt:lpstr>
      <vt:lpstr>PowerPoint Presentation</vt:lpstr>
      <vt:lpstr>Functions</vt:lpstr>
      <vt:lpstr>Advantage of functions</vt:lpstr>
      <vt:lpstr>PowerPoint Presentation</vt:lpstr>
      <vt:lpstr>Function Declarations</vt:lpstr>
      <vt:lpstr>Function Definition </vt:lpstr>
      <vt:lpstr>function definition example </vt:lpstr>
      <vt:lpstr>Calling Functions </vt:lpstr>
      <vt:lpstr>PowerPoint Presentation</vt:lpstr>
      <vt:lpstr>Pass By Value and Pass By Reference</vt:lpstr>
      <vt:lpstr>Pass By Value and Pass By Reference</vt:lpstr>
      <vt:lpstr>PowerPoint Presentation</vt:lpstr>
      <vt:lpstr>PowerPoint Presentation</vt:lpstr>
      <vt:lpstr>Call by Reference</vt:lpstr>
      <vt:lpstr>Call by Reference</vt:lpstr>
      <vt:lpstr>PowerPoint Presentation</vt:lpstr>
      <vt:lpstr>PowerPoint Presentation</vt:lpstr>
      <vt:lpstr>Default Arguments</vt:lpstr>
      <vt:lpstr>PowerPoint Presentation</vt:lpstr>
      <vt:lpstr>Overloaded Functions</vt:lpstr>
      <vt:lpstr>PowerPoint Presentation</vt:lpstr>
      <vt:lpstr>PowerPoint Presentation</vt:lpstr>
      <vt:lpstr>Global and Local Scope </vt:lpstr>
      <vt:lpstr>PowerPoint Presentation</vt:lpstr>
      <vt:lpstr>Scope Resolution Operator</vt:lpstr>
      <vt:lpstr>Misuse of Globals</vt:lpstr>
      <vt:lpstr>Lifetime of Variables</vt:lpstr>
      <vt:lpstr>Variable Storage Categories</vt:lpstr>
      <vt:lpstr>Local Variable Storage Categories</vt:lpstr>
      <vt:lpstr>Local Automatic Variable</vt:lpstr>
      <vt:lpstr>Local Static Variable</vt:lpstr>
      <vt:lpstr>Global Variable Storage Categories</vt:lpstr>
      <vt:lpstr>Quiz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 OF PROGRAMMING</dc:title>
  <dc:creator>Amir Ibrahim</dc:creator>
  <cp:lastModifiedBy>Melkamu</cp:lastModifiedBy>
  <cp:revision>183</cp:revision>
  <dcterms:created xsi:type="dcterms:W3CDTF">2023-08-16T11:26:00Z</dcterms:created>
  <dcterms:modified xsi:type="dcterms:W3CDTF">2026-09-04T08:45:11Z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2022-09-14T06:00:00Z</vt:filetime>
  </property>
  <property fmtid="{D5CDD505-2E9C-101B-9397-08002B2CF9AE}" pid="3" name="Creator">
    <vt:lpwstr>Microsoft® PowerPoint® 2016</vt:lpwstr>
  </property>
  <property fmtid="{D5CDD505-2E9C-101B-9397-08002B2CF9AE}" pid="4" name="LastSaved">
    <vt:filetime>2023-08-17T06:00:00Z</vt:filetime>
  </property>
  <property fmtid="{D5CDD505-2E9C-101B-9397-08002B2CF9AE}" pid="5" name="ICV">
    <vt:lpwstr>4C870F4B3A17494EA0D2064F038FCE84_13</vt:lpwstr>
  </property>
  <property fmtid="{D5CDD505-2E9C-101B-9397-08002B2CF9AE}" pid="6" name="KSOProductBuildVer">
    <vt:lpwstr>2057-12.2.0.13193</vt:lpwstr>
  </property>
</Properties>
</file>