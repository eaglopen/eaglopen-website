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7" r:id="rId2"/>
    <p:sldId id="311" r:id="rId3"/>
    <p:sldId id="312" r:id="rId4"/>
    <p:sldId id="31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64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F1FAD-3520-4961-9B56-3BB1F0E28B5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854AE-C968-4D15-8810-52369071B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4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https://www.msys2.org/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854AE-C968-4D15-8810-52369071B0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1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3156" y="437515"/>
            <a:ext cx="434568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6FC0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9149" y="2029332"/>
            <a:ext cx="10285095" cy="3300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5353" y="437515"/>
            <a:ext cx="4241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08506"/>
            <a:ext cx="1051306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5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69900" algn="l"/>
                <a:tab pos="469900" algn="l"/>
                <a:tab pos="2058035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Modular</a:t>
            </a:r>
            <a:r>
              <a:rPr sz="28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program:</a:t>
            </a:r>
            <a:r>
              <a:rPr sz="28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consisting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interrelated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segments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(or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modules)	arranged in 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logical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understandable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form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900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develop,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correct,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modify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900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Modules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C++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be classes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functions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773" y="437515"/>
            <a:ext cx="668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lang="en-US" dirty="0"/>
              <a:t> Process in C++</a:t>
            </a:r>
            <a:endParaRPr spc="-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773" y="1905000"/>
            <a:ext cx="6552712" cy="2904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857" y="437515"/>
            <a:ext cx="6102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15" dirty="0"/>
              <a:t> </a:t>
            </a:r>
            <a:r>
              <a:rPr dirty="0"/>
              <a:t>Process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075715"/>
            <a:ext cx="9676765" cy="194627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Compiler</a:t>
            </a:r>
            <a:r>
              <a:rPr sz="2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Translates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high-level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machine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847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compiler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847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7100" algn="l"/>
                <a:tab pos="927735" algn="l"/>
                <a:tab pos="655002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Output from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compiler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the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object	code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(.obj).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900" y="3758184"/>
            <a:ext cx="4311356" cy="2072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857" y="437515"/>
            <a:ext cx="6102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Compilation</a:t>
            </a:r>
            <a:r>
              <a:rPr spc="-15" dirty="0"/>
              <a:t> </a:t>
            </a:r>
            <a:r>
              <a:rPr dirty="0"/>
              <a:t>Process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2232" y="1075715"/>
            <a:ext cx="937831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469265" algn="l"/>
                <a:tab pos="469900" algn="l"/>
                <a:tab pos="231521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Linker</a:t>
            </a:r>
            <a:r>
              <a:rPr sz="2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Combines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your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object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 with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pre-compiled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object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libraries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	input/output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object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files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(.obj).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  <a:tab pos="619188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executable file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(.exe)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	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Windows.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02452" y="4555235"/>
            <a:ext cx="1000125" cy="847725"/>
            <a:chOff x="5902452" y="4555235"/>
            <a:chExt cx="1000125" cy="847725"/>
          </a:xfrm>
        </p:grpSpPr>
        <p:sp>
          <p:nvSpPr>
            <p:cNvPr id="5" name="object 5"/>
            <p:cNvSpPr/>
            <p:nvPr/>
          </p:nvSpPr>
          <p:spPr>
            <a:xfrm>
              <a:off x="5907024" y="4559807"/>
              <a:ext cx="990600" cy="838200"/>
            </a:xfrm>
            <a:custGeom>
              <a:avLst/>
              <a:gdLst/>
              <a:ahLst/>
              <a:cxnLst/>
              <a:rect l="l" t="t" r="r" b="b"/>
              <a:pathLst>
                <a:path w="990600" h="838200">
                  <a:moveTo>
                    <a:pt x="742950" y="0"/>
                  </a:moveTo>
                  <a:lnTo>
                    <a:pt x="742950" y="209550"/>
                  </a:lnTo>
                  <a:lnTo>
                    <a:pt x="0" y="209550"/>
                  </a:lnTo>
                  <a:lnTo>
                    <a:pt x="0" y="628650"/>
                  </a:lnTo>
                  <a:lnTo>
                    <a:pt x="742950" y="628650"/>
                  </a:lnTo>
                  <a:lnTo>
                    <a:pt x="742950" y="838200"/>
                  </a:lnTo>
                  <a:lnTo>
                    <a:pt x="990600" y="419100"/>
                  </a:lnTo>
                  <a:lnTo>
                    <a:pt x="7429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7024" y="4559807"/>
              <a:ext cx="990600" cy="838200"/>
            </a:xfrm>
            <a:custGeom>
              <a:avLst/>
              <a:gdLst/>
              <a:ahLst/>
              <a:cxnLst/>
              <a:rect l="l" t="t" r="r" b="b"/>
              <a:pathLst>
                <a:path w="990600" h="838200">
                  <a:moveTo>
                    <a:pt x="0" y="209550"/>
                  </a:moveTo>
                  <a:lnTo>
                    <a:pt x="742950" y="209550"/>
                  </a:lnTo>
                  <a:lnTo>
                    <a:pt x="742950" y="0"/>
                  </a:lnTo>
                  <a:lnTo>
                    <a:pt x="990600" y="419100"/>
                  </a:lnTo>
                  <a:lnTo>
                    <a:pt x="742950" y="838200"/>
                  </a:lnTo>
                  <a:lnTo>
                    <a:pt x="742950" y="628650"/>
                  </a:lnTo>
                  <a:lnTo>
                    <a:pt x="0" y="628650"/>
                  </a:lnTo>
                  <a:lnTo>
                    <a:pt x="0" y="20955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50026" y="4814061"/>
            <a:ext cx="583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k</a:t>
            </a:r>
            <a:r>
              <a:rPr sz="1800" dirty="0">
                <a:latin typeface="Calibri" panose="020F0502020204030204"/>
                <a:cs typeface="Calibri" panose="020F0502020204030204"/>
              </a:rPr>
              <a:t>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02252" y="4021835"/>
            <a:ext cx="1228725" cy="2121535"/>
            <a:chOff x="4302252" y="4021835"/>
            <a:chExt cx="1228725" cy="2121535"/>
          </a:xfrm>
        </p:grpSpPr>
        <p:sp>
          <p:nvSpPr>
            <p:cNvPr id="9" name="object 9"/>
            <p:cNvSpPr/>
            <p:nvPr/>
          </p:nvSpPr>
          <p:spPr>
            <a:xfrm>
              <a:off x="4306824" y="4026407"/>
              <a:ext cx="1219200" cy="2112645"/>
            </a:xfrm>
            <a:custGeom>
              <a:avLst/>
              <a:gdLst/>
              <a:ahLst/>
              <a:cxnLst/>
              <a:rect l="l" t="t" r="r" b="b"/>
              <a:pathLst>
                <a:path w="1219200" h="2112645">
                  <a:moveTo>
                    <a:pt x="1049527" y="360172"/>
                  </a:moveTo>
                  <a:lnTo>
                    <a:pt x="0" y="360172"/>
                  </a:lnTo>
                  <a:lnTo>
                    <a:pt x="0" y="2036673"/>
                  </a:lnTo>
                  <a:lnTo>
                    <a:pt x="46289" y="2059065"/>
                  </a:lnTo>
                  <a:lnTo>
                    <a:pt x="89862" y="2077212"/>
                  </a:lnTo>
                  <a:lnTo>
                    <a:pt x="130895" y="2091339"/>
                  </a:lnTo>
                  <a:lnTo>
                    <a:pt x="169562" y="2101673"/>
                  </a:lnTo>
                  <a:lnTo>
                    <a:pt x="240500" y="2111864"/>
                  </a:lnTo>
                  <a:lnTo>
                    <a:pt x="273122" y="2112173"/>
                  </a:lnTo>
                  <a:lnTo>
                    <a:pt x="304078" y="2109591"/>
                  </a:lnTo>
                  <a:lnTo>
                    <a:pt x="361699" y="2096660"/>
                  </a:lnTo>
                  <a:lnTo>
                    <a:pt x="414764" y="2074878"/>
                  </a:lnTo>
                  <a:lnTo>
                    <a:pt x="464675" y="2046051"/>
                  </a:lnTo>
                  <a:lnTo>
                    <a:pt x="512833" y="2011986"/>
                  </a:lnTo>
                  <a:lnTo>
                    <a:pt x="609501" y="1935365"/>
                  </a:lnTo>
                  <a:lnTo>
                    <a:pt x="634763" y="1915758"/>
                  </a:lnTo>
                  <a:lnTo>
                    <a:pt x="687828" y="1877583"/>
                  </a:lnTo>
                  <a:lnTo>
                    <a:pt x="745449" y="1842298"/>
                  </a:lnTo>
                  <a:lnTo>
                    <a:pt x="809027" y="1811710"/>
                  </a:lnTo>
                  <a:lnTo>
                    <a:pt x="879965" y="1787624"/>
                  </a:lnTo>
                  <a:lnTo>
                    <a:pt x="918632" y="1778585"/>
                  </a:lnTo>
                  <a:lnTo>
                    <a:pt x="959665" y="1771849"/>
                  </a:lnTo>
                  <a:lnTo>
                    <a:pt x="1003238" y="1767641"/>
                  </a:lnTo>
                  <a:lnTo>
                    <a:pt x="1049527" y="1766189"/>
                  </a:lnTo>
                  <a:lnTo>
                    <a:pt x="1049527" y="360172"/>
                  </a:lnTo>
                  <a:close/>
                </a:path>
                <a:path w="1219200" h="2112645">
                  <a:moveTo>
                    <a:pt x="1128902" y="177927"/>
                  </a:moveTo>
                  <a:lnTo>
                    <a:pt x="86487" y="177927"/>
                  </a:lnTo>
                  <a:lnTo>
                    <a:pt x="86487" y="360172"/>
                  </a:lnTo>
                  <a:lnTo>
                    <a:pt x="1049527" y="360172"/>
                  </a:lnTo>
                  <a:lnTo>
                    <a:pt x="1049527" y="1602524"/>
                  </a:lnTo>
                  <a:lnTo>
                    <a:pt x="1056358" y="1600992"/>
                  </a:lnTo>
                  <a:lnTo>
                    <a:pt x="1074356" y="1597621"/>
                  </a:lnTo>
                  <a:lnTo>
                    <a:pt x="1099784" y="1594251"/>
                  </a:lnTo>
                  <a:lnTo>
                    <a:pt x="1128902" y="1592719"/>
                  </a:lnTo>
                  <a:lnTo>
                    <a:pt x="1128902" y="177927"/>
                  </a:lnTo>
                  <a:close/>
                </a:path>
                <a:path w="1219200" h="2112645">
                  <a:moveTo>
                    <a:pt x="1219200" y="0"/>
                  </a:moveTo>
                  <a:lnTo>
                    <a:pt x="167766" y="0"/>
                  </a:lnTo>
                  <a:lnTo>
                    <a:pt x="167766" y="177927"/>
                  </a:lnTo>
                  <a:lnTo>
                    <a:pt x="1128902" y="177927"/>
                  </a:lnTo>
                  <a:lnTo>
                    <a:pt x="1128902" y="1417828"/>
                  </a:lnTo>
                  <a:lnTo>
                    <a:pt x="1136653" y="1416677"/>
                  </a:lnTo>
                  <a:lnTo>
                    <a:pt x="1157096" y="1414145"/>
                  </a:lnTo>
                  <a:lnTo>
                    <a:pt x="1186017" y="1411612"/>
                  </a:lnTo>
                  <a:lnTo>
                    <a:pt x="1219200" y="1410462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06824" y="4026407"/>
              <a:ext cx="1219200" cy="2112645"/>
            </a:xfrm>
            <a:custGeom>
              <a:avLst/>
              <a:gdLst/>
              <a:ahLst/>
              <a:cxnLst/>
              <a:rect l="l" t="t" r="r" b="b"/>
              <a:pathLst>
                <a:path w="1219200" h="2112645">
                  <a:moveTo>
                    <a:pt x="0" y="360172"/>
                  </a:moveTo>
                  <a:lnTo>
                    <a:pt x="1049527" y="360172"/>
                  </a:lnTo>
                  <a:lnTo>
                    <a:pt x="1049527" y="1766189"/>
                  </a:lnTo>
                  <a:lnTo>
                    <a:pt x="1003238" y="1767641"/>
                  </a:lnTo>
                  <a:lnTo>
                    <a:pt x="959665" y="1771849"/>
                  </a:lnTo>
                  <a:lnTo>
                    <a:pt x="918632" y="1778585"/>
                  </a:lnTo>
                  <a:lnTo>
                    <a:pt x="879965" y="1787624"/>
                  </a:lnTo>
                  <a:lnTo>
                    <a:pt x="843489" y="1798741"/>
                  </a:lnTo>
                  <a:lnTo>
                    <a:pt x="776405" y="1826304"/>
                  </a:lnTo>
                  <a:lnTo>
                    <a:pt x="715981" y="1859466"/>
                  </a:lnTo>
                  <a:lnTo>
                    <a:pt x="660813" y="1896422"/>
                  </a:lnTo>
                  <a:lnTo>
                    <a:pt x="609501" y="1935365"/>
                  </a:lnTo>
                  <a:lnTo>
                    <a:pt x="560641" y="1974488"/>
                  </a:lnTo>
                  <a:lnTo>
                    <a:pt x="536694" y="1993553"/>
                  </a:lnTo>
                  <a:lnTo>
                    <a:pt x="488886" y="2029560"/>
                  </a:lnTo>
                  <a:lnTo>
                    <a:pt x="440026" y="2061233"/>
                  </a:lnTo>
                  <a:lnTo>
                    <a:pt x="388714" y="2086763"/>
                  </a:lnTo>
                  <a:lnTo>
                    <a:pt x="333546" y="2104345"/>
                  </a:lnTo>
                  <a:lnTo>
                    <a:pt x="273122" y="2112173"/>
                  </a:lnTo>
                  <a:lnTo>
                    <a:pt x="240500" y="2111864"/>
                  </a:lnTo>
                  <a:lnTo>
                    <a:pt x="169562" y="2101673"/>
                  </a:lnTo>
                  <a:lnTo>
                    <a:pt x="130895" y="2091339"/>
                  </a:lnTo>
                  <a:lnTo>
                    <a:pt x="89862" y="2077212"/>
                  </a:lnTo>
                  <a:lnTo>
                    <a:pt x="46289" y="2059065"/>
                  </a:lnTo>
                  <a:lnTo>
                    <a:pt x="0" y="2036673"/>
                  </a:lnTo>
                  <a:lnTo>
                    <a:pt x="0" y="360172"/>
                  </a:lnTo>
                  <a:close/>
                </a:path>
                <a:path w="1219200" h="2112645">
                  <a:moveTo>
                    <a:pt x="86487" y="360172"/>
                  </a:moveTo>
                  <a:lnTo>
                    <a:pt x="86487" y="177927"/>
                  </a:lnTo>
                  <a:lnTo>
                    <a:pt x="1128902" y="177927"/>
                  </a:lnTo>
                  <a:lnTo>
                    <a:pt x="1128902" y="1592719"/>
                  </a:lnTo>
                  <a:lnTo>
                    <a:pt x="1099784" y="1594251"/>
                  </a:lnTo>
                  <a:lnTo>
                    <a:pt x="1074356" y="1597621"/>
                  </a:lnTo>
                  <a:lnTo>
                    <a:pt x="1056358" y="1600992"/>
                  </a:lnTo>
                  <a:lnTo>
                    <a:pt x="1049527" y="1602524"/>
                  </a:lnTo>
                </a:path>
                <a:path w="1219200" h="2112645">
                  <a:moveTo>
                    <a:pt x="167766" y="177927"/>
                  </a:moveTo>
                  <a:lnTo>
                    <a:pt x="167766" y="0"/>
                  </a:lnTo>
                  <a:lnTo>
                    <a:pt x="1219200" y="0"/>
                  </a:lnTo>
                  <a:lnTo>
                    <a:pt x="1219200" y="1410462"/>
                  </a:lnTo>
                  <a:lnTo>
                    <a:pt x="1186017" y="1411612"/>
                  </a:lnTo>
                  <a:lnTo>
                    <a:pt x="1157096" y="1414145"/>
                  </a:lnTo>
                  <a:lnTo>
                    <a:pt x="1136653" y="1416677"/>
                  </a:lnTo>
                  <a:lnTo>
                    <a:pt x="1128902" y="141782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86453" y="4407789"/>
            <a:ext cx="74485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00001111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00110011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11111111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00000000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11100111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4345" y="6181445"/>
            <a:ext cx="10306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 panose="020F0502020204030204"/>
                <a:cs typeface="Calibri" panose="020F0502020204030204"/>
              </a:rPr>
              <a:t>Library</a:t>
            </a:r>
            <a:r>
              <a:rPr sz="16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5" dirty="0">
                <a:latin typeface="Calibri" panose="020F0502020204030204"/>
                <a:cs typeface="Calibri" panose="020F0502020204030204"/>
              </a:rPr>
              <a:t>Files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600" b="1" spc="-5" dirty="0">
                <a:latin typeface="Calibri" panose="020F0502020204030204"/>
                <a:cs typeface="Calibri" panose="020F0502020204030204"/>
              </a:rPr>
              <a:t>.obj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27148" y="4174235"/>
            <a:ext cx="990600" cy="1419225"/>
            <a:chOff x="2327148" y="4174235"/>
            <a:chExt cx="990600" cy="1419225"/>
          </a:xfrm>
        </p:grpSpPr>
        <p:sp>
          <p:nvSpPr>
            <p:cNvPr id="14" name="object 14"/>
            <p:cNvSpPr/>
            <p:nvPr/>
          </p:nvSpPr>
          <p:spPr>
            <a:xfrm>
              <a:off x="2331720" y="4178807"/>
              <a:ext cx="981710" cy="1409700"/>
            </a:xfrm>
            <a:custGeom>
              <a:avLst/>
              <a:gdLst/>
              <a:ahLst/>
              <a:cxnLst/>
              <a:rect l="l" t="t" r="r" b="b"/>
              <a:pathLst>
                <a:path w="981710" h="1409700">
                  <a:moveTo>
                    <a:pt x="981456" y="0"/>
                  </a:moveTo>
                  <a:lnTo>
                    <a:pt x="0" y="0"/>
                  </a:lnTo>
                  <a:lnTo>
                    <a:pt x="0" y="1333627"/>
                  </a:lnTo>
                  <a:lnTo>
                    <a:pt x="49054" y="1356873"/>
                  </a:lnTo>
                  <a:lnTo>
                    <a:pt x="94849" y="1375514"/>
                  </a:lnTo>
                  <a:lnTo>
                    <a:pt x="137626" y="1389825"/>
                  </a:lnTo>
                  <a:lnTo>
                    <a:pt x="177627" y="1400081"/>
                  </a:lnTo>
                  <a:lnTo>
                    <a:pt x="250263" y="1409534"/>
                  </a:lnTo>
                  <a:lnTo>
                    <a:pt x="283382" y="1409282"/>
                  </a:lnTo>
                  <a:lnTo>
                    <a:pt x="344429" y="1400198"/>
                  </a:lnTo>
                  <a:lnTo>
                    <a:pt x="400163" y="1381512"/>
                  </a:lnTo>
                  <a:lnTo>
                    <a:pt x="452518" y="1355430"/>
                  </a:lnTo>
                  <a:lnTo>
                    <a:pt x="503424" y="1324158"/>
                  </a:lnTo>
                  <a:lnTo>
                    <a:pt x="581292" y="1272341"/>
                  </a:lnTo>
                  <a:lnTo>
                    <a:pt x="608616" y="1254863"/>
                  </a:lnTo>
                  <a:lnTo>
                    <a:pt x="666765" y="1221250"/>
                  </a:lnTo>
                  <a:lnTo>
                    <a:pt x="731192" y="1191268"/>
                  </a:lnTo>
                  <a:lnTo>
                    <a:pt x="803828" y="1167122"/>
                  </a:lnTo>
                  <a:lnTo>
                    <a:pt x="843829" y="1157926"/>
                  </a:lnTo>
                  <a:lnTo>
                    <a:pt x="886606" y="1151017"/>
                  </a:lnTo>
                  <a:lnTo>
                    <a:pt x="932401" y="1146669"/>
                  </a:lnTo>
                  <a:lnTo>
                    <a:pt x="981456" y="1145159"/>
                  </a:lnTo>
                  <a:lnTo>
                    <a:pt x="981456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1720" y="4178807"/>
              <a:ext cx="981710" cy="1409700"/>
            </a:xfrm>
            <a:custGeom>
              <a:avLst/>
              <a:gdLst/>
              <a:ahLst/>
              <a:cxnLst/>
              <a:rect l="l" t="t" r="r" b="b"/>
              <a:pathLst>
                <a:path w="981710" h="1409700">
                  <a:moveTo>
                    <a:pt x="0" y="0"/>
                  </a:moveTo>
                  <a:lnTo>
                    <a:pt x="981456" y="0"/>
                  </a:lnTo>
                  <a:lnTo>
                    <a:pt x="981456" y="1145159"/>
                  </a:lnTo>
                  <a:lnTo>
                    <a:pt x="932401" y="1146669"/>
                  </a:lnTo>
                  <a:lnTo>
                    <a:pt x="886606" y="1151017"/>
                  </a:lnTo>
                  <a:lnTo>
                    <a:pt x="843829" y="1157926"/>
                  </a:lnTo>
                  <a:lnTo>
                    <a:pt x="803828" y="1167122"/>
                  </a:lnTo>
                  <a:lnTo>
                    <a:pt x="766363" y="1178328"/>
                  </a:lnTo>
                  <a:lnTo>
                    <a:pt x="698073" y="1205667"/>
                  </a:lnTo>
                  <a:lnTo>
                    <a:pt x="637026" y="1237740"/>
                  </a:lnTo>
                  <a:lnTo>
                    <a:pt x="581292" y="1272341"/>
                  </a:lnTo>
                  <a:lnTo>
                    <a:pt x="528937" y="1307265"/>
                  </a:lnTo>
                  <a:lnTo>
                    <a:pt x="503424" y="1324158"/>
                  </a:lnTo>
                  <a:lnTo>
                    <a:pt x="452518" y="1355430"/>
                  </a:lnTo>
                  <a:lnTo>
                    <a:pt x="400163" y="1381512"/>
                  </a:lnTo>
                  <a:lnTo>
                    <a:pt x="344429" y="1400198"/>
                  </a:lnTo>
                  <a:lnTo>
                    <a:pt x="283382" y="1409282"/>
                  </a:lnTo>
                  <a:lnTo>
                    <a:pt x="250263" y="1409534"/>
                  </a:lnTo>
                  <a:lnTo>
                    <a:pt x="215092" y="1406559"/>
                  </a:lnTo>
                  <a:lnTo>
                    <a:pt x="137626" y="1389825"/>
                  </a:lnTo>
                  <a:lnTo>
                    <a:pt x="94849" y="1375514"/>
                  </a:lnTo>
                  <a:lnTo>
                    <a:pt x="49054" y="1356873"/>
                  </a:lnTo>
                  <a:lnTo>
                    <a:pt x="0" y="1333627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50083" y="4199890"/>
            <a:ext cx="74485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00001111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00110011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11111111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00000000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11100111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23338" y="5676696"/>
            <a:ext cx="923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 panose="020F0502020204030204"/>
                <a:cs typeface="Calibri" panose="020F0502020204030204"/>
              </a:rPr>
              <a:t>Object</a:t>
            </a:r>
            <a:r>
              <a:rPr sz="16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5" dirty="0">
                <a:latin typeface="Calibri" panose="020F0502020204030204"/>
                <a:cs typeface="Calibri" panose="020F0502020204030204"/>
              </a:rPr>
              <a:t>File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905" algn="ctr">
              <a:lnSpc>
                <a:spcPct val="100000"/>
              </a:lnSpc>
            </a:pPr>
            <a:r>
              <a:rPr sz="1600" b="1" spc="-5" dirty="0">
                <a:latin typeface="Calibri" panose="020F0502020204030204"/>
                <a:cs typeface="Calibri" panose="020F0502020204030204"/>
              </a:rPr>
              <a:t>.obj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40252" y="4631435"/>
            <a:ext cx="466090" cy="389890"/>
            <a:chOff x="3540252" y="4631435"/>
            <a:chExt cx="466090" cy="38989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4928" y="4706124"/>
              <a:ext cx="390905" cy="3146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44824" y="4635499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76200"/>
                  </a:moveTo>
                  <a:lnTo>
                    <a:pt x="285750" y="76200"/>
                  </a:lnTo>
                  <a:lnTo>
                    <a:pt x="285750" y="0"/>
                  </a:lnTo>
                  <a:lnTo>
                    <a:pt x="95250" y="0"/>
                  </a:lnTo>
                  <a:lnTo>
                    <a:pt x="9525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95250" y="228600"/>
                  </a:lnTo>
                  <a:lnTo>
                    <a:pt x="95250" y="304800"/>
                  </a:lnTo>
                  <a:lnTo>
                    <a:pt x="285750" y="304800"/>
                  </a:lnTo>
                  <a:lnTo>
                    <a:pt x="285750" y="228600"/>
                  </a:lnTo>
                  <a:lnTo>
                    <a:pt x="381000" y="228600"/>
                  </a:lnTo>
                  <a:lnTo>
                    <a:pt x="381000" y="76200"/>
                  </a:lnTo>
                  <a:close/>
                </a:path>
              </a:pathLst>
            </a:custGeom>
            <a:solidFill>
              <a:srgbClr val="D7EB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44824" y="4636007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95250" y="0"/>
                  </a:moveTo>
                  <a:lnTo>
                    <a:pt x="9525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95250" y="228600"/>
                  </a:lnTo>
                  <a:lnTo>
                    <a:pt x="95250" y="304800"/>
                  </a:lnTo>
                  <a:lnTo>
                    <a:pt x="285750" y="304800"/>
                  </a:lnTo>
                  <a:lnTo>
                    <a:pt x="285750" y="228600"/>
                  </a:lnTo>
                  <a:lnTo>
                    <a:pt x="381000" y="228600"/>
                  </a:lnTo>
                  <a:lnTo>
                    <a:pt x="381000" y="76200"/>
                  </a:lnTo>
                  <a:lnTo>
                    <a:pt x="285750" y="76200"/>
                  </a:lnTo>
                  <a:lnTo>
                    <a:pt x="285750" y="0"/>
                  </a:lnTo>
                  <a:lnTo>
                    <a:pt x="9525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2423" y="4178808"/>
            <a:ext cx="2286000" cy="172059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789544" y="6029045"/>
            <a:ext cx="12795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 panose="020F0502020204030204"/>
                <a:cs typeface="Calibri" panose="020F0502020204030204"/>
              </a:rPr>
              <a:t>Executable</a:t>
            </a:r>
            <a:r>
              <a:rPr sz="16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5" dirty="0">
                <a:latin typeface="Calibri" panose="020F0502020204030204"/>
                <a:cs typeface="Calibri" panose="020F0502020204030204"/>
              </a:rPr>
              <a:t>File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600" b="1" spc="-20" dirty="0">
                <a:latin typeface="Calibri" panose="020F0502020204030204"/>
                <a:cs typeface="Calibri" panose="020F0502020204030204"/>
              </a:rPr>
              <a:t>.exe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37515"/>
            <a:ext cx="726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 structure</a:t>
            </a:r>
            <a:r>
              <a:rPr dirty="0"/>
              <a:t> 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dirty="0"/>
              <a:t> C++ </a:t>
            </a:r>
            <a:r>
              <a:rPr spc="-5" dirty="0"/>
              <a:t>program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905000"/>
            <a:ext cx="7589161" cy="3392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37515"/>
            <a:ext cx="726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 structure</a:t>
            </a:r>
            <a:r>
              <a:rPr dirty="0"/>
              <a:t> 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dirty="0"/>
              <a:t> C++ </a:t>
            </a:r>
            <a:r>
              <a:rPr spc="-5" dirty="0"/>
              <a:t>program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0072" y="2123490"/>
            <a:ext cx="7589161" cy="3392830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3810" y="2032635"/>
          <a:ext cx="1541145" cy="3566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1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1</a:t>
                      </a:r>
                      <a:endParaRPr sz="200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2</a:t>
                      </a:r>
                      <a:endParaRPr sz="200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3</a:t>
                      </a:r>
                      <a:endParaRPr sz="200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4</a:t>
                      </a:r>
                      <a:endParaRPr sz="20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5</a:t>
                      </a:r>
                      <a:endParaRPr sz="200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6</a:t>
                      </a:r>
                      <a:endParaRPr sz="200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7</a:t>
                      </a:r>
                      <a:endParaRPr sz="200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8</a:t>
                      </a:r>
                      <a:endParaRPr sz="200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Line</a:t>
                      </a:r>
                      <a:r>
                        <a:rPr sz="2000" b="1" spc="-40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-</a:t>
                      </a:r>
                      <a:r>
                        <a:rPr sz="2000" b="1" spc="-45" dirty="0">
                          <a:latin typeface="Consolas" panose="020B0609020204030204"/>
                          <a:cs typeface="Consolas" panose="020B0609020204030204"/>
                        </a:rPr>
                        <a:t> </a:t>
                      </a:r>
                      <a:r>
                        <a:rPr sz="2000" b="1" dirty="0">
                          <a:latin typeface="Consolas" panose="020B0609020204030204"/>
                          <a:cs typeface="Consolas" panose="020B0609020204030204"/>
                        </a:rPr>
                        <a:t>9</a:t>
                      </a:r>
                      <a:endParaRPr sz="2000" dirty="0">
                        <a:latin typeface="Consolas" panose="020B0609020204030204"/>
                        <a:cs typeface="Consolas" panose="020B0609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37515"/>
            <a:ext cx="726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 structure</a:t>
            </a:r>
            <a:r>
              <a:rPr dirty="0"/>
              <a:t> 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dirty="0"/>
              <a:t> C++ </a:t>
            </a:r>
            <a:r>
              <a:rPr spc="-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345184"/>
            <a:ext cx="933831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Line –</a:t>
            </a:r>
            <a:r>
              <a:rPr sz="2800" b="1" spc="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Preprocessor</a:t>
            </a:r>
            <a:r>
              <a:rPr sz="2800" b="1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directive/command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Starts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#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give instructions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compiler to preprocess the information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before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actual compilation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starts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#include</a:t>
            </a:r>
            <a:r>
              <a:rPr sz="2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&lt;file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name&gt;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015365" lvl="1" indent="-546100">
              <a:lnSpc>
                <a:spcPct val="100000"/>
              </a:lnSpc>
              <a:buFont typeface="Wingdings" panose="05000000000000000000"/>
              <a:buChar char=""/>
              <a:tabLst>
                <a:tab pos="1015365" algn="l"/>
                <a:tab pos="10160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Causes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named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file to be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inserted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standard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library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many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pre-written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classes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included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Header</a:t>
            </a:r>
            <a:r>
              <a:rPr sz="28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files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Files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included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head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(top)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</a:t>
            </a:r>
            <a:r>
              <a:rPr sz="2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37515"/>
            <a:ext cx="726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 structure</a:t>
            </a:r>
            <a:r>
              <a:rPr dirty="0"/>
              <a:t> 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dirty="0"/>
              <a:t> C++ </a:t>
            </a:r>
            <a:r>
              <a:rPr spc="-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345184"/>
            <a:ext cx="1001395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Line</a:t>
            </a:r>
            <a:r>
              <a:rPr sz="2800" b="1" spc="-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1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Namespace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62357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  <a:tab pos="187960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provide 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space where we can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define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 declare identifier i.e.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variable,	method,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classes.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53594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Using namespace, you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define 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space or context in which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identifiers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i.e.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variable, method, classes.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essence,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 namespace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defines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scope.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Advantage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Namespace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avoid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collision.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992505" indent="-457835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All identifiers at namespace scope are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visible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one another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qualification.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  <a:tab pos="677227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Identifiers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outside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namespace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members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fully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qualified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name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identifier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std::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cout&lt;&lt;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37515"/>
            <a:ext cx="726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 structure</a:t>
            </a:r>
            <a:r>
              <a:rPr dirty="0"/>
              <a:t> 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dirty="0"/>
              <a:t> C++ </a:t>
            </a:r>
            <a:r>
              <a:rPr spc="-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345184"/>
            <a:ext cx="918337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Line</a:t>
            </a:r>
            <a:r>
              <a:rPr sz="2800" b="1" spc="-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– (5-9)</a:t>
            </a:r>
            <a:r>
              <a:rPr sz="28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function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entry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point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point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which execution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started.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When a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program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executed,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execution control goes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directly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function.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Every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main()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function.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other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functions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invoked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2300" y="4597672"/>
            <a:ext cx="1946697" cy="14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37515"/>
            <a:ext cx="726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 structure</a:t>
            </a:r>
            <a:r>
              <a:rPr dirty="0"/>
              <a:t> 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dirty="0"/>
              <a:t> C++ </a:t>
            </a:r>
            <a:r>
              <a:rPr spc="-5" dirty="0"/>
              <a:t>program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4728" y="2345728"/>
            <a:ext cx="8143556" cy="30937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37515"/>
            <a:ext cx="726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 structure</a:t>
            </a:r>
            <a:r>
              <a:rPr dirty="0"/>
              <a:t> 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dirty="0"/>
              <a:t> C++ </a:t>
            </a:r>
            <a:r>
              <a:rPr spc="-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345184"/>
            <a:ext cx="1002474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Line</a:t>
            </a:r>
            <a:r>
              <a:rPr sz="2800" b="1" spc="-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8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(5-9)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800" b="1" u="heavy" spc="-1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function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header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 line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line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function,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contains: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 returned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by the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(if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any)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marR="5080" lvl="1" indent="-457200">
              <a:lnSpc>
                <a:spcPct val="100000"/>
              </a:lnSpc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must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passed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 is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invoked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(if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any)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Wingdings" panose="05000000000000000000"/>
              <a:buChar char=""/>
            </a:pP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Arguments:</a:t>
            </a:r>
            <a:r>
              <a:rPr sz="2800" b="1" i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passed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 function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Function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body:</a:t>
            </a:r>
            <a:r>
              <a:rPr sz="2800" b="1" i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statements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inside a function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enclosed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braces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(opening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{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closing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}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”)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37515"/>
            <a:ext cx="726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Basic structure</a:t>
            </a:r>
            <a:r>
              <a:rPr dirty="0"/>
              <a:t> of</a:t>
            </a:r>
            <a:r>
              <a:rPr spc="-20" dirty="0"/>
              <a:t> </a:t>
            </a:r>
            <a:r>
              <a:rPr spc="-5" dirty="0"/>
              <a:t>a</a:t>
            </a:r>
            <a:r>
              <a:rPr dirty="0"/>
              <a:t> C++ </a:t>
            </a:r>
            <a:r>
              <a:rPr spc="-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345184"/>
            <a:ext cx="984504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Line</a:t>
            </a:r>
            <a:r>
              <a:rPr sz="2800" b="1" spc="-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– (5-9)</a:t>
            </a:r>
            <a:r>
              <a:rPr sz="2800" b="1" spc="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function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704215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  <a:tab pos="210629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Each statement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inside 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function must be terminated with a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semicolon	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;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28829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return: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keyword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causing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appropriate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returned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function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statement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main()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causes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program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end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3846" y="437515"/>
            <a:ext cx="246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cout</a:t>
            </a:r>
            <a:r>
              <a:rPr spc="-60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345184"/>
            <a:ext cx="961199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44780" indent="-45783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 is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used 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display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standard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device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i.e.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monitor.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iostream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header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file.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 associated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standard C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stream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stdout.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data needed to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be displayed on 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screen is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inserted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standard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output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stream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(cout) using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insertion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operator(&lt;&lt;).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1792" y="4677163"/>
            <a:ext cx="7594145" cy="4847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7561" y="437515"/>
            <a:ext cx="2437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endl</a:t>
            </a:r>
            <a:r>
              <a:rPr spc="-80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345184"/>
            <a:ext cx="94227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endl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predefined object of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ostream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class.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insert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line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characters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flushes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stream.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4844" y="2546631"/>
            <a:ext cx="5282565" cy="1336040"/>
            <a:chOff x="1404844" y="2546631"/>
            <a:chExt cx="5282565" cy="13360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4844" y="2546631"/>
              <a:ext cx="5282568" cy="8017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0012" y="3377184"/>
              <a:ext cx="3848819" cy="50523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4403" y="4776076"/>
            <a:ext cx="5190945" cy="5165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4283" y="5631179"/>
            <a:ext cx="2927617" cy="6302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1946" y="437515"/>
            <a:ext cx="2388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</a:t>
            </a:r>
            <a:r>
              <a:rPr dirty="0"/>
              <a:t>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227581"/>
            <a:ext cx="9763125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Comments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be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explain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C++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code,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make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readable.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Comments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singled-lined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multi-lined/block.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Single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–line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comment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Begins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continues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end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line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"/>
              <a:tabLst>
                <a:tab pos="469265" algn="l"/>
                <a:tab pos="469900" algn="l"/>
                <a:tab pos="235267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Example	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 panose="05000000000000000000"/>
              <a:buChar char=""/>
            </a:pP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multi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–line/block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comment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comments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span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two or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lines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Begin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with /*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end with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*/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buFont typeface="Wingdings" panose="05000000000000000000"/>
              <a:buChar char=""/>
              <a:tabLst>
                <a:tab pos="469265" algn="l"/>
                <a:tab pos="469900" algn="l"/>
                <a:tab pos="235331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Example	: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3276" y="3384806"/>
            <a:ext cx="4585290" cy="586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3276" y="5497067"/>
            <a:ext cx="4680039" cy="10345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253" y="437515"/>
            <a:ext cx="203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V</a:t>
            </a:r>
            <a:r>
              <a:rPr spc="-5" dirty="0"/>
              <a:t>a</a:t>
            </a:r>
            <a:r>
              <a:rPr dirty="0"/>
              <a:t>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9734550" cy="514667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69900" indent="-457835">
              <a:lnSpc>
                <a:spcPct val="100000"/>
              </a:lnSpc>
              <a:spcBef>
                <a:spcPts val="177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3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: is 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name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given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memory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location.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basic unit of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storage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marR="5080" lvl="1" indent="-457200">
              <a:lnSpc>
                <a:spcPct val="150000"/>
              </a:lnSpc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value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stored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 a variable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changed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during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execution.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marR="459740" lvl="1" indent="-457200">
              <a:lnSpc>
                <a:spcPct val="150000"/>
              </a:lnSpc>
              <a:spcBef>
                <a:spcPts val="5"/>
              </a:spcBef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the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operations done on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variable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effects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memory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location.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Each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memory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location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has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unique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address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C++,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all the variables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must be declared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before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use.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253" y="437515"/>
            <a:ext cx="203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V</a:t>
            </a:r>
            <a:r>
              <a:rPr spc="-5" dirty="0"/>
              <a:t>a</a:t>
            </a:r>
            <a:r>
              <a:rPr dirty="0"/>
              <a:t>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5667" y="1234454"/>
            <a:ext cx="8360664" cy="2531350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21964" y="4390336"/>
          <a:ext cx="6126479" cy="14375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3119">
                <a:tc>
                  <a:txBody>
                    <a:bodyPr/>
                    <a:lstStyle/>
                    <a:p>
                      <a:pPr marL="31750">
                        <a:lnSpc>
                          <a:spcPts val="2635"/>
                        </a:lnSpc>
                      </a:pPr>
                      <a:r>
                        <a:rPr sz="2400" dirty="0">
                          <a:latin typeface="Times New Roman" panose="02020603050405020304"/>
                          <a:cs typeface="Times New Roman" panose="02020603050405020304"/>
                        </a:rPr>
                        <a:t>Cardboard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dirty="0">
                          <a:latin typeface="Times New Roman" panose="02020603050405020304"/>
                          <a:cs typeface="Times New Roman" panose="02020603050405020304"/>
                        </a:rPr>
                        <a:t>Label</a:t>
                      </a:r>
                      <a:r>
                        <a:rPr sz="24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spc="-5" dirty="0">
                          <a:latin typeface="Times New Roman" panose="02020603050405020304"/>
                          <a:cs typeface="Times New Roman" panose="02020603050405020304"/>
                        </a:rPr>
                        <a:t>(myInt,</a:t>
                      </a:r>
                      <a:r>
                        <a:rPr sz="24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spc="-5" dirty="0">
                          <a:latin typeface="Times New Roman" panose="02020603050405020304"/>
                          <a:cs typeface="Times New Roman" panose="02020603050405020304"/>
                        </a:rPr>
                        <a:t>myReal)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ts val="2635"/>
                        </a:lnSpc>
                      </a:pPr>
                      <a:r>
                        <a:rPr sz="2400" dirty="0"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2400">
                        <a:latin typeface="Wingdings" panose="05000000000000000000"/>
                        <a:cs typeface="Wingdings" panose="05000000000000000000"/>
                      </a:endParaRPr>
                    </a:p>
                    <a:p>
                      <a:pPr marL="22796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dirty="0"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24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2635"/>
                        </a:lnSpc>
                      </a:pPr>
                      <a:r>
                        <a:rPr sz="2400" spc="-10" dirty="0">
                          <a:latin typeface="Times New Roman" panose="02020603050405020304"/>
                          <a:cs typeface="Times New Roman" panose="02020603050405020304"/>
                        </a:rPr>
                        <a:t>memory</a:t>
                      </a:r>
                      <a:r>
                        <a:rPr sz="24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dirty="0">
                          <a:latin typeface="Times New Roman" panose="02020603050405020304"/>
                          <a:cs typeface="Times New Roman" panose="02020603050405020304"/>
                        </a:rPr>
                        <a:t>locations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4541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dirty="0">
                          <a:latin typeface="Times New Roman" panose="02020603050405020304"/>
                          <a:cs typeface="Times New Roman" panose="02020603050405020304"/>
                        </a:rPr>
                        <a:t>variable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413">
                <a:tc>
                  <a:txBody>
                    <a:bodyPr/>
                    <a:lstStyle/>
                    <a:p>
                      <a:pPr marL="31750">
                        <a:lnSpc>
                          <a:spcPts val="2820"/>
                        </a:lnSpc>
                        <a:spcBef>
                          <a:spcPts val="580"/>
                        </a:spcBef>
                      </a:pPr>
                      <a:r>
                        <a:rPr sz="2400" dirty="0">
                          <a:latin typeface="Times New Roman" panose="02020603050405020304"/>
                          <a:cs typeface="Times New Roman" panose="02020603050405020304"/>
                        </a:rPr>
                        <a:t>4,2.5,”a”,”hello”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ts val="2820"/>
                        </a:lnSpc>
                        <a:spcBef>
                          <a:spcPts val="580"/>
                        </a:spcBef>
                      </a:pPr>
                      <a:r>
                        <a:rPr sz="2400" dirty="0"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24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2820"/>
                        </a:lnSpc>
                        <a:spcBef>
                          <a:spcPts val="580"/>
                        </a:spcBef>
                      </a:pPr>
                      <a:r>
                        <a:rPr sz="2400" dirty="0">
                          <a:latin typeface="Times New Roman" panose="02020603050405020304"/>
                          <a:cs typeface="Times New Roman" panose="02020603050405020304"/>
                        </a:rPr>
                        <a:t>values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36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253" y="437515"/>
            <a:ext cx="203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V</a:t>
            </a:r>
            <a:r>
              <a:rPr spc="-5" dirty="0"/>
              <a:t>a</a:t>
            </a:r>
            <a:r>
              <a:rPr dirty="0"/>
              <a:t>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6748780" cy="258000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b="1" spc="-3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2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declaration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spc="-20" dirty="0">
                <a:latin typeface="Calibri" panose="020F0502020204030204"/>
                <a:cs typeface="Calibri" panose="020F0502020204030204"/>
              </a:rPr>
              <a:t>Syntax: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927100" indent="-9150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i="1" spc="-5" dirty="0">
                <a:latin typeface="Calibri" panose="020F0502020204030204"/>
                <a:cs typeface="Calibri" panose="020F0502020204030204"/>
              </a:rPr>
              <a:t>(</a:t>
            </a:r>
            <a:r>
              <a:rPr sz="2800" i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without</a:t>
            </a:r>
            <a:r>
              <a:rPr sz="2800" i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initialization)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841500">
              <a:lnSpc>
                <a:spcPct val="100000"/>
              </a:lnSpc>
              <a:spcBef>
                <a:spcPts val="1635"/>
              </a:spcBef>
              <a:tabLst>
                <a:tab pos="3969385" algn="l"/>
              </a:tabLst>
            </a:pPr>
            <a:r>
              <a:rPr sz="2800" b="1" i="1" spc="-10" dirty="0">
                <a:solidFill>
                  <a:srgbClr val="2E5496"/>
                </a:solidFill>
                <a:latin typeface="Courier New" panose="02070309020205020404"/>
                <a:cs typeface="Courier New" panose="02070309020205020404"/>
              </a:rPr>
              <a:t>dataType	</a:t>
            </a:r>
            <a:r>
              <a:rPr sz="2800" i="1" spc="-10" dirty="0">
                <a:latin typeface="Courier New" panose="02070309020205020404"/>
                <a:cs typeface="Courier New" panose="02070309020205020404"/>
              </a:rPr>
              <a:t>variableName;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2245" y="4358259"/>
            <a:ext cx="3724275" cy="1293495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927100" indent="-915035">
              <a:lnSpc>
                <a:spcPct val="100000"/>
              </a:lnSpc>
              <a:spcBef>
                <a:spcPts val="1725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i="1" spc="-5" dirty="0">
                <a:latin typeface="Calibri" panose="020F0502020204030204"/>
                <a:cs typeface="Calibri" panose="020F0502020204030204"/>
              </a:rPr>
              <a:t>(</a:t>
            </a:r>
            <a:r>
              <a:rPr sz="28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5" dirty="0">
                <a:latin typeface="Calibri" panose="020F0502020204030204"/>
                <a:cs typeface="Calibri" panose="020F0502020204030204"/>
              </a:rPr>
              <a:t>with</a:t>
            </a:r>
            <a:r>
              <a:rPr sz="28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i="1" spc="-10" dirty="0">
                <a:latin typeface="Calibri" panose="020F0502020204030204"/>
                <a:cs typeface="Calibri" panose="020F0502020204030204"/>
              </a:rPr>
              <a:t>initialization)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841500">
              <a:lnSpc>
                <a:spcPct val="100000"/>
              </a:lnSpc>
              <a:spcBef>
                <a:spcPts val="1635"/>
              </a:spcBef>
            </a:pPr>
            <a:r>
              <a:rPr sz="2800" b="1" i="1" spc="-10" dirty="0">
                <a:solidFill>
                  <a:srgbClr val="2E5496"/>
                </a:solidFill>
                <a:latin typeface="Courier New" panose="02070309020205020404"/>
                <a:cs typeface="Courier New" panose="02070309020205020404"/>
              </a:rPr>
              <a:t>dataType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9209" y="5199329"/>
            <a:ext cx="4067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10" dirty="0">
                <a:latin typeface="Courier New" panose="02070309020205020404"/>
                <a:cs typeface="Courier New" panose="02070309020205020404"/>
              </a:rPr>
              <a:t>variableName</a:t>
            </a:r>
            <a:r>
              <a:rPr sz="2800" i="1" spc="-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800" i="1" spc="-10" dirty="0">
                <a:solidFill>
                  <a:srgbClr val="FF33CC"/>
                </a:solidFill>
                <a:latin typeface="Courier New" panose="02070309020205020404"/>
                <a:cs typeface="Courier New" panose="02070309020205020404"/>
              </a:rPr>
              <a:t>value</a:t>
            </a:r>
            <a:r>
              <a:rPr sz="2800" i="1" spc="-10" dirty="0">
                <a:latin typeface="Courier New" panose="02070309020205020404"/>
                <a:cs typeface="Courier New" panose="02070309020205020404"/>
              </a:rPr>
              <a:t>;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9407" y="3826772"/>
            <a:ext cx="1983157" cy="6535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6884" y="5936389"/>
            <a:ext cx="2306169" cy="2396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240" y="3404666"/>
            <a:ext cx="3901440" cy="34518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80609" y="437515"/>
            <a:ext cx="2429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Data</a:t>
            </a:r>
            <a:r>
              <a:rPr spc="-85" dirty="0"/>
              <a:t> </a:t>
            </a:r>
            <a:r>
              <a:rPr spc="-55" dirty="0"/>
              <a:t>Types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2245" y="1151260"/>
            <a:ext cx="9737090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233045" indent="-457835">
              <a:lnSpc>
                <a:spcPct val="15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specifies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type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can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store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integer,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floating,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character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5080" indent="-457835">
              <a:lnSpc>
                <a:spcPct val="150000"/>
              </a:lnSpc>
              <a:buFont typeface="Wingdings" panose="05000000000000000000"/>
              <a:buChar char=""/>
              <a:tabLst>
                <a:tab pos="469265" algn="l"/>
                <a:tab pos="469900" algn="l"/>
                <a:tab pos="194945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Specifies	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set of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operations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values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0609" y="437515"/>
            <a:ext cx="2429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Data</a:t>
            </a:r>
            <a:r>
              <a:rPr spc="-85" dirty="0"/>
              <a:t> </a:t>
            </a:r>
            <a:r>
              <a:rPr spc="-55" dirty="0"/>
              <a:t>Types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9149" y="2029332"/>
          <a:ext cx="10285095" cy="3274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1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Types</a:t>
                      </a:r>
                      <a:endParaRPr sz="3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22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664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32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types</a:t>
                      </a:r>
                      <a:endParaRPr sz="3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22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2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Basic/primitive</a:t>
                      </a:r>
                      <a:r>
                        <a:rPr sz="2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24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types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255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6647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2400" spc="-10" dirty="0">
                          <a:latin typeface="Calibri" panose="020F0502020204030204"/>
                          <a:cs typeface="Calibri" panose="020F0502020204030204"/>
                        </a:rPr>
                        <a:t>int,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40" dirty="0">
                          <a:latin typeface="Calibri" panose="020F0502020204030204"/>
                          <a:cs typeface="Calibri" panose="020F0502020204030204"/>
                        </a:rPr>
                        <a:t>char, </a:t>
                      </a:r>
                      <a:r>
                        <a:rPr sz="2400" spc="-10" dirty="0">
                          <a:latin typeface="Calibri" panose="020F0502020204030204"/>
                          <a:cs typeface="Calibri" panose="020F0502020204030204"/>
                        </a:rPr>
                        <a:t>float,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double,</a:t>
                      </a:r>
                      <a:r>
                        <a:rPr sz="240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etc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209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34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400" spc="-10" dirty="0">
                          <a:latin typeface="Calibri" panose="020F0502020204030204"/>
                          <a:cs typeface="Calibri" panose="020F0502020204030204"/>
                        </a:rPr>
                        <a:t>Derived</a:t>
                      </a:r>
                      <a:r>
                        <a:rPr sz="24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2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types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2555" marB="0"/>
                </a:tc>
                <a:tc>
                  <a:txBody>
                    <a:bodyPr/>
                    <a:lstStyle/>
                    <a:p>
                      <a:pPr marL="9664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400" spc="-45" dirty="0">
                          <a:latin typeface="Calibri" panose="020F0502020204030204"/>
                          <a:cs typeface="Calibri" panose="020F0502020204030204"/>
                        </a:rPr>
                        <a:t>array,</a:t>
                      </a:r>
                      <a:r>
                        <a:rPr sz="2400" spc="-35" dirty="0">
                          <a:latin typeface="Calibri" panose="020F0502020204030204"/>
                          <a:cs typeface="Calibri" panose="020F0502020204030204"/>
                        </a:rPr>
                        <a:t> pointer, 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etc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29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400" spc="-10" dirty="0">
                          <a:latin typeface="Calibri" panose="020F0502020204030204"/>
                          <a:cs typeface="Calibri" panose="020F0502020204030204"/>
                        </a:rPr>
                        <a:t>Enumeration</a:t>
                      </a:r>
                      <a:r>
                        <a:rPr sz="2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2400" spc="-30" dirty="0">
                          <a:latin typeface="Calibri" panose="020F0502020204030204"/>
                          <a:cs typeface="Calibri" panose="020F0502020204030204"/>
                        </a:rPr>
                        <a:t> Type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255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664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enum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2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User</a:t>
                      </a:r>
                      <a:r>
                        <a:rPr sz="2400" spc="-10" dirty="0">
                          <a:latin typeface="Calibri" panose="020F0502020204030204"/>
                          <a:cs typeface="Calibri" panose="020F0502020204030204"/>
                        </a:rPr>
                        <a:t> Defined</a:t>
                      </a: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15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r>
                        <a:rPr sz="2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30" dirty="0">
                          <a:latin typeface="Calibri" panose="020F0502020204030204"/>
                          <a:cs typeface="Calibri" panose="020F0502020204030204"/>
                        </a:rPr>
                        <a:t>Type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255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64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Structure,</a:t>
                      </a:r>
                      <a:r>
                        <a:rPr sz="2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400" spc="-5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Primitive</a:t>
            </a:r>
            <a:r>
              <a:rPr spc="-10" dirty="0"/>
              <a:t> </a:t>
            </a:r>
            <a:r>
              <a:rPr spc="-5" dirty="0"/>
              <a:t>data 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5990" y="2352128"/>
            <a:ext cx="6275337" cy="27917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Primitive</a:t>
            </a:r>
            <a:r>
              <a:rPr spc="-10" dirty="0"/>
              <a:t> </a:t>
            </a:r>
            <a:r>
              <a:rPr spc="-5" dirty="0"/>
              <a:t>data 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37163"/>
            <a:ext cx="3011805" cy="450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5">
              <a:lnSpc>
                <a:spcPct val="15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has nine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built-in integer 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types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Each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provides</a:t>
            </a:r>
            <a:r>
              <a:rPr sz="28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different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amounts of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storage (compiler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dependent)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3780" y="1400541"/>
            <a:ext cx="6518932" cy="49644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Primitive</a:t>
            </a:r>
            <a:r>
              <a:rPr spc="-10" dirty="0"/>
              <a:t> </a:t>
            </a:r>
            <a:r>
              <a:rPr spc="-5" dirty="0"/>
              <a:t>data 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9861550" cy="450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5">
              <a:lnSpc>
                <a:spcPct val="15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type:</a:t>
            </a:r>
            <a:r>
              <a:rPr sz="28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Whole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numbers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(integers),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optionally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plus (+)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minus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(–)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sign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"/>
              <a:tabLst>
                <a:tab pos="926465" algn="l"/>
                <a:tab pos="927735" algn="l"/>
                <a:tab pos="24644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Example: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2,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-5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259080" indent="-457835">
              <a:lnSpc>
                <a:spcPts val="5040"/>
              </a:lnSpc>
              <a:spcBef>
                <a:spcPts val="45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char</a:t>
            </a:r>
            <a:r>
              <a:rPr sz="28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type: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Individual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character; any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letter,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digit,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special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character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enclosed in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single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quotes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Example: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10" dirty="0">
                <a:latin typeface="Times New Roman" panose="02020603050405020304"/>
                <a:cs typeface="Times New Roman" panose="02020603050405020304"/>
              </a:rPr>
              <a:t>‘A’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Character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usually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stored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ASCII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code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Primitive</a:t>
            </a:r>
            <a:r>
              <a:rPr spc="-10" dirty="0"/>
              <a:t> </a:t>
            </a:r>
            <a:r>
              <a:rPr spc="-5" dirty="0"/>
              <a:t>data 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9882505" cy="514667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69900" indent="-457835">
              <a:lnSpc>
                <a:spcPct val="100000"/>
              </a:lnSpc>
              <a:spcBef>
                <a:spcPts val="177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bool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type: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Represents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Boolean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(logical)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Restricted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values: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true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false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default numeric value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true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false is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0.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marR="802640" lvl="1" indent="-457200">
              <a:lnSpc>
                <a:spcPts val="5040"/>
              </a:lnSpc>
              <a:spcBef>
                <a:spcPts val="450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12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use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bool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variables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true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false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mathematical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expressions also.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Example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:int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= false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true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+6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marR="5080" lvl="1" indent="-457200">
              <a:lnSpc>
                <a:spcPts val="5040"/>
              </a:lnSpc>
              <a:spcBef>
                <a:spcPts val="245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 is also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possible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convert implicitly the data type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integers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floating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point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values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bool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type.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929" y="437515"/>
            <a:ext cx="72301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Signed</a:t>
            </a:r>
            <a:r>
              <a:rPr spc="-10" dirty="0"/>
              <a:t> </a:t>
            </a:r>
            <a:r>
              <a:rPr dirty="0"/>
              <a:t>and</a:t>
            </a:r>
            <a:r>
              <a:rPr spc="-5" dirty="0"/>
              <a:t> Unsigned </a:t>
            </a:r>
            <a:r>
              <a:rPr dirty="0"/>
              <a:t>Data</a:t>
            </a:r>
            <a:r>
              <a:rPr spc="-5" dirty="0"/>
              <a:t> </a:t>
            </a:r>
            <a:r>
              <a:rPr spc="-6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9862820" cy="3226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297180" indent="-457835">
              <a:lnSpc>
                <a:spcPct val="15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Signed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type:</a:t>
            </a:r>
            <a:r>
              <a:rPr sz="28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permits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negative,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positive,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zero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values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Unsigned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type:</a:t>
            </a:r>
            <a:r>
              <a:rPr sz="28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Permits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only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positive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zero values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marR="5080" lvl="1" indent="-457200">
              <a:lnSpc>
                <a:spcPts val="5040"/>
              </a:lnSpc>
              <a:spcBef>
                <a:spcPts val="250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unsigned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type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essentially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double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signed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counterpart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4602" y="437515"/>
            <a:ext cx="40817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Integer</a:t>
            </a:r>
            <a:r>
              <a:rPr spc="-35" dirty="0"/>
              <a:t> </a:t>
            </a:r>
            <a:r>
              <a:rPr spc="-5" dirty="0"/>
              <a:t>Data</a:t>
            </a:r>
            <a:r>
              <a:rPr spc="-20" dirty="0"/>
              <a:t> </a:t>
            </a:r>
            <a:r>
              <a:rPr spc="-60" dirty="0"/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674" y="1765856"/>
            <a:ext cx="10605777" cy="40315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9717" y="437515"/>
            <a:ext cx="4512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Floating-Point</a:t>
            </a:r>
            <a:r>
              <a:rPr spc="-30" dirty="0"/>
              <a:t> </a:t>
            </a:r>
            <a:r>
              <a:rPr spc="-5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1011682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5">
              <a:lnSpc>
                <a:spcPct val="15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15" dirty="0">
                <a:latin typeface="Times New Roman" panose="02020603050405020304"/>
                <a:cs typeface="Times New Roman" panose="02020603050405020304"/>
              </a:rPr>
              <a:t>(real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number):</a:t>
            </a:r>
            <a:r>
              <a:rPr sz="28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Zero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positive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negative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containing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decimal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point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"/>
              <a:tabLst>
                <a:tab pos="926465" algn="l"/>
                <a:tab pos="927735" algn="l"/>
                <a:tab pos="2691765" algn="l"/>
                <a:tab pos="4584700" algn="l"/>
                <a:tab pos="54991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Examples:	+10.625	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5.	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-6.2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special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characters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allowed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685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Three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floating-point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types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384300" lvl="2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1384300" algn="l"/>
                <a:tab pos="13849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float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(single</a:t>
            </a:r>
            <a:r>
              <a:rPr sz="2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precision)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384300" lvl="2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1384300" algn="l"/>
                <a:tab pos="138493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double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(double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precision)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384300" lvl="2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1384300" algn="l"/>
                <a:tab pos="13849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long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double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9717" y="437515"/>
            <a:ext cx="4512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Floating-Point</a:t>
            </a:r>
            <a:r>
              <a:rPr spc="-30" dirty="0"/>
              <a:t> </a:t>
            </a:r>
            <a:r>
              <a:rPr spc="-55" dirty="0"/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792" y="2333032"/>
            <a:ext cx="10925766" cy="19266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6853" y="437515"/>
            <a:ext cx="3098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</a:t>
            </a:r>
            <a:r>
              <a:rPr spc="-60" dirty="0"/>
              <a:t> </a:t>
            </a:r>
            <a:r>
              <a:rPr spc="-5" dirty="0"/>
              <a:t>name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10057765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951865" indent="-457835">
              <a:lnSpc>
                <a:spcPct val="15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naming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program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including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variable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should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follow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valid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identifier</a:t>
            </a:r>
            <a:r>
              <a:rPr sz="28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naming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rules.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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Identifier</a:t>
            </a:r>
            <a:r>
              <a:rPr sz="28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: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marR="534670" lvl="1" indent="-457200">
              <a:lnSpc>
                <a:spcPts val="5040"/>
              </a:lnSpc>
              <a:spcBef>
                <a:spcPts val="450"/>
              </a:spcBef>
              <a:buFont typeface="Wingdings" panose="05000000000000000000"/>
              <a:buChar char=""/>
              <a:tabLst>
                <a:tab pos="926465" algn="l"/>
                <a:tab pos="927735" algn="l"/>
                <a:tab pos="9013190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Identifier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refers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given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entities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such as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variables,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ncti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array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, classes,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tant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uct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res,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ters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tc.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lvl="1" indent="-457835">
              <a:lnSpc>
                <a:spcPct val="100000"/>
              </a:lnSpc>
              <a:spcBef>
                <a:spcPts val="1235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Identifiers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must be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unique.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927100" marR="5080" lvl="1" indent="-457200">
              <a:lnSpc>
                <a:spcPts val="5040"/>
              </a:lnSpc>
              <a:spcBef>
                <a:spcPts val="245"/>
              </a:spcBef>
              <a:buFont typeface="Wingdings" panose="05000000000000000000"/>
              <a:buChar char=""/>
              <a:tabLst>
                <a:tab pos="926465" algn="l"/>
                <a:tab pos="927735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They are created to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give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unique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entity to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identify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during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execution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program.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5045" y="437515"/>
            <a:ext cx="612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Valid </a:t>
            </a:r>
            <a:r>
              <a:rPr dirty="0"/>
              <a:t>identifier</a:t>
            </a:r>
            <a:r>
              <a:rPr spc="-25" dirty="0"/>
              <a:t> </a:t>
            </a:r>
            <a:r>
              <a:rPr dirty="0"/>
              <a:t>naming</a:t>
            </a:r>
            <a:r>
              <a:rPr spc="-30" dirty="0"/>
              <a:t> </a:t>
            </a:r>
            <a:r>
              <a:rPr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10095230" cy="514667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69900" indent="-457835">
              <a:lnSpc>
                <a:spcPct val="100000"/>
              </a:lnSpc>
              <a:spcBef>
                <a:spcPts val="1775"/>
              </a:spcBef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Names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contain letters,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digits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 underscores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Names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must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begin with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letter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underscore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(_)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Names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sensitive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5" dirty="0">
                <a:latin typeface="Times New Roman" panose="02020603050405020304"/>
                <a:cs typeface="Times New Roman" panose="02020603050405020304"/>
              </a:rPr>
              <a:t>(myVar</a:t>
            </a:r>
            <a:r>
              <a:rPr sz="28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myvar</a:t>
            </a:r>
            <a:r>
              <a:rPr sz="28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variables)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Names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cannot contain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whitespaces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special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characters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like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!,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#,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ct val="100000"/>
              </a:lnSpc>
              <a:spcBef>
                <a:spcPts val="1685"/>
              </a:spcBef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%,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etc.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954405" indent="-457835">
              <a:lnSpc>
                <a:spcPct val="150000"/>
              </a:lnSpc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Key words/Reserved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words (like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keywords, such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int)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be used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names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Maximum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length of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identifier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=1024 characters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5045" y="437515"/>
            <a:ext cx="612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Valid </a:t>
            </a:r>
            <a:r>
              <a:rPr dirty="0"/>
              <a:t>identifier</a:t>
            </a:r>
            <a:r>
              <a:rPr spc="-25" dirty="0"/>
              <a:t> </a:t>
            </a:r>
            <a:r>
              <a:rPr dirty="0"/>
              <a:t>naming</a:t>
            </a:r>
            <a:r>
              <a:rPr spc="-30" dirty="0"/>
              <a:t> </a:t>
            </a:r>
            <a:r>
              <a:rPr dirty="0"/>
              <a:t>rules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163" y="2787435"/>
            <a:ext cx="7508750" cy="37454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23466" y="1172667"/>
            <a:ext cx="4963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Examples</a:t>
            </a:r>
            <a:r>
              <a:rPr sz="2800" spc="-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of valid</a:t>
            </a:r>
            <a:r>
              <a:rPr sz="2800" spc="-2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C++</a:t>
            </a:r>
            <a:r>
              <a:rPr sz="2800" spc="-15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212121"/>
                </a:solidFill>
                <a:latin typeface="Times New Roman" panose="02020603050405020304"/>
                <a:cs typeface="Times New Roman" panose="02020603050405020304"/>
              </a:rPr>
              <a:t>identifiers: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59557" y="1708150"/>
            <a:ext cx="6774815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68580" marR="5080" indent="-56515">
              <a:lnSpc>
                <a:spcPts val="2810"/>
              </a:lnSpc>
              <a:spcBef>
                <a:spcPts val="455"/>
              </a:spcBef>
              <a:tabLst>
                <a:tab pos="1897380" algn="l"/>
                <a:tab pos="4184015" algn="l"/>
              </a:tabLst>
            </a:pPr>
            <a:r>
              <a:rPr sz="2600" b="1" spc="-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degToRad	intersect	addNums</a:t>
            </a:r>
            <a:r>
              <a:rPr sz="2600" b="1" spc="-5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spc="-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slope </a:t>
            </a:r>
            <a:r>
              <a:rPr sz="2600" b="1" spc="-154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spc="-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multTwo</a:t>
            </a:r>
            <a:r>
              <a:rPr sz="2600" b="1" spc="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spc="-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findMax</a:t>
            </a:r>
            <a:r>
              <a:rPr sz="2600" b="1" spc="21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spc="-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density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2034" y="1708150"/>
            <a:ext cx="14147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5" dirty="0">
                <a:solidFill>
                  <a:srgbClr val="212121"/>
                </a:solidFill>
                <a:latin typeface="Courier New" panose="02070309020205020404"/>
                <a:cs typeface="Courier New" panose="02070309020205020404"/>
              </a:rPr>
              <a:t>bessell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4646" y="437515"/>
            <a:ext cx="4902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</a:tabLst>
            </a:pPr>
            <a:r>
              <a:rPr spc="-5" dirty="0"/>
              <a:t>Key	</a:t>
            </a:r>
            <a:r>
              <a:rPr dirty="0"/>
              <a:t>/</a:t>
            </a:r>
            <a:r>
              <a:rPr spc="-50" dirty="0"/>
              <a:t> </a:t>
            </a:r>
            <a:r>
              <a:rPr dirty="0"/>
              <a:t>Reserved</a:t>
            </a:r>
            <a:r>
              <a:rPr spc="-70" dirty="0"/>
              <a:t> </a:t>
            </a:r>
            <a:r>
              <a:rPr dirty="0"/>
              <a:t>words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1093" y="3289219"/>
            <a:ext cx="9403004" cy="31812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1486" y="1161364"/>
            <a:ext cx="9678035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Keywords</a:t>
            </a:r>
            <a:r>
              <a:rPr sz="28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(also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5" dirty="0">
                <a:latin typeface="Times New Roman" panose="02020603050405020304"/>
                <a:cs typeface="Times New Roman" panose="02020603050405020304"/>
              </a:rPr>
              <a:t>known</a:t>
            </a:r>
            <a:r>
              <a:rPr sz="2800" b="1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reserved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words)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special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meaning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C++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compiler.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buFont typeface="Wingdings" panose="05000000000000000000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always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written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typed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in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short(lower)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cases.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00000"/>
              </a:lnSpc>
              <a:buFont typeface="Wingdings" panose="05000000000000000000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Keywords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 words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uses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special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purpose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8738" y="437515"/>
            <a:ext cx="4953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Assignment</a:t>
            </a:r>
            <a:r>
              <a:rPr spc="-20" dirty="0"/>
              <a:t> </a:t>
            </a:r>
            <a:r>
              <a:rPr spc="-5" dirty="0"/>
              <a:t>Operators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587" y="1350261"/>
            <a:ext cx="11164823" cy="53792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0264" y="437515"/>
            <a:ext cx="7951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Increment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Decrement</a:t>
            </a:r>
            <a:r>
              <a:rPr spc="-40" dirty="0"/>
              <a:t> </a:t>
            </a:r>
            <a:r>
              <a:rPr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6428" y="1670685"/>
            <a:ext cx="924115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C++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also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increment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decrement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operators: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++ and</a:t>
            </a:r>
            <a:r>
              <a:rPr sz="28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--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respectively.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tabLst>
                <a:tab pos="824865" algn="l"/>
              </a:tabLst>
            </a:pPr>
            <a:r>
              <a:rPr sz="2800" spc="-5" dirty="0">
                <a:latin typeface="Wingdings" panose="05000000000000000000"/>
                <a:cs typeface="Wingdings" panose="05000000000000000000"/>
              </a:rPr>
              <a:t>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	++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increases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 the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operand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824865" indent="-81280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"/>
              <a:tabLst>
                <a:tab pos="824865" algn="l"/>
                <a:tab pos="8255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-- decreases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by 1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146" y="437515"/>
            <a:ext cx="4523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Relational</a:t>
            </a:r>
            <a:r>
              <a:rPr spc="-50" dirty="0"/>
              <a:t> </a:t>
            </a:r>
            <a:r>
              <a:rPr spc="-5" dirty="0"/>
              <a:t>Operators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676" y="1039409"/>
            <a:ext cx="11280648" cy="52896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7753" y="437515"/>
            <a:ext cx="3937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Logical</a:t>
            </a:r>
            <a:r>
              <a:rPr spc="-70" dirty="0"/>
              <a:t> </a:t>
            </a:r>
            <a:r>
              <a:rPr dirty="0"/>
              <a:t>Operators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1" y="1542341"/>
            <a:ext cx="11292840" cy="416796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7753" y="437515"/>
            <a:ext cx="3936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Bitwise</a:t>
            </a:r>
            <a:r>
              <a:rPr spc="-65" dirty="0"/>
              <a:t> </a:t>
            </a:r>
            <a:r>
              <a:rPr spc="-5" dirty="0"/>
              <a:t>Operators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9" y="1274063"/>
            <a:ext cx="11240373" cy="533971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953" y="437515"/>
            <a:ext cx="4547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spc="-50" dirty="0"/>
              <a:t> </a:t>
            </a:r>
            <a:r>
              <a:rPr dirty="0"/>
              <a:t>C++</a:t>
            </a:r>
            <a:r>
              <a:rPr spc="-60" dirty="0"/>
              <a:t> </a:t>
            </a:r>
            <a:r>
              <a:rPr dirty="0"/>
              <a:t>Operators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023" y="1063870"/>
            <a:ext cx="8947404" cy="579412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1500" y="437515"/>
            <a:ext cx="9508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C++</a:t>
            </a:r>
            <a:r>
              <a:rPr dirty="0"/>
              <a:t> </a:t>
            </a:r>
            <a:r>
              <a:rPr spc="-5" dirty="0"/>
              <a:t>Operator</a:t>
            </a:r>
            <a:r>
              <a:rPr dirty="0"/>
              <a:t> Precedence</a:t>
            </a:r>
            <a:r>
              <a:rPr spc="-15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5" dirty="0"/>
              <a:t>Associativity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1151260"/>
            <a:ext cx="1005840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5">
              <a:lnSpc>
                <a:spcPct val="150000"/>
              </a:lnSpc>
              <a:spcBef>
                <a:spcPts val="95"/>
              </a:spcBef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operators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single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expression,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operations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evaluated 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simultaneously.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Rather,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operators with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higher 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precedence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have their operations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evaluated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first.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indent="-45783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469265" algn="l"/>
                <a:tab pos="469900" algn="l"/>
                <a:tab pos="4720590" algn="l"/>
              </a:tabLst>
            </a:pP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Let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us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consider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example:	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5 -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17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* 6;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900" marR="490855" indent="-457835">
              <a:lnSpc>
                <a:spcPct val="150000"/>
              </a:lnSpc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Here,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multiplication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operator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higher level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precedence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subtraction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operator</a:t>
            </a:r>
            <a:r>
              <a:rPr sz="2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-.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Hence,</a:t>
            </a:r>
            <a:r>
              <a:rPr sz="2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17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evaluated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first.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69265" marR="2647950" indent="-469265">
              <a:lnSpc>
                <a:spcPts val="5040"/>
              </a:lnSpc>
              <a:spcBef>
                <a:spcPts val="250"/>
              </a:spcBef>
              <a:buFont typeface="Wingdings" panose="05000000000000000000"/>
              <a:buChar char=""/>
              <a:tabLst>
                <a:tab pos="469265" algn="l"/>
                <a:tab pos="469900" algn="l"/>
              </a:tabLst>
            </a:pPr>
            <a:r>
              <a:rPr sz="2800" spc="-5" dirty="0">
                <a:latin typeface="Times New Roman" panose="02020603050405020304"/>
                <a:cs typeface="Times New Roman" panose="02020603050405020304"/>
              </a:rPr>
              <a:t>As a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result,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the above expression is equivalent to </a:t>
            </a:r>
            <a:r>
              <a:rPr sz="2800" spc="-6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x =</a:t>
            </a:r>
            <a:r>
              <a:rPr sz="2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- (17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6);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5139" y="22858"/>
            <a:ext cx="6118860" cy="67863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87546" y="2005710"/>
            <a:ext cx="4217035" cy="276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7040"/>
              </a:lnSpc>
              <a:spcBef>
                <a:spcPts val="100"/>
              </a:spcBef>
            </a:pPr>
            <a:r>
              <a:rPr sz="6000" b="1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END</a:t>
            </a:r>
            <a:endParaRPr sz="6000">
              <a:latin typeface="Consolas" panose="020B0609020204030204"/>
              <a:cs typeface="Consolas" panose="020B0609020204030204"/>
            </a:endParaRPr>
          </a:p>
          <a:p>
            <a:pPr marL="635" algn="ctr">
              <a:lnSpc>
                <a:spcPts val="7040"/>
              </a:lnSpc>
            </a:pPr>
            <a:r>
              <a:rPr sz="6000" i="1" spc="-1115" dirty="0">
                <a:solidFill>
                  <a:srgbClr val="006FC0"/>
                </a:solidFill>
                <a:latin typeface="Trebuchet MS" panose="020B0603020202020204"/>
                <a:cs typeface="Trebuchet MS" panose="020B0603020202020204"/>
              </a:rPr>
              <a:t>Of</a:t>
            </a:r>
            <a:endParaRPr sz="6000">
              <a:latin typeface="Trebuchet MS" panose="020B0603020202020204"/>
              <a:cs typeface="Trebuchet MS" panose="020B0603020202020204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6000" b="1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Lecture</a:t>
            </a:r>
            <a:r>
              <a:rPr sz="6000" b="1" spc="-90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6000" b="1" dirty="0">
                <a:solidFill>
                  <a:srgbClr val="006FC0"/>
                </a:solidFill>
                <a:latin typeface="Consolas" panose="020B0609020204030204"/>
                <a:cs typeface="Consolas" panose="020B0609020204030204"/>
              </a:rPr>
              <a:t>-2</a:t>
            </a:r>
            <a:endParaRPr sz="6000">
              <a:latin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1582</Words>
  <Application>Microsoft Office PowerPoint</Application>
  <PresentationFormat>Widescreen</PresentationFormat>
  <Paragraphs>213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Consolas</vt:lpstr>
      <vt:lpstr>Courier New</vt:lpstr>
      <vt:lpstr>Times New Roman</vt:lpstr>
      <vt:lpstr>Trebuchet MS</vt:lpstr>
      <vt:lpstr>Wingdings</vt:lpstr>
      <vt:lpstr>Office Theme</vt:lpstr>
      <vt:lpstr>Introduction to C++</vt:lpstr>
      <vt:lpstr>Compilation Process in C++</vt:lpstr>
      <vt:lpstr>Compilation Process in C++</vt:lpstr>
      <vt:lpstr>Compilation Process in C++</vt:lpstr>
      <vt:lpstr>Basic structure of a C++ program</vt:lpstr>
      <vt:lpstr>Basic structure of a C++ program</vt:lpstr>
      <vt:lpstr>Basic structure of a C++ program</vt:lpstr>
      <vt:lpstr>Basic structure of a C++ program</vt:lpstr>
      <vt:lpstr>Basic structure of a C++ program</vt:lpstr>
      <vt:lpstr>Basic structure of a C++ program</vt:lpstr>
      <vt:lpstr>Basic structure of a C++ program</vt:lpstr>
      <vt:lpstr>Basic structure of a C++ program</vt:lpstr>
      <vt:lpstr>cout object</vt:lpstr>
      <vt:lpstr>endl object</vt:lpstr>
      <vt:lpstr>Comments</vt:lpstr>
      <vt:lpstr>Variables</vt:lpstr>
      <vt:lpstr>Variables</vt:lpstr>
      <vt:lpstr>Variables</vt:lpstr>
      <vt:lpstr>Data Types</vt:lpstr>
      <vt:lpstr>Data Types</vt:lpstr>
      <vt:lpstr>Primitive data types</vt:lpstr>
      <vt:lpstr>Primitive data types</vt:lpstr>
      <vt:lpstr>Primitive data types</vt:lpstr>
      <vt:lpstr>Primitive data types</vt:lpstr>
      <vt:lpstr>Signed and Unsigned Data Types</vt:lpstr>
      <vt:lpstr>Integer Data Types</vt:lpstr>
      <vt:lpstr>Floating-Point Types</vt:lpstr>
      <vt:lpstr>Floating-Point Types</vt:lpstr>
      <vt:lpstr>Variable name</vt:lpstr>
      <vt:lpstr>Valid identifier naming rules</vt:lpstr>
      <vt:lpstr>Valid identifier naming rules</vt:lpstr>
      <vt:lpstr>Key / Reserved words</vt:lpstr>
      <vt:lpstr>Assignment Operators</vt:lpstr>
      <vt:lpstr>Increment and Decrement Operators</vt:lpstr>
      <vt:lpstr>Relational Operators</vt:lpstr>
      <vt:lpstr>Logical Operators</vt:lpstr>
      <vt:lpstr>Bitwise Operators</vt:lpstr>
      <vt:lpstr>Other C++ Operators</vt:lpstr>
      <vt:lpstr>C++ Operator Precedence and Associativity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OF PROGRAMMING</dc:title>
  <dc:creator>Amir Ibrahim</dc:creator>
  <cp:lastModifiedBy>Melkamu</cp:lastModifiedBy>
  <cp:revision>8</cp:revision>
  <dcterms:created xsi:type="dcterms:W3CDTF">2023-08-16T11:26:43Z</dcterms:created>
  <dcterms:modified xsi:type="dcterms:W3CDTF">2026-08-19T05:40:16Z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2022-09-13T03:00:00Z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2023-08-16T03:00:00Z</vt:filetime>
  </property>
  <property fmtid="{D5CDD505-2E9C-101B-9397-08002B2CF9AE}" pid="5" name="ICV">
    <vt:lpwstr>A264F199BB3E4FC493FD4370C1DA32CF_12</vt:lpwstr>
  </property>
  <property fmtid="{D5CDD505-2E9C-101B-9397-08002B2CF9AE}" pid="6" name="KSOProductBuildVer">
    <vt:lpwstr>2057-12.2.0.13110</vt:lpwstr>
  </property>
</Properties>
</file>