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2" r:id="rId2"/>
  </p:sldMasterIdLst>
  <p:notesMasterIdLst>
    <p:notesMasterId r:id="rId59"/>
  </p:notesMasterIdLst>
  <p:sldIdLst>
    <p:sldId id="256" r:id="rId3"/>
    <p:sldId id="258" r:id="rId4"/>
    <p:sldId id="32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323" r:id="rId28"/>
    <p:sldId id="281" r:id="rId29"/>
    <p:sldId id="283" r:id="rId30"/>
    <p:sldId id="284" r:id="rId31"/>
    <p:sldId id="285" r:id="rId32"/>
    <p:sldId id="286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1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6858000" type="screen4x3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35B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9606" autoAdjust="0"/>
  </p:normalViewPr>
  <p:slideViewPr>
    <p:cSldViewPr showGuides="1">
      <p:cViewPr varScale="1">
        <p:scale>
          <a:sx n="98" d="100"/>
          <a:sy n="98" d="100"/>
        </p:scale>
        <p:origin x="56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40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71FEE8B-A424-430C-B832-DE2CE85D72C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6204755-F9BC-4CDA-9C8F-4B164C319D3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CFA1-D8AD-45F1-8714-8A2522966365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5305" y="332658"/>
            <a:ext cx="82014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9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941169"/>
            <a:ext cx="432048" cy="42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 wrap="square"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2325-B186-44DE-A536-E153A611E622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A8FA-359C-4392-9643-05A5726F6F74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648201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AC91-2952-4DC0-A672-B411813FE6D5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910FD-9FE1-4AB9-9FFB-200E0DDC5897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E33B-0FFF-4597-9485-E0F8433AC673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6C6B-FBE7-4DE4-9C9D-FC73AE92317F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4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575050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457204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46F2-6623-4275-BB3F-4FF933F7A63F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7E58-D2EE-40DA-9C92-ED726FCCFDBC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C162-54C8-4BB0-9C6B-AE88FBD196A9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3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5BD-2588-4F56-9E14-32327AE04841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520" b="0" i="0">
                <a:solidFill>
                  <a:srgbClr val="10278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Holder 3"/>
          <p:cNvSpPr>
            <a:spLocks noGrp="1"/>
          </p:cNvSpPr>
          <p:nvPr>
            <p:ph sz="half" idx="2" hasCustomPrompt="1"/>
          </p:nvPr>
        </p:nvSpPr>
        <p:spPr>
          <a:xfrm>
            <a:off x="457200" y="1577341"/>
            <a:ext cx="397764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 hasCustomPrompt="1"/>
          </p:nvPr>
        </p:nvSpPr>
        <p:spPr>
          <a:xfrm>
            <a:off x="4709159" y="1577341"/>
            <a:ext cx="397764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E538A-CF88-4457-95A3-597AC2F549C4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827088" y="3213100"/>
            <a:ext cx="77771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2130426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68414"/>
            <a:ext cx="4038600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268414"/>
            <a:ext cx="4038600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38926" y="260351"/>
            <a:ext cx="2058988" cy="6337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60351"/>
            <a:ext cx="6029325" cy="6337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49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0F1F258-9322-4693-A0E0-F1EC2F0187DA}" type="datetime1">
              <a:rPr lang="ko-KR" altLang="en-US" smtClean="0"/>
              <a:t>2026-09-07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0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96FFCEE6-A8B9-4E87-81E3-67B1867F1C23}" type="slidenum">
              <a:rPr kumimoji="0" lang="ko-KR" altLang="en-US" smtClean="0"/>
              <a:t>‹#›</a:t>
            </a:fld>
            <a:endParaRPr kumimoji="0"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908724"/>
            <a:ext cx="8229600" cy="5217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3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C6623-9801-44E2-8962-24D16AF8433E}" type="datetime1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3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611561" y="836712"/>
            <a:ext cx="7992888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 userDrawn="1"/>
        </p:nvSpPr>
        <p:spPr>
          <a:xfrm>
            <a:off x="7884368" y="332656"/>
            <a:ext cx="7920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aseline="0" dirty="0"/>
              <a:t>ASTU</a:t>
            </a:r>
            <a:endParaRPr lang="ko-KR" altLang="en-US" dirty="0"/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452320" y="260649"/>
            <a:ext cx="432048" cy="42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1"/>
            <a:ext cx="8229600" cy="7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4"/>
            <a:ext cx="8229600" cy="53292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468314" y="981075"/>
            <a:ext cx="69119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굴림" pitchFamily="50" charset="-127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굴림" pitchFamily="50" charset="-127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800">
          <a:solidFill>
            <a:schemeClr val="tx1"/>
          </a:solidFill>
          <a:latin typeface="+mn-lt"/>
          <a:ea typeface="+mn-ea"/>
          <a:cs typeface="굴림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굴림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  <a:cs typeface="굴림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  <a:cs typeface="굴림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1440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grpSp>
        <p:nvGrpSpPr>
          <p:cNvPr id="3" name="object 3"/>
          <p:cNvGrpSpPr/>
          <p:nvPr/>
        </p:nvGrpSpPr>
        <p:grpSpPr>
          <a:xfrm>
            <a:off x="486917" y="2616326"/>
            <a:ext cx="8307705" cy="764858"/>
            <a:chOff x="649223" y="2345435"/>
            <a:chExt cx="11076940" cy="1019810"/>
          </a:xfrm>
        </p:grpSpPr>
        <p:sp>
          <p:nvSpPr>
            <p:cNvPr id="4" name="object 4"/>
            <p:cNvSpPr/>
            <p:nvPr/>
          </p:nvSpPr>
          <p:spPr>
            <a:xfrm>
              <a:off x="655319" y="2351531"/>
              <a:ext cx="11064240" cy="1007744"/>
            </a:xfrm>
            <a:custGeom>
              <a:avLst/>
              <a:gdLst/>
              <a:ahLst/>
              <a:cxnLst/>
              <a:rect l="l" t="t" r="r" b="b"/>
              <a:pathLst>
                <a:path w="11064240" h="1007745">
                  <a:moveTo>
                    <a:pt x="11064240" y="0"/>
                  </a:moveTo>
                  <a:lnTo>
                    <a:pt x="0" y="0"/>
                  </a:lnTo>
                  <a:lnTo>
                    <a:pt x="0" y="1007363"/>
                  </a:lnTo>
                  <a:lnTo>
                    <a:pt x="11064240" y="1007363"/>
                  </a:lnTo>
                  <a:lnTo>
                    <a:pt x="11064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655319" y="2351531"/>
              <a:ext cx="11064240" cy="1007744"/>
            </a:xfrm>
            <a:custGeom>
              <a:avLst/>
              <a:gdLst/>
              <a:ahLst/>
              <a:cxnLst/>
              <a:rect l="l" t="t" r="r" b="b"/>
              <a:pathLst>
                <a:path w="11064240" h="1007745">
                  <a:moveTo>
                    <a:pt x="0" y="1007363"/>
                  </a:moveTo>
                  <a:lnTo>
                    <a:pt x="11064240" y="1007363"/>
                  </a:lnTo>
                  <a:lnTo>
                    <a:pt x="11064240" y="0"/>
                  </a:lnTo>
                  <a:lnTo>
                    <a:pt x="0" y="0"/>
                  </a:lnTo>
                  <a:lnTo>
                    <a:pt x="0" y="1007363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6894" y="2608706"/>
              <a:ext cx="4930317" cy="5121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06235" y="2660268"/>
              <a:ext cx="410845" cy="608330"/>
            </a:xfrm>
            <a:custGeom>
              <a:avLst/>
              <a:gdLst/>
              <a:ahLst/>
              <a:cxnLst/>
              <a:rect l="l" t="t" r="r" b="b"/>
              <a:pathLst>
                <a:path w="410845" h="608329">
                  <a:moveTo>
                    <a:pt x="224174" y="317880"/>
                  </a:moveTo>
                  <a:lnTo>
                    <a:pt x="190626" y="317880"/>
                  </a:lnTo>
                  <a:lnTo>
                    <a:pt x="187936" y="324812"/>
                  </a:lnTo>
                  <a:lnTo>
                    <a:pt x="184945" y="332104"/>
                  </a:lnTo>
                  <a:lnTo>
                    <a:pt x="182411" y="338008"/>
                  </a:lnTo>
                  <a:lnTo>
                    <a:pt x="179577" y="344296"/>
                  </a:lnTo>
                  <a:lnTo>
                    <a:pt x="169624" y="366893"/>
                  </a:lnTo>
                  <a:lnTo>
                    <a:pt x="152908" y="406272"/>
                  </a:lnTo>
                  <a:lnTo>
                    <a:pt x="136479" y="452874"/>
                  </a:lnTo>
                  <a:lnTo>
                    <a:pt x="124716" y="493299"/>
                  </a:lnTo>
                  <a:lnTo>
                    <a:pt x="115530" y="552703"/>
                  </a:lnTo>
                  <a:lnTo>
                    <a:pt x="115437" y="557783"/>
                  </a:lnTo>
                  <a:lnTo>
                    <a:pt x="115839" y="566173"/>
                  </a:lnTo>
                  <a:lnTo>
                    <a:pt x="135715" y="603821"/>
                  </a:lnTo>
                  <a:lnTo>
                    <a:pt x="150875" y="607821"/>
                  </a:lnTo>
                  <a:lnTo>
                    <a:pt x="161855" y="606464"/>
                  </a:lnTo>
                  <a:lnTo>
                    <a:pt x="204035" y="574861"/>
                  </a:lnTo>
                  <a:lnTo>
                    <a:pt x="208448" y="568959"/>
                  </a:lnTo>
                  <a:lnTo>
                    <a:pt x="159258" y="568959"/>
                  </a:lnTo>
                  <a:lnTo>
                    <a:pt x="155575" y="566801"/>
                  </a:lnTo>
                  <a:lnTo>
                    <a:pt x="152526" y="562355"/>
                  </a:lnTo>
                  <a:lnTo>
                    <a:pt x="149605" y="557783"/>
                  </a:lnTo>
                  <a:lnTo>
                    <a:pt x="148209" y="552703"/>
                  </a:lnTo>
                  <a:lnTo>
                    <a:pt x="148325" y="545421"/>
                  </a:lnTo>
                  <a:lnTo>
                    <a:pt x="156149" y="493236"/>
                  </a:lnTo>
                  <a:lnTo>
                    <a:pt x="179959" y="421639"/>
                  </a:lnTo>
                  <a:lnTo>
                    <a:pt x="194662" y="384762"/>
                  </a:lnTo>
                  <a:lnTo>
                    <a:pt x="219484" y="327405"/>
                  </a:lnTo>
                  <a:lnTo>
                    <a:pt x="224174" y="317880"/>
                  </a:lnTo>
                  <a:close/>
                </a:path>
                <a:path w="410845" h="608329">
                  <a:moveTo>
                    <a:pt x="275275" y="307085"/>
                  </a:moveTo>
                  <a:lnTo>
                    <a:pt x="229488" y="307085"/>
                  </a:lnTo>
                  <a:lnTo>
                    <a:pt x="238505" y="311784"/>
                  </a:lnTo>
                  <a:lnTo>
                    <a:pt x="244093" y="315848"/>
                  </a:lnTo>
                  <a:lnTo>
                    <a:pt x="256286" y="356996"/>
                  </a:lnTo>
                  <a:lnTo>
                    <a:pt x="253904" y="390118"/>
                  </a:lnTo>
                  <a:lnTo>
                    <a:pt x="234854" y="461313"/>
                  </a:lnTo>
                  <a:lnTo>
                    <a:pt x="218186" y="499363"/>
                  </a:lnTo>
                  <a:lnTo>
                    <a:pt x="187594" y="551545"/>
                  </a:lnTo>
                  <a:lnTo>
                    <a:pt x="163575" y="568959"/>
                  </a:lnTo>
                  <a:lnTo>
                    <a:pt x="208448" y="568959"/>
                  </a:lnTo>
                  <a:lnTo>
                    <a:pt x="234950" y="527176"/>
                  </a:lnTo>
                  <a:lnTo>
                    <a:pt x="256286" y="482199"/>
                  </a:lnTo>
                  <a:lnTo>
                    <a:pt x="271525" y="438340"/>
                  </a:lnTo>
                  <a:lnTo>
                    <a:pt x="280669" y="395624"/>
                  </a:lnTo>
                  <a:lnTo>
                    <a:pt x="283717" y="354075"/>
                  </a:lnTo>
                  <a:lnTo>
                    <a:pt x="283023" y="338790"/>
                  </a:lnTo>
                  <a:lnTo>
                    <a:pt x="280924" y="324754"/>
                  </a:lnTo>
                  <a:lnTo>
                    <a:pt x="277395" y="311981"/>
                  </a:lnTo>
                  <a:lnTo>
                    <a:pt x="275275" y="307085"/>
                  </a:lnTo>
                  <a:close/>
                </a:path>
                <a:path w="410845" h="608329">
                  <a:moveTo>
                    <a:pt x="133603" y="205358"/>
                  </a:moveTo>
                  <a:lnTo>
                    <a:pt x="94106" y="220344"/>
                  </a:lnTo>
                  <a:lnTo>
                    <a:pt x="59404" y="251396"/>
                  </a:lnTo>
                  <a:lnTo>
                    <a:pt x="29463" y="292734"/>
                  </a:lnTo>
                  <a:lnTo>
                    <a:pt x="7397" y="341137"/>
                  </a:lnTo>
                  <a:lnTo>
                    <a:pt x="90" y="384762"/>
                  </a:lnTo>
                  <a:lnTo>
                    <a:pt x="0" y="394334"/>
                  </a:lnTo>
                  <a:lnTo>
                    <a:pt x="1650" y="401573"/>
                  </a:lnTo>
                  <a:lnTo>
                    <a:pt x="33147" y="425703"/>
                  </a:lnTo>
                  <a:lnTo>
                    <a:pt x="54290" y="421082"/>
                  </a:lnTo>
                  <a:lnTo>
                    <a:pt x="75803" y="407209"/>
                  </a:lnTo>
                  <a:lnTo>
                    <a:pt x="94095" y="387857"/>
                  </a:lnTo>
                  <a:lnTo>
                    <a:pt x="42163" y="387857"/>
                  </a:lnTo>
                  <a:lnTo>
                    <a:pt x="38480" y="385825"/>
                  </a:lnTo>
                  <a:lnTo>
                    <a:pt x="35560" y="381761"/>
                  </a:lnTo>
                  <a:lnTo>
                    <a:pt x="33527" y="378840"/>
                  </a:lnTo>
                  <a:lnTo>
                    <a:pt x="32512" y="375538"/>
                  </a:lnTo>
                  <a:lnTo>
                    <a:pt x="32512" y="371728"/>
                  </a:lnTo>
                  <a:lnTo>
                    <a:pt x="41727" y="333402"/>
                  </a:lnTo>
                  <a:lnTo>
                    <a:pt x="66151" y="289782"/>
                  </a:lnTo>
                  <a:lnTo>
                    <a:pt x="99550" y="253541"/>
                  </a:lnTo>
                  <a:lnTo>
                    <a:pt x="121285" y="241807"/>
                  </a:lnTo>
                  <a:lnTo>
                    <a:pt x="160830" y="241807"/>
                  </a:lnTo>
                  <a:lnTo>
                    <a:pt x="161162" y="238759"/>
                  </a:lnTo>
                  <a:lnTo>
                    <a:pt x="159446" y="224164"/>
                  </a:lnTo>
                  <a:lnTo>
                    <a:pt x="154289" y="213725"/>
                  </a:lnTo>
                  <a:lnTo>
                    <a:pt x="145678" y="207452"/>
                  </a:lnTo>
                  <a:lnTo>
                    <a:pt x="133603" y="205358"/>
                  </a:lnTo>
                  <a:close/>
                </a:path>
                <a:path w="410845" h="608329">
                  <a:moveTo>
                    <a:pt x="160830" y="241807"/>
                  </a:moveTo>
                  <a:lnTo>
                    <a:pt x="125094" y="241807"/>
                  </a:lnTo>
                  <a:lnTo>
                    <a:pt x="127888" y="243458"/>
                  </a:lnTo>
                  <a:lnTo>
                    <a:pt x="129666" y="246887"/>
                  </a:lnTo>
                  <a:lnTo>
                    <a:pt x="130810" y="248665"/>
                  </a:lnTo>
                  <a:lnTo>
                    <a:pt x="131317" y="250443"/>
                  </a:lnTo>
                  <a:lnTo>
                    <a:pt x="131211" y="252856"/>
                  </a:lnTo>
                  <a:lnTo>
                    <a:pt x="114387" y="290708"/>
                  </a:lnTo>
                  <a:lnTo>
                    <a:pt x="93979" y="314832"/>
                  </a:lnTo>
                  <a:lnTo>
                    <a:pt x="90424" y="319785"/>
                  </a:lnTo>
                  <a:lnTo>
                    <a:pt x="90424" y="323976"/>
                  </a:lnTo>
                  <a:lnTo>
                    <a:pt x="93217" y="327405"/>
                  </a:lnTo>
                  <a:lnTo>
                    <a:pt x="98805" y="331850"/>
                  </a:lnTo>
                  <a:lnTo>
                    <a:pt x="99060" y="332104"/>
                  </a:lnTo>
                  <a:lnTo>
                    <a:pt x="97536" y="335788"/>
                  </a:lnTo>
                  <a:lnTo>
                    <a:pt x="94106" y="342900"/>
                  </a:lnTo>
                  <a:lnTo>
                    <a:pt x="90804" y="350138"/>
                  </a:lnTo>
                  <a:lnTo>
                    <a:pt x="63246" y="381841"/>
                  </a:lnTo>
                  <a:lnTo>
                    <a:pt x="46609" y="387857"/>
                  </a:lnTo>
                  <a:lnTo>
                    <a:pt x="94095" y="387857"/>
                  </a:lnTo>
                  <a:lnTo>
                    <a:pt x="119887" y="351663"/>
                  </a:lnTo>
                  <a:lnTo>
                    <a:pt x="150812" y="289258"/>
                  </a:lnTo>
                  <a:lnTo>
                    <a:pt x="158587" y="262381"/>
                  </a:lnTo>
                  <a:lnTo>
                    <a:pt x="160830" y="241807"/>
                  </a:lnTo>
                  <a:close/>
                </a:path>
                <a:path w="410845" h="608329">
                  <a:moveTo>
                    <a:pt x="401700" y="0"/>
                  </a:moveTo>
                  <a:lnTo>
                    <a:pt x="398907" y="0"/>
                  </a:lnTo>
                  <a:lnTo>
                    <a:pt x="393307" y="950"/>
                  </a:lnTo>
                  <a:lnTo>
                    <a:pt x="361553" y="27449"/>
                  </a:lnTo>
                  <a:lnTo>
                    <a:pt x="334121" y="61600"/>
                  </a:lnTo>
                  <a:lnTo>
                    <a:pt x="293659" y="120681"/>
                  </a:lnTo>
                  <a:lnTo>
                    <a:pt x="268795" y="163067"/>
                  </a:lnTo>
                  <a:lnTo>
                    <a:pt x="243645" y="210597"/>
                  </a:lnTo>
                  <a:lnTo>
                    <a:pt x="218186" y="263270"/>
                  </a:lnTo>
                  <a:lnTo>
                    <a:pt x="200017" y="276389"/>
                  </a:lnTo>
                  <a:lnTo>
                    <a:pt x="187039" y="288305"/>
                  </a:lnTo>
                  <a:lnTo>
                    <a:pt x="179252" y="299007"/>
                  </a:lnTo>
                  <a:lnTo>
                    <a:pt x="176656" y="308482"/>
                  </a:lnTo>
                  <a:lnTo>
                    <a:pt x="176656" y="315213"/>
                  </a:lnTo>
                  <a:lnTo>
                    <a:pt x="179577" y="318515"/>
                  </a:lnTo>
                  <a:lnTo>
                    <a:pt x="187198" y="318515"/>
                  </a:lnTo>
                  <a:lnTo>
                    <a:pt x="188849" y="318261"/>
                  </a:lnTo>
                  <a:lnTo>
                    <a:pt x="190626" y="317880"/>
                  </a:lnTo>
                  <a:lnTo>
                    <a:pt x="224174" y="317880"/>
                  </a:lnTo>
                  <a:lnTo>
                    <a:pt x="229488" y="307085"/>
                  </a:lnTo>
                  <a:lnTo>
                    <a:pt x="275275" y="307085"/>
                  </a:lnTo>
                  <a:lnTo>
                    <a:pt x="272414" y="300481"/>
                  </a:lnTo>
                  <a:lnTo>
                    <a:pt x="267487" y="293147"/>
                  </a:lnTo>
                  <a:lnTo>
                    <a:pt x="261096" y="286575"/>
                  </a:lnTo>
                  <a:lnTo>
                    <a:pt x="253251" y="280765"/>
                  </a:lnTo>
                  <a:lnTo>
                    <a:pt x="243966" y="275716"/>
                  </a:lnTo>
                  <a:lnTo>
                    <a:pt x="266565" y="262381"/>
                  </a:lnTo>
                  <a:lnTo>
                    <a:pt x="287496" y="252856"/>
                  </a:lnTo>
                  <a:lnTo>
                    <a:pt x="306760" y="247141"/>
                  </a:lnTo>
                  <a:lnTo>
                    <a:pt x="324358" y="245236"/>
                  </a:lnTo>
                  <a:lnTo>
                    <a:pt x="375197" y="245236"/>
                  </a:lnTo>
                  <a:lnTo>
                    <a:pt x="375538" y="244347"/>
                  </a:lnTo>
                  <a:lnTo>
                    <a:pt x="375538" y="235076"/>
                  </a:lnTo>
                  <a:lnTo>
                    <a:pt x="265049" y="235076"/>
                  </a:lnTo>
                  <a:lnTo>
                    <a:pt x="289552" y="189312"/>
                  </a:lnTo>
                  <a:lnTo>
                    <a:pt x="315202" y="146205"/>
                  </a:lnTo>
                  <a:lnTo>
                    <a:pt x="341986" y="105762"/>
                  </a:lnTo>
                  <a:lnTo>
                    <a:pt x="369892" y="67989"/>
                  </a:lnTo>
                  <a:lnTo>
                    <a:pt x="398907" y="32892"/>
                  </a:lnTo>
                  <a:lnTo>
                    <a:pt x="406781" y="23748"/>
                  </a:lnTo>
                  <a:lnTo>
                    <a:pt x="410717" y="16636"/>
                  </a:lnTo>
                  <a:lnTo>
                    <a:pt x="410717" y="8000"/>
                  </a:lnTo>
                  <a:lnTo>
                    <a:pt x="409066" y="4952"/>
                  </a:lnTo>
                  <a:lnTo>
                    <a:pt x="406018" y="2793"/>
                  </a:lnTo>
                  <a:lnTo>
                    <a:pt x="403987" y="1015"/>
                  </a:lnTo>
                  <a:lnTo>
                    <a:pt x="401700" y="0"/>
                  </a:lnTo>
                  <a:close/>
                </a:path>
                <a:path w="410845" h="608329">
                  <a:moveTo>
                    <a:pt x="375197" y="245236"/>
                  </a:moveTo>
                  <a:lnTo>
                    <a:pt x="329184" y="245236"/>
                  </a:lnTo>
                  <a:lnTo>
                    <a:pt x="333247" y="245998"/>
                  </a:lnTo>
                  <a:lnTo>
                    <a:pt x="336295" y="247522"/>
                  </a:lnTo>
                  <a:lnTo>
                    <a:pt x="347471" y="253745"/>
                  </a:lnTo>
                  <a:lnTo>
                    <a:pt x="354964" y="256920"/>
                  </a:lnTo>
                  <a:lnTo>
                    <a:pt x="364109" y="256920"/>
                  </a:lnTo>
                  <a:lnTo>
                    <a:pt x="368554" y="254761"/>
                  </a:lnTo>
                  <a:lnTo>
                    <a:pt x="371960" y="250443"/>
                  </a:lnTo>
                  <a:lnTo>
                    <a:pt x="374268" y="247650"/>
                  </a:lnTo>
                  <a:lnTo>
                    <a:pt x="375197" y="245236"/>
                  </a:lnTo>
                  <a:close/>
                </a:path>
                <a:path w="410845" h="608329">
                  <a:moveTo>
                    <a:pt x="339724" y="214756"/>
                  </a:moveTo>
                  <a:lnTo>
                    <a:pt x="327128" y="216021"/>
                  </a:lnTo>
                  <a:lnTo>
                    <a:pt x="310483" y="219821"/>
                  </a:lnTo>
                  <a:lnTo>
                    <a:pt x="289790" y="226169"/>
                  </a:lnTo>
                  <a:lnTo>
                    <a:pt x="265049" y="235076"/>
                  </a:lnTo>
                  <a:lnTo>
                    <a:pt x="375538" y="235076"/>
                  </a:lnTo>
                  <a:lnTo>
                    <a:pt x="375538" y="233933"/>
                  </a:lnTo>
                  <a:lnTo>
                    <a:pt x="372110" y="227710"/>
                  </a:lnTo>
                  <a:lnTo>
                    <a:pt x="339724" y="21475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6354445" y="2967354"/>
              <a:ext cx="108585" cy="262255"/>
            </a:xfrm>
            <a:custGeom>
              <a:avLst/>
              <a:gdLst/>
              <a:ahLst/>
              <a:cxnLst/>
              <a:rect l="l" t="t" r="r" b="b"/>
              <a:pathLst>
                <a:path w="108585" h="262255">
                  <a:moveTo>
                    <a:pt x="81279" y="0"/>
                  </a:moveTo>
                  <a:lnTo>
                    <a:pt x="59562" y="46418"/>
                  </a:lnTo>
                  <a:lnTo>
                    <a:pt x="31750" y="114554"/>
                  </a:lnTo>
                  <a:lnTo>
                    <a:pt x="17841" y="152657"/>
                  </a:lnTo>
                  <a:lnTo>
                    <a:pt x="1978" y="215245"/>
                  </a:lnTo>
                  <a:lnTo>
                    <a:pt x="0" y="239775"/>
                  </a:lnTo>
                  <a:lnTo>
                    <a:pt x="0" y="245618"/>
                  </a:lnTo>
                  <a:lnTo>
                    <a:pt x="1396" y="250698"/>
                  </a:lnTo>
                  <a:lnTo>
                    <a:pt x="4317" y="255270"/>
                  </a:lnTo>
                  <a:lnTo>
                    <a:pt x="7365" y="259715"/>
                  </a:lnTo>
                  <a:lnTo>
                    <a:pt x="11049" y="261874"/>
                  </a:lnTo>
                  <a:lnTo>
                    <a:pt x="15366" y="261874"/>
                  </a:lnTo>
                  <a:lnTo>
                    <a:pt x="53853" y="222708"/>
                  </a:lnTo>
                  <a:lnTo>
                    <a:pt x="86645" y="154227"/>
                  </a:lnTo>
                  <a:lnTo>
                    <a:pt x="98551" y="117808"/>
                  </a:lnTo>
                  <a:lnTo>
                    <a:pt x="108076" y="49911"/>
                  </a:lnTo>
                  <a:lnTo>
                    <a:pt x="107479" y="38121"/>
                  </a:lnTo>
                  <a:lnTo>
                    <a:pt x="81279" y="0"/>
                  </a:lnTo>
                  <a:close/>
                </a:path>
              </a:pathLst>
            </a:custGeom>
            <a:ln w="9144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1664" y="2861055"/>
              <a:ext cx="170307" cy="22948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21552" y="2660268"/>
              <a:ext cx="295910" cy="608330"/>
            </a:xfrm>
            <a:custGeom>
              <a:avLst/>
              <a:gdLst/>
              <a:ahLst/>
              <a:cxnLst/>
              <a:rect l="l" t="t" r="r" b="b"/>
              <a:pathLst>
                <a:path w="295909" h="608329">
                  <a:moveTo>
                    <a:pt x="283591" y="0"/>
                  </a:moveTo>
                  <a:lnTo>
                    <a:pt x="286384" y="0"/>
                  </a:lnTo>
                  <a:lnTo>
                    <a:pt x="288671" y="1015"/>
                  </a:lnTo>
                  <a:lnTo>
                    <a:pt x="290702" y="2793"/>
                  </a:lnTo>
                  <a:lnTo>
                    <a:pt x="293750" y="4952"/>
                  </a:lnTo>
                  <a:lnTo>
                    <a:pt x="295401" y="8000"/>
                  </a:lnTo>
                  <a:lnTo>
                    <a:pt x="295401" y="11810"/>
                  </a:lnTo>
                  <a:lnTo>
                    <a:pt x="295401" y="16636"/>
                  </a:lnTo>
                  <a:lnTo>
                    <a:pt x="291465" y="23748"/>
                  </a:lnTo>
                  <a:lnTo>
                    <a:pt x="283591" y="32892"/>
                  </a:lnTo>
                  <a:lnTo>
                    <a:pt x="254576" y="67989"/>
                  </a:lnTo>
                  <a:lnTo>
                    <a:pt x="226670" y="105762"/>
                  </a:lnTo>
                  <a:lnTo>
                    <a:pt x="199886" y="146205"/>
                  </a:lnTo>
                  <a:lnTo>
                    <a:pt x="174236" y="189312"/>
                  </a:lnTo>
                  <a:lnTo>
                    <a:pt x="149733" y="235076"/>
                  </a:lnTo>
                  <a:lnTo>
                    <a:pt x="174474" y="226169"/>
                  </a:lnTo>
                  <a:lnTo>
                    <a:pt x="195167" y="219821"/>
                  </a:lnTo>
                  <a:lnTo>
                    <a:pt x="211812" y="216021"/>
                  </a:lnTo>
                  <a:lnTo>
                    <a:pt x="224408" y="214756"/>
                  </a:lnTo>
                  <a:lnTo>
                    <a:pt x="231771" y="215233"/>
                  </a:lnTo>
                  <a:lnTo>
                    <a:pt x="260223" y="233933"/>
                  </a:lnTo>
                  <a:lnTo>
                    <a:pt x="260223" y="240791"/>
                  </a:lnTo>
                  <a:lnTo>
                    <a:pt x="260223" y="244347"/>
                  </a:lnTo>
                  <a:lnTo>
                    <a:pt x="258952" y="247650"/>
                  </a:lnTo>
                  <a:lnTo>
                    <a:pt x="256540" y="250570"/>
                  </a:lnTo>
                  <a:lnTo>
                    <a:pt x="253238" y="254761"/>
                  </a:lnTo>
                  <a:lnTo>
                    <a:pt x="248793" y="256920"/>
                  </a:lnTo>
                  <a:lnTo>
                    <a:pt x="243458" y="256920"/>
                  </a:lnTo>
                  <a:lnTo>
                    <a:pt x="239649" y="256920"/>
                  </a:lnTo>
                  <a:lnTo>
                    <a:pt x="232155" y="253745"/>
                  </a:lnTo>
                  <a:lnTo>
                    <a:pt x="220979" y="247522"/>
                  </a:lnTo>
                  <a:lnTo>
                    <a:pt x="217931" y="245998"/>
                  </a:lnTo>
                  <a:lnTo>
                    <a:pt x="213868" y="245236"/>
                  </a:lnTo>
                  <a:lnTo>
                    <a:pt x="209042" y="245236"/>
                  </a:lnTo>
                  <a:lnTo>
                    <a:pt x="191444" y="247141"/>
                  </a:lnTo>
                  <a:lnTo>
                    <a:pt x="172180" y="252856"/>
                  </a:lnTo>
                  <a:lnTo>
                    <a:pt x="151249" y="262381"/>
                  </a:lnTo>
                  <a:lnTo>
                    <a:pt x="128650" y="275716"/>
                  </a:lnTo>
                  <a:lnTo>
                    <a:pt x="137935" y="280765"/>
                  </a:lnTo>
                  <a:lnTo>
                    <a:pt x="145780" y="286575"/>
                  </a:lnTo>
                  <a:lnTo>
                    <a:pt x="165608" y="324754"/>
                  </a:lnTo>
                  <a:lnTo>
                    <a:pt x="168401" y="354075"/>
                  </a:lnTo>
                  <a:lnTo>
                    <a:pt x="165353" y="395624"/>
                  </a:lnTo>
                  <a:lnTo>
                    <a:pt x="156210" y="438340"/>
                  </a:lnTo>
                  <a:lnTo>
                    <a:pt x="140970" y="482199"/>
                  </a:lnTo>
                  <a:lnTo>
                    <a:pt x="119634" y="527176"/>
                  </a:lnTo>
                  <a:lnTo>
                    <a:pt x="98853" y="561308"/>
                  </a:lnTo>
                  <a:lnTo>
                    <a:pt x="68117" y="595606"/>
                  </a:lnTo>
                  <a:lnTo>
                    <a:pt x="35560" y="607821"/>
                  </a:lnTo>
                  <a:lnTo>
                    <a:pt x="27580" y="606821"/>
                  </a:lnTo>
                  <a:lnTo>
                    <a:pt x="2095" y="575913"/>
                  </a:lnTo>
                  <a:lnTo>
                    <a:pt x="0" y="555243"/>
                  </a:lnTo>
                  <a:lnTo>
                    <a:pt x="2355" y="527359"/>
                  </a:lnTo>
                  <a:lnTo>
                    <a:pt x="21163" y="452874"/>
                  </a:lnTo>
                  <a:lnTo>
                    <a:pt x="37592" y="406272"/>
                  </a:lnTo>
                  <a:lnTo>
                    <a:pt x="54308" y="366893"/>
                  </a:lnTo>
                  <a:lnTo>
                    <a:pt x="67095" y="338008"/>
                  </a:lnTo>
                  <a:lnTo>
                    <a:pt x="69881" y="331517"/>
                  </a:lnTo>
                  <a:lnTo>
                    <a:pt x="72620" y="324812"/>
                  </a:lnTo>
                  <a:lnTo>
                    <a:pt x="75311" y="317880"/>
                  </a:lnTo>
                  <a:lnTo>
                    <a:pt x="73533" y="318261"/>
                  </a:lnTo>
                  <a:lnTo>
                    <a:pt x="71882" y="318515"/>
                  </a:lnTo>
                  <a:lnTo>
                    <a:pt x="70358" y="318515"/>
                  </a:lnTo>
                  <a:lnTo>
                    <a:pt x="64262" y="318515"/>
                  </a:lnTo>
                  <a:lnTo>
                    <a:pt x="61340" y="315213"/>
                  </a:lnTo>
                  <a:lnTo>
                    <a:pt x="61340" y="308482"/>
                  </a:lnTo>
                  <a:lnTo>
                    <a:pt x="63936" y="299007"/>
                  </a:lnTo>
                  <a:lnTo>
                    <a:pt x="71723" y="288305"/>
                  </a:lnTo>
                  <a:lnTo>
                    <a:pt x="84701" y="276389"/>
                  </a:lnTo>
                  <a:lnTo>
                    <a:pt x="102870" y="263270"/>
                  </a:lnTo>
                  <a:lnTo>
                    <a:pt x="128329" y="210597"/>
                  </a:lnTo>
                  <a:lnTo>
                    <a:pt x="153479" y="163067"/>
                  </a:lnTo>
                  <a:lnTo>
                    <a:pt x="178343" y="120681"/>
                  </a:lnTo>
                  <a:lnTo>
                    <a:pt x="202946" y="83438"/>
                  </a:lnTo>
                  <a:lnTo>
                    <a:pt x="233235" y="42941"/>
                  </a:lnTo>
                  <a:lnTo>
                    <a:pt x="265124" y="8518"/>
                  </a:lnTo>
                  <a:lnTo>
                    <a:pt x="277991" y="950"/>
                  </a:lnTo>
                  <a:lnTo>
                    <a:pt x="283591" y="0"/>
                  </a:lnTo>
                  <a:close/>
                </a:path>
              </a:pathLst>
            </a:custGeom>
            <a:ln w="9144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7308" y="2608706"/>
              <a:ext cx="4534662" cy="51219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80829" y="3693604"/>
            <a:ext cx="2139791" cy="5174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300" b="1" dirty="0">
                <a:latin typeface="Arial" panose="020B0604020202020204"/>
                <a:cs typeface="Arial" panose="020B0604020202020204"/>
              </a:rPr>
              <a:t>Lecture</a:t>
            </a:r>
            <a:r>
              <a:rPr sz="3300" b="1" spc="-38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-</a:t>
            </a:r>
            <a:r>
              <a:rPr sz="3300" b="1" spc="-34" dirty="0">
                <a:latin typeface="Arial" panose="020B0604020202020204"/>
                <a:cs typeface="Arial" panose="020B0604020202020204"/>
              </a:rPr>
              <a:t> </a:t>
            </a:r>
            <a:r>
              <a:rPr lang="en-GB" sz="3300" b="1" spc="-34" dirty="0">
                <a:latin typeface="Arial" panose="020B0604020202020204"/>
                <a:cs typeface="Arial" panose="020B0604020202020204"/>
              </a:rPr>
              <a:t>4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1343025" y="4706302"/>
            <a:ext cx="5940743" cy="370523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charset="0"/>
              </a:rPr>
              <a:t>Control</a:t>
            </a:r>
            <a:r>
              <a:rPr lang="en-US" sz="1800" b="1" i="0" dirty="0">
                <a:solidFill>
                  <a:srgbClr val="222222"/>
                </a:solidFill>
                <a:effectLst/>
                <a:latin typeface="Times New Roman" panose="02020603050405020304" charset="0"/>
              </a:rPr>
              <a:t> </a:t>
            </a:r>
            <a:r>
              <a:rPr lang="en-US" sz="2400" b="1" dirty="0">
                <a:latin typeface="Times New Roman" panose="02020603050405020304" charset="0"/>
              </a:rPr>
              <a:t>Statements</a:t>
            </a:r>
            <a:r>
              <a:rPr lang="en-US" sz="2400" b="1" dirty="0">
                <a:latin typeface="Times New Roman" panose="02020603050405020304" charset="0"/>
                <a:cs typeface="Verdana" panose="020B0604030504040204" charset="0"/>
              </a:rPr>
              <a:t> </a:t>
            </a:r>
            <a:endParaRPr lang="en-US" altLang="en-US" sz="2400" b="1" dirty="0">
              <a:latin typeface="Times New Roman" panose="020206030504050203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4"/>
            <a:ext cx="8229600" cy="56746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Branching Structure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Selection Criteria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Relational and Logical Operators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if-else statement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Nested if statement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switch statement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Looping Structure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Basic loop structures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onsolas" panose="020B0609020204030204" pitchFamily="49" charset="0"/>
              </a:rPr>
              <a:t>while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loops and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onsolas" panose="020B0609020204030204" pitchFamily="49" charset="0"/>
              </a:rPr>
              <a:t>for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loops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Nested Loops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onsolas" panose="020B0609020204030204" pitchFamily="49" charset="0"/>
              </a:rPr>
              <a:t>do while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loops</a:t>
            </a:r>
          </a:p>
          <a:p>
            <a:pPr marL="457200" lvl="1" indent="0">
              <a:buNone/>
            </a:pPr>
            <a:endParaRPr lang="en-US" altLang="ko-KR" sz="2200" dirty="0"/>
          </a:p>
          <a:p>
            <a:pPr lvl="2"/>
            <a:endParaRPr lang="en-US" altLang="ko-KR" sz="1800" dirty="0"/>
          </a:p>
          <a:p>
            <a:pPr lvl="2"/>
            <a:endParaRPr lang="en-US" altLang="ko-KR" sz="1800" b="1" dirty="0"/>
          </a:p>
          <a:p>
            <a:pPr lvl="1"/>
            <a:endParaRPr lang="en-US" altLang="ko-KR" sz="2200" dirty="0"/>
          </a:p>
          <a:p>
            <a:pPr marL="0" indent="0">
              <a:buNone/>
            </a:pPr>
            <a:endParaRPr lang="en-US" altLang="ko-KR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D0C-5BA0-46B2-B788-EC1A7461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382B1-0846-48C1-88F6-FE1796C5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31825"/>
            <a:ext cx="8147248" cy="485740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altLang="ko-KR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Math]: Solving Quadratic Equations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[Physics]: Flight of a Ball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4D85A-C9A8-4B97-B592-B7F4F464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274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ourier New" panose="02070309020205020404" pitchFamily="49" charset="0"/>
              </a:rPr>
              <a:t>if-else</a:t>
            </a:r>
            <a:r>
              <a:rPr lang="en-US" sz="2400" b="1" dirty="0"/>
              <a:t> </a:t>
            </a:r>
            <a:r>
              <a:rPr lang="en-US" sz="2400" dirty="0"/>
              <a:t>statement:</a:t>
            </a:r>
            <a:r>
              <a:rPr lang="en-US" sz="2400" b="1" dirty="0"/>
              <a:t> </a:t>
            </a:r>
            <a:r>
              <a:rPr lang="en-US" sz="2400" dirty="0"/>
              <a:t>Implements a decision structure for two alternatives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Syntax:</a:t>
            </a:r>
            <a:endParaRPr 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sz="2400" b="1" i="1" dirty="0">
                <a:latin typeface="Courier New" panose="02070309020205020404" pitchFamily="49" charset="0"/>
              </a:rPr>
              <a:t>	</a:t>
            </a:r>
            <a:r>
              <a:rPr lang="en-US" sz="2400" b="1" i="1" dirty="0"/>
              <a:t>if (condition)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400" b="1" i="1" dirty="0"/>
              <a:t>	    statement executed if condition is true;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400" b="1" i="1" dirty="0"/>
              <a:t>	else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2400" b="1" i="1" dirty="0"/>
              <a:t>	    statement executed if condition is false;</a:t>
            </a:r>
            <a:endParaRPr 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Selection Criteria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cont.….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The condition is evaluated to its numerical value: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+mj-lt"/>
              </a:rPr>
              <a:t>A non-zero value is considered to be true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+mj-lt"/>
              </a:rPr>
              <a:t>A zero value is considered to be false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The </a:t>
            </a:r>
            <a:r>
              <a:rPr lang="en-US" sz="2600" b="1" dirty="0">
                <a:latin typeface="+mj-lt"/>
              </a:rPr>
              <a:t>else</a:t>
            </a:r>
            <a:r>
              <a:rPr lang="en-US" sz="2600" dirty="0">
                <a:latin typeface="+mj-lt"/>
              </a:rPr>
              <a:t> portion is optional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+mj-lt"/>
              </a:rPr>
              <a:t>Executed only if the condition is false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+mj-lt"/>
              </a:rPr>
              <a:t>The condition may be any valid C++ expression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/>
              <a:t>Relational expression:</a:t>
            </a:r>
            <a:r>
              <a:rPr lang="en-US" sz="2400" dirty="0"/>
              <a:t> Compares two operands or expressions using </a:t>
            </a:r>
            <a:r>
              <a:rPr lang="en-US" sz="2400" b="1" dirty="0"/>
              <a:t>relational operators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92896"/>
            <a:ext cx="7776864" cy="3175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US" dirty="0"/>
              <a:t>Relational expressions are evaluated to a numerical value of 1 or 0 only:</a:t>
            </a:r>
          </a:p>
          <a:p>
            <a:pPr marL="742950" lvl="1" indent="-285750">
              <a:buFontTx/>
              <a:buChar char="–"/>
            </a:pPr>
            <a:r>
              <a:rPr lang="en-US" dirty="0"/>
              <a:t>If the value is 1, the expression is true</a:t>
            </a:r>
          </a:p>
          <a:p>
            <a:pPr marL="742950" lvl="1" indent="-285750">
              <a:buFontTx/>
              <a:buChar char="–"/>
            </a:pPr>
            <a:r>
              <a:rPr lang="en-US" dirty="0"/>
              <a:t>If the value is 0, the expression is false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char</a:t>
            </a:r>
            <a:r>
              <a:rPr lang="en-US" dirty="0"/>
              <a:t> values are automatically coerced to </a:t>
            </a:r>
            <a:r>
              <a:rPr lang="en-US" b="1" dirty="0" err="1">
                <a:latin typeface="Courier New" panose="02070309020205020404" pitchFamily="49" charset="0"/>
              </a:rPr>
              <a:t>int</a:t>
            </a:r>
            <a:r>
              <a:rPr lang="en-US" dirty="0"/>
              <a:t> values for comparison purposes</a:t>
            </a:r>
          </a:p>
          <a:p>
            <a:pPr marL="342900" indent="-342900">
              <a:buFontTx/>
              <a:buChar char="•"/>
            </a:pPr>
            <a:r>
              <a:rPr lang="en-US" dirty="0"/>
              <a:t>Strings are compared on a character by character basis</a:t>
            </a:r>
          </a:p>
          <a:p>
            <a:pPr marL="742950" lvl="1" indent="-285750">
              <a:buFont typeface="Arial" panose="020B0604020202020204" pitchFamily="34" charset="0"/>
              <a:buChar char="–"/>
            </a:pPr>
            <a:r>
              <a:rPr lang="en-US" dirty="0"/>
              <a:t>The string with the first lower character is considered smaller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of string comparisons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28800"/>
            <a:ext cx="8510588" cy="384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Logical Operators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Tx/>
              <a:buChar char="•"/>
            </a:pPr>
            <a:r>
              <a:rPr lang="en-US" dirty="0"/>
              <a:t>AND (</a:t>
            </a:r>
            <a:r>
              <a:rPr lang="en-US" b="1" dirty="0">
                <a:latin typeface="Courier New" panose="02070309020205020404" pitchFamily="49" charset="0"/>
              </a:rPr>
              <a:t>&amp;&amp;</a:t>
            </a:r>
            <a:r>
              <a:rPr lang="en-US" dirty="0"/>
              <a:t>): Condition is </a:t>
            </a:r>
            <a:r>
              <a:rPr lang="en-US" dirty="0">
                <a:solidFill>
                  <a:srgbClr val="0000FF"/>
                </a:solidFill>
              </a:rPr>
              <a:t>true</a:t>
            </a:r>
            <a:r>
              <a:rPr lang="en-US" dirty="0"/>
              <a:t> only if </a:t>
            </a:r>
            <a:r>
              <a:rPr lang="en-US" dirty="0">
                <a:solidFill>
                  <a:srgbClr val="0000FF"/>
                </a:solidFill>
              </a:rPr>
              <a:t>both expressions are true</a:t>
            </a:r>
          </a:p>
          <a:p>
            <a:pPr marL="342900" indent="-342900">
              <a:buFontTx/>
              <a:buChar char="•"/>
            </a:pPr>
            <a:r>
              <a:rPr lang="en-US" dirty="0"/>
              <a:t>OR (</a:t>
            </a:r>
            <a:r>
              <a:rPr lang="en-US" b="1" dirty="0">
                <a:latin typeface="Courier New" panose="02070309020205020404" pitchFamily="49" charset="0"/>
              </a:rPr>
              <a:t>||</a:t>
            </a:r>
            <a:r>
              <a:rPr lang="en-US" dirty="0"/>
              <a:t>): Condition is </a:t>
            </a:r>
            <a:r>
              <a:rPr lang="en-US" dirty="0">
                <a:solidFill>
                  <a:srgbClr val="0000FF"/>
                </a:solidFill>
              </a:rPr>
              <a:t>true</a:t>
            </a:r>
            <a:r>
              <a:rPr lang="en-US" dirty="0"/>
              <a:t> if either </a:t>
            </a:r>
            <a:r>
              <a:rPr lang="en-US" dirty="0">
                <a:solidFill>
                  <a:srgbClr val="0000FF"/>
                </a:solidFill>
              </a:rPr>
              <a:t>one or both of the expressions is true</a:t>
            </a:r>
          </a:p>
          <a:p>
            <a:pPr marL="342900" indent="-342900">
              <a:buFontTx/>
              <a:buChar char="•"/>
            </a:pPr>
            <a:r>
              <a:rPr lang="en-US" dirty="0"/>
              <a:t>NOT (</a:t>
            </a:r>
            <a:r>
              <a:rPr lang="en-US" b="1" dirty="0">
                <a:latin typeface="Courier New" panose="02070309020205020404" pitchFamily="49" charset="0"/>
              </a:rPr>
              <a:t>!</a:t>
            </a:r>
            <a:r>
              <a:rPr lang="en-US" dirty="0"/>
              <a:t>): Changes an expression to its </a:t>
            </a:r>
            <a:r>
              <a:rPr lang="en-US" dirty="0">
                <a:solidFill>
                  <a:srgbClr val="0000FF"/>
                </a:solidFill>
              </a:rPr>
              <a:t>opposite state</a:t>
            </a:r>
            <a:r>
              <a:rPr lang="en-US" dirty="0"/>
              <a:t>; true becomes false, false becomes true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Precedence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22" y="1845216"/>
            <a:ext cx="8754629" cy="2904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Numerical Accuracy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Comparing single and double precision values for equality (==) can lead to errors because values are stored in binary</a:t>
            </a:r>
          </a:p>
          <a:p>
            <a:r>
              <a:rPr lang="en-US" dirty="0"/>
              <a:t>Instead, test that the absolute value of the difference is within an acceptable range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abs(</a:t>
            </a:r>
            <a:r>
              <a:rPr lang="en-US" dirty="0" err="1"/>
              <a:t>operandOne</a:t>
            </a:r>
            <a:r>
              <a:rPr lang="en-US" dirty="0"/>
              <a:t> – </a:t>
            </a:r>
            <a:r>
              <a:rPr lang="en-US" dirty="0" err="1"/>
              <a:t>operandTwo</a:t>
            </a:r>
            <a:r>
              <a:rPr lang="en-US" dirty="0"/>
              <a:t>) &lt; 0.000001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if-else</a:t>
            </a:r>
            <a:r>
              <a:rPr lang="en-US" dirty="0"/>
              <a:t> performs instructions based on the result of a comparison</a:t>
            </a:r>
          </a:p>
          <a:p>
            <a:pPr marL="533400" indent="-533400">
              <a:lnSpc>
                <a:spcPct val="90000"/>
              </a:lnSpc>
              <a:buFontTx/>
              <a:buChar char="•"/>
            </a:pPr>
            <a:r>
              <a:rPr lang="en-US" dirty="0"/>
              <a:t>Place statements on separate lines for readability</a:t>
            </a:r>
          </a:p>
          <a:p>
            <a:pPr marL="533400" indent="-533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Syntax: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Picture 10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505200"/>
            <a:ext cx="6324600" cy="201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if-else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932" y="908050"/>
            <a:ext cx="3152135" cy="521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if-else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444624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Compound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Compound statement:</a:t>
            </a:r>
            <a:r>
              <a:rPr lang="en-US" dirty="0"/>
              <a:t> A sequence of single statements contained between braces</a:t>
            </a:r>
          </a:p>
          <a:p>
            <a:pPr lvl="1"/>
            <a:r>
              <a:rPr lang="en-US" dirty="0"/>
              <a:t>Creates a block of statements</a:t>
            </a:r>
          </a:p>
          <a:p>
            <a:pPr lvl="1"/>
            <a:r>
              <a:rPr lang="en-US" dirty="0"/>
              <a:t>A block of statements can be used anywhere that a single statement is legal</a:t>
            </a:r>
          </a:p>
          <a:p>
            <a:pPr lvl="1"/>
            <a:r>
              <a:rPr lang="en-US" dirty="0"/>
              <a:t>Any variable declared within a block is usable only within that block</a:t>
            </a:r>
          </a:p>
          <a:p>
            <a:r>
              <a:rPr lang="en-US" b="1" dirty="0"/>
              <a:t>Scope:</a:t>
            </a:r>
            <a:r>
              <a:rPr lang="en-US" dirty="0"/>
              <a:t> The area within a program where a variable can be used</a:t>
            </a:r>
          </a:p>
          <a:p>
            <a:pPr lvl="1"/>
            <a:r>
              <a:rPr lang="en-US" dirty="0"/>
              <a:t>A variable’s scope is based on where the variable is declared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Compound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2"/>
            <a:ext cx="6756132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One-Way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One-way selection:</a:t>
            </a:r>
            <a:r>
              <a:rPr lang="en-US" dirty="0"/>
              <a:t> An </a:t>
            </a:r>
            <a:r>
              <a:rPr lang="en-US" b="1" dirty="0">
                <a:latin typeface="Courier New" panose="02070309020205020404" pitchFamily="49" charset="0"/>
              </a:rPr>
              <a:t>if</a:t>
            </a:r>
            <a:r>
              <a:rPr lang="en-US" dirty="0"/>
              <a:t> statement without the optional </a:t>
            </a:r>
            <a:r>
              <a:rPr lang="en-US" b="1" dirty="0">
                <a:latin typeface="Courier New" panose="02070309020205020404" pitchFamily="49" charset="0"/>
              </a:rPr>
              <a:t>else</a:t>
            </a:r>
            <a:r>
              <a:rPr lang="en-US" dirty="0"/>
              <a:t> portion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988840"/>
            <a:ext cx="2717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Problems with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Misunderstanding what an expression is</a:t>
            </a:r>
          </a:p>
          <a:p>
            <a:r>
              <a:rPr lang="en-US" dirty="0"/>
              <a:t>Using the assignment operator (</a:t>
            </a:r>
            <a:r>
              <a:rPr lang="en-US" b="1" dirty="0">
                <a:latin typeface="Courier New" panose="02070309020205020404" pitchFamily="49" charset="0"/>
              </a:rPr>
              <a:t>=</a:t>
            </a:r>
            <a:r>
              <a:rPr lang="en-US" dirty="0"/>
              <a:t>) instead of the relational operator (</a:t>
            </a:r>
            <a:r>
              <a:rPr lang="en-US" b="1" dirty="0">
                <a:latin typeface="Courier New" panose="02070309020205020404" pitchFamily="49" charset="0"/>
              </a:rPr>
              <a:t>==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if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if-else</a:t>
            </a:r>
            <a:r>
              <a:rPr lang="en-US" dirty="0"/>
              <a:t> statement can contain any valid C++ statement, including another </a:t>
            </a:r>
            <a:r>
              <a:rPr lang="en-US" b="1" dirty="0"/>
              <a:t>if-else</a:t>
            </a:r>
          </a:p>
          <a:p>
            <a:r>
              <a:rPr lang="en-US" dirty="0"/>
              <a:t>Nested </a:t>
            </a:r>
            <a:r>
              <a:rPr lang="en-US" b="1" dirty="0"/>
              <a:t>if</a:t>
            </a:r>
            <a:r>
              <a:rPr lang="en-US" dirty="0"/>
              <a:t> statement: an </a:t>
            </a:r>
            <a:r>
              <a:rPr lang="en-US" b="1" dirty="0"/>
              <a:t>if-else</a:t>
            </a:r>
            <a:r>
              <a:rPr lang="en-US" dirty="0"/>
              <a:t> statement completely contained within another    </a:t>
            </a:r>
            <a:r>
              <a:rPr lang="en-US" b="1" dirty="0"/>
              <a:t>if-else</a:t>
            </a:r>
          </a:p>
          <a:p>
            <a:r>
              <a:rPr lang="en-US" dirty="0"/>
              <a:t>Use braces to block code, especially when inner </a:t>
            </a:r>
            <a:r>
              <a:rPr lang="en-US" b="1" dirty="0"/>
              <a:t>if</a:t>
            </a:r>
            <a:r>
              <a:rPr lang="en-US" dirty="0"/>
              <a:t> statement does not have its own </a:t>
            </a:r>
            <a:r>
              <a:rPr lang="en-US" b="1" dirty="0"/>
              <a:t>else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if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202" y="908050"/>
            <a:ext cx="4527595" cy="521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if-else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if-else chain:</a:t>
            </a:r>
            <a:r>
              <a:rPr lang="en-US" dirty="0"/>
              <a:t> A nested if statement occurring in the else clause of the outer if-else </a:t>
            </a:r>
          </a:p>
          <a:p>
            <a:r>
              <a:rPr lang="en-US" dirty="0"/>
              <a:t>If any condition is true, the corresponding statement is executed and the chain terminates</a:t>
            </a:r>
          </a:p>
          <a:p>
            <a:r>
              <a:rPr lang="en-US" dirty="0"/>
              <a:t>Final else is only executed if no conditions were true</a:t>
            </a:r>
          </a:p>
          <a:p>
            <a:pPr lvl="1"/>
            <a:r>
              <a:rPr lang="en-US" dirty="0"/>
              <a:t>Serves as a catch-all case</a:t>
            </a:r>
          </a:p>
          <a:p>
            <a:r>
              <a:rPr lang="en-US" dirty="0"/>
              <a:t>if-else chain provides one selection from many possible alternatives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if-else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019" y="908050"/>
            <a:ext cx="4463962" cy="521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if-else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form of an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if-else</a:t>
            </a:r>
            <a:r>
              <a:rPr lang="en-US" dirty="0"/>
              <a:t> chain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556792"/>
            <a:ext cx="3352800" cy="385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switch statement:</a:t>
            </a:r>
            <a:r>
              <a:rPr lang="en-US" dirty="0"/>
              <a:t> Provides for one selection from many alternatives</a:t>
            </a:r>
          </a:p>
          <a:p>
            <a:r>
              <a:rPr lang="en-US" dirty="0"/>
              <a:t>switch keyword starts the statement</a:t>
            </a:r>
          </a:p>
          <a:p>
            <a:pPr lvl="1"/>
            <a:r>
              <a:rPr lang="en-US" dirty="0"/>
              <a:t>Is followed by the expression to be evaluated</a:t>
            </a:r>
          </a:p>
          <a:p>
            <a:r>
              <a:rPr lang="en-US" b="1" dirty="0"/>
              <a:t>case</a:t>
            </a:r>
            <a:r>
              <a:rPr lang="en-US" dirty="0"/>
              <a:t> keyword identifies a value to be compared to the switch expression</a:t>
            </a:r>
          </a:p>
          <a:p>
            <a:pPr lvl="1"/>
            <a:r>
              <a:rPr lang="en-US" dirty="0"/>
              <a:t>When a match is found, statements in this case block are executed</a:t>
            </a:r>
          </a:p>
          <a:p>
            <a:r>
              <a:rPr lang="en-US" dirty="0"/>
              <a:t>All further cases after a match is found are executed unless a </a:t>
            </a:r>
            <a:r>
              <a:rPr lang="en-US" b="1" dirty="0"/>
              <a:t>break</a:t>
            </a:r>
            <a:r>
              <a:rPr lang="en-US" dirty="0"/>
              <a:t> statement is found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default</a:t>
            </a:r>
            <a:r>
              <a:rPr lang="en-US" dirty="0"/>
              <a:t> case is executed if no other case value matches were found</a:t>
            </a:r>
          </a:p>
          <a:p>
            <a:r>
              <a:rPr lang="en-US" b="1" dirty="0"/>
              <a:t>default</a:t>
            </a:r>
            <a:r>
              <a:rPr lang="en-US" dirty="0"/>
              <a:t> case is optional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25</a:t>
            </a:fld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D24A-3F85-46C1-B2C5-7F61CD6D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Switch Statement: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9D4B7-0F56-46D9-8D55-C0D802759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4"/>
            <a:ext cx="8229600" cy="5812754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 day = 4;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switch (day) {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case 1: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 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&lt;&lt; "Monday";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 break;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case 2: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&lt;&lt; "Tuesday";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 break;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case 3: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&lt;&lt; "Wednesday";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 break;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case 4: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&lt;&lt; "Thursday";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 break;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case 5: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&lt;&lt; "Friday";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 break;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case 6: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&lt;&lt; "Saturday";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 break;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case 7: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cout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&lt;&lt; "Sunday";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    break;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}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Outputs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"Thursday" (day 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BB45B-2589-4D3B-9C0C-B476EE0F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199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Study: Solving Quadratic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validation:</a:t>
            </a:r>
            <a:r>
              <a:rPr lang="en-US" dirty="0"/>
              <a:t> Use defensive programming techniques to validate user input</a:t>
            </a:r>
          </a:p>
          <a:p>
            <a:pPr lvl="1"/>
            <a:r>
              <a:rPr lang="en-US" dirty="0"/>
              <a:t>Includes code to check for improper data before an attempt is made to process it further</a:t>
            </a:r>
          </a:p>
          <a:p>
            <a:r>
              <a:rPr lang="en-US" b="1" dirty="0"/>
              <a:t>Solving quadratic equations:</a:t>
            </a:r>
            <a:r>
              <a:rPr lang="en-US" dirty="0"/>
              <a:t> Use the software development procedure to solve for the roots of a quadratic equation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27</a:t>
            </a:fld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Analyze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 requires </a:t>
            </a:r>
          </a:p>
          <a:p>
            <a:pPr lvl="1"/>
            <a:r>
              <a:rPr lang="en-US" dirty="0"/>
              <a:t>Accepting three </a:t>
            </a:r>
            <a:r>
              <a:rPr lang="en-US" b="1" dirty="0"/>
              <a:t>inputs</a:t>
            </a:r>
            <a:r>
              <a:rPr lang="en-US" dirty="0"/>
              <a:t>: the coefficients  a,  b, and  c of a quadratic equation. 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outputs</a:t>
            </a:r>
            <a:r>
              <a:rPr lang="en-US" dirty="0"/>
              <a:t> are the roots of the equation, found by using the given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28</a:t>
            </a:fld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Develop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 a program purpose message</a:t>
            </a:r>
          </a:p>
          <a:p>
            <a:r>
              <a:rPr lang="en-US" dirty="0"/>
              <a:t>Accept user-input values for a, b, and c</a:t>
            </a:r>
          </a:p>
          <a:p>
            <a:r>
              <a:rPr lang="en-US" dirty="0"/>
              <a:t>Calculate the two roots</a:t>
            </a:r>
          </a:p>
          <a:p>
            <a:r>
              <a:rPr lang="en-US" dirty="0"/>
              <a:t>Display the values of the calculated roots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29</a:t>
            </a:fld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Develop a Solution(Refining)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3"/>
            <a:ext cx="8229600" cy="5688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i="1" dirty="0"/>
              <a:t>Display a program purpose message</a:t>
            </a:r>
          </a:p>
          <a:p>
            <a:pPr marL="0" indent="0">
              <a:buNone/>
            </a:pPr>
            <a:r>
              <a:rPr lang="en-US" sz="1600" b="1" i="1" dirty="0"/>
              <a:t>Accept user-input values for a, b, and c</a:t>
            </a:r>
          </a:p>
          <a:p>
            <a:pPr marL="0" indent="0">
              <a:buNone/>
            </a:pPr>
            <a:r>
              <a:rPr lang="en-US" sz="1600" b="1" i="1" dirty="0"/>
              <a:t>if a  equals 0 and b equals 0 then</a:t>
            </a:r>
          </a:p>
          <a:p>
            <a:pPr marL="0" indent="0">
              <a:buNone/>
            </a:pPr>
            <a:r>
              <a:rPr lang="en-US" sz="1600" b="1" i="1" dirty="0"/>
              <a:t>	Display a message saying that the equation has no solution</a:t>
            </a:r>
          </a:p>
          <a:p>
            <a:pPr marL="0" indent="0">
              <a:buNone/>
            </a:pPr>
            <a:r>
              <a:rPr lang="en-US" sz="1600" b="1" i="1" dirty="0"/>
              <a:t>else if </a:t>
            </a:r>
            <a:r>
              <a:rPr lang="en-US" sz="1600" b="1" i="1"/>
              <a:t>a equals </a:t>
            </a:r>
            <a:r>
              <a:rPr lang="en-US" sz="1600" b="1" i="1" dirty="0"/>
              <a:t>zero then</a:t>
            </a:r>
          </a:p>
          <a:p>
            <a:pPr marL="0" indent="0">
              <a:buNone/>
            </a:pPr>
            <a:r>
              <a:rPr lang="en-US" sz="1600" b="1" i="1" dirty="0"/>
              <a:t>	Calculate the single root equal to -c/b</a:t>
            </a:r>
          </a:p>
          <a:p>
            <a:pPr marL="0" indent="0">
              <a:buNone/>
            </a:pPr>
            <a:r>
              <a:rPr lang="en-US" sz="1600" b="1" i="1" dirty="0"/>
              <a:t>	Display the single root</a:t>
            </a:r>
          </a:p>
          <a:p>
            <a:pPr marL="0" indent="0">
              <a:buNone/>
            </a:pPr>
            <a:r>
              <a:rPr lang="en-US" sz="1600" b="1" i="1" dirty="0"/>
              <a:t>else</a:t>
            </a:r>
          </a:p>
          <a:p>
            <a:pPr marL="0" indent="0">
              <a:buNone/>
            </a:pPr>
            <a:r>
              <a:rPr lang="en-US" sz="1600" b="1" i="1" dirty="0"/>
              <a:t>	Calculate the discriminant</a:t>
            </a:r>
          </a:p>
          <a:p>
            <a:pPr marL="0" indent="0">
              <a:buNone/>
            </a:pPr>
            <a:r>
              <a:rPr lang="en-US" sz="1600" b="1" i="1" dirty="0"/>
              <a:t>	If the discriminant &gt; 0 then</a:t>
            </a:r>
          </a:p>
          <a:p>
            <a:pPr marL="0" indent="0">
              <a:buNone/>
            </a:pPr>
            <a:r>
              <a:rPr lang="en-US" sz="1600" b="1" i="1" dirty="0"/>
              <a:t>		Solve for both roots using the given formulas</a:t>
            </a:r>
          </a:p>
          <a:p>
            <a:pPr marL="0" indent="0">
              <a:buNone/>
            </a:pPr>
            <a:r>
              <a:rPr lang="en-US" sz="1600" b="1" i="1" dirty="0"/>
              <a:t>		Display the two roots</a:t>
            </a:r>
          </a:p>
          <a:p>
            <a:pPr marL="0" indent="0">
              <a:buNone/>
            </a:pPr>
            <a:r>
              <a:rPr lang="en-US" sz="1600" b="1" i="1" dirty="0"/>
              <a:t>	Else If the discriminant &lt; 0 then</a:t>
            </a:r>
          </a:p>
          <a:p>
            <a:pPr marL="0" indent="0">
              <a:buNone/>
            </a:pPr>
            <a:r>
              <a:rPr lang="en-US" sz="1600" b="1" i="1" dirty="0"/>
              <a:t>		Display a message that there are no real roots</a:t>
            </a:r>
          </a:p>
          <a:p>
            <a:pPr marL="0" indent="0">
              <a:buNone/>
            </a:pPr>
            <a:r>
              <a:rPr lang="en-US" sz="1600" b="1" i="1" dirty="0"/>
              <a:t>	Else</a:t>
            </a:r>
          </a:p>
          <a:p>
            <a:pPr marL="0" indent="0">
              <a:buNone/>
            </a:pPr>
            <a:r>
              <a:rPr lang="en-US" sz="1600" b="1" i="1" dirty="0"/>
              <a:t>		Calculate the repeated root equal to -b/(2a)</a:t>
            </a:r>
          </a:p>
          <a:p>
            <a:pPr marL="0" indent="0">
              <a:buNone/>
            </a:pPr>
            <a:r>
              <a:rPr lang="en-US" sz="1600" b="1" i="1" dirty="0"/>
              <a:t>		Display the repeated root</a:t>
            </a:r>
          </a:p>
          <a:p>
            <a:pPr marL="0" indent="0">
              <a:buNone/>
            </a:pPr>
            <a:r>
              <a:rPr lang="en-US" sz="1600" b="1" i="1" dirty="0"/>
              <a:t>	End If</a:t>
            </a:r>
          </a:p>
          <a:p>
            <a:pPr marL="0" indent="0">
              <a:buNone/>
            </a:pPr>
            <a:r>
              <a:rPr lang="en-US" sz="1600" b="1" i="1" dirty="0"/>
              <a:t>end 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30</a:t>
            </a:fld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Code the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7904858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Code the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08720"/>
            <a:ext cx="8593460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4: Test and Correct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it with different inputs</a:t>
            </a:r>
          </a:p>
          <a:p>
            <a:r>
              <a:rPr lang="en-US" dirty="0"/>
              <a:t>Modify the program to show imaginary roots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1" y="2636912"/>
            <a:ext cx="4032696" cy="180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237" y="2611814"/>
            <a:ext cx="4343086" cy="189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04" y="4696183"/>
            <a:ext cx="4242250" cy="1894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492" y="4704100"/>
            <a:ext cx="4176464" cy="181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Loop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4"/>
            <a:ext cx="8229600" cy="56746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structure has four required elements: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statement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 to be evaluated 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 value for the condition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termination 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Repetition statements include: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 while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34</a:t>
            </a:fld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Loop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condition can be tested </a:t>
            </a:r>
          </a:p>
          <a:p>
            <a:pPr lvl="1"/>
            <a:r>
              <a:rPr lang="en-US" dirty="0"/>
              <a:t>At the beginning or Pretest</a:t>
            </a:r>
          </a:p>
          <a:p>
            <a:pPr lvl="1"/>
            <a:r>
              <a:rPr lang="en-US" dirty="0"/>
              <a:t>At the end or Posttest</a:t>
            </a:r>
          </a:p>
          <a:p>
            <a:r>
              <a:rPr lang="en-US" dirty="0"/>
              <a:t>Something in the loop body must cause the condition to change</a:t>
            </a:r>
          </a:p>
          <a:p>
            <a:pPr lvl="1"/>
            <a:r>
              <a:rPr lang="en-US" dirty="0"/>
              <a:t>to avoid an infinite loop , which never        terminates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35</a:t>
            </a:fld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Pretest and Posttest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Pretest loop: </a:t>
            </a:r>
          </a:p>
          <a:p>
            <a:pPr lvl="1"/>
            <a:r>
              <a:rPr lang="en-US" dirty="0"/>
              <a:t>Condition is tested first; </a:t>
            </a:r>
          </a:p>
          <a:p>
            <a:pPr lvl="1"/>
            <a:r>
              <a:rPr lang="en-US" dirty="0"/>
              <a:t>if false, </a:t>
            </a:r>
          </a:p>
          <a:p>
            <a:pPr lvl="2"/>
            <a:r>
              <a:rPr lang="en-US" dirty="0"/>
              <a:t>statements in the loop 				       body are never executed </a:t>
            </a:r>
          </a:p>
          <a:p>
            <a:r>
              <a:rPr lang="en-US" dirty="0"/>
              <a:t>while and for  loops 				    are pretest loops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002" y="1152593"/>
            <a:ext cx="3586825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Pretest and Posttest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Posttest loop: </a:t>
            </a:r>
          </a:p>
          <a:p>
            <a:pPr lvl="1"/>
            <a:r>
              <a:rPr lang="en-US" dirty="0"/>
              <a:t>Condition is tested after 			     the loop body </a:t>
            </a:r>
          </a:p>
          <a:p>
            <a:pPr lvl="1"/>
            <a:r>
              <a:rPr lang="en-US" dirty="0"/>
              <a:t>statements are executed; </a:t>
            </a:r>
          </a:p>
          <a:p>
            <a:r>
              <a:rPr lang="en-US" dirty="0"/>
              <a:t>loop body always 				    executes at least once </a:t>
            </a:r>
          </a:p>
          <a:p>
            <a:r>
              <a:rPr lang="en-US" dirty="0"/>
              <a:t>do while is a posttest loop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644" y="908720"/>
            <a:ext cx="2376264" cy="52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Fixed-Count versus Variable Condition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Fixed-count loop: Loop is processed for a fixed number of repetitions </a:t>
            </a:r>
          </a:p>
          <a:p>
            <a:r>
              <a:rPr lang="en-US" dirty="0"/>
              <a:t>Variable-condition loop: Number of repetitions depends on the value of a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38</a:t>
            </a:fld>
            <a:endParaRPr lang="ko-KR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/>
              <a:t>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while</a:t>
            </a:r>
            <a:r>
              <a:rPr lang="en-US" b="1" dirty="0"/>
              <a:t> statement</a:t>
            </a:r>
            <a:r>
              <a:rPr lang="en-US" dirty="0"/>
              <a:t> is used to create a       while loop </a:t>
            </a:r>
          </a:p>
          <a:p>
            <a:pPr marL="0" indent="0">
              <a:buNone/>
            </a:pPr>
            <a:r>
              <a:rPr lang="en-US" dirty="0"/>
              <a:t>– Syntax:    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sz="2400" b="1" dirty="0"/>
              <a:t>while (expression)  </a:t>
            </a:r>
          </a:p>
          <a:p>
            <a:pPr marL="0" indent="0">
              <a:buNone/>
            </a:pPr>
            <a:r>
              <a:rPr lang="en-US" sz="2400" b="1" dirty="0"/>
              <a:t>           		statement; </a:t>
            </a:r>
          </a:p>
          <a:p>
            <a:r>
              <a:rPr lang="en-US" dirty="0"/>
              <a:t>Statements following the expressions are executed as long as the expression condition remains true </a:t>
            </a:r>
          </a:p>
          <a:p>
            <a:r>
              <a:rPr lang="en-US" dirty="0"/>
              <a:t>A non-zero value is true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39</a:t>
            </a:fld>
            <a:endParaRPr lang="ko-K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/>
              <a:t> loop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0728"/>
            <a:ext cx="7150990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31" y="4869160"/>
            <a:ext cx="838200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/>
              <a:t> loop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 to display the square and cube of numbers 1 up to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76872"/>
            <a:ext cx="5295900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800" y="2252554"/>
            <a:ext cx="2913205" cy="2982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Forces an immediate break, or exit, from     switch, while, for, and do-while		    statements </a:t>
            </a:r>
          </a:p>
          <a:p>
            <a:r>
              <a:rPr lang="en-US" dirty="0"/>
              <a:t>Violates pure structured programming</a:t>
            </a:r>
          </a:p>
          <a:p>
            <a:pPr lvl="1"/>
            <a:r>
              <a:rPr lang="en-US" dirty="0"/>
              <a:t>but is useful for breaking out of loops when an unusual condition is detected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42</a:t>
            </a:fld>
            <a:endParaRPr lang="ko-KR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dirty="0"/>
              <a:t> statement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5832648" cy="3582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Applies to  while,  do-while ,  and for  statements; </a:t>
            </a:r>
          </a:p>
          <a:p>
            <a:r>
              <a:rPr lang="en-US" dirty="0"/>
              <a:t>causes the next iteration of the loop to begin immediately  </a:t>
            </a:r>
          </a:p>
          <a:p>
            <a:r>
              <a:rPr lang="en-US" dirty="0"/>
              <a:t>Useful for skipping over data that should not be processed in this iteration</a:t>
            </a:r>
          </a:p>
          <a:p>
            <a:pPr lvl="1"/>
            <a:r>
              <a:rPr lang="en-US" dirty="0"/>
              <a:t>while staying within the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44</a:t>
            </a:fld>
            <a:endParaRPr lang="ko-KR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dirty="0"/>
              <a:t> statement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 continue  statement where invalid grades are ignored, and only valid grades are added to the total: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45</a:t>
            </a:fld>
            <a:endParaRPr lang="ko-K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924944"/>
            <a:ext cx="4571162" cy="225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/>
              <a:t>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loop with a fixed count condition that handles alteration of the condition </a:t>
            </a:r>
          </a:p>
          <a:p>
            <a:r>
              <a:rPr lang="en-US" dirty="0"/>
              <a:t>Syntax: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b="1" i="1" dirty="0"/>
              <a:t>for (initializing list; expression; altering list)  </a:t>
            </a:r>
            <a:endParaRPr lang="en-US" b="1" i="1" dirty="0"/>
          </a:p>
          <a:p>
            <a:pPr marL="0" indent="0">
              <a:buNone/>
            </a:pPr>
            <a:r>
              <a:rPr lang="en-US" sz="2000" b="1" i="1" dirty="0"/>
              <a:t>		statement;</a:t>
            </a:r>
          </a:p>
          <a:p>
            <a:r>
              <a:rPr lang="en-US" b="1" dirty="0"/>
              <a:t>Initializing list</a:t>
            </a:r>
          </a:p>
          <a:p>
            <a:pPr lvl="1"/>
            <a:r>
              <a:rPr lang="en-US" dirty="0"/>
              <a:t>Sets the starting value of a counter </a:t>
            </a:r>
          </a:p>
          <a:p>
            <a:r>
              <a:rPr lang="en-US" b="1" dirty="0"/>
              <a:t>Expression</a:t>
            </a:r>
          </a:p>
          <a:p>
            <a:pPr lvl="1"/>
            <a:r>
              <a:rPr lang="en-US" dirty="0"/>
              <a:t>Contains the maximum or minimum value the counter can have; </a:t>
            </a:r>
          </a:p>
          <a:p>
            <a:pPr lvl="1"/>
            <a:r>
              <a:rPr lang="en-US" dirty="0"/>
              <a:t>determines when the loop is finished </a:t>
            </a:r>
          </a:p>
          <a:p>
            <a:r>
              <a:rPr lang="en-US" b="1" dirty="0"/>
              <a:t>Altering list</a:t>
            </a:r>
          </a:p>
          <a:p>
            <a:pPr lvl="1"/>
            <a:r>
              <a:rPr lang="en-US" dirty="0"/>
              <a:t>Provides the increment value that  is added or subtracted from the counter in each iteration of the loop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46</a:t>
            </a:fld>
            <a:endParaRPr lang="ko-KR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/>
              <a:t>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initializing list is missing</a:t>
            </a:r>
          </a:p>
          <a:p>
            <a:pPr lvl="1"/>
            <a:r>
              <a:rPr lang="en-US" dirty="0"/>
              <a:t>the counter initial value must be provided prior to entering the for  loop </a:t>
            </a:r>
          </a:p>
          <a:p>
            <a:r>
              <a:rPr lang="en-US" dirty="0"/>
              <a:t>If altering list is missing</a:t>
            </a:r>
          </a:p>
          <a:p>
            <a:pPr lvl="1"/>
            <a:r>
              <a:rPr lang="en-US" dirty="0"/>
              <a:t>the counter must be altered in the loop     body </a:t>
            </a:r>
          </a:p>
          <a:p>
            <a:r>
              <a:rPr lang="en-US" dirty="0"/>
              <a:t>Omitting the expression will result in an  infinite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47</a:t>
            </a:fld>
            <a:endParaRPr lang="ko-KR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/>
              <a:t> loop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80728"/>
            <a:ext cx="7122954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17" y="959327"/>
            <a:ext cx="3194283" cy="239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Loop Flow of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059" y="783912"/>
            <a:ext cx="4589310" cy="607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loop contained within another loop </a:t>
            </a:r>
          </a:p>
          <a:p>
            <a:pPr lvl="1"/>
            <a:r>
              <a:rPr lang="en-US" dirty="0"/>
              <a:t>All statements of the inner loop must be completely contained within the outer loop; no overlap allowed </a:t>
            </a:r>
          </a:p>
          <a:p>
            <a:pPr lvl="1"/>
            <a:r>
              <a:rPr lang="en-US" dirty="0"/>
              <a:t>Different variables must be used to control each loop  </a:t>
            </a:r>
          </a:p>
          <a:p>
            <a:pPr lvl="1"/>
            <a:r>
              <a:rPr lang="en-US" dirty="0"/>
              <a:t>For each single iteration of the outer loop, the inner loop runs through all of its           iterations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50</a:t>
            </a:fld>
            <a:endParaRPr lang="ko-KR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Loops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i, j loops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51</a:t>
            </a:fld>
            <a:endParaRPr lang="ko-KR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980728"/>
            <a:ext cx="2925075" cy="540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Loops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0728"/>
            <a:ext cx="8655570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175656"/>
            <a:ext cx="4301677" cy="2631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 while</a:t>
            </a:r>
            <a:r>
              <a:rPr lang="en-US" dirty="0"/>
              <a:t>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Loop continues while the condition is     true  </a:t>
            </a:r>
          </a:p>
          <a:p>
            <a:r>
              <a:rPr lang="en-US" dirty="0"/>
              <a:t>Condition is tested at the end of the      loop </a:t>
            </a:r>
          </a:p>
          <a:p>
            <a:r>
              <a:rPr lang="en-US" dirty="0"/>
              <a:t>Syntax: </a:t>
            </a:r>
          </a:p>
          <a:p>
            <a:pPr marL="0" indent="0">
              <a:buNone/>
            </a:pPr>
            <a:r>
              <a:rPr lang="en-US" dirty="0"/>
              <a:t> 		</a:t>
            </a:r>
            <a:r>
              <a:rPr lang="en-US" sz="2400" b="1" i="1" dirty="0"/>
              <a:t>do</a:t>
            </a:r>
          </a:p>
          <a:p>
            <a:pPr marL="0" indent="0">
              <a:buNone/>
            </a:pPr>
            <a:r>
              <a:rPr lang="en-US" sz="2400" b="1" i="1" dirty="0"/>
              <a:t>			statement; </a:t>
            </a:r>
          </a:p>
          <a:p>
            <a:pPr marL="0" indent="0">
              <a:buNone/>
            </a:pPr>
            <a:r>
              <a:rPr lang="en-US" sz="2400" b="1" i="1" dirty="0"/>
              <a:t>  		while (expression);</a:t>
            </a:r>
          </a:p>
          <a:p>
            <a:r>
              <a:rPr lang="en-US" dirty="0"/>
              <a:t>All statements are executed at least once in a posttest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53</a:t>
            </a:fld>
            <a:endParaRPr lang="ko-KR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 while</a:t>
            </a:r>
            <a:r>
              <a:rPr lang="en-US" dirty="0"/>
              <a:t> loop flowchart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54</a:t>
            </a:fld>
            <a:endParaRPr lang="ko-KR" alt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050" y="1193006"/>
            <a:ext cx="2636118" cy="5450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 while</a:t>
            </a:r>
            <a:r>
              <a:rPr lang="en-US" dirty="0"/>
              <a:t> loop flow of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908719"/>
            <a:ext cx="5400600" cy="5658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use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 while</a:t>
            </a:r>
            <a:r>
              <a:rPr lang="en-US" dirty="0"/>
              <a:t>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in filtering user-entered input and providing data validation checks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Can enhance with if-else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56</a:t>
            </a:fld>
            <a:endParaRPr lang="ko-KR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204864"/>
            <a:ext cx="6114600" cy="1411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cture01.n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Arial Black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5875">
          <a:solidFill>
            <a:srgbClr val="FF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06</Template>
  <TotalTime>14</TotalTime>
  <Words>1838</Words>
  <Application>Microsoft Office PowerPoint</Application>
  <PresentationFormat>On-screen Show (4:3)</PresentationFormat>
  <Paragraphs>291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굴림</vt:lpstr>
      <vt:lpstr>맑은 고딕</vt:lpstr>
      <vt:lpstr>Arial</vt:lpstr>
      <vt:lpstr>Arial Black</vt:lpstr>
      <vt:lpstr>Consolas</vt:lpstr>
      <vt:lpstr>Courier New</vt:lpstr>
      <vt:lpstr>Tahoma</vt:lpstr>
      <vt:lpstr>Times New Roman</vt:lpstr>
      <vt:lpstr>Verdana</vt:lpstr>
      <vt:lpstr>Wingdings</vt:lpstr>
      <vt:lpstr>lecture01.note</vt:lpstr>
      <vt:lpstr>1_기본 디자인</vt:lpstr>
      <vt:lpstr>PowerPoint Presentation</vt:lpstr>
      <vt:lpstr>Content </vt:lpstr>
      <vt:lpstr>Case study</vt:lpstr>
      <vt:lpstr>Selection Criteria</vt:lpstr>
      <vt:lpstr>Selection Criteria cont.….</vt:lpstr>
      <vt:lpstr>Relational Operators</vt:lpstr>
      <vt:lpstr>Relational Operators</vt:lpstr>
      <vt:lpstr>Relational Operators</vt:lpstr>
      <vt:lpstr>Logical Operators </vt:lpstr>
      <vt:lpstr>Operator Precedence</vt:lpstr>
      <vt:lpstr>A Numerical Accuracy Problem</vt:lpstr>
      <vt:lpstr>The if-else Statement</vt:lpstr>
      <vt:lpstr>The if-else Statement</vt:lpstr>
      <vt:lpstr>The if-else Statement</vt:lpstr>
      <vt:lpstr>Compound Statements</vt:lpstr>
      <vt:lpstr>Compound Statements</vt:lpstr>
      <vt:lpstr>One-Way Selection</vt:lpstr>
      <vt:lpstr>Common Problems with if-else</vt:lpstr>
      <vt:lpstr>Nested if Statements</vt:lpstr>
      <vt:lpstr>Nested if Statements</vt:lpstr>
      <vt:lpstr>The if-else Chain</vt:lpstr>
      <vt:lpstr>The if-else Chain</vt:lpstr>
      <vt:lpstr>The if-else Chain</vt:lpstr>
      <vt:lpstr>The switch Statement</vt:lpstr>
      <vt:lpstr>The switch Statement</vt:lpstr>
      <vt:lpstr>Switch Statement: Example </vt:lpstr>
      <vt:lpstr>Case Study: Solving Quadratic Equations</vt:lpstr>
      <vt:lpstr>Step 1: Analyze the Problem</vt:lpstr>
      <vt:lpstr>Step 2: Develop a Solution</vt:lpstr>
      <vt:lpstr>Step 2: Develop a Solution(Refining)</vt:lpstr>
      <vt:lpstr>Step 3: Code the Solution</vt:lpstr>
      <vt:lpstr>Step 3: Code the Solution</vt:lpstr>
      <vt:lpstr>Step 4: Test and Correct the Program</vt:lpstr>
      <vt:lpstr>Basic Loop Structures</vt:lpstr>
      <vt:lpstr>Basic Loop Structures</vt:lpstr>
      <vt:lpstr>Pretest and Posttest Loops</vt:lpstr>
      <vt:lpstr>Pretest and Posttest Loops</vt:lpstr>
      <vt:lpstr>Fixed-Count versus Variable Condition Loops</vt:lpstr>
      <vt:lpstr>while loops</vt:lpstr>
      <vt:lpstr>while loop example</vt:lpstr>
      <vt:lpstr>while loop example</vt:lpstr>
      <vt:lpstr>break statement</vt:lpstr>
      <vt:lpstr>break statement example</vt:lpstr>
      <vt:lpstr>continue statement</vt:lpstr>
      <vt:lpstr>continue statement example</vt:lpstr>
      <vt:lpstr>for loops</vt:lpstr>
      <vt:lpstr>for loops</vt:lpstr>
      <vt:lpstr>for loop example</vt:lpstr>
      <vt:lpstr>For Loop Flow of Control</vt:lpstr>
      <vt:lpstr>Nested Loops</vt:lpstr>
      <vt:lpstr>Nested Loops Diagram</vt:lpstr>
      <vt:lpstr>Nested Loops Example</vt:lpstr>
      <vt:lpstr>do while loop</vt:lpstr>
      <vt:lpstr>do while loop flowchart</vt:lpstr>
      <vt:lpstr>do while loop flow of control</vt:lpstr>
      <vt:lpstr>common use of do while loop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CCE20003  PROGRAMMING I Lecture 6</dc:title>
  <dc:creator>shinsy</dc:creator>
  <cp:lastModifiedBy>Melkamu</cp:lastModifiedBy>
  <cp:revision>335</cp:revision>
  <dcterms:created xsi:type="dcterms:W3CDTF">2015-01-20T03:51:00Z</dcterms:created>
  <dcterms:modified xsi:type="dcterms:W3CDTF">2026-09-07T14:22:35Z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95F4808C89CC4B47A0FB1262AE02D758_12</vt:lpwstr>
  </property>
  <property fmtid="{D5CDD505-2E9C-101B-9397-08002B2CF9AE}" pid="3" name="KSOProductBuildVer">
    <vt:lpwstr>2057-12.2.0.13215</vt:lpwstr>
  </property>
</Properties>
</file>