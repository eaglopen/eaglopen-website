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7" r:id="rId2"/>
    <p:sldId id="300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64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00594-8069-4891-BA2D-86EEC9C9D6F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CDC12-F0D2-4602-A04C-929F90DA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12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CDC12-F0D2-4602-A04C-929F90DAC3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5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CDC12-F0D2-4602-A04C-929F90DAC3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7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264" y="3094496"/>
            <a:ext cx="5134279" cy="31638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25518" y="437515"/>
            <a:ext cx="414096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7254" y="437515"/>
            <a:ext cx="68574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2232" y="1166520"/>
            <a:ext cx="10024110" cy="450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++ - Wikipedia">
            <a:extLst>
              <a:ext uri="{FF2B5EF4-FFF2-40B4-BE49-F238E27FC236}">
                <a16:creationId xmlns:a16="http://schemas.microsoft.com/office/drawing/2014/main" id="{2859C7F4-4BA7-4AA2-9CF9-0CE4C8B7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57200"/>
            <a:ext cx="6140459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B5633-2919-4C28-8D9A-069486781495}"/>
              </a:ext>
            </a:extLst>
          </p:cNvPr>
          <p:cNvSpPr txBox="1"/>
          <p:nvPr/>
        </p:nvSpPr>
        <p:spPr>
          <a:xfrm>
            <a:off x="2743200" y="1219200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What is a computer?</a:t>
            </a:r>
          </a:p>
        </p:txBody>
      </p:sp>
      <p:pic>
        <p:nvPicPr>
          <p:cNvPr id="2050" name="Picture 2" descr="What is a Computer? an introduction - W3Scoop">
            <a:extLst>
              <a:ext uri="{FF2B5EF4-FFF2-40B4-BE49-F238E27FC236}">
                <a16:creationId xmlns:a16="http://schemas.microsoft.com/office/drawing/2014/main" id="{5CBEE71C-9881-4EDB-8F14-24F61B82E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133600"/>
            <a:ext cx="48006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51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computer?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97994"/>
            <a:ext cx="959040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15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800" b="1" spc="-2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programmable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input,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store,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retrieve,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processes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6229" y="437515"/>
            <a:ext cx="3938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Computer</a:t>
            </a:r>
            <a:r>
              <a:rPr spc="-30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1741" y="2496210"/>
            <a:ext cx="7272655" cy="130619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900" algn="l"/>
                <a:tab pos="469900" algn="l"/>
                <a:tab pos="2408555" algn="l"/>
              </a:tabLst>
            </a:pPr>
            <a:r>
              <a:rPr sz="2800" b="1" spc="-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2800" b="1" spc="4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	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metallic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plastic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parts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5"/>
              </a:spcBef>
              <a:buFont typeface="Wingdings" panose="05000000000000000000"/>
              <a:buChar char=""/>
              <a:tabLst>
                <a:tab pos="469900" algn="l"/>
                <a:tab pos="469900" algn="l"/>
                <a:tab pos="2004060" algn="l"/>
                <a:tab pos="2390140" algn="l"/>
              </a:tabLst>
            </a:pPr>
            <a:r>
              <a:rPr sz="2800" b="1" spc="-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Software	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	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instructions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629" y="437515"/>
            <a:ext cx="2109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Hardware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8715" y="5388864"/>
            <a:ext cx="1066799" cy="7360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609186" y="3148583"/>
            <a:ext cx="1306195" cy="2066925"/>
            <a:chOff x="5609186" y="3148583"/>
            <a:chExt cx="130619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9186" y="3640224"/>
              <a:ext cx="1305858" cy="10663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33516" y="3153155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266700" y="0"/>
                  </a:moveTo>
                  <a:lnTo>
                    <a:pt x="0" y="91440"/>
                  </a:lnTo>
                  <a:lnTo>
                    <a:pt x="133350" y="91440"/>
                  </a:lnTo>
                  <a:lnTo>
                    <a:pt x="133350" y="365760"/>
                  </a:lnTo>
                  <a:lnTo>
                    <a:pt x="0" y="365760"/>
                  </a:lnTo>
                  <a:lnTo>
                    <a:pt x="266700" y="457200"/>
                  </a:lnTo>
                  <a:lnTo>
                    <a:pt x="533400" y="365760"/>
                  </a:lnTo>
                  <a:lnTo>
                    <a:pt x="400050" y="365760"/>
                  </a:lnTo>
                  <a:lnTo>
                    <a:pt x="400050" y="91440"/>
                  </a:lnTo>
                  <a:lnTo>
                    <a:pt x="533400" y="9144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33516" y="3153155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0" y="91440"/>
                  </a:moveTo>
                  <a:lnTo>
                    <a:pt x="266700" y="0"/>
                  </a:lnTo>
                  <a:lnTo>
                    <a:pt x="533400" y="91440"/>
                  </a:lnTo>
                  <a:lnTo>
                    <a:pt x="400050" y="91440"/>
                  </a:lnTo>
                  <a:lnTo>
                    <a:pt x="400050" y="365760"/>
                  </a:lnTo>
                  <a:lnTo>
                    <a:pt x="533400" y="365760"/>
                  </a:lnTo>
                  <a:lnTo>
                    <a:pt x="266700" y="457200"/>
                  </a:lnTo>
                  <a:lnTo>
                    <a:pt x="0" y="365760"/>
                  </a:lnTo>
                  <a:lnTo>
                    <a:pt x="133350" y="365760"/>
                  </a:lnTo>
                  <a:lnTo>
                    <a:pt x="133350" y="91440"/>
                  </a:lnTo>
                  <a:lnTo>
                    <a:pt x="0" y="914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3516" y="4753355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266700" y="0"/>
                  </a:moveTo>
                  <a:lnTo>
                    <a:pt x="0" y="91440"/>
                  </a:lnTo>
                  <a:lnTo>
                    <a:pt x="133350" y="91440"/>
                  </a:lnTo>
                  <a:lnTo>
                    <a:pt x="133350" y="365760"/>
                  </a:lnTo>
                  <a:lnTo>
                    <a:pt x="0" y="365760"/>
                  </a:lnTo>
                  <a:lnTo>
                    <a:pt x="266700" y="457200"/>
                  </a:lnTo>
                  <a:lnTo>
                    <a:pt x="533400" y="365760"/>
                  </a:lnTo>
                  <a:lnTo>
                    <a:pt x="400050" y="365760"/>
                  </a:lnTo>
                  <a:lnTo>
                    <a:pt x="400050" y="91440"/>
                  </a:lnTo>
                  <a:lnTo>
                    <a:pt x="533400" y="9144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33516" y="4753355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0" y="91440"/>
                  </a:moveTo>
                  <a:lnTo>
                    <a:pt x="266700" y="0"/>
                  </a:lnTo>
                  <a:lnTo>
                    <a:pt x="533400" y="91440"/>
                  </a:lnTo>
                  <a:lnTo>
                    <a:pt x="400050" y="91440"/>
                  </a:lnTo>
                  <a:lnTo>
                    <a:pt x="400050" y="365760"/>
                  </a:lnTo>
                  <a:lnTo>
                    <a:pt x="533400" y="365760"/>
                  </a:lnTo>
                  <a:lnTo>
                    <a:pt x="266700" y="457200"/>
                  </a:lnTo>
                  <a:lnTo>
                    <a:pt x="0" y="365760"/>
                  </a:lnTo>
                  <a:lnTo>
                    <a:pt x="133350" y="365760"/>
                  </a:lnTo>
                  <a:lnTo>
                    <a:pt x="133350" y="91440"/>
                  </a:lnTo>
                  <a:lnTo>
                    <a:pt x="0" y="914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452116" y="3352800"/>
            <a:ext cx="1960880" cy="1757680"/>
            <a:chOff x="2452116" y="3352800"/>
            <a:chExt cx="1960880" cy="17576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4046" y="4114800"/>
              <a:ext cx="1018621" cy="9954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7916" y="3352800"/>
              <a:ext cx="1143000" cy="9525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2116" y="3886200"/>
              <a:ext cx="914400" cy="63246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504944" y="3910584"/>
            <a:ext cx="847725" cy="390525"/>
            <a:chOff x="4504944" y="3910584"/>
            <a:chExt cx="847725" cy="390525"/>
          </a:xfrm>
        </p:grpSpPr>
        <p:sp>
          <p:nvSpPr>
            <p:cNvPr id="15" name="object 15"/>
            <p:cNvSpPr/>
            <p:nvPr/>
          </p:nvSpPr>
          <p:spPr>
            <a:xfrm>
              <a:off x="4509516" y="3915156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628650" y="0"/>
                  </a:moveTo>
                  <a:lnTo>
                    <a:pt x="628650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628650" y="285750"/>
                  </a:lnTo>
                  <a:lnTo>
                    <a:pt x="628650" y="381000"/>
                  </a:lnTo>
                  <a:lnTo>
                    <a:pt x="838200" y="1905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09516" y="3915156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0" y="95250"/>
                  </a:moveTo>
                  <a:lnTo>
                    <a:pt x="628650" y="95250"/>
                  </a:lnTo>
                  <a:lnTo>
                    <a:pt x="628650" y="0"/>
                  </a:lnTo>
                  <a:lnTo>
                    <a:pt x="838200" y="190500"/>
                  </a:lnTo>
                  <a:lnTo>
                    <a:pt x="628650" y="381000"/>
                  </a:lnTo>
                  <a:lnTo>
                    <a:pt x="628650" y="285750"/>
                  </a:lnTo>
                  <a:lnTo>
                    <a:pt x="0" y="285750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171943" y="3910584"/>
            <a:ext cx="847725" cy="390525"/>
            <a:chOff x="7171943" y="3910584"/>
            <a:chExt cx="847725" cy="390525"/>
          </a:xfrm>
        </p:grpSpPr>
        <p:sp>
          <p:nvSpPr>
            <p:cNvPr id="18" name="object 18"/>
            <p:cNvSpPr/>
            <p:nvPr/>
          </p:nvSpPr>
          <p:spPr>
            <a:xfrm>
              <a:off x="7176515" y="3915156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628650" y="0"/>
                  </a:moveTo>
                  <a:lnTo>
                    <a:pt x="628650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628650" y="285750"/>
                  </a:lnTo>
                  <a:lnTo>
                    <a:pt x="628650" y="381000"/>
                  </a:lnTo>
                  <a:lnTo>
                    <a:pt x="838200" y="1905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76515" y="3915156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0" y="95250"/>
                  </a:moveTo>
                  <a:lnTo>
                    <a:pt x="628650" y="95250"/>
                  </a:lnTo>
                  <a:lnTo>
                    <a:pt x="628650" y="0"/>
                  </a:lnTo>
                  <a:lnTo>
                    <a:pt x="838200" y="190500"/>
                  </a:lnTo>
                  <a:lnTo>
                    <a:pt x="628650" y="381000"/>
                  </a:lnTo>
                  <a:lnTo>
                    <a:pt x="628650" y="285750"/>
                  </a:lnTo>
                  <a:lnTo>
                    <a:pt x="0" y="285750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72831" y="3229355"/>
            <a:ext cx="908684" cy="77114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63486" y="4287284"/>
            <a:ext cx="705970" cy="58071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052686" y="4017645"/>
            <a:ext cx="8343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0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Devices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63893" y="5161026"/>
            <a:ext cx="1053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econda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y</a:t>
            </a:r>
            <a:r>
              <a:rPr sz="1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M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emory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48653" y="3408045"/>
            <a:ext cx="7797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Calibri" panose="020F0502020204030204"/>
                <a:cs typeface="Calibri" panose="020F0502020204030204"/>
              </a:rPr>
              <a:t>Main</a:t>
            </a:r>
            <a:r>
              <a:rPr sz="10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Memory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90744" y="1929383"/>
            <a:ext cx="2371090" cy="1151890"/>
            <a:chOff x="5190744" y="1929383"/>
            <a:chExt cx="2371090" cy="115189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65420" y="2004059"/>
              <a:ext cx="2295905" cy="107670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195316" y="1933955"/>
              <a:ext cx="2286000" cy="1066800"/>
            </a:xfrm>
            <a:custGeom>
              <a:avLst/>
              <a:gdLst/>
              <a:ahLst/>
              <a:cxnLst/>
              <a:rect l="l" t="t" r="r" b="b"/>
              <a:pathLst>
                <a:path w="2286000" h="1066800">
                  <a:moveTo>
                    <a:pt x="746633" y="1005840"/>
                  </a:moveTo>
                  <a:lnTo>
                    <a:pt x="614553" y="1005840"/>
                  </a:lnTo>
                  <a:lnTo>
                    <a:pt x="614553" y="1019175"/>
                  </a:lnTo>
                  <a:lnTo>
                    <a:pt x="631825" y="1028192"/>
                  </a:lnTo>
                  <a:lnTo>
                    <a:pt x="649097" y="1035558"/>
                  </a:lnTo>
                  <a:lnTo>
                    <a:pt x="677799" y="1049020"/>
                  </a:lnTo>
                  <a:lnTo>
                    <a:pt x="694944" y="1057910"/>
                  </a:lnTo>
                  <a:lnTo>
                    <a:pt x="798449" y="1066800"/>
                  </a:lnTo>
                  <a:lnTo>
                    <a:pt x="1476120" y="1066800"/>
                  </a:lnTo>
                  <a:lnTo>
                    <a:pt x="1527810" y="1062355"/>
                  </a:lnTo>
                  <a:lnTo>
                    <a:pt x="1556639" y="1057910"/>
                  </a:lnTo>
                  <a:lnTo>
                    <a:pt x="1590929" y="1049020"/>
                  </a:lnTo>
                  <a:lnTo>
                    <a:pt x="1625473" y="1035558"/>
                  </a:lnTo>
                  <a:lnTo>
                    <a:pt x="815594" y="1035558"/>
                  </a:lnTo>
                  <a:lnTo>
                    <a:pt x="798449" y="1032637"/>
                  </a:lnTo>
                  <a:lnTo>
                    <a:pt x="746633" y="1019175"/>
                  </a:lnTo>
                  <a:lnTo>
                    <a:pt x="746633" y="1005840"/>
                  </a:lnTo>
                  <a:close/>
                </a:path>
                <a:path w="2286000" h="1066800">
                  <a:moveTo>
                    <a:pt x="1659889" y="1005840"/>
                  </a:moveTo>
                  <a:lnTo>
                    <a:pt x="1527810" y="1005840"/>
                  </a:lnTo>
                  <a:lnTo>
                    <a:pt x="1527810" y="1014730"/>
                  </a:lnTo>
                  <a:lnTo>
                    <a:pt x="1510538" y="1019175"/>
                  </a:lnTo>
                  <a:lnTo>
                    <a:pt x="1510538" y="1023747"/>
                  </a:lnTo>
                  <a:lnTo>
                    <a:pt x="1476120" y="1032637"/>
                  </a:lnTo>
                  <a:lnTo>
                    <a:pt x="1458849" y="1035558"/>
                  </a:lnTo>
                  <a:lnTo>
                    <a:pt x="1625473" y="1035558"/>
                  </a:lnTo>
                  <a:lnTo>
                    <a:pt x="1642744" y="1028192"/>
                  </a:lnTo>
                  <a:lnTo>
                    <a:pt x="1659889" y="1019175"/>
                  </a:lnTo>
                  <a:lnTo>
                    <a:pt x="1659889" y="1005840"/>
                  </a:lnTo>
                  <a:close/>
                </a:path>
                <a:path w="2286000" h="1066800">
                  <a:moveTo>
                    <a:pt x="2286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286000" y="100584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95316" y="1933955"/>
              <a:ext cx="2286000" cy="1066800"/>
            </a:xfrm>
            <a:custGeom>
              <a:avLst/>
              <a:gdLst/>
              <a:ahLst/>
              <a:cxnLst/>
              <a:rect l="l" t="t" r="r" b="b"/>
              <a:pathLst>
                <a:path w="2286000" h="1066800">
                  <a:moveTo>
                    <a:pt x="1143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0" y="1005840"/>
                  </a:lnTo>
                  <a:lnTo>
                    <a:pt x="614553" y="1005840"/>
                  </a:lnTo>
                  <a:lnTo>
                    <a:pt x="614553" y="1019175"/>
                  </a:lnTo>
                  <a:lnTo>
                    <a:pt x="631825" y="1028192"/>
                  </a:lnTo>
                  <a:lnTo>
                    <a:pt x="649097" y="1035558"/>
                  </a:lnTo>
                  <a:lnTo>
                    <a:pt x="677799" y="1049020"/>
                  </a:lnTo>
                  <a:lnTo>
                    <a:pt x="694944" y="1057910"/>
                  </a:lnTo>
                  <a:lnTo>
                    <a:pt x="746633" y="1062355"/>
                  </a:lnTo>
                  <a:lnTo>
                    <a:pt x="798449" y="1066800"/>
                  </a:lnTo>
                  <a:lnTo>
                    <a:pt x="861568" y="1066800"/>
                  </a:lnTo>
                  <a:lnTo>
                    <a:pt x="1143000" y="1066800"/>
                  </a:lnTo>
                  <a:lnTo>
                    <a:pt x="1395730" y="1066800"/>
                  </a:lnTo>
                  <a:lnTo>
                    <a:pt x="1476120" y="1066800"/>
                  </a:lnTo>
                  <a:lnTo>
                    <a:pt x="1527810" y="1062355"/>
                  </a:lnTo>
                  <a:lnTo>
                    <a:pt x="1590929" y="1049020"/>
                  </a:lnTo>
                  <a:lnTo>
                    <a:pt x="1642744" y="1028192"/>
                  </a:lnTo>
                  <a:lnTo>
                    <a:pt x="1659889" y="1019175"/>
                  </a:lnTo>
                  <a:lnTo>
                    <a:pt x="1659889" y="1005840"/>
                  </a:lnTo>
                  <a:lnTo>
                    <a:pt x="2286000" y="1005840"/>
                  </a:lnTo>
                  <a:lnTo>
                    <a:pt x="2286000" y="533400"/>
                  </a:lnTo>
                  <a:lnTo>
                    <a:pt x="2286000" y="0"/>
                  </a:lnTo>
                  <a:lnTo>
                    <a:pt x="1143000" y="0"/>
                  </a:lnTo>
                  <a:close/>
                </a:path>
                <a:path w="2286000" h="1066800">
                  <a:moveTo>
                    <a:pt x="746633" y="1005840"/>
                  </a:moveTo>
                  <a:lnTo>
                    <a:pt x="746633" y="1014730"/>
                  </a:lnTo>
                  <a:lnTo>
                    <a:pt x="746633" y="1019175"/>
                  </a:lnTo>
                  <a:lnTo>
                    <a:pt x="763905" y="1023747"/>
                  </a:lnTo>
                  <a:lnTo>
                    <a:pt x="781176" y="1028192"/>
                  </a:lnTo>
                  <a:lnTo>
                    <a:pt x="798449" y="1032637"/>
                  </a:lnTo>
                  <a:lnTo>
                    <a:pt x="815594" y="1035558"/>
                  </a:lnTo>
                  <a:lnTo>
                    <a:pt x="827024" y="1035558"/>
                  </a:lnTo>
                  <a:lnTo>
                    <a:pt x="861568" y="1035558"/>
                  </a:lnTo>
                  <a:lnTo>
                    <a:pt x="1395730" y="1035558"/>
                  </a:lnTo>
                  <a:lnTo>
                    <a:pt x="1424432" y="1035558"/>
                  </a:lnTo>
                  <a:lnTo>
                    <a:pt x="1458849" y="1035558"/>
                  </a:lnTo>
                  <a:lnTo>
                    <a:pt x="1476120" y="1032637"/>
                  </a:lnTo>
                  <a:lnTo>
                    <a:pt x="1493392" y="1028192"/>
                  </a:lnTo>
                  <a:lnTo>
                    <a:pt x="1510538" y="1023747"/>
                  </a:lnTo>
                  <a:lnTo>
                    <a:pt x="1510538" y="1019175"/>
                  </a:lnTo>
                  <a:lnTo>
                    <a:pt x="1527810" y="1014730"/>
                  </a:lnTo>
                  <a:lnTo>
                    <a:pt x="1527810" y="1005840"/>
                  </a:lnTo>
                  <a:lnTo>
                    <a:pt x="746633" y="1005840"/>
                  </a:lnTo>
                  <a:close/>
                </a:path>
                <a:path w="2286000" h="1066800">
                  <a:moveTo>
                    <a:pt x="746633" y="1005840"/>
                  </a:moveTo>
                  <a:lnTo>
                    <a:pt x="614553" y="1005840"/>
                  </a:lnTo>
                  <a:lnTo>
                    <a:pt x="2286000" y="100584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88709" y="2666745"/>
            <a:ext cx="3314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libri" panose="020F0502020204030204"/>
                <a:cs typeface="Calibri" panose="020F0502020204030204"/>
              </a:rPr>
              <a:t>CPU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0115" y="2036064"/>
            <a:ext cx="762000" cy="609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233680">
              <a:lnSpc>
                <a:spcPct val="100000"/>
              </a:lnSpc>
            </a:pPr>
            <a:r>
              <a:rPr sz="1400" b="1" spc="-15" dirty="0">
                <a:latin typeface="Calibri" panose="020F0502020204030204"/>
                <a:cs typeface="Calibri" panose="020F0502020204030204"/>
              </a:rPr>
              <a:t>ALU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14515" y="2036064"/>
            <a:ext cx="762000" cy="609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905" algn="ctr">
              <a:lnSpc>
                <a:spcPct val="100000"/>
              </a:lnSpc>
            </a:pPr>
            <a:r>
              <a:rPr sz="1400" b="1" spc="-5" dirty="0">
                <a:latin typeface="Calibri" panose="020F0502020204030204"/>
                <a:cs typeface="Calibri" panose="020F0502020204030204"/>
              </a:rPr>
              <a:t>CU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8353" y="437515"/>
            <a:ext cx="1956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413129"/>
            <a:ext cx="1025144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900" algn="l"/>
                <a:tab pos="469900" algn="l"/>
              </a:tabLst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2800" b="1" spc="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2800" b="1" spc="2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3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Programs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written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perform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particular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tasks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users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258445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900" algn="l"/>
                <a:tab pos="469900" algn="l"/>
              </a:tabLst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800" b="1" spc="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2800" b="1" spc="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3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Collection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operate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computer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6873" y="3052568"/>
            <a:ext cx="7315966" cy="380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2138" y="437515"/>
            <a:ext cx="3887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Operating</a:t>
            </a:r>
            <a:r>
              <a:rPr spc="-65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296394"/>
            <a:ext cx="10312400" cy="450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5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900" algn="l"/>
                <a:tab pos="469900" algn="l"/>
                <a:tab pos="3442970" algn="l"/>
                <a:tab pos="7546975" algn="l"/>
              </a:tabLst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2800" b="1" spc="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system:	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system programs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computer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900" algn="l"/>
                <a:tab pos="469900" algn="l"/>
              </a:tabLst>
            </a:pP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Tasks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performed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include: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5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management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CPU time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secondary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devices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6564" y="437515"/>
            <a:ext cx="6201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dirty="0"/>
              <a:t>program?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530" y="1234858"/>
            <a:ext cx="10822940" cy="562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2965">
              <a:lnSpc>
                <a:spcPct val="15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15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800" b="1" spc="-3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collection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instructions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perform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task when executed.</a:t>
            </a:r>
            <a:endParaRPr lang="en-US" sz="2800" spc="-5" dirty="0">
              <a:latin typeface="Times New Roman" panose="02020603050405020304"/>
              <a:cs typeface="Times New Roman" panose="02020603050405020304"/>
            </a:endParaRPr>
          </a:p>
          <a:p>
            <a:pPr marL="469900" marR="862965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F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set of instructions or commands that tell a computer what to do.  These instructions are written in a specific programming language, such as </a:t>
            </a:r>
            <a:r>
              <a:rPr lang="en-US" sz="20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Python, Java, C++, or JavaScript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69900" marR="862965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F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can perform a wide variety of tasks, from simple calculations to complex data processing and software applications.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9345930">
              <a:lnSpc>
                <a:spcPct val="153000"/>
              </a:lnSpc>
              <a:spcBef>
                <a:spcPts val="30"/>
              </a:spcBef>
            </a:pPr>
            <a:r>
              <a:rPr sz="2400" i="1" spc="-12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i="1" spc="5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i="1" spc="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edia  </a:t>
            </a:r>
            <a:r>
              <a:rPr sz="2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lang="en-US"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process of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designing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building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 executable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accomplish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specific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computing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result.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358630">
              <a:lnSpc>
                <a:spcPct val="100000"/>
              </a:lnSpc>
              <a:spcBef>
                <a:spcPts val="1540"/>
              </a:spcBef>
            </a:pPr>
            <a:r>
              <a:rPr sz="2400" i="1" spc="-12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i="1" spc="5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i="1" spc="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edia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2652" y="1353311"/>
            <a:ext cx="689526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4561" y="1299668"/>
            <a:ext cx="7819066" cy="3591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248" y="1152183"/>
            <a:ext cx="8619414" cy="43154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599" y="1181100"/>
            <a:ext cx="8002011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5670" y="437515"/>
            <a:ext cx="5283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7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296394"/>
            <a:ext cx="1048067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006F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800" b="1" spc="15" dirty="0">
                <a:solidFill>
                  <a:srgbClr val="006F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006F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800" b="1" spc="-15" dirty="0">
                <a:solidFill>
                  <a:srgbClr val="006F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35" dirty="0">
                <a:solidFill>
                  <a:srgbClr val="006F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formal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language,</a:t>
            </a:r>
            <a:r>
              <a:rPr sz="28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2800" spc="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comprises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800" spc="-6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instructions</a:t>
            </a:r>
            <a:r>
              <a:rPr sz="2800" spc="-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produce various</a:t>
            </a:r>
            <a:r>
              <a:rPr sz="2800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kinds</a:t>
            </a:r>
            <a:r>
              <a:rPr sz="2800" spc="-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.</a:t>
            </a:r>
          </a:p>
          <a:p>
            <a:pPr marL="469900" marR="1083945" indent="-457835">
              <a:lnSpc>
                <a:spcPts val="504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469900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8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algorithms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900" marR="150495" indent="-457835">
              <a:lnSpc>
                <a:spcPts val="5040"/>
              </a:lnSpc>
              <a:buFont typeface="Arial" panose="020B0604020202020204" pitchFamily="34" charset="0"/>
              <a:buChar char="•"/>
              <a:tabLst>
                <a:tab pos="469900" algn="l"/>
                <a:tab pos="469900" algn="l"/>
              </a:tabLst>
            </a:pP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Today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thousands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high-level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languages,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new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ones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continue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emerge.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5670" y="437515"/>
            <a:ext cx="5283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70" dirty="0"/>
              <a:t> </a:t>
            </a:r>
            <a:r>
              <a:rPr spc="-5" dirty="0"/>
              <a:t>Language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244" y="1723644"/>
            <a:ext cx="7341107" cy="46954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166520"/>
            <a:ext cx="10820400" cy="5501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</a:t>
            </a:r>
            <a:r>
              <a:rPr sz="24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</a:t>
            </a:r>
            <a:r>
              <a:rPr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use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</a:t>
            </a:r>
            <a:r>
              <a:rPr sz="2400" spc="-6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458470">
              <a:lnSpc>
                <a:spcPct val="15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typically used to write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operating systems, device drivers…</a:t>
            </a:r>
          </a:p>
          <a:p>
            <a:pPr marL="927100" lvl="1" indent="-458470">
              <a:lnSpc>
                <a:spcPct val="15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4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binary code )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</a:t>
            </a:r>
            <a:r>
              <a:rPr lang="en-US"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mnemonic codes and symbols to represent the instructions)</a:t>
            </a:r>
          </a:p>
          <a:p>
            <a:pPr marL="469265" marR="443865" indent="-457200">
              <a:lnSpc>
                <a:spcPct val="15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</a:t>
            </a:r>
            <a:r>
              <a:rPr sz="24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resemble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languages, </a:t>
            </a:r>
            <a:r>
              <a:rPr sz="2400" spc="-6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458470">
              <a:lnSpc>
                <a:spcPct val="100000"/>
              </a:lnSpc>
              <a:spcBef>
                <a:spcPts val="1685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variety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Python…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2232" y="1166520"/>
            <a:ext cx="10024110" cy="5108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 language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programs</a:t>
            </a:r>
            <a:r>
              <a:rPr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pc="-5" dirty="0"/>
              <a:t>only programs</a:t>
            </a:r>
            <a:r>
              <a:rPr spc="15" dirty="0"/>
              <a:t> </a:t>
            </a:r>
            <a:r>
              <a:rPr dirty="0"/>
              <a:t>that</a:t>
            </a:r>
            <a:r>
              <a:rPr spc="-5" dirty="0"/>
              <a:t> can</a:t>
            </a:r>
            <a:r>
              <a:rPr spc="15" dirty="0"/>
              <a:t> </a:t>
            </a:r>
            <a:r>
              <a:rPr spc="-5" dirty="0"/>
              <a:t>actually</a:t>
            </a:r>
            <a:r>
              <a:rPr spc="-10" dirty="0"/>
              <a:t> </a:t>
            </a:r>
            <a:r>
              <a:rPr dirty="0"/>
              <a:t>be </a:t>
            </a:r>
            <a:r>
              <a:rPr spc="-685" dirty="0"/>
              <a:t> </a:t>
            </a:r>
            <a:r>
              <a:rPr spc="-5" dirty="0"/>
              <a:t>used</a:t>
            </a:r>
            <a:r>
              <a:rPr spc="-15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operate</a:t>
            </a:r>
            <a:r>
              <a:rPr spc="-10" dirty="0"/>
              <a:t> </a:t>
            </a:r>
            <a:r>
              <a:rPr spc="-5" dirty="0"/>
              <a:t>a computer</a:t>
            </a: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referred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 object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819785" lvl="1" indent="-457835">
              <a:lnSpc>
                <a:spcPct val="150000"/>
              </a:lnSpc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Consists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sequence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instructions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composed</a:t>
            </a:r>
            <a:r>
              <a:rPr sz="2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binary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numbers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57200" marR="4741545" indent="-445135">
              <a:lnSpc>
                <a:spcPct val="15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dirty="0"/>
              <a:t>Contains</a:t>
            </a:r>
            <a:r>
              <a:rPr spc="-35" dirty="0"/>
              <a:t> </a:t>
            </a:r>
            <a:r>
              <a:rPr spc="-5" dirty="0"/>
              <a:t>two </a:t>
            </a:r>
            <a:r>
              <a:rPr dirty="0"/>
              <a:t>parts:</a:t>
            </a:r>
            <a:r>
              <a:rPr spc="-25" dirty="0"/>
              <a:t> </a:t>
            </a:r>
            <a:endParaRPr lang="en-US" spc="-25" dirty="0"/>
          </a:p>
          <a:p>
            <a:pPr marL="926465" marR="4741545" lvl="1" indent="-4572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</a:t>
            </a:r>
            <a:r>
              <a:rPr sz="2800" spc="-6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6465" marR="4741545" lvl="1" indent="-4572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71093" y="4546536"/>
          <a:ext cx="4248150" cy="1587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Operation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Address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0010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0000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0000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0100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6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0100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0000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0000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0101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35" dirty="0">
                          <a:latin typeface="Arial MT"/>
                          <a:cs typeface="Arial MT"/>
                        </a:rPr>
                        <a:t>0011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0000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0000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0110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2090927"/>
            <a:ext cx="8839200" cy="22856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166520"/>
            <a:ext cx="10168890" cy="5232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8890" indent="-45720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Assembly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language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programs: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Substitute word-like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symbols, such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ADD,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SUB,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MUL,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binary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opcodes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decimal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numbers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labels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addresses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835">
              <a:lnSpc>
                <a:spcPct val="150000"/>
              </a:lnSpc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One-to-one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correspondence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(Usually,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each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assembly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produces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instruction)</a:t>
            </a:r>
          </a:p>
          <a:p>
            <a:pPr marL="927100" lvl="1" indent="-458470">
              <a:lnSpc>
                <a:spcPct val="100000"/>
              </a:lnSpc>
              <a:spcBef>
                <a:spcPts val="1685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Example: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2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buFont typeface="Wingdings" panose="05000000000000000000"/>
              <a:buChar char=""/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 panose="05000000000000000000"/>
              <a:buChar char=""/>
            </a:pPr>
            <a:endParaRPr sz="2700" dirty="0">
              <a:latin typeface="Times New Roman" panose="02020603050405020304"/>
              <a:cs typeface="Times New Roman" panose="02020603050405020304"/>
            </a:endParaRPr>
          </a:p>
          <a:p>
            <a:pPr marL="927100" lvl="1" indent="-458470">
              <a:lnSpc>
                <a:spcPct val="100000"/>
              </a:lnSpc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Assemblers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Translate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programs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6862" y="4622265"/>
            <a:ext cx="5049329" cy="9137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827" y="1528572"/>
            <a:ext cx="8838819" cy="37341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447800"/>
            <a:ext cx="10303968" cy="453201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780"/>
              </a:spcBef>
              <a:tabLst>
                <a:tab pos="469265" algn="l"/>
                <a:tab pos="469900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level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language</a:t>
            </a:r>
            <a:r>
              <a:rPr sz="28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One-to-many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correspondence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marR="5080" indent="-457200">
              <a:lnSpc>
                <a:spcPts val="5040"/>
              </a:lnSpc>
              <a:spcBef>
                <a:spcPts val="44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statement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corresponds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several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language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instructions</a:t>
            </a:r>
          </a:p>
          <a:p>
            <a:pPr marL="469265" indent="-457200">
              <a:lnSpc>
                <a:spcPct val="100000"/>
              </a:lnSpc>
              <a:spcBef>
                <a:spcPts val="123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Much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easier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 program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assembly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 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referenced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using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descriptive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names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Operations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can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described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familiar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symbols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Example: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cost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tax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926" y="1528572"/>
            <a:ext cx="8753098" cy="40096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8455" y="1210224"/>
            <a:ext cx="4095556" cy="56477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Low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Level</a:t>
            </a:r>
            <a:r>
              <a:rPr spc="-15" dirty="0"/>
              <a:t> </a:t>
            </a:r>
            <a:r>
              <a:rPr spc="-5" dirty="0"/>
              <a:t>Languages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773" y="437515"/>
            <a:ext cx="668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" dirty="0"/>
              <a:t>Interpretation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166520"/>
            <a:ext cx="10075368" cy="5138073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Compilers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835">
              <a:lnSpc>
                <a:spcPct val="150000"/>
              </a:lnSpc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compiler translates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high-level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source program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into an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equivalent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target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 (t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ypically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), and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then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goes 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away.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944245" lvl="1" indent="-457835">
              <a:lnSpc>
                <a:spcPts val="5040"/>
              </a:lnSpc>
              <a:spcBef>
                <a:spcPts val="445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All statements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 translated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stored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executable </a:t>
            </a:r>
            <a:r>
              <a:rPr sz="2800" spc="-6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program,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program;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execution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occurs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later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119380" lvl="1" indent="-457835">
              <a:lnSpc>
                <a:spcPts val="5040"/>
              </a:lnSpc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written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file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format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understood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operating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system, machine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commonly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known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code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</a:rPr>
              <a:t>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773" y="437515"/>
            <a:ext cx="668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" dirty="0"/>
              <a:t>Interpretation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380490"/>
            <a:ext cx="2272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Compilers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69" y="2706178"/>
            <a:ext cx="6552712" cy="290425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773" y="437515"/>
            <a:ext cx="668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" dirty="0"/>
              <a:t>Interpretation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166520"/>
            <a:ext cx="9846768" cy="5157309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Interpreters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43815" lvl="1" indent="-457835">
              <a:lnSpc>
                <a:spcPct val="150000"/>
              </a:lnSpc>
              <a:spcBef>
                <a:spcPts val="445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interpreter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reads statements in that language more or less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at 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time,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executing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them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goes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along.</a:t>
            </a:r>
          </a:p>
          <a:p>
            <a:pPr marL="927100" marR="5080" lvl="1" indent="-457835">
              <a:lnSpc>
                <a:spcPct val="150000"/>
              </a:lnSpc>
              <a:spcBef>
                <a:spcPts val="5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general,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interpretation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leads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greater</a:t>
            </a:r>
            <a:r>
              <a:rPr sz="2800" spc="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flexibility</a:t>
            </a:r>
            <a:r>
              <a:rPr sz="28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better </a:t>
            </a:r>
            <a:r>
              <a:rPr sz="2800" spc="-6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diagnostics</a:t>
            </a:r>
            <a:r>
              <a:rPr sz="2800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(error</a:t>
            </a:r>
            <a:r>
              <a:rPr sz="2800" spc="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messages)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than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does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compilation.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927100" marR="1063625" lvl="1" indent="-457835">
              <a:lnSpc>
                <a:spcPct val="150000"/>
              </a:lnSpc>
              <a:buFont typeface="Wingdings" panose="05000000000000000000"/>
              <a:buChar char=""/>
              <a:tabLst>
                <a:tab pos="927100" algn="l"/>
                <a:tab pos="927735" algn="l"/>
                <a:tab pos="305562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Each statement is translated individually and executed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immediately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after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translation</a:t>
            </a:r>
            <a:endParaRPr lang="en-US" sz="2800" spc="-5" dirty="0">
              <a:latin typeface="Times New Roman" panose="02020603050405020304"/>
              <a:cs typeface="Times New Roman" panose="02020603050405020304"/>
            </a:endParaRPr>
          </a:p>
          <a:p>
            <a:pPr marL="469265" marR="1063625" lvl="1">
              <a:lnSpc>
                <a:spcPct val="150000"/>
              </a:lnSpc>
              <a:tabLst>
                <a:tab pos="927100" algn="l"/>
                <a:tab pos="927735" algn="l"/>
                <a:tab pos="3055620" algn="l"/>
              </a:tabLst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773" y="437515"/>
            <a:ext cx="668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" dirty="0"/>
              <a:t>Interpretation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4240" y="1231072"/>
            <a:ext cx="2538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Interpreters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5467274"/>
            <a:ext cx="9272760" cy="12816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2399D7-F295-4059-A883-B975086EB023}"/>
              </a:ext>
            </a:extLst>
          </p:cNvPr>
          <p:cNvSpPr/>
          <p:nvPr/>
        </p:nvSpPr>
        <p:spPr>
          <a:xfrm>
            <a:off x="1905000" y="1638395"/>
            <a:ext cx="9272760" cy="3621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interpreter is a program that reads and executes code 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line-by-line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the need for compilation.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interpreter reads each line of code, interprets it, and executes it immediately.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create 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machine code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that can be executed separately. Instead, the code is executed directly in memory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857" y="437515"/>
            <a:ext cx="610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15" dirty="0"/>
              <a:t> </a:t>
            </a:r>
            <a:r>
              <a:rPr dirty="0"/>
              <a:t>Process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3806469"/>
            <a:ext cx="965708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Preprocessor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removes comments and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white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space, expand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abbreviations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/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macro</a:t>
            </a:r>
            <a:r>
              <a:rPr sz="2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groups characters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together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tokens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keywords, identifiers,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numbers,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symbols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963" y="1389888"/>
            <a:ext cx="10245852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857" y="437515"/>
            <a:ext cx="610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15" dirty="0"/>
              <a:t> </a:t>
            </a:r>
            <a:r>
              <a:rPr dirty="0"/>
              <a:t>Process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075715"/>
            <a:ext cx="93783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265" algn="l"/>
                <a:tab pos="469900" algn="l"/>
                <a:tab pos="231521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Linker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Combines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your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 with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pre-compiled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object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libraries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	input/output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files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(.obj).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  <a:tab pos="619188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executable file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(.exe)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Windows.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02452" y="4555235"/>
            <a:ext cx="1000125" cy="847725"/>
            <a:chOff x="5902452" y="4555235"/>
            <a:chExt cx="1000125" cy="847725"/>
          </a:xfrm>
        </p:grpSpPr>
        <p:sp>
          <p:nvSpPr>
            <p:cNvPr id="5" name="object 5"/>
            <p:cNvSpPr/>
            <p:nvPr/>
          </p:nvSpPr>
          <p:spPr>
            <a:xfrm>
              <a:off x="5907024" y="4559807"/>
              <a:ext cx="990600" cy="838200"/>
            </a:xfrm>
            <a:custGeom>
              <a:avLst/>
              <a:gdLst/>
              <a:ahLst/>
              <a:cxnLst/>
              <a:rect l="l" t="t" r="r" b="b"/>
              <a:pathLst>
                <a:path w="990600" h="838200">
                  <a:moveTo>
                    <a:pt x="742950" y="0"/>
                  </a:moveTo>
                  <a:lnTo>
                    <a:pt x="742950" y="209550"/>
                  </a:lnTo>
                  <a:lnTo>
                    <a:pt x="0" y="209550"/>
                  </a:lnTo>
                  <a:lnTo>
                    <a:pt x="0" y="628650"/>
                  </a:lnTo>
                  <a:lnTo>
                    <a:pt x="742950" y="628650"/>
                  </a:lnTo>
                  <a:lnTo>
                    <a:pt x="742950" y="838200"/>
                  </a:lnTo>
                  <a:lnTo>
                    <a:pt x="990600" y="419100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7024" y="4559807"/>
              <a:ext cx="990600" cy="838200"/>
            </a:xfrm>
            <a:custGeom>
              <a:avLst/>
              <a:gdLst/>
              <a:ahLst/>
              <a:cxnLst/>
              <a:rect l="l" t="t" r="r" b="b"/>
              <a:pathLst>
                <a:path w="990600" h="838200">
                  <a:moveTo>
                    <a:pt x="0" y="209550"/>
                  </a:moveTo>
                  <a:lnTo>
                    <a:pt x="742950" y="209550"/>
                  </a:lnTo>
                  <a:lnTo>
                    <a:pt x="742950" y="0"/>
                  </a:lnTo>
                  <a:lnTo>
                    <a:pt x="990600" y="419100"/>
                  </a:lnTo>
                  <a:lnTo>
                    <a:pt x="742950" y="838200"/>
                  </a:lnTo>
                  <a:lnTo>
                    <a:pt x="742950" y="628650"/>
                  </a:lnTo>
                  <a:lnTo>
                    <a:pt x="0" y="628650"/>
                  </a:lnTo>
                  <a:lnTo>
                    <a:pt x="0" y="2095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50026" y="4814061"/>
            <a:ext cx="583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k</a:t>
            </a:r>
            <a:r>
              <a:rPr sz="1800" dirty="0">
                <a:latin typeface="Calibri" panose="020F0502020204030204"/>
                <a:cs typeface="Calibri" panose="020F0502020204030204"/>
              </a:rPr>
              <a:t>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02252" y="4021835"/>
            <a:ext cx="1228725" cy="2121535"/>
            <a:chOff x="4302252" y="4021835"/>
            <a:chExt cx="1228725" cy="2121535"/>
          </a:xfrm>
        </p:grpSpPr>
        <p:sp>
          <p:nvSpPr>
            <p:cNvPr id="9" name="object 9"/>
            <p:cNvSpPr/>
            <p:nvPr/>
          </p:nvSpPr>
          <p:spPr>
            <a:xfrm>
              <a:off x="4306824" y="4026407"/>
              <a:ext cx="1219200" cy="2112645"/>
            </a:xfrm>
            <a:custGeom>
              <a:avLst/>
              <a:gdLst/>
              <a:ahLst/>
              <a:cxnLst/>
              <a:rect l="l" t="t" r="r" b="b"/>
              <a:pathLst>
                <a:path w="1219200" h="2112645">
                  <a:moveTo>
                    <a:pt x="1049527" y="360172"/>
                  </a:moveTo>
                  <a:lnTo>
                    <a:pt x="0" y="360172"/>
                  </a:lnTo>
                  <a:lnTo>
                    <a:pt x="0" y="2036673"/>
                  </a:lnTo>
                  <a:lnTo>
                    <a:pt x="46289" y="2059065"/>
                  </a:lnTo>
                  <a:lnTo>
                    <a:pt x="89862" y="2077212"/>
                  </a:lnTo>
                  <a:lnTo>
                    <a:pt x="130895" y="2091339"/>
                  </a:lnTo>
                  <a:lnTo>
                    <a:pt x="169562" y="2101673"/>
                  </a:lnTo>
                  <a:lnTo>
                    <a:pt x="240500" y="2111864"/>
                  </a:lnTo>
                  <a:lnTo>
                    <a:pt x="273122" y="2112173"/>
                  </a:lnTo>
                  <a:lnTo>
                    <a:pt x="304078" y="2109591"/>
                  </a:lnTo>
                  <a:lnTo>
                    <a:pt x="361699" y="2096660"/>
                  </a:lnTo>
                  <a:lnTo>
                    <a:pt x="414764" y="2074878"/>
                  </a:lnTo>
                  <a:lnTo>
                    <a:pt x="464675" y="2046051"/>
                  </a:lnTo>
                  <a:lnTo>
                    <a:pt x="512833" y="2011986"/>
                  </a:lnTo>
                  <a:lnTo>
                    <a:pt x="609501" y="1935365"/>
                  </a:lnTo>
                  <a:lnTo>
                    <a:pt x="634763" y="1915758"/>
                  </a:lnTo>
                  <a:lnTo>
                    <a:pt x="687828" y="1877583"/>
                  </a:lnTo>
                  <a:lnTo>
                    <a:pt x="745449" y="1842298"/>
                  </a:lnTo>
                  <a:lnTo>
                    <a:pt x="809027" y="1811710"/>
                  </a:lnTo>
                  <a:lnTo>
                    <a:pt x="879965" y="1787624"/>
                  </a:lnTo>
                  <a:lnTo>
                    <a:pt x="918632" y="1778585"/>
                  </a:lnTo>
                  <a:lnTo>
                    <a:pt x="959665" y="1771849"/>
                  </a:lnTo>
                  <a:lnTo>
                    <a:pt x="1003238" y="1767641"/>
                  </a:lnTo>
                  <a:lnTo>
                    <a:pt x="1049527" y="1766189"/>
                  </a:lnTo>
                  <a:lnTo>
                    <a:pt x="1049527" y="360172"/>
                  </a:lnTo>
                  <a:close/>
                </a:path>
                <a:path w="1219200" h="2112645">
                  <a:moveTo>
                    <a:pt x="1128902" y="177927"/>
                  </a:moveTo>
                  <a:lnTo>
                    <a:pt x="86487" y="177927"/>
                  </a:lnTo>
                  <a:lnTo>
                    <a:pt x="86487" y="360172"/>
                  </a:lnTo>
                  <a:lnTo>
                    <a:pt x="1049527" y="360172"/>
                  </a:lnTo>
                  <a:lnTo>
                    <a:pt x="1049527" y="1602524"/>
                  </a:lnTo>
                  <a:lnTo>
                    <a:pt x="1056358" y="1600992"/>
                  </a:lnTo>
                  <a:lnTo>
                    <a:pt x="1074356" y="1597621"/>
                  </a:lnTo>
                  <a:lnTo>
                    <a:pt x="1099784" y="1594251"/>
                  </a:lnTo>
                  <a:lnTo>
                    <a:pt x="1128902" y="1592719"/>
                  </a:lnTo>
                  <a:lnTo>
                    <a:pt x="1128902" y="177927"/>
                  </a:lnTo>
                  <a:close/>
                </a:path>
                <a:path w="1219200" h="2112645">
                  <a:moveTo>
                    <a:pt x="1219200" y="0"/>
                  </a:moveTo>
                  <a:lnTo>
                    <a:pt x="167766" y="0"/>
                  </a:lnTo>
                  <a:lnTo>
                    <a:pt x="167766" y="177927"/>
                  </a:lnTo>
                  <a:lnTo>
                    <a:pt x="1128902" y="177927"/>
                  </a:lnTo>
                  <a:lnTo>
                    <a:pt x="1128902" y="1417828"/>
                  </a:lnTo>
                  <a:lnTo>
                    <a:pt x="1136653" y="1416677"/>
                  </a:lnTo>
                  <a:lnTo>
                    <a:pt x="1157096" y="1414145"/>
                  </a:lnTo>
                  <a:lnTo>
                    <a:pt x="1186017" y="1411612"/>
                  </a:lnTo>
                  <a:lnTo>
                    <a:pt x="1219200" y="1410462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06824" y="4026407"/>
              <a:ext cx="1219200" cy="2112645"/>
            </a:xfrm>
            <a:custGeom>
              <a:avLst/>
              <a:gdLst/>
              <a:ahLst/>
              <a:cxnLst/>
              <a:rect l="l" t="t" r="r" b="b"/>
              <a:pathLst>
                <a:path w="1219200" h="2112645">
                  <a:moveTo>
                    <a:pt x="0" y="360172"/>
                  </a:moveTo>
                  <a:lnTo>
                    <a:pt x="1049527" y="360172"/>
                  </a:lnTo>
                  <a:lnTo>
                    <a:pt x="1049527" y="1766189"/>
                  </a:lnTo>
                  <a:lnTo>
                    <a:pt x="1003238" y="1767641"/>
                  </a:lnTo>
                  <a:lnTo>
                    <a:pt x="959665" y="1771849"/>
                  </a:lnTo>
                  <a:lnTo>
                    <a:pt x="918632" y="1778585"/>
                  </a:lnTo>
                  <a:lnTo>
                    <a:pt x="879965" y="1787624"/>
                  </a:lnTo>
                  <a:lnTo>
                    <a:pt x="843489" y="1798741"/>
                  </a:lnTo>
                  <a:lnTo>
                    <a:pt x="776405" y="1826304"/>
                  </a:lnTo>
                  <a:lnTo>
                    <a:pt x="715981" y="1859466"/>
                  </a:lnTo>
                  <a:lnTo>
                    <a:pt x="660813" y="1896422"/>
                  </a:lnTo>
                  <a:lnTo>
                    <a:pt x="609501" y="1935365"/>
                  </a:lnTo>
                  <a:lnTo>
                    <a:pt x="560641" y="1974488"/>
                  </a:lnTo>
                  <a:lnTo>
                    <a:pt x="536694" y="1993553"/>
                  </a:lnTo>
                  <a:lnTo>
                    <a:pt x="488886" y="2029560"/>
                  </a:lnTo>
                  <a:lnTo>
                    <a:pt x="440026" y="2061233"/>
                  </a:lnTo>
                  <a:lnTo>
                    <a:pt x="388714" y="2086763"/>
                  </a:lnTo>
                  <a:lnTo>
                    <a:pt x="333546" y="2104345"/>
                  </a:lnTo>
                  <a:lnTo>
                    <a:pt x="273122" y="2112173"/>
                  </a:lnTo>
                  <a:lnTo>
                    <a:pt x="240500" y="2111864"/>
                  </a:lnTo>
                  <a:lnTo>
                    <a:pt x="169562" y="2101673"/>
                  </a:lnTo>
                  <a:lnTo>
                    <a:pt x="130895" y="2091339"/>
                  </a:lnTo>
                  <a:lnTo>
                    <a:pt x="89862" y="2077212"/>
                  </a:lnTo>
                  <a:lnTo>
                    <a:pt x="46289" y="2059065"/>
                  </a:lnTo>
                  <a:lnTo>
                    <a:pt x="0" y="2036673"/>
                  </a:lnTo>
                  <a:lnTo>
                    <a:pt x="0" y="360172"/>
                  </a:lnTo>
                  <a:close/>
                </a:path>
                <a:path w="1219200" h="2112645">
                  <a:moveTo>
                    <a:pt x="86487" y="360172"/>
                  </a:moveTo>
                  <a:lnTo>
                    <a:pt x="86487" y="177927"/>
                  </a:lnTo>
                  <a:lnTo>
                    <a:pt x="1128902" y="177927"/>
                  </a:lnTo>
                  <a:lnTo>
                    <a:pt x="1128902" y="1592719"/>
                  </a:lnTo>
                  <a:lnTo>
                    <a:pt x="1099784" y="1594251"/>
                  </a:lnTo>
                  <a:lnTo>
                    <a:pt x="1074356" y="1597621"/>
                  </a:lnTo>
                  <a:lnTo>
                    <a:pt x="1056358" y="1600992"/>
                  </a:lnTo>
                  <a:lnTo>
                    <a:pt x="1049527" y="1602524"/>
                  </a:lnTo>
                </a:path>
                <a:path w="1219200" h="2112645">
                  <a:moveTo>
                    <a:pt x="167766" y="177927"/>
                  </a:moveTo>
                  <a:lnTo>
                    <a:pt x="167766" y="0"/>
                  </a:lnTo>
                  <a:lnTo>
                    <a:pt x="1219200" y="0"/>
                  </a:lnTo>
                  <a:lnTo>
                    <a:pt x="1219200" y="1410462"/>
                  </a:lnTo>
                  <a:lnTo>
                    <a:pt x="1186017" y="1411612"/>
                  </a:lnTo>
                  <a:lnTo>
                    <a:pt x="1157096" y="1414145"/>
                  </a:lnTo>
                  <a:lnTo>
                    <a:pt x="1136653" y="1416677"/>
                  </a:lnTo>
                  <a:lnTo>
                    <a:pt x="1128902" y="141782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86453" y="4407789"/>
            <a:ext cx="74485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00110011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11111111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00000000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11100111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4345" y="6181445"/>
            <a:ext cx="10306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Library</a:t>
            </a:r>
            <a:r>
              <a:rPr sz="16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Files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600" b="1" spc="-5" dirty="0">
                <a:latin typeface="Calibri" panose="020F0502020204030204"/>
                <a:cs typeface="Calibri" panose="020F0502020204030204"/>
              </a:rPr>
              <a:t>.obj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27148" y="4174235"/>
            <a:ext cx="990600" cy="1419225"/>
            <a:chOff x="2327148" y="4174235"/>
            <a:chExt cx="990600" cy="1419225"/>
          </a:xfrm>
        </p:grpSpPr>
        <p:sp>
          <p:nvSpPr>
            <p:cNvPr id="14" name="object 14"/>
            <p:cNvSpPr/>
            <p:nvPr/>
          </p:nvSpPr>
          <p:spPr>
            <a:xfrm>
              <a:off x="2331720" y="4178807"/>
              <a:ext cx="981710" cy="1409700"/>
            </a:xfrm>
            <a:custGeom>
              <a:avLst/>
              <a:gdLst/>
              <a:ahLst/>
              <a:cxnLst/>
              <a:rect l="l" t="t" r="r" b="b"/>
              <a:pathLst>
                <a:path w="981710" h="1409700">
                  <a:moveTo>
                    <a:pt x="981456" y="0"/>
                  </a:moveTo>
                  <a:lnTo>
                    <a:pt x="0" y="0"/>
                  </a:lnTo>
                  <a:lnTo>
                    <a:pt x="0" y="1333627"/>
                  </a:lnTo>
                  <a:lnTo>
                    <a:pt x="49054" y="1356873"/>
                  </a:lnTo>
                  <a:lnTo>
                    <a:pt x="94849" y="1375514"/>
                  </a:lnTo>
                  <a:lnTo>
                    <a:pt x="137626" y="1389825"/>
                  </a:lnTo>
                  <a:lnTo>
                    <a:pt x="177627" y="1400081"/>
                  </a:lnTo>
                  <a:lnTo>
                    <a:pt x="250263" y="1409534"/>
                  </a:lnTo>
                  <a:lnTo>
                    <a:pt x="283382" y="1409282"/>
                  </a:lnTo>
                  <a:lnTo>
                    <a:pt x="344429" y="1400198"/>
                  </a:lnTo>
                  <a:lnTo>
                    <a:pt x="400163" y="1381512"/>
                  </a:lnTo>
                  <a:lnTo>
                    <a:pt x="452518" y="1355430"/>
                  </a:lnTo>
                  <a:lnTo>
                    <a:pt x="503424" y="1324158"/>
                  </a:lnTo>
                  <a:lnTo>
                    <a:pt x="581292" y="1272341"/>
                  </a:lnTo>
                  <a:lnTo>
                    <a:pt x="608616" y="1254863"/>
                  </a:lnTo>
                  <a:lnTo>
                    <a:pt x="666765" y="1221250"/>
                  </a:lnTo>
                  <a:lnTo>
                    <a:pt x="731192" y="1191268"/>
                  </a:lnTo>
                  <a:lnTo>
                    <a:pt x="803828" y="1167122"/>
                  </a:lnTo>
                  <a:lnTo>
                    <a:pt x="843829" y="1157926"/>
                  </a:lnTo>
                  <a:lnTo>
                    <a:pt x="886606" y="1151017"/>
                  </a:lnTo>
                  <a:lnTo>
                    <a:pt x="932401" y="1146669"/>
                  </a:lnTo>
                  <a:lnTo>
                    <a:pt x="981456" y="1145159"/>
                  </a:lnTo>
                  <a:lnTo>
                    <a:pt x="981456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1720" y="4178807"/>
              <a:ext cx="981710" cy="1409700"/>
            </a:xfrm>
            <a:custGeom>
              <a:avLst/>
              <a:gdLst/>
              <a:ahLst/>
              <a:cxnLst/>
              <a:rect l="l" t="t" r="r" b="b"/>
              <a:pathLst>
                <a:path w="981710" h="1409700">
                  <a:moveTo>
                    <a:pt x="0" y="0"/>
                  </a:moveTo>
                  <a:lnTo>
                    <a:pt x="981456" y="0"/>
                  </a:lnTo>
                  <a:lnTo>
                    <a:pt x="981456" y="1145159"/>
                  </a:lnTo>
                  <a:lnTo>
                    <a:pt x="932401" y="1146669"/>
                  </a:lnTo>
                  <a:lnTo>
                    <a:pt x="886606" y="1151017"/>
                  </a:lnTo>
                  <a:lnTo>
                    <a:pt x="843829" y="1157926"/>
                  </a:lnTo>
                  <a:lnTo>
                    <a:pt x="803828" y="1167122"/>
                  </a:lnTo>
                  <a:lnTo>
                    <a:pt x="766363" y="1178328"/>
                  </a:lnTo>
                  <a:lnTo>
                    <a:pt x="698073" y="1205667"/>
                  </a:lnTo>
                  <a:lnTo>
                    <a:pt x="637026" y="1237740"/>
                  </a:lnTo>
                  <a:lnTo>
                    <a:pt x="581292" y="1272341"/>
                  </a:lnTo>
                  <a:lnTo>
                    <a:pt x="528937" y="1307265"/>
                  </a:lnTo>
                  <a:lnTo>
                    <a:pt x="503424" y="1324158"/>
                  </a:lnTo>
                  <a:lnTo>
                    <a:pt x="452518" y="1355430"/>
                  </a:lnTo>
                  <a:lnTo>
                    <a:pt x="400163" y="1381512"/>
                  </a:lnTo>
                  <a:lnTo>
                    <a:pt x="344429" y="1400198"/>
                  </a:lnTo>
                  <a:lnTo>
                    <a:pt x="283382" y="1409282"/>
                  </a:lnTo>
                  <a:lnTo>
                    <a:pt x="250263" y="1409534"/>
                  </a:lnTo>
                  <a:lnTo>
                    <a:pt x="215092" y="1406559"/>
                  </a:lnTo>
                  <a:lnTo>
                    <a:pt x="137626" y="1389825"/>
                  </a:lnTo>
                  <a:lnTo>
                    <a:pt x="94849" y="1375514"/>
                  </a:lnTo>
                  <a:lnTo>
                    <a:pt x="49054" y="1356873"/>
                  </a:lnTo>
                  <a:lnTo>
                    <a:pt x="0" y="1333627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50083" y="4199890"/>
            <a:ext cx="74485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00110011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11111111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00000000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11100111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23338" y="5676696"/>
            <a:ext cx="923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16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File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905" algn="ctr">
              <a:lnSpc>
                <a:spcPct val="100000"/>
              </a:lnSpc>
            </a:pPr>
            <a:r>
              <a:rPr sz="1600" b="1" spc="-5" dirty="0">
                <a:latin typeface="Calibri" panose="020F0502020204030204"/>
                <a:cs typeface="Calibri" panose="020F0502020204030204"/>
              </a:rPr>
              <a:t>.obj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40252" y="4631435"/>
            <a:ext cx="466090" cy="389890"/>
            <a:chOff x="3540252" y="4631435"/>
            <a:chExt cx="466090" cy="38989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928" y="4706124"/>
              <a:ext cx="390905" cy="3146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44824" y="4635499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76200"/>
                  </a:moveTo>
                  <a:lnTo>
                    <a:pt x="285750" y="76200"/>
                  </a:lnTo>
                  <a:lnTo>
                    <a:pt x="285750" y="0"/>
                  </a:lnTo>
                  <a:lnTo>
                    <a:pt x="95250" y="0"/>
                  </a:lnTo>
                  <a:lnTo>
                    <a:pt x="9525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95250" y="228600"/>
                  </a:lnTo>
                  <a:lnTo>
                    <a:pt x="95250" y="304800"/>
                  </a:lnTo>
                  <a:lnTo>
                    <a:pt x="285750" y="304800"/>
                  </a:lnTo>
                  <a:lnTo>
                    <a:pt x="285750" y="228600"/>
                  </a:lnTo>
                  <a:lnTo>
                    <a:pt x="381000" y="228600"/>
                  </a:lnTo>
                  <a:lnTo>
                    <a:pt x="381000" y="76200"/>
                  </a:lnTo>
                  <a:close/>
                </a:path>
              </a:pathLst>
            </a:custGeom>
            <a:solidFill>
              <a:srgbClr val="D7E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44824" y="4636007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95250" y="0"/>
                  </a:moveTo>
                  <a:lnTo>
                    <a:pt x="9525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95250" y="228600"/>
                  </a:lnTo>
                  <a:lnTo>
                    <a:pt x="95250" y="304800"/>
                  </a:lnTo>
                  <a:lnTo>
                    <a:pt x="285750" y="304800"/>
                  </a:lnTo>
                  <a:lnTo>
                    <a:pt x="285750" y="228600"/>
                  </a:lnTo>
                  <a:lnTo>
                    <a:pt x="381000" y="228600"/>
                  </a:lnTo>
                  <a:lnTo>
                    <a:pt x="381000" y="76200"/>
                  </a:lnTo>
                  <a:lnTo>
                    <a:pt x="285750" y="76200"/>
                  </a:lnTo>
                  <a:lnTo>
                    <a:pt x="285750" y="0"/>
                  </a:lnTo>
                  <a:lnTo>
                    <a:pt x="9525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2423" y="4178808"/>
            <a:ext cx="2286000" cy="172059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789544" y="6029045"/>
            <a:ext cx="12795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Executable</a:t>
            </a:r>
            <a:r>
              <a:rPr sz="16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File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600" b="1" spc="-20" dirty="0">
                <a:latin typeface="Calibri" panose="020F0502020204030204"/>
                <a:cs typeface="Calibri" panose="020F0502020204030204"/>
              </a:rPr>
              <a:t>.exe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857" y="437515"/>
            <a:ext cx="610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15" dirty="0"/>
              <a:t> </a:t>
            </a:r>
            <a:r>
              <a:rPr dirty="0"/>
              <a:t>Process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075715"/>
            <a:ext cx="9676765" cy="19462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Compiler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Translates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high-level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compiler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  <a:tab pos="655002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Output from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compiler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object	code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(.obj).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8900" y="3758184"/>
            <a:ext cx="4311356" cy="20726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3346" y="437515"/>
            <a:ext cx="2845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Source</a:t>
            </a:r>
            <a:r>
              <a:rPr spc="-50" dirty="0"/>
              <a:t> </a:t>
            </a:r>
            <a:r>
              <a:rPr spc="-5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075715"/>
            <a:ext cx="10083800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written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low-level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written by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programmer.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marR="5080" indent="-457200">
              <a:lnSpc>
                <a:spcPts val="5040"/>
              </a:lnSpc>
              <a:spcBef>
                <a:spcPts val="44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compiled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automatically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2800" spc="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800" spc="-6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executed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interpreter.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469265" algn="l"/>
                <a:tab pos="469900" algn="l"/>
                <a:tab pos="602996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C++ 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ra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ave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exte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5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‘</a:t>
            </a:r>
            <a:r>
              <a:rPr sz="2800" spc="-1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800" spc="-5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cpp’</a:t>
            </a:r>
            <a:r>
              <a:rPr sz="2800" spc="-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or ‘.h’</a:t>
            </a:r>
            <a:endParaRPr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4938" y="437515"/>
            <a:ext cx="4801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General</a:t>
            </a:r>
            <a:r>
              <a:rPr spc="-15" dirty="0"/>
              <a:t> </a:t>
            </a:r>
            <a:r>
              <a:rPr spc="-5" dirty="0"/>
              <a:t>Notes</a:t>
            </a:r>
            <a:r>
              <a:rPr spc="-1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075715"/>
            <a:ext cx="9397365" cy="38665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immensely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popular</a:t>
            </a:r>
          </a:p>
          <a:p>
            <a:pPr marL="469265" marR="5080" indent="-457200">
              <a:lnSpc>
                <a:spcPct val="15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particularly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require</a:t>
            </a:r>
            <a:r>
              <a:rPr sz="28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speed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and/or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to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some low-level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features.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created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1979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Bjarne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Stroustrup</a:t>
            </a:r>
          </a:p>
          <a:p>
            <a:pPr marL="457200" marR="4026535" indent="-445135">
              <a:lnSpc>
                <a:spcPts val="5040"/>
              </a:lnSpc>
              <a:spcBef>
                <a:spcPts val="25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first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set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extensions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4971" y="3945629"/>
            <a:ext cx="3565399" cy="25930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87546" y="2005710"/>
            <a:ext cx="4217035" cy="276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7040"/>
              </a:lnSpc>
              <a:spcBef>
                <a:spcPts val="100"/>
              </a:spcBef>
            </a:pPr>
            <a:r>
              <a:rPr sz="6000" b="1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END</a:t>
            </a:r>
            <a:endParaRPr sz="6000">
              <a:latin typeface="Consolas" panose="020B0609020204030204"/>
              <a:cs typeface="Consolas" panose="020B0609020204030204"/>
            </a:endParaRPr>
          </a:p>
          <a:p>
            <a:pPr marL="635" algn="ctr">
              <a:lnSpc>
                <a:spcPts val="7040"/>
              </a:lnSpc>
            </a:pPr>
            <a:r>
              <a:rPr sz="6000" i="1" spc="-1115" dirty="0">
                <a:solidFill>
                  <a:srgbClr val="006FC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endParaRPr sz="6000">
              <a:latin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6000" b="1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Lecture</a:t>
            </a:r>
            <a:r>
              <a:rPr sz="6000" b="1" spc="-90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6000" b="1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-1</a:t>
            </a:r>
            <a:endParaRPr sz="6000">
              <a:latin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982</Words>
  <Application>Microsoft Office PowerPoint</Application>
  <PresentationFormat>Widescreen</PresentationFormat>
  <Paragraphs>137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MT</vt:lpstr>
      <vt:lpstr>Calibri</vt:lpstr>
      <vt:lpstr>Consolas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What is computer?</vt:lpstr>
      <vt:lpstr>Computer System</vt:lpstr>
      <vt:lpstr>Hardware</vt:lpstr>
      <vt:lpstr>Software</vt:lpstr>
      <vt:lpstr>Operating system</vt:lpstr>
      <vt:lpstr>What is Computer program?</vt:lpstr>
      <vt:lpstr>PowerPoint Presentation</vt:lpstr>
      <vt:lpstr>PowerPoint Presentation</vt:lpstr>
      <vt:lpstr>PowerPoint Presentation</vt:lpstr>
      <vt:lpstr>PowerPoint Presentation</vt:lpstr>
      <vt:lpstr>Programming Language</vt:lpstr>
      <vt:lpstr>Programming Language</vt:lpstr>
      <vt:lpstr>Low and High Level Languages</vt:lpstr>
      <vt:lpstr>Low and High Level Languages</vt:lpstr>
      <vt:lpstr>Low and High Level Languages</vt:lpstr>
      <vt:lpstr>Low and High Level Languages</vt:lpstr>
      <vt:lpstr>Low and High Level Languages</vt:lpstr>
      <vt:lpstr>Low and High Level Languages</vt:lpstr>
      <vt:lpstr>Low and High Level Languages</vt:lpstr>
      <vt:lpstr>Low and High Level Languages</vt:lpstr>
      <vt:lpstr>Compilation and Interpretation</vt:lpstr>
      <vt:lpstr>Compilation and Interpretation</vt:lpstr>
      <vt:lpstr>Compilation and Interpretation</vt:lpstr>
      <vt:lpstr>Compilation and Interpretation</vt:lpstr>
      <vt:lpstr>Compilation Process in C++</vt:lpstr>
      <vt:lpstr>Compilation Process in C++</vt:lpstr>
      <vt:lpstr>Compilation Process in C++</vt:lpstr>
      <vt:lpstr>Source Code</vt:lpstr>
      <vt:lpstr>General Notes on C++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OF PROGRAMMING</dc:title>
  <dc:creator>Amir Ibrahim</dc:creator>
  <cp:lastModifiedBy>Melkamu</cp:lastModifiedBy>
  <cp:revision>15</cp:revision>
  <dcterms:created xsi:type="dcterms:W3CDTF">2023-08-16T11:21:54Z</dcterms:created>
  <dcterms:modified xsi:type="dcterms:W3CDTF">2026-08-20T06:49:16Z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2022-09-12T03:00:00Z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2023-08-16T03:00:00Z</vt:filetime>
  </property>
  <property fmtid="{D5CDD505-2E9C-101B-9397-08002B2CF9AE}" pid="5" name="ICV">
    <vt:lpwstr>23977AB33C334387A2BD3C02053879AA_12</vt:lpwstr>
  </property>
  <property fmtid="{D5CDD505-2E9C-101B-9397-08002B2CF9AE}" pid="6" name="KSOProductBuildVer">
    <vt:lpwstr>2057-12.2.0.13110</vt:lpwstr>
  </property>
</Properties>
</file>