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embeddedFontLst>
    <p:embeddedFont>
      <p:font typeface="Average" panose="020B0604020202020204" charset="0"/>
      <p:regular r:id="rId62"/>
    </p:embeddedFont>
    <p:embeddedFont>
      <p:font typeface="Consolas" panose="020B0609020204030204" pitchFamily="49" charset="0"/>
      <p:regular r:id="rId63"/>
      <p:bold r:id="rId64"/>
      <p:italic r:id="rId65"/>
      <p:boldItalic r:id="rId66"/>
    </p:embeddedFont>
    <p:embeddedFont>
      <p:font typeface="Roboto" panose="02000000000000000000" pitchFamily="2" charset="0"/>
      <p:regular r:id="rId67"/>
      <p:bold r:id="rId68"/>
      <p:italic r:id="rId69"/>
      <p:boldItalic r:id="rId70"/>
    </p:embeddedFont>
    <p:embeddedFont>
      <p:font typeface="Roboto Mono" panose="00000009000000000000" pitchFamily="49" charset="0"/>
      <p:regular r:id="rId71"/>
      <p:bold r:id="rId72"/>
      <p:italic r:id="rId73"/>
      <p:boldItalic r:id="rId74"/>
    </p:embeddedFont>
    <p:embeddedFont>
      <p:font typeface="Source Code Pro" panose="020B0509030403020204" pitchFamily="49"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36D996-6D66-4ABA-853D-459B0397D2C1}">
  <a:tblStyle styleId="{6436D996-6D66-4ABA-853D-459B0397D2C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notesMaster" Target="notesMasters/notesMaster1.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gea188220bf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gea188220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25988c53eeb_0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g25988c53e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25988c53ee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25988c53ee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25988c53eeb_0_6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 name="Google Shape;50;g25988c53ee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5988c53eeb_0_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5988c53eeb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5988c53eeb_0_8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5988c53ee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5988c53eeb_0_8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5988c53ee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5988c53eeb_0_9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5988c53eeb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5988c53eeb_0_9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5988c53eeb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5988c53eeb_0_10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5988c53eeb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988c53eeb_0_11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988c53eeb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5988c53eeb_0_1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5988c53eeb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5988c53eeb_0_14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5988c53eeb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5988c53eeb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5988c53ee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5988c53eeb_0_16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5988c53eeb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5988c53eeb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5988c53eeb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5988c53eeb_0_21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5988c53eeb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5988c53eeb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5988c53ee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Roboto"/>
                <a:ea typeface="Roboto"/>
                <a:cs typeface="Roboto"/>
                <a:sym typeface="Roboto"/>
              </a:rPr>
              <a:t>Our goal here is to evaluate algorithms. Do different algorithms have different amounts of time associated with them? The good news is is that if we measure running time, it will certainly vary as the algorithm changes. Just what we want to measure.</a:t>
            </a:r>
            <a:endParaRPr sz="1400">
              <a:latin typeface="Roboto"/>
              <a:ea typeface="Roboto"/>
              <a:cs typeface="Roboto"/>
              <a:sym typeface="Roboto"/>
            </a:endParaRPr>
          </a:p>
          <a:p>
            <a:pPr marL="0" lvl="0" indent="0" algn="l" rtl="0">
              <a:lnSpc>
                <a:spcPct val="115000"/>
              </a:lnSpc>
              <a:spcBef>
                <a:spcPts val="800"/>
              </a:spcBef>
              <a:spcAft>
                <a:spcPts val="0"/>
              </a:spcAft>
              <a:buNone/>
            </a:pPr>
            <a:r>
              <a:rPr lang="en" sz="1400">
                <a:latin typeface="Roboto"/>
                <a:ea typeface="Roboto"/>
                <a:cs typeface="Roboto"/>
                <a:sym typeface="Roboto"/>
              </a:rPr>
              <a:t>One of the problems is that it will also vary if we change the implementation. For example, if we use a loop and one loop has a few more steps inside of it than another algorithm, the time is going to change. But, we don’t actually really care about that difference.</a:t>
            </a:r>
            <a:endParaRPr sz="1400">
              <a:latin typeface="Roboto"/>
              <a:ea typeface="Roboto"/>
              <a:cs typeface="Roboto"/>
              <a:sym typeface="Roboto"/>
            </a:endParaRPr>
          </a:p>
          <a:p>
            <a:pPr marL="0" lvl="0" indent="0" algn="l" rtl="0">
              <a:lnSpc>
                <a:spcPct val="115000"/>
              </a:lnSpc>
              <a:spcBef>
                <a:spcPts val="800"/>
              </a:spcBef>
              <a:spcAft>
                <a:spcPts val="0"/>
              </a:spcAft>
              <a:buNone/>
            </a:pPr>
            <a:r>
              <a:rPr lang="en" sz="1400">
                <a:latin typeface="Roboto"/>
                <a:ea typeface="Roboto"/>
                <a:cs typeface="Roboto"/>
                <a:sym typeface="Roboto"/>
              </a:rPr>
              <a:t>Next, this time is going to depend on the computer. A newer computer or a computer with better specs will run faster than an older one with less memory or CPU. That’s not going to help us measure how fast an algorithm is.</a:t>
            </a:r>
            <a:endParaRPr sz="1400">
              <a:latin typeface="Roboto"/>
              <a:ea typeface="Roboto"/>
              <a:cs typeface="Roboto"/>
              <a:sym typeface="Roboto"/>
            </a:endParaRPr>
          </a:p>
          <a:p>
            <a:pPr marL="0" lvl="0" indent="0" algn="l" rtl="0">
              <a:lnSpc>
                <a:spcPct val="115000"/>
              </a:lnSpc>
              <a:spcBef>
                <a:spcPts val="800"/>
              </a:spcBef>
              <a:spcAft>
                <a:spcPts val="0"/>
              </a:spcAft>
              <a:buNone/>
            </a:pPr>
            <a:r>
              <a:rPr lang="en" sz="1400">
                <a:latin typeface="Roboto"/>
                <a:ea typeface="Roboto"/>
                <a:cs typeface="Roboto"/>
                <a:sym typeface="Roboto"/>
              </a:rPr>
              <a:t>And even if we could measure the timing on a small-sized inputs, it doesn’t necessarily predict what happens when we pass in huge inputs because it might take more time to get those inputs out of memory and such. </a:t>
            </a:r>
            <a:endParaRPr sz="1400">
              <a:latin typeface="Roboto"/>
              <a:ea typeface="Roboto"/>
              <a:cs typeface="Roboto"/>
              <a:sym typeface="Roboto"/>
            </a:endParaRPr>
          </a:p>
          <a:p>
            <a:pPr marL="0" lvl="0" indent="0" algn="l" rtl="0">
              <a:lnSpc>
                <a:spcPct val="115000"/>
              </a:lnSpc>
              <a:spcBef>
                <a:spcPts val="800"/>
              </a:spcBef>
              <a:spcAft>
                <a:spcPts val="800"/>
              </a:spcAft>
              <a:buNone/>
            </a:pPr>
            <a:r>
              <a:rPr lang="en" sz="1400">
                <a:latin typeface="Roboto"/>
                <a:ea typeface="Roboto"/>
                <a:cs typeface="Roboto"/>
                <a:sym typeface="Roboto"/>
              </a:rPr>
              <a:t>So what this means is that timing will vary based on what we’d like to measure, but it will also depend on a lot of other factors that make this measurement not that valuable.</a:t>
            </a:r>
            <a:endParaRPr sz="1400">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5988c53eeb_0_22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5988c53eeb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988c53eeb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5988c53eeb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So we can’t objectively measure how fast our code is by seeing how fast our computer runs that code. Let’s take a look at counting operations instead. We’re going to make the following assumption. We’re going to identify a set of operations that the machine do for us automatically and instantaneously. That would be things like arithmetic or mathematical operations, multiplication, division, subtraction, comparisons, something equal to another thing, something greater than, something less than, assignments, set a name to a value, and retrieval from memory. We’re going to assume that all of these operations take about the same amount of time inside our computers.</a:t>
            </a:r>
            <a:endParaRPr/>
          </a:p>
          <a:p>
            <a:pPr marL="0" lvl="0" indent="0" algn="l" rtl="0">
              <a:lnSpc>
                <a:spcPct val="115000"/>
              </a:lnSpc>
              <a:spcBef>
                <a:spcPts val="800"/>
              </a:spcBef>
              <a:spcAft>
                <a:spcPts val="800"/>
              </a:spcAft>
              <a:buClr>
                <a:schemeClr val="dk1"/>
              </a:buClr>
              <a:buSzPts val="1100"/>
              <a:buFont typeface="Arial"/>
              <a:buNone/>
            </a:pPr>
            <a:r>
              <a:rPr lang="en"/>
              <a:t>The good thing here is then it doesn't matter which machine we’re using. We’re measuring how long the algorithm takes by counting how many operations of this type are done inside our code, and we’ll use that count to come up with a number of operations executed as a function of the size of the input.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5988c53eeb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5988c53eeb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Roboto"/>
                <a:ea typeface="Roboto"/>
                <a:cs typeface="Roboto"/>
                <a:sym typeface="Roboto"/>
              </a:rPr>
              <a:t>So rather than getting 3x + 1, we have 4x + 1. When we’re talking about really big numbers - ie if x is big, this is going to matter, and so our efficiency depends on the implementation. But what we’re trying to do here is to measure the impact of the algorithm.</a:t>
            </a:r>
            <a:endParaRPr sz="1400">
              <a:latin typeface="Roboto"/>
              <a:ea typeface="Roboto"/>
              <a:cs typeface="Roboto"/>
              <a:sym typeface="Roboto"/>
            </a:endParaRPr>
          </a:p>
          <a:p>
            <a:pPr marL="0" lvl="0" indent="0" algn="l" rtl="0">
              <a:lnSpc>
                <a:spcPct val="115000"/>
              </a:lnSpc>
              <a:spcBef>
                <a:spcPts val="800"/>
              </a:spcBef>
              <a:spcAft>
                <a:spcPts val="0"/>
              </a:spcAft>
              <a:buNone/>
            </a:pPr>
            <a:r>
              <a:rPr lang="en" sz="1400">
                <a:latin typeface="Roboto"/>
                <a:ea typeface="Roboto"/>
                <a:cs typeface="Roboto"/>
                <a:sym typeface="Roboto"/>
              </a:rPr>
              <a:t>We see here that if we count operations, it still depends on the implementation. Changing the code to a while loop changed how fast our code is.</a:t>
            </a:r>
            <a:endParaRPr sz="1400">
              <a:latin typeface="Roboto"/>
              <a:ea typeface="Roboto"/>
              <a:cs typeface="Roboto"/>
              <a:sym typeface="Roboto"/>
            </a:endParaRPr>
          </a:p>
          <a:p>
            <a:pPr marL="0" lvl="0" indent="0" algn="l" rtl="0">
              <a:lnSpc>
                <a:spcPct val="115000"/>
              </a:lnSpc>
              <a:spcBef>
                <a:spcPts val="800"/>
              </a:spcBef>
              <a:spcAft>
                <a:spcPts val="800"/>
              </a:spcAft>
              <a:buNone/>
            </a:pPr>
            <a:r>
              <a:rPr lang="en" sz="1400">
                <a:solidFill>
                  <a:schemeClr val="lt1"/>
                </a:solidFill>
                <a:latin typeface="Roboto"/>
                <a:ea typeface="Roboto"/>
                <a:cs typeface="Roboto"/>
                <a:sym typeface="Roboto"/>
              </a:rPr>
              <a:t>But, it still depends on the implementation. What if we changed this to a while loop? We’d have to set i outside the for loop, and then we’d have to check while i is less than x + 1. But, it still depends on the implementation. What if we changed this to a while loop? We’d have to set i outside the for loop, and then we’d have to check while i is less than x + 1.</a:t>
            </a:r>
            <a:endParaRPr sz="1400">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5988c53eeb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5988c53eeb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5988c53eeb_0_2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5988c53eeb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800"/>
              </a:spcAft>
              <a:buNone/>
            </a:pPr>
            <a:r>
              <a:rPr lang="en" sz="1400">
                <a:latin typeface="Roboto"/>
                <a:ea typeface="Roboto"/>
                <a:cs typeface="Roboto"/>
                <a:sym typeface="Roboto"/>
              </a:rPr>
              <a:t>Sounds pretty good. The time we get depends on the algorithm - the number of operations directly relates to the algorithm we’re trying to measure, which is what we’re trying to do here.</a:t>
            </a:r>
            <a:endParaRPr sz="1400">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5988c53eeb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5988c53eeb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5988c53eeb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5988c53eeb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5988c53eeb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5988c53eeb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Roboto"/>
                <a:ea typeface="Roboto"/>
                <a:cs typeface="Roboto"/>
                <a:sym typeface="Roboto"/>
              </a:rPr>
              <a:t>Another good news is the count is independent of what computer we run on. As long as all of our computers come with the same set of basic operations, we don’t care what the time of my computer is vs yours when we’re measuring the number of operations. The number of operations doesn’t change depending on what computer we’re running on. </a:t>
            </a:r>
            <a:endParaRPr sz="1400">
              <a:latin typeface="Roboto"/>
              <a:ea typeface="Roboto"/>
              <a:cs typeface="Roboto"/>
              <a:sym typeface="Roboto"/>
            </a:endParaRPr>
          </a:p>
          <a:p>
            <a:pPr marL="0" lvl="0" indent="0" algn="l" rtl="0">
              <a:lnSpc>
                <a:spcPct val="115000"/>
              </a:lnSpc>
              <a:spcBef>
                <a:spcPts val="800"/>
              </a:spcBef>
              <a:spcAft>
                <a:spcPts val="0"/>
              </a:spcAft>
              <a:buNone/>
            </a:pPr>
            <a:r>
              <a:rPr lang="en" sz="1400">
                <a:latin typeface="Roboto"/>
                <a:ea typeface="Roboto"/>
                <a:cs typeface="Roboto"/>
                <a:sym typeface="Roboto"/>
              </a:rPr>
              <a:t>Earlier, we made an assumption that getting something from memory takes the same amount of time that it takes to do a mathematical operation. That might not actually be accurate, so how do we determine which operations actually take the same time and should be counted as an operation?</a:t>
            </a:r>
            <a:endParaRPr sz="1400">
              <a:latin typeface="Roboto"/>
              <a:ea typeface="Roboto"/>
              <a:cs typeface="Roboto"/>
              <a:sym typeface="Roboto"/>
            </a:endParaRPr>
          </a:p>
          <a:p>
            <a:pPr marL="0" lvl="0" indent="0" algn="l" rtl="0">
              <a:lnSpc>
                <a:spcPct val="115000"/>
              </a:lnSpc>
              <a:spcBef>
                <a:spcPts val="800"/>
              </a:spcBef>
              <a:spcAft>
                <a:spcPts val="800"/>
              </a:spcAft>
              <a:buNone/>
            </a:pPr>
            <a:r>
              <a:rPr lang="en" sz="1400">
                <a:latin typeface="Roboto"/>
                <a:ea typeface="Roboto"/>
                <a:cs typeface="Roboto"/>
                <a:sym typeface="Roboto"/>
              </a:rPr>
              <a:t>And lastly, counting the number of operations does differ depending on what the input is, and we can use this to come up with a relationship between the inputs and the count. And for the most part, it reflects the algorithm and not the exact implementation. But there’s still some problems with this, as we’ve talked about.</a:t>
            </a:r>
            <a:endParaRPr sz="1400">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5988c53eeb_0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5988c53eeb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a:latin typeface="Roboto"/>
                <a:ea typeface="Roboto"/>
                <a:cs typeface="Roboto"/>
                <a:sym typeface="Roboto"/>
              </a:rPr>
              <a:t>So what can we say about this now? Timing and counting do evaluate or reflect implementations. We don't want that. Timing also evaluates machines. What we want to do is just evaluate the algorithm. And especially, we want to understand how does it scale? If we were to take an algorithm, and we know what its complexity is, my question is if I double the size of the input, what does that say about the speed? Because that's going to tell me something about the algorithm.We want to know what happens when we scale it and in particular, we want to relate that to the size of the input.</a:t>
            </a:r>
            <a:endParaRPr sz="1400">
              <a:latin typeface="Roboto"/>
              <a:ea typeface="Roboto"/>
              <a:cs typeface="Roboto"/>
              <a:sym typeface="Roboto"/>
            </a:endParaRPr>
          </a:p>
          <a:p>
            <a:pPr marL="0" lvl="0" indent="0" algn="l" rtl="0">
              <a:spcBef>
                <a:spcPts val="800"/>
              </a:spcBef>
              <a:spcAft>
                <a:spcPts val="0"/>
              </a:spcAft>
              <a:buNone/>
            </a:pPr>
            <a:endParaRPr sz="1400">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5988c53eeb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5988c53eeb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5988c53eeb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5988c53eeb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88c53eeb_0_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88c53eeb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5988c53eeb_0_37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5988c53eeb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5988c53eeb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5988c53eeb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highlight>
                  <a:srgbClr val="FFFFFF"/>
                </a:highlight>
                <a:latin typeface="Roboto"/>
                <a:ea typeface="Roboto"/>
                <a:cs typeface="Roboto"/>
                <a:sym typeface="Roboto"/>
              </a:rPr>
              <a:t>What we're going to focus on is that idea of counting operations, but we're not going to worry about small variations, whether it's three or four steps inside of the loop. We're going to show that that doesn't matter. </a:t>
            </a:r>
            <a:endParaRPr sz="1400">
              <a:highlight>
                <a:srgbClr val="FFFFFF"/>
              </a:highlight>
              <a:latin typeface="Roboto"/>
              <a:ea typeface="Roboto"/>
              <a:cs typeface="Roboto"/>
              <a:sym typeface="Roboto"/>
            </a:endParaRPr>
          </a:p>
          <a:p>
            <a:pPr marL="0" lvl="0" indent="0" algn="l" rtl="0">
              <a:spcBef>
                <a:spcPts val="0"/>
              </a:spcBef>
              <a:spcAft>
                <a:spcPts val="0"/>
              </a:spcAft>
              <a:buNone/>
            </a:pPr>
            <a:r>
              <a:rPr lang="en" sz="1400">
                <a:highlight>
                  <a:srgbClr val="FFFFFF"/>
                </a:highlight>
                <a:latin typeface="Roboto"/>
                <a:ea typeface="Roboto"/>
                <a:cs typeface="Roboto"/>
                <a:sym typeface="Roboto"/>
              </a:rPr>
              <a:t>We’re focus on what happens when the size of the problem gets arbitrarily large. Wo don’t care about counting things from 0 up to x when x is 10 or 20. Instead, what happens when it’s a million or a billion? </a:t>
            </a:r>
            <a:endParaRPr sz="1400">
              <a:highlight>
                <a:srgbClr val="FFFFFF"/>
              </a:highlight>
              <a:latin typeface="Roboto"/>
              <a:ea typeface="Roboto"/>
              <a:cs typeface="Roboto"/>
              <a:sym typeface="Roboto"/>
            </a:endParaRPr>
          </a:p>
          <a:p>
            <a:pPr marL="0" lvl="0" indent="0" algn="l" rtl="0">
              <a:spcBef>
                <a:spcPts val="0"/>
              </a:spcBef>
              <a:spcAft>
                <a:spcPts val="0"/>
              </a:spcAft>
              <a:buNone/>
            </a:pPr>
            <a:r>
              <a:rPr lang="en" sz="1400">
                <a:highlight>
                  <a:srgbClr val="FFFFFF"/>
                </a:highlight>
                <a:latin typeface="Roboto"/>
                <a:ea typeface="Roboto"/>
                <a:cs typeface="Roboto"/>
                <a:sym typeface="Roboto"/>
              </a:rPr>
              <a:t>And we want to relate that time needed against the size of the input, so we can make that comparison.</a:t>
            </a:r>
            <a:endParaRPr sz="1400">
              <a:highlight>
                <a:srgbClr val="FFFFFF"/>
              </a:highlight>
              <a:latin typeface="Roboto"/>
              <a:ea typeface="Roboto"/>
              <a:cs typeface="Roboto"/>
              <a:sym typeface="Roboto"/>
            </a:endParaRPr>
          </a:p>
          <a:p>
            <a:pPr marL="0" lvl="0" indent="0" algn="l" rtl="0">
              <a:spcBef>
                <a:spcPts val="0"/>
              </a:spcBef>
              <a:spcAft>
                <a:spcPts val="0"/>
              </a:spcAft>
              <a:buNone/>
            </a:pPr>
            <a:r>
              <a:rPr lang="en" sz="1400">
                <a:highlight>
                  <a:srgbClr val="FFFFFF"/>
                </a:highlight>
                <a:latin typeface="Roboto"/>
                <a:ea typeface="Roboto"/>
                <a:cs typeface="Roboto"/>
                <a:sym typeface="Roboto"/>
              </a:rPr>
              <a:t>So to do that, we have to do a couple of things. We have to decide what we’re going to measure, and then we have to think how we count without worrying about implementation details. </a:t>
            </a:r>
            <a:endParaRPr sz="1400">
              <a:highlight>
                <a:srgbClr val="FFFFFF"/>
              </a:highlight>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5988c53eeb_0_38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5988c53eeb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5988c53eeb_0_38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5988c53eeb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5988c53eeb_0_40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5988c53eeb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5988c53eeb_0_42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25988c53eeb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5988c53eeb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5988c53eeb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Pull up Desmos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5988c53eeb_0_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5988c53eeb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Pull up Desmos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5988c53eeb_0_4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5988c53eeb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take a look at different orders of growth. The x axis on these charts is the size of input and the y axis is the amount of time taken for that input size. First here we have constant growth, which means that the time needed for the program to run is constant and the amount of time doesn't change as the size of the input gets changed. Next here we have linear growth, which grows in a straight line. Quadratic starts to grow more quickly. Here we also have logarithmic, which is always better than linear because it slows down as we increase the size. n log n or log linear is kind of interesting, but it's a very common complexity for really valuable algorithms in computer science, notably ones for sorting. And it has a nice behavior, sort of between the linear and the quadratic. And lastly here we have exponential, which very quickly escalates in time as our inputs get bigger.</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5988c53eeb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5988c53eeb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t>So here are some examples. If we’re counting operations and we come up with an expression that has n squared plus 2n plus 2 operations, that expression is order n squared. The 2 and the 2n don't matter. Let’s think about what happens if we made n really big. n squared is much more dominant than the other terms. We say that's order n squared.</a:t>
            </a:r>
            <a:endParaRPr sz="1200"/>
          </a:p>
          <a:p>
            <a:pPr marL="0" lvl="0" indent="0" algn="l" rtl="0">
              <a:lnSpc>
                <a:spcPct val="115000"/>
              </a:lnSpc>
              <a:spcBef>
                <a:spcPts val="800"/>
              </a:spcBef>
              <a:spcAft>
                <a:spcPts val="0"/>
              </a:spcAft>
              <a:buClr>
                <a:schemeClr val="dk1"/>
              </a:buClr>
              <a:buSzPts val="1100"/>
              <a:buFont typeface="Arial"/>
              <a:buNone/>
            </a:pPr>
            <a:r>
              <a:rPr lang="en" sz="1200"/>
              <a:t>Even this expression we say is order n squared. So in this case, for lower values of n, this term is going to be the big one in terms of number of steps. I have no idea how I wrote such an inefficient algorithm that it took 100 steps to do something. But if we had that expression for smaller values of n, this matters a lot. This is a really big number. But when we’re interested in the growth, then that's the term that dominates. When we have expressions, if it's a polynomial expression, it's the highest order term. It's the term that captures the complexity. Both of these are quadratic. This term is order n, because n grows faster than log of n.</a:t>
            </a:r>
            <a:endParaRPr sz="1200"/>
          </a:p>
          <a:p>
            <a:pPr marL="0" lvl="0" indent="0" algn="l" rtl="0">
              <a:lnSpc>
                <a:spcPct val="115000"/>
              </a:lnSpc>
              <a:spcBef>
                <a:spcPts val="800"/>
              </a:spcBef>
              <a:spcAft>
                <a:spcPts val="0"/>
              </a:spcAft>
              <a:buClr>
                <a:schemeClr val="dk1"/>
              </a:buClr>
              <a:buSzPts val="1100"/>
              <a:buFont typeface="Arial"/>
              <a:buNone/>
            </a:pPr>
            <a:r>
              <a:rPr lang="en" sz="1200"/>
              <a:t>This funky looking term, even though that looks like the big number there and it is a big number, that expression we see is order n log n. Because again, if I plot out as how this changes as I make n really large, this term eventually takes over as the dominant term. What about that one? What's the big term there?</a:t>
            </a:r>
            <a:endParaRPr sz="1200"/>
          </a:p>
          <a:p>
            <a:pPr marL="0" lvl="0" indent="0" algn="l" rtl="0">
              <a:lnSpc>
                <a:spcPct val="115000"/>
              </a:lnSpc>
              <a:spcBef>
                <a:spcPts val="800"/>
              </a:spcBef>
              <a:spcAft>
                <a:spcPts val="0"/>
              </a:spcAft>
              <a:buClr>
                <a:schemeClr val="dk1"/>
              </a:buClr>
              <a:buSzPts val="1100"/>
              <a:buFont typeface="Arial"/>
              <a:buNone/>
            </a:pPr>
            <a:endParaRPr sz="1200"/>
          </a:p>
          <a:p>
            <a:pPr marL="0" lvl="0" indent="0" algn="l" rtl="0">
              <a:spcBef>
                <a:spcPts val="0"/>
              </a:spcBef>
              <a:spcAft>
                <a:spcPts val="0"/>
              </a:spcAft>
              <a:buNone/>
            </a:pP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5988c53eeb_0_4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5988c53eeb_0_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a:solidFill>
                  <a:srgbClr val="333333"/>
                </a:solidFill>
                <a:latin typeface="Roboto"/>
                <a:ea typeface="Roboto"/>
                <a:cs typeface="Roboto"/>
                <a:sym typeface="Roboto"/>
              </a:rPr>
              <a:t>We want to evaluate efficiency, particularly when the input is very large. What happens when we really scale this up? We want to express the growth of the program's runtime as that input grows. Not the exact runtime, but that notion of it. If we doubled the input, how much longer does it take? What's the relationship between increasing the size of the input and the increase in the amount of time it takes to solve it?</a:t>
            </a:r>
            <a:endParaRPr sz="1400">
              <a:solidFill>
                <a:srgbClr val="333333"/>
              </a:solidFill>
              <a:latin typeface="Roboto"/>
              <a:ea typeface="Roboto"/>
              <a:cs typeface="Roboto"/>
              <a:sym typeface="Roboto"/>
            </a:endParaRPr>
          </a:p>
          <a:p>
            <a:pPr marL="0" lvl="0" indent="0" algn="l" rtl="0">
              <a:lnSpc>
                <a:spcPct val="115000"/>
              </a:lnSpc>
              <a:spcBef>
                <a:spcPts val="800"/>
              </a:spcBef>
              <a:spcAft>
                <a:spcPts val="0"/>
              </a:spcAft>
              <a:buNone/>
            </a:pPr>
            <a:r>
              <a:rPr lang="en" sz="1400">
                <a:solidFill>
                  <a:srgbClr val="333333"/>
                </a:solidFill>
                <a:latin typeface="Roboto"/>
                <a:ea typeface="Roboto"/>
                <a:cs typeface="Roboto"/>
                <a:sym typeface="Roboto"/>
              </a:rPr>
              <a:t>We're going to put an upper bound on that growth. An upper bound means that it’s at least as big as or bigger than the actual amount of time it's going to take. And we’re going to not worry about being precise. We're going to talk about the order of rather than the exact growth. We don't need to know to the femtosecond how long this is going to take, or to the exact number of operations this is going to take.</a:t>
            </a:r>
            <a:endParaRPr sz="1400">
              <a:solidFill>
                <a:srgbClr val="333333"/>
              </a:solidFill>
              <a:latin typeface="Roboto"/>
              <a:ea typeface="Roboto"/>
              <a:cs typeface="Roboto"/>
              <a:sym typeface="Roboto"/>
            </a:endParaRPr>
          </a:p>
          <a:p>
            <a:pPr marL="0" lvl="0" indent="0" algn="l" rtl="0">
              <a:lnSpc>
                <a:spcPct val="115000"/>
              </a:lnSpc>
              <a:spcBef>
                <a:spcPts val="800"/>
              </a:spcBef>
              <a:spcAft>
                <a:spcPts val="0"/>
              </a:spcAft>
              <a:buNone/>
            </a:pPr>
            <a:r>
              <a:rPr lang="en" sz="1400">
                <a:solidFill>
                  <a:srgbClr val="333333"/>
                </a:solidFill>
                <a:highlight>
                  <a:srgbClr val="FFFFFF"/>
                </a:highlight>
                <a:latin typeface="Roboto"/>
                <a:ea typeface="Roboto"/>
                <a:cs typeface="Roboto"/>
                <a:sym typeface="Roboto"/>
              </a:rPr>
              <a:t>But, we do want to say things like this is going to grow linearly. We double the size of the input, it doubles the amount of time. Or this is going to grow quadratically. We double the size of the input, it's going to take four times as much time to solve it. Or if we’re really lucky, this is going to have constant growth, meaning no matter how the input changes, it's not going to take any more time.</a:t>
            </a:r>
            <a:endParaRPr sz="1400">
              <a:solidFill>
                <a:srgbClr val="333333"/>
              </a:solidFill>
              <a:highlight>
                <a:srgbClr val="FFFFFF"/>
              </a:highlight>
              <a:latin typeface="Roboto"/>
              <a:ea typeface="Roboto"/>
              <a:cs typeface="Roboto"/>
              <a:sym typeface="Roboto"/>
            </a:endParaRPr>
          </a:p>
          <a:p>
            <a:pPr marL="0" lvl="0" indent="0" algn="l" rtl="0">
              <a:lnSpc>
                <a:spcPct val="115000"/>
              </a:lnSpc>
              <a:spcBef>
                <a:spcPts val="800"/>
              </a:spcBef>
              <a:spcAft>
                <a:spcPts val="800"/>
              </a:spcAft>
              <a:buNone/>
            </a:pPr>
            <a:r>
              <a:rPr lang="en" sz="1400">
                <a:solidFill>
                  <a:srgbClr val="333333"/>
                </a:solidFill>
                <a:highlight>
                  <a:srgbClr val="FFFFFF"/>
                </a:highlight>
                <a:latin typeface="Roboto"/>
                <a:ea typeface="Roboto"/>
                <a:cs typeface="Roboto"/>
                <a:sym typeface="Roboto"/>
              </a:rPr>
              <a:t>To do that, we're going to look at the largest factors in the runtime. Which piece of the program takes the most time? And so in orders of growth, we are going to look an upper bound on the growth as a function of the size of the input in the worst case. So here's the notation we're going to use. It's called Big O notation. </a:t>
            </a:r>
            <a:endParaRPr sz="1400">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5988c53eeb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5988c53eeb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5988c53eeb_0_5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5988c53eeb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988c53eeb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25988c53eeb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5988c53eeb_0_5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25988c53eeb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5988c53eeb_0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5988c53eeb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5988c53eeb_0_5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25988c53eeb_0_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highlight>
                  <a:srgbClr val="FFFFFF"/>
                </a:highlight>
              </a:rPr>
              <a:t>So what does o of n measure? Well, we're just summarizing here. We want to describe how much time is needed to compute or how does the amount of time, rather, needed to compute problem growth as the size of the problem itself grows. So we want an expression that counts that asymptotic behavior. And we're going to focus as a consequence on the term that grows most rapidly.</a:t>
            </a:r>
            <a:endParaRPr sz="14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5988c53eeb_0_54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5988c53eeb_0_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5988c53eeb_0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5988c53eeb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25988c53eeb_0_55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25988c53eeb_0_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5988c53eeb_0_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25988c53eeb_0_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So we're going to express efficiency in terms of size of input. If we have a function that takes one argument that's an integer, the size of the integer is the thing we’ll measure things in. If we double the size of that integer, what happens to the computation?</a:t>
            </a:r>
            <a:endParaRPr sz="1400">
              <a:solidFill>
                <a:schemeClr val="dk1"/>
              </a:solidFill>
              <a:highlight>
                <a:srgbClr val="FFFFFF"/>
              </a:highlight>
              <a:latin typeface="Roboto"/>
              <a:ea typeface="Roboto"/>
              <a:cs typeface="Roboto"/>
              <a:sym typeface="Roboto"/>
            </a:endParaRPr>
          </a:p>
          <a:p>
            <a:pPr marL="0" lvl="0" indent="0" algn="l" rtl="0">
              <a:spcBef>
                <a:spcPts val="0"/>
              </a:spcBef>
              <a:spcAft>
                <a:spcPts val="0"/>
              </a:spcAft>
              <a:buNone/>
            </a:pPr>
            <a:r>
              <a:rPr lang="en" sz="1400">
                <a:solidFill>
                  <a:schemeClr val="dk1"/>
                </a:solidFill>
                <a:highlight>
                  <a:srgbClr val="FFFFFF"/>
                </a:highlight>
                <a:latin typeface="Roboto"/>
                <a:ea typeface="Roboto"/>
                <a:cs typeface="Roboto"/>
                <a:sym typeface="Roboto"/>
              </a:rPr>
              <a:t>In another instance, if we’re running a function that takes a list and iterates over it, typically the length of the list is going to be the thing we’ll use to characterize the size of the problem.</a:t>
            </a:r>
            <a:endParaRPr sz="1400">
              <a:solidFill>
                <a:schemeClr val="dk1"/>
              </a:solidFill>
              <a:highlight>
                <a:srgbClr val="FFFFFF"/>
              </a:highlight>
              <a:latin typeface="Roboto"/>
              <a:ea typeface="Roboto"/>
              <a:cs typeface="Roboto"/>
              <a:sym typeface="Roboto"/>
            </a:endParaRPr>
          </a:p>
          <a:p>
            <a:pPr marL="0" lvl="0" indent="0" algn="l" rtl="0">
              <a:spcBef>
                <a:spcPts val="0"/>
              </a:spcBef>
              <a:spcAft>
                <a:spcPts val="0"/>
              </a:spcAft>
              <a:buNone/>
            </a:pPr>
            <a:r>
              <a:rPr lang="en" sz="1400">
                <a:solidFill>
                  <a:schemeClr val="dk1"/>
                </a:solidFill>
                <a:highlight>
                  <a:srgbClr val="FFFFFF"/>
                </a:highlight>
                <a:latin typeface="Roboto"/>
                <a:ea typeface="Roboto"/>
                <a:cs typeface="Roboto"/>
                <a:sym typeface="Roboto"/>
              </a:rPr>
              <a:t>And then, if we have a function that takes more than one argument, we’ll have to decide what parameter to use to measure efficiency. Usually when that happens, we care about the size of the list and not the size of the element - but we’ll talk about this in a moment.</a:t>
            </a:r>
            <a:endParaRPr sz="140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5988c53eeb_0_56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5988c53eeb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5988c53eeb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5988c53eeb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5988c53eeb_0_5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5988c53eeb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5988c53eeb_0_58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25988c53eeb_0_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5988c53eeb_0_58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5988c53eeb_0_5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5988c53eeb_0_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5988c53eeb_0_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5988c53eeb_0_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5988c53eeb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5988c53eeb_0_60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5988c53eeb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romannurik.github.io/SlidesCodeHighlighter/"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11425" y="1941275"/>
            <a:ext cx="5206200" cy="784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rgbClr val="BE0712"/>
              </a:buClr>
              <a:buSzPts val="3200"/>
              <a:buFont typeface="Calibri"/>
              <a:buNone/>
              <a:defRPr sz="3200" b="1" i="0" u="none" strike="noStrike" cap="non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ubTitle" idx="1"/>
          </p:nvPr>
        </p:nvSpPr>
        <p:spPr>
          <a:xfrm>
            <a:off x="161925" y="2612325"/>
            <a:ext cx="5380800" cy="7848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2400"/>
              <a:buFont typeface="Calibri"/>
              <a:buNone/>
              <a:defRPr sz="2400" b="0" i="0" u="none" strike="noStrike" cap="non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9pPr>
          </a:lstStyle>
          <a:p>
            <a:endParaRPr/>
          </a:p>
        </p:txBody>
      </p:sp>
      <p:cxnSp>
        <p:nvCxnSpPr>
          <p:cNvPr id="12" name="Google Shape;12;p2"/>
          <p:cNvCxnSpPr/>
          <p:nvPr/>
        </p:nvCxnSpPr>
        <p:spPr>
          <a:xfrm>
            <a:off x="290700" y="2669200"/>
            <a:ext cx="8443800" cy="0"/>
          </a:xfrm>
          <a:prstGeom prst="straightConnector1">
            <a:avLst/>
          </a:prstGeom>
          <a:noFill/>
          <a:ln w="19050" cap="flat" cmpd="sng">
            <a:solidFill>
              <a:srgbClr val="1072BD"/>
            </a:solidFill>
            <a:prstDash val="dot"/>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66800" y="92501"/>
            <a:ext cx="8229600" cy="4953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rgbClr val="BE0712"/>
              </a:buClr>
              <a:buSzPts val="2400"/>
              <a:buFont typeface="Calibri"/>
              <a:buNone/>
              <a:defRPr sz="2400" b="1">
                <a:solidFill>
                  <a:srgbClr val="BE0712"/>
                </a:solidFill>
                <a:latin typeface="Calibri"/>
                <a:ea typeface="Calibri"/>
                <a:cs typeface="Calibri"/>
                <a:sym typeface="Calibri"/>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cxnSp>
        <p:nvCxnSpPr>
          <p:cNvPr id="15" name="Google Shape;15;p3"/>
          <p:cNvCxnSpPr/>
          <p:nvPr/>
        </p:nvCxnSpPr>
        <p:spPr>
          <a:xfrm>
            <a:off x="243000" y="587800"/>
            <a:ext cx="8443800" cy="0"/>
          </a:xfrm>
          <a:prstGeom prst="straightConnector1">
            <a:avLst/>
          </a:prstGeom>
          <a:noFill/>
          <a:ln w="19050" cap="flat" cmpd="sng">
            <a:solidFill>
              <a:srgbClr val="1072BD"/>
            </a:solidFill>
            <a:prstDash val="dot"/>
            <a:round/>
            <a:headEnd type="none" w="med" len="med"/>
            <a:tailEnd type="none" w="med" len="med"/>
          </a:ln>
        </p:spPr>
      </p:cxnSp>
      <p:sp>
        <p:nvSpPr>
          <p:cNvPr id="16" name="Google Shape;16;p3"/>
          <p:cNvSpPr txBox="1">
            <a:spLocks noGrp="1"/>
          </p:cNvSpPr>
          <p:nvPr>
            <p:ph type="body" idx="1"/>
          </p:nvPr>
        </p:nvSpPr>
        <p:spPr>
          <a:xfrm>
            <a:off x="243000" y="556500"/>
            <a:ext cx="8443800" cy="4153800"/>
          </a:xfrm>
          <a:prstGeom prst="rect">
            <a:avLst/>
          </a:prstGeom>
          <a:noFill/>
          <a:ln>
            <a:noFill/>
          </a:ln>
        </p:spPr>
        <p:txBody>
          <a:bodyPr spcFirstLastPara="1" wrap="square" lIns="91425" tIns="91425" rIns="91425" bIns="91425" anchor="t" anchorCtr="0">
            <a:noAutofit/>
          </a:bodyPr>
          <a:lstStyle>
            <a:lvl1pPr marL="457200" lvl="0" indent="-355600" rtl="0">
              <a:spcBef>
                <a:spcPts val="600"/>
              </a:spcBef>
              <a:spcAft>
                <a:spcPts val="0"/>
              </a:spcAft>
              <a:buSzPts val="2000"/>
              <a:buFont typeface="Calibri"/>
              <a:buChar char="●"/>
              <a:defRPr sz="2000">
                <a:latin typeface="Calibri"/>
                <a:ea typeface="Calibri"/>
                <a:cs typeface="Calibri"/>
                <a:sym typeface="Calibri"/>
              </a:defRPr>
            </a:lvl1pPr>
            <a:lvl2pPr marL="914400" lvl="1" indent="-355600" rtl="0">
              <a:spcBef>
                <a:spcPts val="0"/>
              </a:spcBef>
              <a:spcAft>
                <a:spcPts val="0"/>
              </a:spcAft>
              <a:buSzPts val="2000"/>
              <a:buFont typeface="Calibri"/>
              <a:buChar char="○"/>
              <a:defRPr sz="2000">
                <a:latin typeface="Calibri"/>
                <a:ea typeface="Calibri"/>
                <a:cs typeface="Calibri"/>
                <a:sym typeface="Calibri"/>
              </a:defRPr>
            </a:lvl2pPr>
            <a:lvl3pPr marL="1371600" lvl="2" indent="-342900" rtl="0">
              <a:spcBef>
                <a:spcPts val="0"/>
              </a:spcBef>
              <a:spcAft>
                <a:spcPts val="0"/>
              </a:spcAft>
              <a:buSzPts val="1800"/>
              <a:buFont typeface="Calibri"/>
              <a:buChar char="■"/>
              <a:defRPr sz="1800">
                <a:latin typeface="Calibri"/>
                <a:ea typeface="Calibri"/>
                <a:cs typeface="Calibri"/>
                <a:sym typeface="Calibri"/>
              </a:defRPr>
            </a:lvl3pPr>
            <a:lvl4pPr marL="1828800" lvl="3" indent="-342900" rtl="0">
              <a:spcBef>
                <a:spcPts val="0"/>
              </a:spcBef>
              <a:spcAft>
                <a:spcPts val="0"/>
              </a:spcAft>
              <a:buSzPts val="1800"/>
              <a:buFont typeface="Calibri"/>
              <a:buChar char="●"/>
              <a:defRPr>
                <a:latin typeface="Calibri"/>
                <a:ea typeface="Calibri"/>
                <a:cs typeface="Calibri"/>
                <a:sym typeface="Calibri"/>
              </a:defRPr>
            </a:lvl4pPr>
            <a:lvl5pPr marL="2286000" lvl="4" indent="-342900" rtl="0">
              <a:spcBef>
                <a:spcPts val="0"/>
              </a:spcBef>
              <a:spcAft>
                <a:spcPts val="0"/>
              </a:spcAft>
              <a:buSzPts val="1800"/>
              <a:buFont typeface="Calibri"/>
              <a:buChar char="○"/>
              <a:defRPr sz="1800">
                <a:latin typeface="Calibri"/>
                <a:ea typeface="Calibri"/>
                <a:cs typeface="Calibri"/>
                <a:sym typeface="Calibri"/>
              </a:defRPr>
            </a:lvl5pPr>
            <a:lvl6pPr marL="2743200" lvl="5" indent="-342900" rtl="0">
              <a:spcBef>
                <a:spcPts val="0"/>
              </a:spcBef>
              <a:spcAft>
                <a:spcPts val="0"/>
              </a:spcAft>
              <a:buSzPts val="1800"/>
              <a:buFont typeface="Calibri"/>
              <a:buChar char="■"/>
              <a:defRPr sz="1800">
                <a:latin typeface="Calibri"/>
                <a:ea typeface="Calibri"/>
                <a:cs typeface="Calibri"/>
                <a:sym typeface="Calibri"/>
              </a:defRPr>
            </a:lvl6pPr>
            <a:lvl7pPr marL="3200400" lvl="6" indent="-342900" rtl="0">
              <a:spcBef>
                <a:spcPts val="0"/>
              </a:spcBef>
              <a:spcAft>
                <a:spcPts val="0"/>
              </a:spcAft>
              <a:buSzPts val="1800"/>
              <a:buFont typeface="Calibri"/>
              <a:buChar char="●"/>
              <a:defRPr sz="1800">
                <a:latin typeface="Calibri"/>
                <a:ea typeface="Calibri"/>
                <a:cs typeface="Calibri"/>
                <a:sym typeface="Calibri"/>
              </a:defRPr>
            </a:lvl7pPr>
            <a:lvl8pPr marL="3657600" lvl="7" indent="-342900" rtl="0">
              <a:spcBef>
                <a:spcPts val="0"/>
              </a:spcBef>
              <a:spcAft>
                <a:spcPts val="0"/>
              </a:spcAft>
              <a:buSzPts val="1800"/>
              <a:buFont typeface="Calibri"/>
              <a:buChar char="○"/>
              <a:defRPr sz="1800">
                <a:latin typeface="Calibri"/>
                <a:ea typeface="Calibri"/>
                <a:cs typeface="Calibri"/>
                <a:sym typeface="Calibri"/>
              </a:defRPr>
            </a:lvl8pPr>
            <a:lvl9pPr marL="4114800" lvl="8" indent="-342900" rtl="0">
              <a:spcBef>
                <a:spcPts val="0"/>
              </a:spcBef>
              <a:spcAft>
                <a:spcPts val="0"/>
              </a:spcAft>
              <a:buSzPts val="1800"/>
              <a:buFont typeface="Calibri"/>
              <a:buChar char="■"/>
              <a:defRPr sz="1800">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928950" y="2143050"/>
            <a:ext cx="7286100" cy="857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rgbClr val="BE0712"/>
              </a:buClr>
              <a:buSzPts val="3200"/>
              <a:buFont typeface="Calibri"/>
              <a:buNone/>
              <a:defRPr sz="3200" b="1">
                <a:solidFill>
                  <a:srgbClr val="BE0712"/>
                </a:solidFill>
                <a:latin typeface="Calibri"/>
                <a:ea typeface="Calibri"/>
                <a:cs typeface="Calibri"/>
                <a:sym typeface="Calibri"/>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9"/>
        <p:cNvGrpSpPr/>
        <p:nvPr/>
      </p:nvGrpSpPr>
      <p:grpSpPr>
        <a:xfrm>
          <a:off x="0" y="0"/>
          <a:ext cx="0" cy="0"/>
          <a:chOff x="0" y="0"/>
          <a:chExt cx="0" cy="0"/>
        </a:xfrm>
      </p:grpSpPr>
      <p:sp>
        <p:nvSpPr>
          <p:cNvPr id="20" name="Google Shape;20;p5"/>
          <p:cNvSpPr txBox="1">
            <a:spLocks noGrp="1"/>
          </p:cNvSpPr>
          <p:nvPr>
            <p:ph type="body" idx="1"/>
          </p:nvPr>
        </p:nvSpPr>
        <p:spPr>
          <a:xfrm>
            <a:off x="457200" y="215309"/>
            <a:ext cx="8229600" cy="519600"/>
          </a:xfrm>
          <a:prstGeom prst="rect">
            <a:avLst/>
          </a:prstGeom>
          <a:noFill/>
          <a:ln>
            <a:noFill/>
          </a:ln>
        </p:spPr>
        <p:txBody>
          <a:bodyPr spcFirstLastPara="1" wrap="square" lIns="91425" tIns="91425" rIns="91425" bIns="91425" anchor="t" anchorCtr="0">
            <a:noAutofit/>
          </a:bodyPr>
          <a:lstStyle>
            <a:lvl1pPr marL="457200" lvl="0" indent="-342900" algn="ctr" rtl="0">
              <a:lnSpc>
                <a:spcPct val="100000"/>
              </a:lnSpc>
              <a:spcBef>
                <a:spcPts val="360"/>
              </a:spcBef>
              <a:spcAft>
                <a:spcPts val="0"/>
              </a:spcAft>
              <a:buClr>
                <a:schemeClr val="dk1"/>
              </a:buClr>
              <a:buSzPts val="1800"/>
              <a:buFont typeface="Arial"/>
              <a:buChar char="●"/>
              <a:defRPr sz="1800">
                <a:solidFill>
                  <a:schemeClr val="dk1"/>
                </a:solidFill>
              </a:defRPr>
            </a:lvl1pPr>
            <a:lvl2pPr marL="914400" lvl="1" indent="-342900" algn="ctr" rtl="0">
              <a:lnSpc>
                <a:spcPct val="100000"/>
              </a:lnSpc>
              <a:spcBef>
                <a:spcPts val="0"/>
              </a:spcBef>
              <a:spcAft>
                <a:spcPts val="0"/>
              </a:spcAft>
              <a:buClr>
                <a:schemeClr val="dk1"/>
              </a:buClr>
              <a:buSzPts val="1800"/>
              <a:buFont typeface="Arial"/>
              <a:buChar char="○"/>
              <a:defRPr sz="1800">
                <a:solidFill>
                  <a:schemeClr val="dk1"/>
                </a:solidFill>
              </a:defRPr>
            </a:lvl2pPr>
            <a:lvl3pPr marL="1371600" lvl="2" indent="-342900" algn="ctr" rtl="0">
              <a:lnSpc>
                <a:spcPct val="100000"/>
              </a:lnSpc>
              <a:spcBef>
                <a:spcPts val="0"/>
              </a:spcBef>
              <a:spcAft>
                <a:spcPts val="0"/>
              </a:spcAft>
              <a:buClr>
                <a:schemeClr val="dk1"/>
              </a:buClr>
              <a:buSzPts val="1800"/>
              <a:buFont typeface="Arial"/>
              <a:buChar char="■"/>
              <a:defRPr sz="1800">
                <a:solidFill>
                  <a:schemeClr val="dk1"/>
                </a:solidFill>
              </a:defRPr>
            </a:lvl3pPr>
            <a:lvl4pPr marL="1828800" lvl="3" indent="-342900" algn="ctr" rtl="0">
              <a:lnSpc>
                <a:spcPct val="100000"/>
              </a:lnSpc>
              <a:spcBef>
                <a:spcPts val="0"/>
              </a:spcBef>
              <a:spcAft>
                <a:spcPts val="0"/>
              </a:spcAft>
              <a:buClr>
                <a:schemeClr val="dk1"/>
              </a:buClr>
              <a:buSzPts val="1800"/>
              <a:buFont typeface="Arial"/>
              <a:buChar char="●"/>
              <a:defRPr sz="1800">
                <a:solidFill>
                  <a:schemeClr val="dk1"/>
                </a:solidFill>
              </a:defRPr>
            </a:lvl4pPr>
            <a:lvl5pPr marL="2286000" lvl="4" indent="-342900" algn="ctr" rtl="0">
              <a:lnSpc>
                <a:spcPct val="100000"/>
              </a:lnSpc>
              <a:spcBef>
                <a:spcPts val="0"/>
              </a:spcBef>
              <a:spcAft>
                <a:spcPts val="0"/>
              </a:spcAft>
              <a:buClr>
                <a:schemeClr val="dk1"/>
              </a:buClr>
              <a:buSzPts val="1800"/>
              <a:buFont typeface="Arial"/>
              <a:buChar char="○"/>
              <a:defRPr sz="1800">
                <a:solidFill>
                  <a:schemeClr val="dk1"/>
                </a:solidFill>
              </a:defRPr>
            </a:lvl5pPr>
            <a:lvl6pPr marL="2743200" lvl="5" indent="-342900" algn="ctr" rtl="0">
              <a:lnSpc>
                <a:spcPct val="100000"/>
              </a:lnSpc>
              <a:spcBef>
                <a:spcPts val="0"/>
              </a:spcBef>
              <a:spcAft>
                <a:spcPts val="0"/>
              </a:spcAft>
              <a:buClr>
                <a:schemeClr val="dk1"/>
              </a:buClr>
              <a:buSzPts val="1800"/>
              <a:buFont typeface="Arial"/>
              <a:buChar char="■"/>
              <a:defRPr sz="1800">
                <a:solidFill>
                  <a:schemeClr val="dk1"/>
                </a:solidFill>
              </a:defRPr>
            </a:lvl6pPr>
            <a:lvl7pPr marL="3200400" lvl="6" indent="-342900" algn="ctr" rtl="0">
              <a:lnSpc>
                <a:spcPct val="100000"/>
              </a:lnSpc>
              <a:spcBef>
                <a:spcPts val="0"/>
              </a:spcBef>
              <a:spcAft>
                <a:spcPts val="0"/>
              </a:spcAft>
              <a:buClr>
                <a:schemeClr val="dk1"/>
              </a:buClr>
              <a:buSzPts val="1800"/>
              <a:buFont typeface="Arial"/>
              <a:buChar char="●"/>
              <a:defRPr sz="1800">
                <a:solidFill>
                  <a:schemeClr val="dk1"/>
                </a:solidFill>
              </a:defRPr>
            </a:lvl7pPr>
            <a:lvl8pPr marL="3657600" lvl="7" indent="-342900" algn="ctr" rtl="0">
              <a:lnSpc>
                <a:spcPct val="100000"/>
              </a:lnSpc>
              <a:spcBef>
                <a:spcPts val="0"/>
              </a:spcBef>
              <a:spcAft>
                <a:spcPts val="0"/>
              </a:spcAft>
              <a:buClr>
                <a:schemeClr val="dk1"/>
              </a:buClr>
              <a:buSzPts val="1800"/>
              <a:buFont typeface="Arial"/>
              <a:buChar char="○"/>
              <a:defRPr sz="1800">
                <a:solidFill>
                  <a:schemeClr val="dk1"/>
                </a:solidFill>
              </a:defRPr>
            </a:lvl8pPr>
            <a:lvl9pPr marL="4114800" lvl="8" indent="-342900" algn="ctr" rtl="0">
              <a:lnSpc>
                <a:spcPct val="100000"/>
              </a:lnSpc>
              <a:spcBef>
                <a:spcPts val="0"/>
              </a:spcBef>
              <a:spcAft>
                <a:spcPts val="0"/>
              </a:spcAft>
              <a:buClr>
                <a:schemeClr val="dk1"/>
              </a:buClr>
              <a:buSzPts val="1800"/>
              <a:buFont typeface="Arial"/>
              <a:buChar char="■"/>
              <a:defRPr sz="1800">
                <a:solidFill>
                  <a:schemeClr val="dk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2">
  <p:cSld name="BLANK_2">
    <p:spTree>
      <p:nvGrpSpPr>
        <p:cNvPr id="1" name="Shape 22"/>
        <p:cNvGrpSpPr/>
        <p:nvPr/>
      </p:nvGrpSpPr>
      <p:grpSpPr>
        <a:xfrm>
          <a:off x="0" y="0"/>
          <a:ext cx="0" cy="0"/>
          <a:chOff x="0" y="0"/>
          <a:chExt cx="0" cy="0"/>
        </a:xfrm>
      </p:grpSpPr>
      <p:graphicFrame>
        <p:nvGraphicFramePr>
          <p:cNvPr id="23" name="Google Shape;23;p7"/>
          <p:cNvGraphicFramePr/>
          <p:nvPr/>
        </p:nvGraphicFramePr>
        <p:xfrm>
          <a:off x="952500" y="2001400"/>
          <a:ext cx="3000000" cy="3000000"/>
        </p:xfrm>
        <a:graphic>
          <a:graphicData uri="http://schemas.openxmlformats.org/drawingml/2006/table">
            <a:tbl>
              <a:tblPr>
                <a:noFill/>
                <a:tableStyleId>{6436D996-6D66-4ABA-853D-459B0397D2C1}</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lnSpc>
                          <a:spcPct val="150000"/>
                        </a:lnSpc>
                        <a:spcBef>
                          <a:spcPts val="0"/>
                        </a:spcBef>
                        <a:spcAft>
                          <a:spcPts val="0"/>
                        </a:spcAft>
                        <a:buNone/>
                      </a:pPr>
                      <a:r>
                        <a:rPr lang="en" sz="900">
                          <a:solidFill>
                            <a:srgbClr val="ECEFF1"/>
                          </a:solidFill>
                          <a:latin typeface="Roboto Mono"/>
                          <a:ea typeface="Roboto Mono"/>
                          <a:cs typeface="Roboto Mono"/>
                          <a:sym typeface="Roboto Mono"/>
                        </a:rPr>
                        <a:t>my_code = goes_here</a:t>
                      </a:r>
                      <a:endParaRPr/>
                    </a:p>
                  </a:txBody>
                  <a:tcPr marL="91425" marR="91425" marT="91425" marB="91425">
                    <a:solidFill>
                      <a:srgbClr val="212121"/>
                    </a:solidFill>
                  </a:tcPr>
                </a:tc>
                <a:extLst>
                  <a:ext uri="{0D108BD9-81ED-4DB2-BD59-A6C34878D82A}">
                    <a16:rowId xmlns:a16="http://schemas.microsoft.com/office/drawing/2014/main" val="10000"/>
                  </a:ext>
                </a:extLst>
              </a:tr>
            </a:tbl>
          </a:graphicData>
        </a:graphic>
      </p:graphicFrame>
      <p:sp>
        <p:nvSpPr>
          <p:cNvPr id="24" name="Google Shape;24;p7"/>
          <p:cNvSpPr txBox="1"/>
          <p:nvPr/>
        </p:nvSpPr>
        <p:spPr>
          <a:xfrm>
            <a:off x="995850" y="1344900"/>
            <a:ext cx="45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latin typeface="Calibri"/>
                <a:ea typeface="Calibri"/>
                <a:cs typeface="Calibri"/>
                <a:sym typeface="Calibri"/>
                <a:hlinkClick r:id="rId2"/>
              </a:rPr>
              <a:t>https://romannurik.github.io/SlidesCodeHighlighter/</a:t>
            </a:r>
            <a:endParaRPr>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D9EAD3"/>
        </a:solidFill>
        <a:effectLst/>
      </p:bgPr>
    </p:bg>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BE0712"/>
              </a:buClr>
              <a:buSzPts val="4800"/>
              <a:buNone/>
              <a:defRPr sz="4800">
                <a:solidFill>
                  <a:srgbClr val="BE0712"/>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29" name="Google Shape;29;p9"/>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2pPr>
            <a:lvl3pPr lvl="2"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3pPr>
            <a:lvl4pPr lvl="3"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4pPr>
            <a:lvl5pPr lvl="4"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5pPr>
            <a:lvl6pPr lvl="5"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6pPr>
            <a:lvl7pPr lvl="6"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7pPr>
            <a:lvl8pPr lvl="7"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8pPr>
            <a:lvl9pPr lvl="8"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419100" algn="l" rtl="0">
              <a:spcBef>
                <a:spcPts val="600"/>
              </a:spcBef>
              <a:spcAft>
                <a:spcPts val="0"/>
              </a:spcAft>
              <a:buClr>
                <a:schemeClr val="dk1"/>
              </a:buClr>
              <a:buSzPts val="3000"/>
              <a:buFont typeface="Calibri"/>
              <a:buChar char="●"/>
              <a:defRPr sz="3000" i="0" u="none" strike="noStrike" cap="none">
                <a:solidFill>
                  <a:schemeClr val="dk1"/>
                </a:solidFill>
                <a:latin typeface="Calibri"/>
                <a:ea typeface="Calibri"/>
                <a:cs typeface="Calibri"/>
                <a:sym typeface="Calibri"/>
              </a:defRPr>
            </a:lvl1pPr>
            <a:lvl2pPr marL="914400" lvl="1" indent="-381000" algn="l" rtl="0">
              <a:spcBef>
                <a:spcPts val="0"/>
              </a:spcBef>
              <a:spcAft>
                <a:spcPts val="0"/>
              </a:spcAft>
              <a:buClr>
                <a:schemeClr val="dk1"/>
              </a:buClr>
              <a:buSzPts val="2400"/>
              <a:buFont typeface="Calibri"/>
              <a:buChar char="○"/>
              <a:defRPr sz="2400" i="0" u="none" strike="noStrike" cap="none">
                <a:solidFill>
                  <a:schemeClr val="dk1"/>
                </a:solidFill>
                <a:latin typeface="Calibri"/>
                <a:ea typeface="Calibri"/>
                <a:cs typeface="Calibri"/>
                <a:sym typeface="Calibri"/>
              </a:defRPr>
            </a:lvl2pPr>
            <a:lvl3pPr marL="1371600" lvl="2" indent="-381000" algn="l" rtl="0">
              <a:spcBef>
                <a:spcPts val="0"/>
              </a:spcBef>
              <a:spcAft>
                <a:spcPts val="0"/>
              </a:spcAft>
              <a:buClr>
                <a:schemeClr val="dk1"/>
              </a:buClr>
              <a:buSzPts val="2400"/>
              <a:buFont typeface="Calibri"/>
              <a:buChar char="■"/>
              <a:defRPr sz="2400" i="0" u="none" strike="noStrike" cap="none">
                <a:solidFill>
                  <a:schemeClr val="dk1"/>
                </a:solidFill>
                <a:latin typeface="Calibri"/>
                <a:ea typeface="Calibri"/>
                <a:cs typeface="Calibri"/>
                <a:sym typeface="Calibri"/>
              </a:defRPr>
            </a:lvl3pPr>
            <a:lvl4pPr marL="1828800" lvl="3"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4pPr>
            <a:lvl5pPr marL="2286000" lvl="4"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5pPr>
            <a:lvl6pPr marL="2743200" lvl="5"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6pPr>
            <a:lvl7pPr marL="3200400" lvl="6"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7pPr>
            <a:lvl8pPr marL="3657600" lvl="7"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8pPr>
            <a:lvl9pPr marL="4114800" lvl="8" indent="-342900" algn="l" rtl="0">
              <a:spcBef>
                <a:spcPts val="0"/>
              </a:spcBef>
              <a:spcAft>
                <a:spcPts val="0"/>
              </a:spcAft>
              <a:buClr>
                <a:schemeClr val="dk1"/>
              </a:buClr>
              <a:buSzPts val="1800"/>
              <a:buFont typeface="Calibri"/>
              <a:buChar char="■"/>
              <a:defRPr sz="1800" i="0" u="none" strike="noStrike" cap="none">
                <a:solidFill>
                  <a:schemeClr val="dk1"/>
                </a:solidFill>
                <a:latin typeface="Calibri"/>
                <a:ea typeface="Calibri"/>
                <a:cs typeface="Calibri"/>
                <a:sym typeface="Calibri"/>
              </a:defRPr>
            </a:lvl9pPr>
          </a:lstStyle>
          <a:p>
            <a:endParaRPr/>
          </a:p>
        </p:txBody>
      </p:sp>
      <p:pic>
        <p:nvPicPr>
          <p:cNvPr id="8" name="Google Shape;8;p1"/>
          <p:cNvPicPr preferRelativeResize="0"/>
          <p:nvPr/>
        </p:nvPicPr>
        <p:blipFill>
          <a:blip r:embed="rId10">
            <a:alphaModFix/>
          </a:blip>
          <a:stretch>
            <a:fillRect/>
          </a:stretch>
        </p:blipFill>
        <p:spPr>
          <a:xfrm>
            <a:off x="7687275" y="4426575"/>
            <a:ext cx="1411026" cy="6680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moneyblognewz/526990360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hyperlink" Target="https://www.flickr.com/photos/moneyblognewz/526990360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hyperlink" Target="https://www.flickr.com/photos/moneyblognewz/526990360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hyperlink" Target="https://www.needpix.com/photo/95394/cumulation-paper-pile-sort-stack"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10"/>
          <p:cNvSpPr txBox="1">
            <a:spLocks noGrp="1"/>
          </p:cNvSpPr>
          <p:nvPr>
            <p:ph type="ctrTitle"/>
          </p:nvPr>
        </p:nvSpPr>
        <p:spPr>
          <a:xfrm>
            <a:off x="211425" y="1941275"/>
            <a:ext cx="5206200" cy="7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AddisCoder: Week 2</a:t>
            </a:r>
            <a:endParaRPr/>
          </a:p>
        </p:txBody>
      </p:sp>
      <p:sp>
        <p:nvSpPr>
          <p:cNvPr id="35" name="Google Shape;35;p10"/>
          <p:cNvSpPr txBox="1">
            <a:spLocks noGrp="1"/>
          </p:cNvSpPr>
          <p:nvPr>
            <p:ph type="subTitle" idx="1"/>
          </p:nvPr>
        </p:nvSpPr>
        <p:spPr>
          <a:xfrm>
            <a:off x="161925" y="2612325"/>
            <a:ext cx="8670600" cy="23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Lecture 9B/10: </a:t>
            </a:r>
            <a:endParaRPr/>
          </a:p>
          <a:p>
            <a:pPr marL="457200" lvl="0" indent="-381000" algn="l" rtl="0">
              <a:spcBef>
                <a:spcPts val="0"/>
              </a:spcBef>
              <a:spcAft>
                <a:spcPts val="0"/>
              </a:spcAft>
              <a:buSzPts val="2400"/>
              <a:buChar char="●"/>
            </a:pPr>
            <a:r>
              <a:rPr lang="en"/>
              <a:t>Time Complexity</a:t>
            </a:r>
            <a:endParaRPr/>
          </a:p>
        </p:txBody>
      </p:sp>
      <p:pic>
        <p:nvPicPr>
          <p:cNvPr id="36" name="Google Shape;36;p10"/>
          <p:cNvPicPr preferRelativeResize="0"/>
          <p:nvPr/>
        </p:nvPicPr>
        <p:blipFill>
          <a:blip r:embed="rId3">
            <a:alphaModFix/>
          </a:blip>
          <a:stretch>
            <a:fillRect/>
          </a:stretch>
        </p:blipFill>
        <p:spPr>
          <a:xfrm>
            <a:off x="5167400" y="392575"/>
            <a:ext cx="2854851" cy="28548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Algorithms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47" name="Google Shape;47;p12"/>
          <p:cNvSpPr txBox="1">
            <a:spLocks noGrp="1"/>
          </p:cNvSpPr>
          <p:nvPr>
            <p:ph type="body" idx="1"/>
          </p:nvPr>
        </p:nvSpPr>
        <p:spPr>
          <a:xfrm>
            <a:off x="243000" y="556500"/>
            <a:ext cx="7439248"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An </a:t>
            </a:r>
            <a:r>
              <a:rPr lang="en" b="1" dirty="0"/>
              <a:t>algorithm</a:t>
            </a:r>
            <a:r>
              <a:rPr lang="en" dirty="0"/>
              <a:t> is the process that you use to get to an answer. It is the series of steps that you execute to to solve a problem. </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For each of these paths, the rule that you decide where to turn </a:t>
            </a:r>
            <a:r>
              <a:rPr lang="en" i="1" dirty="0"/>
              <a:t>is</a:t>
            </a:r>
            <a:r>
              <a:rPr lang="en" dirty="0"/>
              <a:t> your algorithm. The path itself is the solution that your algorithm comes up with.</a:t>
            </a:r>
            <a:endParaRPr dirty="0"/>
          </a:p>
          <a:p>
            <a:pPr marL="0" lvl="0" indent="0" algn="l" rtl="0">
              <a:spcBef>
                <a:spcPts val="600"/>
              </a:spcBef>
              <a:spcAft>
                <a:spcPts val="0"/>
              </a:spcAft>
              <a:buNone/>
            </a:pPr>
            <a:r>
              <a:rPr lang="en" u="sng" dirty="0"/>
              <a:t>Algorithm for Solution 3</a:t>
            </a:r>
            <a:endParaRPr u="sng" dirty="0"/>
          </a:p>
          <a:p>
            <a:pPr marL="0" lvl="0" indent="0" algn="l" rtl="0">
              <a:spcBef>
                <a:spcPts val="600"/>
              </a:spcBef>
              <a:spcAft>
                <a:spcPts val="0"/>
              </a:spcAft>
              <a:buNone/>
            </a:pPr>
            <a:r>
              <a:rPr lang="en" dirty="0"/>
              <a:t>At each intersection, take a turn if that puts me closer to the White House. </a:t>
            </a:r>
            <a:endParaRPr dirty="0"/>
          </a:p>
          <a:p>
            <a:pPr marL="0" lvl="0" indent="0" algn="l" rtl="0">
              <a:spcBef>
                <a:spcPts val="600"/>
              </a:spcBef>
              <a:spcAft>
                <a:spcPts val="0"/>
              </a:spcAft>
              <a:buNone/>
            </a:pPr>
            <a:r>
              <a:rPr lang="en" u="sng" dirty="0"/>
              <a:t>Algorithm for Solution 4</a:t>
            </a:r>
            <a:endParaRPr u="sng" dirty="0"/>
          </a:p>
          <a:p>
            <a:pPr marL="0" lvl="0" indent="0" algn="l" rtl="0">
              <a:spcBef>
                <a:spcPts val="600"/>
              </a:spcBef>
              <a:spcAft>
                <a:spcPts val="0"/>
              </a:spcAft>
              <a:buNone/>
            </a:pPr>
            <a:r>
              <a:rPr lang="en" dirty="0"/>
              <a:t>At each intersection, make a random turn. Walk until you see the White House.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53" name="Google Shape;53;p13"/>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Examples of other algorithms</a:t>
            </a:r>
            <a:endParaRPr sz="1900"/>
          </a:p>
          <a:p>
            <a:pPr marL="0" lvl="0" indent="0" algn="l" rtl="0">
              <a:spcBef>
                <a:spcPts val="600"/>
              </a:spcBef>
              <a:spcAft>
                <a:spcPts val="0"/>
              </a:spcAft>
              <a:buNone/>
            </a:pP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59" name="Google Shape;59;p14"/>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Examples of other algorithms</a:t>
            </a:r>
            <a:endParaRPr sz="1900"/>
          </a:p>
          <a:p>
            <a:pPr marL="457200" lvl="0" indent="-349250" algn="l" rtl="0">
              <a:spcBef>
                <a:spcPts val="600"/>
              </a:spcBef>
              <a:spcAft>
                <a:spcPts val="0"/>
              </a:spcAft>
              <a:buSzPts val="1900"/>
              <a:buChar char="●"/>
            </a:pPr>
            <a:r>
              <a:rPr lang="en" sz="1900"/>
              <a:t>How to make change as a shopkeeper</a:t>
            </a:r>
            <a:endParaRPr sz="1900"/>
          </a:p>
        </p:txBody>
      </p:sp>
      <p:pic>
        <p:nvPicPr>
          <p:cNvPr id="60" name="Google Shape;60;p14">
            <a:hlinkClick r:id="rId3"/>
          </p:cNvPr>
          <p:cNvPicPr preferRelativeResize="0"/>
          <p:nvPr/>
        </p:nvPicPr>
        <p:blipFill>
          <a:blip r:embed="rId4">
            <a:alphaModFix/>
          </a:blip>
          <a:stretch>
            <a:fillRect/>
          </a:stretch>
        </p:blipFill>
        <p:spPr>
          <a:xfrm>
            <a:off x="6362073" y="812400"/>
            <a:ext cx="2141350" cy="1643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66" name="Google Shape;66;p15"/>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Examples of other algorithms</a:t>
            </a:r>
            <a:endParaRPr sz="1900"/>
          </a:p>
          <a:p>
            <a:pPr marL="457200" lvl="0" indent="-349250" algn="l" rtl="0">
              <a:spcBef>
                <a:spcPts val="600"/>
              </a:spcBef>
              <a:spcAft>
                <a:spcPts val="0"/>
              </a:spcAft>
              <a:buSzPts val="1900"/>
              <a:buChar char="●"/>
            </a:pPr>
            <a:r>
              <a:rPr lang="en" sz="1900"/>
              <a:t>How to make change as a shopkeeper</a:t>
            </a:r>
            <a:endParaRPr sz="1900"/>
          </a:p>
          <a:p>
            <a:pPr marL="0" lvl="0" indent="0" algn="l" rtl="0">
              <a:spcBef>
                <a:spcPts val="600"/>
              </a:spcBef>
              <a:spcAft>
                <a:spcPts val="0"/>
              </a:spcAft>
              <a:buNone/>
            </a:pPr>
            <a:endParaRPr sz="1900"/>
          </a:p>
          <a:p>
            <a:pPr marL="0" lvl="0" indent="0" algn="l" rtl="0">
              <a:spcBef>
                <a:spcPts val="600"/>
              </a:spcBef>
              <a:spcAft>
                <a:spcPts val="0"/>
              </a:spcAft>
              <a:buNone/>
            </a:pPr>
            <a:endParaRPr sz="1900"/>
          </a:p>
          <a:p>
            <a:pPr marL="0" lvl="0" indent="0" algn="l" rtl="0">
              <a:spcBef>
                <a:spcPts val="600"/>
              </a:spcBef>
              <a:spcAft>
                <a:spcPts val="0"/>
              </a:spcAft>
              <a:buNone/>
            </a:pPr>
            <a:endParaRPr sz="1900"/>
          </a:p>
          <a:p>
            <a:pPr marL="0" lvl="0" indent="0" algn="l" rtl="0">
              <a:spcBef>
                <a:spcPts val="600"/>
              </a:spcBef>
              <a:spcAft>
                <a:spcPts val="0"/>
              </a:spcAft>
              <a:buNone/>
            </a:pPr>
            <a:r>
              <a:rPr lang="en" sz="1900"/>
              <a:t>Algorithm 1:</a:t>
            </a:r>
            <a:endParaRPr sz="1900"/>
          </a:p>
          <a:p>
            <a:pPr marL="914400" lvl="0" indent="-349250" algn="l" rtl="0">
              <a:spcBef>
                <a:spcPts val="600"/>
              </a:spcBef>
              <a:spcAft>
                <a:spcPts val="0"/>
              </a:spcAft>
              <a:buSzPts val="1900"/>
              <a:buAutoNum type="arabicPeriod"/>
            </a:pPr>
            <a:r>
              <a:rPr lang="en" sz="1900"/>
              <a:t>For the change amount, give the largest coin that is less than the remaining change amount, and subtract from remaining change to give.</a:t>
            </a:r>
            <a:endParaRPr sz="1900"/>
          </a:p>
          <a:p>
            <a:pPr marL="914400" lvl="0" indent="-349250" algn="l" rtl="0">
              <a:spcBef>
                <a:spcPts val="0"/>
              </a:spcBef>
              <a:spcAft>
                <a:spcPts val="0"/>
              </a:spcAft>
              <a:buSzPts val="1900"/>
              <a:buAutoNum type="arabicPeriod"/>
            </a:pPr>
            <a:r>
              <a:rPr lang="en" sz="1900"/>
              <a:t>Repeat step 1 over and over (until remaining change to give is $0.00)</a:t>
            </a:r>
            <a:endParaRPr sz="1900"/>
          </a:p>
          <a:p>
            <a:pPr marL="0" lvl="0" indent="0" algn="l" rtl="0">
              <a:spcBef>
                <a:spcPts val="600"/>
              </a:spcBef>
              <a:spcAft>
                <a:spcPts val="0"/>
              </a:spcAft>
              <a:buNone/>
            </a:pPr>
            <a:endParaRPr sz="1900"/>
          </a:p>
        </p:txBody>
      </p:sp>
      <p:pic>
        <p:nvPicPr>
          <p:cNvPr id="67" name="Google Shape;67;p15">
            <a:hlinkClick r:id="rId3"/>
          </p:cNvPr>
          <p:cNvPicPr preferRelativeResize="0"/>
          <p:nvPr/>
        </p:nvPicPr>
        <p:blipFill>
          <a:blip r:embed="rId4">
            <a:alphaModFix/>
          </a:blip>
          <a:stretch>
            <a:fillRect/>
          </a:stretch>
        </p:blipFill>
        <p:spPr>
          <a:xfrm>
            <a:off x="6362073" y="812400"/>
            <a:ext cx="2141350" cy="1643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73" name="Google Shape;73;p1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Examples of other algorithms</a:t>
            </a:r>
            <a:endParaRPr sz="1900"/>
          </a:p>
          <a:p>
            <a:pPr marL="457200" lvl="0" indent="-349250" algn="l" rtl="0">
              <a:spcBef>
                <a:spcPts val="600"/>
              </a:spcBef>
              <a:spcAft>
                <a:spcPts val="0"/>
              </a:spcAft>
              <a:buSzPts val="1900"/>
              <a:buChar char="●"/>
            </a:pPr>
            <a:r>
              <a:rPr lang="en" sz="1900"/>
              <a:t>How to make change as a shopkeeper</a:t>
            </a:r>
            <a:endParaRPr sz="1900"/>
          </a:p>
          <a:p>
            <a:pPr marL="0" lvl="0" indent="0" algn="l" rtl="0">
              <a:spcBef>
                <a:spcPts val="600"/>
              </a:spcBef>
              <a:spcAft>
                <a:spcPts val="0"/>
              </a:spcAft>
              <a:buNone/>
            </a:pPr>
            <a:endParaRPr sz="1900"/>
          </a:p>
          <a:p>
            <a:pPr marL="0" lvl="0" indent="0" algn="l" rtl="0">
              <a:spcBef>
                <a:spcPts val="600"/>
              </a:spcBef>
              <a:spcAft>
                <a:spcPts val="0"/>
              </a:spcAft>
              <a:buNone/>
            </a:pPr>
            <a:endParaRPr sz="1900"/>
          </a:p>
          <a:p>
            <a:pPr marL="0" lvl="0" indent="0" algn="l" rtl="0">
              <a:spcBef>
                <a:spcPts val="600"/>
              </a:spcBef>
              <a:spcAft>
                <a:spcPts val="0"/>
              </a:spcAft>
              <a:buNone/>
            </a:pPr>
            <a:endParaRPr sz="1900"/>
          </a:p>
          <a:p>
            <a:pPr marL="0" lvl="0" indent="0" algn="l" rtl="0">
              <a:spcBef>
                <a:spcPts val="600"/>
              </a:spcBef>
              <a:spcAft>
                <a:spcPts val="0"/>
              </a:spcAft>
              <a:buNone/>
            </a:pPr>
            <a:r>
              <a:rPr lang="en" sz="1900"/>
              <a:t>Algorithm 2:</a:t>
            </a:r>
            <a:endParaRPr sz="1900"/>
          </a:p>
          <a:p>
            <a:pPr marL="914400" lvl="0" indent="-349250" algn="l" rtl="0">
              <a:spcBef>
                <a:spcPts val="600"/>
              </a:spcBef>
              <a:spcAft>
                <a:spcPts val="0"/>
              </a:spcAft>
              <a:buSzPts val="1900"/>
              <a:buAutoNum type="arabicPeriod"/>
            </a:pPr>
            <a:r>
              <a:rPr lang="en" sz="1900"/>
              <a:t>Given them change amount ($X.XX) * 100 pennies.</a:t>
            </a:r>
            <a:endParaRPr sz="1900"/>
          </a:p>
          <a:p>
            <a:pPr marL="0" lvl="0" indent="0" algn="l" rtl="0">
              <a:spcBef>
                <a:spcPts val="600"/>
              </a:spcBef>
              <a:spcAft>
                <a:spcPts val="0"/>
              </a:spcAft>
              <a:buNone/>
            </a:pPr>
            <a:endParaRPr sz="1900"/>
          </a:p>
        </p:txBody>
      </p:sp>
      <p:pic>
        <p:nvPicPr>
          <p:cNvPr id="74" name="Google Shape;74;p16">
            <a:hlinkClick r:id="rId3"/>
          </p:cNvPr>
          <p:cNvPicPr preferRelativeResize="0"/>
          <p:nvPr/>
        </p:nvPicPr>
        <p:blipFill>
          <a:blip r:embed="rId4">
            <a:alphaModFix/>
          </a:blip>
          <a:stretch>
            <a:fillRect/>
          </a:stretch>
        </p:blipFill>
        <p:spPr>
          <a:xfrm>
            <a:off x="6362073" y="812400"/>
            <a:ext cx="2141350" cy="1643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a:t>
            </a:r>
            <a:endParaRPr/>
          </a:p>
        </p:txBody>
      </p:sp>
      <p:sp>
        <p:nvSpPr>
          <p:cNvPr id="80" name="Google Shape;80;p17"/>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Examples of other algorithms</a:t>
            </a:r>
            <a:endParaRPr sz="1900"/>
          </a:p>
          <a:p>
            <a:pPr marL="457200" lvl="0" indent="-349250" algn="l" rtl="0">
              <a:spcBef>
                <a:spcPts val="600"/>
              </a:spcBef>
              <a:spcAft>
                <a:spcPts val="0"/>
              </a:spcAft>
              <a:buSzPts val="1900"/>
              <a:buChar char="●"/>
            </a:pPr>
            <a:r>
              <a:rPr lang="en" sz="1900"/>
              <a:t>How to sort a pile of exams into alphabetical order</a:t>
            </a:r>
            <a:endParaRPr sz="1900"/>
          </a:p>
          <a:p>
            <a:pPr marL="914400" lvl="0" indent="-349250" algn="l" rtl="0">
              <a:spcBef>
                <a:spcPts val="0"/>
              </a:spcBef>
              <a:spcAft>
                <a:spcPts val="0"/>
              </a:spcAft>
              <a:buSzPts val="1900"/>
              <a:buAutoNum type="arabicPeriod"/>
            </a:pPr>
            <a:r>
              <a:rPr lang="en" sz="1900"/>
              <a:t>Sort all papers into 26 piles by the first letter of the name only (A, B, …)</a:t>
            </a:r>
            <a:endParaRPr sz="1900"/>
          </a:p>
          <a:p>
            <a:pPr marL="914400" lvl="0" indent="-349250" algn="l" rtl="0">
              <a:spcBef>
                <a:spcPts val="0"/>
              </a:spcBef>
              <a:spcAft>
                <a:spcPts val="0"/>
              </a:spcAft>
              <a:buSzPts val="1900"/>
              <a:buAutoNum type="arabicPeriod"/>
            </a:pPr>
            <a:r>
              <a:rPr lang="en" sz="1900"/>
              <a:t>Sort each of the 26 piles into 26 piles by the second letter of the name</a:t>
            </a:r>
            <a:endParaRPr sz="1900"/>
          </a:p>
          <a:p>
            <a:pPr marL="914400" lvl="0" indent="-349250" algn="l" rtl="0">
              <a:spcBef>
                <a:spcPts val="0"/>
              </a:spcBef>
              <a:spcAft>
                <a:spcPts val="0"/>
              </a:spcAft>
              <a:buSzPts val="1900"/>
              <a:buAutoNum type="arabicPeriod"/>
            </a:pPr>
            <a:r>
              <a:rPr lang="en" sz="1900"/>
              <a:t>Repeat until all piles are of size 1, then combine</a:t>
            </a:r>
            <a:endParaRPr sz="1900"/>
          </a:p>
          <a:p>
            <a:pPr marL="0" lvl="0" indent="0" algn="l" rtl="0">
              <a:spcBef>
                <a:spcPts val="600"/>
              </a:spcBef>
              <a:spcAft>
                <a:spcPts val="0"/>
              </a:spcAft>
              <a:buNone/>
            </a:pPr>
            <a:endParaRPr sz="1900"/>
          </a:p>
        </p:txBody>
      </p:sp>
      <p:pic>
        <p:nvPicPr>
          <p:cNvPr id="81" name="Google Shape;81;p17">
            <a:hlinkClick r:id="rId3"/>
          </p:cNvPr>
          <p:cNvPicPr preferRelativeResize="0"/>
          <p:nvPr/>
        </p:nvPicPr>
        <p:blipFill>
          <a:blip r:embed="rId4">
            <a:alphaModFix/>
          </a:blip>
          <a:stretch>
            <a:fillRect/>
          </a:stretch>
        </p:blipFill>
        <p:spPr>
          <a:xfrm>
            <a:off x="2288738" y="2372350"/>
            <a:ext cx="4352326" cy="2692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 in Industry</a:t>
            </a:r>
            <a:endParaRPr/>
          </a:p>
        </p:txBody>
      </p:sp>
      <p:sp>
        <p:nvSpPr>
          <p:cNvPr id="87" name="Google Shape;87;p18"/>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Recommender Systems</a:t>
            </a:r>
            <a:r>
              <a:rPr lang="en"/>
              <a:t>: a type of algorithm that recommends content to you based on what you’ve already watched (by looking at what other people with similar tastes have watched).</a:t>
            </a:r>
            <a:endParaRPr/>
          </a:p>
        </p:txBody>
      </p:sp>
      <p:pic>
        <p:nvPicPr>
          <p:cNvPr id="88" name="Google Shape;88;p18"/>
          <p:cNvPicPr preferRelativeResize="0"/>
          <p:nvPr/>
        </p:nvPicPr>
        <p:blipFill>
          <a:blip r:embed="rId3">
            <a:alphaModFix/>
          </a:blip>
          <a:stretch>
            <a:fillRect/>
          </a:stretch>
        </p:blipFill>
        <p:spPr>
          <a:xfrm>
            <a:off x="471596" y="2210250"/>
            <a:ext cx="3746600" cy="2714401"/>
          </a:xfrm>
          <a:prstGeom prst="rect">
            <a:avLst/>
          </a:prstGeom>
          <a:noFill/>
          <a:ln>
            <a:noFill/>
          </a:ln>
        </p:spPr>
      </p:pic>
      <p:pic>
        <p:nvPicPr>
          <p:cNvPr id="89" name="Google Shape;89;p18"/>
          <p:cNvPicPr preferRelativeResize="0"/>
          <p:nvPr/>
        </p:nvPicPr>
        <p:blipFill>
          <a:blip r:embed="rId4">
            <a:alphaModFix/>
          </a:blip>
          <a:stretch>
            <a:fillRect/>
          </a:stretch>
        </p:blipFill>
        <p:spPr>
          <a:xfrm>
            <a:off x="3066825" y="1775500"/>
            <a:ext cx="3039150" cy="1595551"/>
          </a:xfrm>
          <a:prstGeom prst="rect">
            <a:avLst/>
          </a:prstGeom>
          <a:noFill/>
          <a:ln>
            <a:noFill/>
          </a:ln>
          <a:effectLst>
            <a:outerShdw blurRad="57150" dist="19050" dir="5400000" algn="bl" rotWithShape="0">
              <a:srgbClr val="000000">
                <a:alpha val="50000"/>
              </a:srgbClr>
            </a:outerShdw>
          </a:effectLst>
        </p:spPr>
      </p:pic>
      <p:pic>
        <p:nvPicPr>
          <p:cNvPr id="90" name="Google Shape;90;p18"/>
          <p:cNvPicPr preferRelativeResize="0"/>
          <p:nvPr/>
        </p:nvPicPr>
        <p:blipFill>
          <a:blip r:embed="rId5">
            <a:alphaModFix/>
          </a:blip>
          <a:stretch>
            <a:fillRect/>
          </a:stretch>
        </p:blipFill>
        <p:spPr>
          <a:xfrm>
            <a:off x="4848200" y="2844750"/>
            <a:ext cx="3447949" cy="18700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Algorithms in Industry</a:t>
            </a:r>
            <a:endParaRPr/>
          </a:p>
        </p:txBody>
      </p:sp>
      <p:sp>
        <p:nvSpPr>
          <p:cNvPr id="96" name="Google Shape;96;p19"/>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Trading Algorithms</a:t>
            </a:r>
            <a:r>
              <a:rPr lang="en"/>
              <a:t>: financial algorithms that look at the historical stock price data and try to predict future pricing (so as to decide when is best to buy)</a:t>
            </a:r>
            <a:endParaRPr/>
          </a:p>
        </p:txBody>
      </p:sp>
      <p:pic>
        <p:nvPicPr>
          <p:cNvPr id="97" name="Google Shape;97;p19"/>
          <p:cNvPicPr preferRelativeResize="0"/>
          <p:nvPr/>
        </p:nvPicPr>
        <p:blipFill>
          <a:blip r:embed="rId3">
            <a:alphaModFix/>
          </a:blip>
          <a:stretch>
            <a:fillRect/>
          </a:stretch>
        </p:blipFill>
        <p:spPr>
          <a:xfrm>
            <a:off x="2306760" y="1692350"/>
            <a:ext cx="4316286" cy="30179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Tourist Walks</a:t>
            </a:r>
            <a:endParaRPr/>
          </a:p>
        </p:txBody>
      </p:sp>
      <p:sp>
        <p:nvSpPr>
          <p:cNvPr id="103" name="Google Shape;103;p20"/>
          <p:cNvSpPr txBox="1">
            <a:spLocks noGrp="1"/>
          </p:cNvSpPr>
          <p:nvPr>
            <p:ph type="body" idx="1"/>
          </p:nvPr>
        </p:nvSpPr>
        <p:spPr>
          <a:xfrm>
            <a:off x="5408000" y="556500"/>
            <a:ext cx="32787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Which of the 4 algorithms produced the best path?</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Depends on what you care about!</a:t>
            </a:r>
            <a:endParaRPr/>
          </a:p>
        </p:txBody>
      </p:sp>
      <p:grpSp>
        <p:nvGrpSpPr>
          <p:cNvPr id="104" name="Google Shape;104;p20"/>
          <p:cNvGrpSpPr/>
          <p:nvPr/>
        </p:nvGrpSpPr>
        <p:grpSpPr>
          <a:xfrm>
            <a:off x="58174" y="720142"/>
            <a:ext cx="2560151" cy="2128140"/>
            <a:chOff x="166800" y="587800"/>
            <a:chExt cx="5133649" cy="4267375"/>
          </a:xfrm>
        </p:grpSpPr>
        <p:pic>
          <p:nvPicPr>
            <p:cNvPr id="105" name="Google Shape;105;p20"/>
            <p:cNvPicPr preferRelativeResize="0"/>
            <p:nvPr/>
          </p:nvPicPr>
          <p:blipFill>
            <a:blip r:embed="rId3">
              <a:alphaModFix/>
            </a:blip>
            <a:stretch>
              <a:fillRect/>
            </a:stretch>
          </p:blipFill>
          <p:spPr>
            <a:xfrm>
              <a:off x="166800" y="587800"/>
              <a:ext cx="5133649" cy="4267375"/>
            </a:xfrm>
            <a:prstGeom prst="rect">
              <a:avLst/>
            </a:prstGeom>
            <a:noFill/>
            <a:ln>
              <a:noFill/>
            </a:ln>
          </p:spPr>
        </p:pic>
        <p:pic>
          <p:nvPicPr>
            <p:cNvPr id="106" name="Google Shape;106;p20"/>
            <p:cNvPicPr preferRelativeResize="0"/>
            <p:nvPr/>
          </p:nvPicPr>
          <p:blipFill>
            <a:blip r:embed="rId4">
              <a:alphaModFix/>
            </a:blip>
            <a:stretch>
              <a:fillRect/>
            </a:stretch>
          </p:blipFill>
          <p:spPr>
            <a:xfrm>
              <a:off x="2163200" y="3865000"/>
              <a:ext cx="1140850" cy="570425"/>
            </a:xfrm>
            <a:prstGeom prst="rect">
              <a:avLst/>
            </a:prstGeom>
            <a:noFill/>
            <a:ln>
              <a:noFill/>
            </a:ln>
          </p:spPr>
        </p:pic>
        <p:pic>
          <p:nvPicPr>
            <p:cNvPr id="107" name="Google Shape;107;p20"/>
            <p:cNvPicPr preferRelativeResize="0"/>
            <p:nvPr/>
          </p:nvPicPr>
          <p:blipFill>
            <a:blip r:embed="rId5">
              <a:alphaModFix/>
            </a:blip>
            <a:stretch>
              <a:fillRect/>
            </a:stretch>
          </p:blipFill>
          <p:spPr>
            <a:xfrm>
              <a:off x="3983360" y="993275"/>
              <a:ext cx="281775" cy="265550"/>
            </a:xfrm>
            <a:prstGeom prst="rect">
              <a:avLst/>
            </a:prstGeom>
            <a:noFill/>
            <a:ln>
              <a:noFill/>
            </a:ln>
          </p:spPr>
        </p:pic>
        <p:cxnSp>
          <p:nvCxnSpPr>
            <p:cNvPr id="108" name="Google Shape;108;p20"/>
            <p:cNvCxnSpPr/>
            <p:nvPr/>
          </p:nvCxnSpPr>
          <p:spPr>
            <a:xfrm rot="10800000">
              <a:off x="2744350" y="1386700"/>
              <a:ext cx="1239000" cy="0"/>
            </a:xfrm>
            <a:prstGeom prst="straightConnector1">
              <a:avLst/>
            </a:prstGeom>
            <a:noFill/>
            <a:ln w="38100" cap="flat" cmpd="sng">
              <a:solidFill>
                <a:srgbClr val="980000"/>
              </a:solidFill>
              <a:prstDash val="solid"/>
              <a:round/>
              <a:headEnd type="none" w="med" len="med"/>
              <a:tailEnd type="none" w="med" len="med"/>
            </a:ln>
          </p:spPr>
        </p:cxnSp>
        <p:cxnSp>
          <p:nvCxnSpPr>
            <p:cNvPr id="109" name="Google Shape;109;p20"/>
            <p:cNvCxnSpPr/>
            <p:nvPr/>
          </p:nvCxnSpPr>
          <p:spPr>
            <a:xfrm rot="10800000">
              <a:off x="2744350" y="1421000"/>
              <a:ext cx="0" cy="2399700"/>
            </a:xfrm>
            <a:prstGeom prst="straightConnector1">
              <a:avLst/>
            </a:prstGeom>
            <a:noFill/>
            <a:ln w="38100" cap="flat" cmpd="sng">
              <a:solidFill>
                <a:srgbClr val="980000"/>
              </a:solidFill>
              <a:prstDash val="solid"/>
              <a:round/>
              <a:headEnd type="none" w="med" len="med"/>
              <a:tailEnd type="none" w="med" len="med"/>
            </a:ln>
          </p:spPr>
        </p:cxnSp>
      </p:grpSp>
      <p:grpSp>
        <p:nvGrpSpPr>
          <p:cNvPr id="110" name="Google Shape;110;p20"/>
          <p:cNvGrpSpPr/>
          <p:nvPr/>
        </p:nvGrpSpPr>
        <p:grpSpPr>
          <a:xfrm>
            <a:off x="58175" y="2888076"/>
            <a:ext cx="2560151" cy="2128140"/>
            <a:chOff x="166800" y="587800"/>
            <a:chExt cx="5133649" cy="4267375"/>
          </a:xfrm>
        </p:grpSpPr>
        <p:pic>
          <p:nvPicPr>
            <p:cNvPr id="111" name="Google Shape;111;p20"/>
            <p:cNvPicPr preferRelativeResize="0"/>
            <p:nvPr/>
          </p:nvPicPr>
          <p:blipFill>
            <a:blip r:embed="rId3">
              <a:alphaModFix/>
            </a:blip>
            <a:stretch>
              <a:fillRect/>
            </a:stretch>
          </p:blipFill>
          <p:spPr>
            <a:xfrm>
              <a:off x="166800" y="587800"/>
              <a:ext cx="5133649" cy="4267375"/>
            </a:xfrm>
            <a:prstGeom prst="rect">
              <a:avLst/>
            </a:prstGeom>
            <a:noFill/>
            <a:ln>
              <a:noFill/>
            </a:ln>
          </p:spPr>
        </p:pic>
        <p:pic>
          <p:nvPicPr>
            <p:cNvPr id="112" name="Google Shape;112;p20"/>
            <p:cNvPicPr preferRelativeResize="0"/>
            <p:nvPr/>
          </p:nvPicPr>
          <p:blipFill>
            <a:blip r:embed="rId4">
              <a:alphaModFix/>
            </a:blip>
            <a:stretch>
              <a:fillRect/>
            </a:stretch>
          </p:blipFill>
          <p:spPr>
            <a:xfrm>
              <a:off x="2163200" y="3865000"/>
              <a:ext cx="1140850" cy="570425"/>
            </a:xfrm>
            <a:prstGeom prst="rect">
              <a:avLst/>
            </a:prstGeom>
            <a:noFill/>
            <a:ln>
              <a:noFill/>
            </a:ln>
          </p:spPr>
        </p:pic>
        <p:pic>
          <p:nvPicPr>
            <p:cNvPr id="113" name="Google Shape;113;p20"/>
            <p:cNvPicPr preferRelativeResize="0"/>
            <p:nvPr/>
          </p:nvPicPr>
          <p:blipFill>
            <a:blip r:embed="rId5">
              <a:alphaModFix/>
            </a:blip>
            <a:stretch>
              <a:fillRect/>
            </a:stretch>
          </p:blipFill>
          <p:spPr>
            <a:xfrm>
              <a:off x="3983360" y="993275"/>
              <a:ext cx="281775" cy="265550"/>
            </a:xfrm>
            <a:prstGeom prst="rect">
              <a:avLst/>
            </a:prstGeom>
            <a:noFill/>
            <a:ln>
              <a:noFill/>
            </a:ln>
          </p:spPr>
        </p:pic>
        <p:cxnSp>
          <p:nvCxnSpPr>
            <p:cNvPr id="114" name="Google Shape;114;p20"/>
            <p:cNvCxnSpPr/>
            <p:nvPr/>
          </p:nvCxnSpPr>
          <p:spPr>
            <a:xfrm flipH="1">
              <a:off x="3274800" y="1524375"/>
              <a:ext cx="747900" cy="1701300"/>
            </a:xfrm>
            <a:prstGeom prst="straightConnector1">
              <a:avLst/>
            </a:prstGeom>
            <a:noFill/>
            <a:ln w="38100" cap="flat" cmpd="sng">
              <a:solidFill>
                <a:srgbClr val="980000"/>
              </a:solidFill>
              <a:prstDash val="solid"/>
              <a:round/>
              <a:headEnd type="none" w="med" len="med"/>
              <a:tailEnd type="none" w="med" len="med"/>
            </a:ln>
          </p:spPr>
        </p:cxnSp>
        <p:cxnSp>
          <p:nvCxnSpPr>
            <p:cNvPr id="115" name="Google Shape;115;p20"/>
            <p:cNvCxnSpPr/>
            <p:nvPr/>
          </p:nvCxnSpPr>
          <p:spPr>
            <a:xfrm rot="10800000">
              <a:off x="3304050" y="3233100"/>
              <a:ext cx="0" cy="287700"/>
            </a:xfrm>
            <a:prstGeom prst="straightConnector1">
              <a:avLst/>
            </a:prstGeom>
            <a:noFill/>
            <a:ln w="38100" cap="flat" cmpd="sng">
              <a:solidFill>
                <a:srgbClr val="980000"/>
              </a:solidFill>
              <a:prstDash val="solid"/>
              <a:round/>
              <a:headEnd type="none" w="med" len="med"/>
              <a:tailEnd type="none" w="med" len="med"/>
            </a:ln>
          </p:spPr>
        </p:cxnSp>
        <p:cxnSp>
          <p:nvCxnSpPr>
            <p:cNvPr id="116" name="Google Shape;116;p20"/>
            <p:cNvCxnSpPr/>
            <p:nvPr/>
          </p:nvCxnSpPr>
          <p:spPr>
            <a:xfrm>
              <a:off x="3117575" y="3520675"/>
              <a:ext cx="186300" cy="0"/>
            </a:xfrm>
            <a:prstGeom prst="straightConnector1">
              <a:avLst/>
            </a:prstGeom>
            <a:noFill/>
            <a:ln w="38100" cap="flat" cmpd="sng">
              <a:solidFill>
                <a:srgbClr val="980000"/>
              </a:solidFill>
              <a:prstDash val="solid"/>
              <a:round/>
              <a:headEnd type="none" w="med" len="med"/>
              <a:tailEnd type="none" w="med" len="med"/>
            </a:ln>
          </p:spPr>
        </p:cxnSp>
        <p:cxnSp>
          <p:nvCxnSpPr>
            <p:cNvPr id="117" name="Google Shape;117;p20"/>
            <p:cNvCxnSpPr/>
            <p:nvPr/>
          </p:nvCxnSpPr>
          <p:spPr>
            <a:xfrm rot="10800000" flipH="1">
              <a:off x="2974950" y="3520750"/>
              <a:ext cx="171900" cy="297900"/>
            </a:xfrm>
            <a:prstGeom prst="straightConnector1">
              <a:avLst/>
            </a:prstGeom>
            <a:noFill/>
            <a:ln w="38100" cap="flat" cmpd="sng">
              <a:solidFill>
                <a:srgbClr val="980000"/>
              </a:solidFill>
              <a:prstDash val="solid"/>
              <a:round/>
              <a:headEnd type="none" w="med" len="med"/>
              <a:tailEnd type="none" w="med" len="med"/>
            </a:ln>
          </p:spPr>
        </p:cxnSp>
        <p:cxnSp>
          <p:nvCxnSpPr>
            <p:cNvPr id="118" name="Google Shape;118;p20"/>
            <p:cNvCxnSpPr/>
            <p:nvPr/>
          </p:nvCxnSpPr>
          <p:spPr>
            <a:xfrm rot="10800000">
              <a:off x="2670225" y="3818650"/>
              <a:ext cx="319500" cy="0"/>
            </a:xfrm>
            <a:prstGeom prst="straightConnector1">
              <a:avLst/>
            </a:prstGeom>
            <a:noFill/>
            <a:ln w="38100" cap="flat" cmpd="sng">
              <a:solidFill>
                <a:srgbClr val="980000"/>
              </a:solidFill>
              <a:prstDash val="solid"/>
              <a:round/>
              <a:headEnd type="none" w="med" len="med"/>
              <a:tailEnd type="none" w="med" len="med"/>
            </a:ln>
          </p:spPr>
        </p:cxnSp>
      </p:grpSp>
      <p:grpSp>
        <p:nvGrpSpPr>
          <p:cNvPr id="119" name="Google Shape;119;p20"/>
          <p:cNvGrpSpPr/>
          <p:nvPr/>
        </p:nvGrpSpPr>
        <p:grpSpPr>
          <a:xfrm>
            <a:off x="2693675" y="2888074"/>
            <a:ext cx="2560151" cy="2128140"/>
            <a:chOff x="166800" y="587800"/>
            <a:chExt cx="5133649" cy="4267375"/>
          </a:xfrm>
        </p:grpSpPr>
        <p:pic>
          <p:nvPicPr>
            <p:cNvPr id="120" name="Google Shape;120;p20"/>
            <p:cNvPicPr preferRelativeResize="0"/>
            <p:nvPr/>
          </p:nvPicPr>
          <p:blipFill>
            <a:blip r:embed="rId3">
              <a:alphaModFix/>
            </a:blip>
            <a:stretch>
              <a:fillRect/>
            </a:stretch>
          </p:blipFill>
          <p:spPr>
            <a:xfrm>
              <a:off x="166800" y="587800"/>
              <a:ext cx="5133649" cy="4267375"/>
            </a:xfrm>
            <a:prstGeom prst="rect">
              <a:avLst/>
            </a:prstGeom>
            <a:noFill/>
            <a:ln>
              <a:noFill/>
            </a:ln>
          </p:spPr>
        </p:pic>
        <p:pic>
          <p:nvPicPr>
            <p:cNvPr id="121" name="Google Shape;121;p20"/>
            <p:cNvPicPr preferRelativeResize="0"/>
            <p:nvPr/>
          </p:nvPicPr>
          <p:blipFill>
            <a:blip r:embed="rId4">
              <a:alphaModFix/>
            </a:blip>
            <a:stretch>
              <a:fillRect/>
            </a:stretch>
          </p:blipFill>
          <p:spPr>
            <a:xfrm>
              <a:off x="2163200" y="3865000"/>
              <a:ext cx="1140850" cy="570425"/>
            </a:xfrm>
            <a:prstGeom prst="rect">
              <a:avLst/>
            </a:prstGeom>
            <a:noFill/>
            <a:ln>
              <a:noFill/>
            </a:ln>
          </p:spPr>
        </p:pic>
        <p:pic>
          <p:nvPicPr>
            <p:cNvPr id="122" name="Google Shape;122;p20"/>
            <p:cNvPicPr preferRelativeResize="0"/>
            <p:nvPr/>
          </p:nvPicPr>
          <p:blipFill>
            <a:blip r:embed="rId5">
              <a:alphaModFix/>
            </a:blip>
            <a:stretch>
              <a:fillRect/>
            </a:stretch>
          </p:blipFill>
          <p:spPr>
            <a:xfrm>
              <a:off x="3983360" y="993275"/>
              <a:ext cx="281775" cy="265550"/>
            </a:xfrm>
            <a:prstGeom prst="rect">
              <a:avLst/>
            </a:prstGeom>
            <a:noFill/>
            <a:ln>
              <a:noFill/>
            </a:ln>
          </p:spPr>
        </p:pic>
        <p:sp>
          <p:nvSpPr>
            <p:cNvPr id="123" name="Google Shape;123;p20"/>
            <p:cNvSpPr/>
            <p:nvPr/>
          </p:nvSpPr>
          <p:spPr>
            <a:xfrm>
              <a:off x="1262154" y="688063"/>
              <a:ext cx="3608800" cy="3510500"/>
            </a:xfrm>
            <a:custGeom>
              <a:avLst/>
              <a:gdLst/>
              <a:ahLst/>
              <a:cxnLst/>
              <a:rect l="l" t="t" r="r" b="b"/>
              <a:pathLst>
                <a:path w="144352" h="140420" extrusionOk="0">
                  <a:moveTo>
                    <a:pt x="108400" y="27077"/>
                  </a:moveTo>
                  <a:cubicBezTo>
                    <a:pt x="104431" y="27077"/>
                    <a:pt x="99039" y="29748"/>
                    <a:pt x="96498" y="26699"/>
                  </a:cubicBezTo>
                  <a:cubicBezTo>
                    <a:pt x="93427" y="23014"/>
                    <a:pt x="99238" y="15412"/>
                    <a:pt x="95554" y="12340"/>
                  </a:cubicBezTo>
                  <a:cubicBezTo>
                    <a:pt x="94344" y="11331"/>
                    <a:pt x="92306" y="12704"/>
                    <a:pt x="90830" y="12151"/>
                  </a:cubicBezTo>
                  <a:cubicBezTo>
                    <a:pt x="88570" y="11304"/>
                    <a:pt x="89039" y="7232"/>
                    <a:pt x="89886" y="4972"/>
                  </a:cubicBezTo>
                  <a:cubicBezTo>
                    <a:pt x="90573" y="3140"/>
                    <a:pt x="93798" y="4810"/>
                    <a:pt x="95742" y="4594"/>
                  </a:cubicBezTo>
                  <a:cubicBezTo>
                    <a:pt x="101126" y="3995"/>
                    <a:pt x="106606" y="3619"/>
                    <a:pt x="111990" y="4217"/>
                  </a:cubicBezTo>
                  <a:cubicBezTo>
                    <a:pt x="113406" y="4374"/>
                    <a:pt x="114101" y="2289"/>
                    <a:pt x="115013" y="1194"/>
                  </a:cubicBezTo>
                  <a:cubicBezTo>
                    <a:pt x="116424" y="-500"/>
                    <a:pt x="119429" y="1205"/>
                    <a:pt x="121625" y="1005"/>
                  </a:cubicBezTo>
                  <a:cubicBezTo>
                    <a:pt x="124699" y="725"/>
                    <a:pt x="128315" y="-896"/>
                    <a:pt x="130883" y="816"/>
                  </a:cubicBezTo>
                  <a:cubicBezTo>
                    <a:pt x="134086" y="2951"/>
                    <a:pt x="134561" y="9835"/>
                    <a:pt x="131638" y="12340"/>
                  </a:cubicBezTo>
                  <a:cubicBezTo>
                    <a:pt x="130489" y="13324"/>
                    <a:pt x="128363" y="11690"/>
                    <a:pt x="127104" y="12529"/>
                  </a:cubicBezTo>
                  <a:cubicBezTo>
                    <a:pt x="125846" y="13367"/>
                    <a:pt x="127104" y="15552"/>
                    <a:pt x="127104" y="17063"/>
                  </a:cubicBezTo>
                  <a:cubicBezTo>
                    <a:pt x="127104" y="21472"/>
                    <a:pt x="127354" y="25901"/>
                    <a:pt x="126915" y="30288"/>
                  </a:cubicBezTo>
                  <a:cubicBezTo>
                    <a:pt x="126613" y="33302"/>
                    <a:pt x="125802" y="36837"/>
                    <a:pt x="127482" y="39357"/>
                  </a:cubicBezTo>
                  <a:cubicBezTo>
                    <a:pt x="128809" y="41348"/>
                    <a:pt x="132420" y="38518"/>
                    <a:pt x="134661" y="39357"/>
                  </a:cubicBezTo>
                  <a:cubicBezTo>
                    <a:pt x="136087" y="39891"/>
                    <a:pt x="135228" y="42368"/>
                    <a:pt x="135228" y="43891"/>
                  </a:cubicBezTo>
                  <a:cubicBezTo>
                    <a:pt x="135228" y="50000"/>
                    <a:pt x="135228" y="56108"/>
                    <a:pt x="135228" y="62217"/>
                  </a:cubicBezTo>
                  <a:cubicBezTo>
                    <a:pt x="135228" y="64737"/>
                    <a:pt x="133465" y="67806"/>
                    <a:pt x="135039" y="69774"/>
                  </a:cubicBezTo>
                  <a:cubicBezTo>
                    <a:pt x="136809" y="71987"/>
                    <a:pt x="141537" y="71778"/>
                    <a:pt x="143541" y="69774"/>
                  </a:cubicBezTo>
                  <a:cubicBezTo>
                    <a:pt x="144833" y="68482"/>
                    <a:pt x="144366" y="65815"/>
                    <a:pt x="143352" y="64295"/>
                  </a:cubicBezTo>
                  <a:cubicBezTo>
                    <a:pt x="142618" y="63195"/>
                    <a:pt x="140118" y="65396"/>
                    <a:pt x="139384" y="64295"/>
                  </a:cubicBezTo>
                  <a:cubicBezTo>
                    <a:pt x="137253" y="61098"/>
                    <a:pt x="142530" y="54677"/>
                    <a:pt x="139195" y="52770"/>
                  </a:cubicBezTo>
                  <a:cubicBezTo>
                    <a:pt x="135585" y="50706"/>
                    <a:pt x="130867" y="52770"/>
                    <a:pt x="126726" y="52393"/>
                  </a:cubicBezTo>
                  <a:cubicBezTo>
                    <a:pt x="122336" y="51994"/>
                    <a:pt x="116620" y="49277"/>
                    <a:pt x="113501" y="52393"/>
                  </a:cubicBezTo>
                  <a:cubicBezTo>
                    <a:pt x="111138" y="54754"/>
                    <a:pt x="117006" y="61233"/>
                    <a:pt x="113879" y="62406"/>
                  </a:cubicBezTo>
                  <a:cubicBezTo>
                    <a:pt x="109591" y="64015"/>
                    <a:pt x="106710" y="54658"/>
                    <a:pt x="102166" y="55226"/>
                  </a:cubicBezTo>
                  <a:cubicBezTo>
                    <a:pt x="97244" y="55841"/>
                    <a:pt x="99927" y="68711"/>
                    <a:pt x="94987" y="68262"/>
                  </a:cubicBezTo>
                  <a:cubicBezTo>
                    <a:pt x="85565" y="67405"/>
                    <a:pt x="77341" y="61406"/>
                    <a:pt x="68726" y="57494"/>
                  </a:cubicBezTo>
                  <a:cubicBezTo>
                    <a:pt x="65184" y="55886"/>
                    <a:pt x="62390" y="51396"/>
                    <a:pt x="58524" y="51826"/>
                  </a:cubicBezTo>
                  <a:cubicBezTo>
                    <a:pt x="50267" y="52743"/>
                    <a:pt x="44190" y="60589"/>
                    <a:pt x="36231" y="62972"/>
                  </a:cubicBezTo>
                  <a:cubicBezTo>
                    <a:pt x="31312" y="64445"/>
                    <a:pt x="22061" y="63883"/>
                    <a:pt x="22061" y="69018"/>
                  </a:cubicBezTo>
                  <a:cubicBezTo>
                    <a:pt x="22061" y="70531"/>
                    <a:pt x="25083" y="69207"/>
                    <a:pt x="26596" y="69207"/>
                  </a:cubicBezTo>
                  <a:cubicBezTo>
                    <a:pt x="31770" y="69207"/>
                    <a:pt x="40601" y="65197"/>
                    <a:pt x="42088" y="70152"/>
                  </a:cubicBezTo>
                  <a:cubicBezTo>
                    <a:pt x="42618" y="71917"/>
                    <a:pt x="42933" y="74716"/>
                    <a:pt x="41332" y="75630"/>
                  </a:cubicBezTo>
                  <a:cubicBezTo>
                    <a:pt x="36186" y="78567"/>
                    <a:pt x="26221" y="69575"/>
                    <a:pt x="23573" y="74875"/>
                  </a:cubicBezTo>
                  <a:cubicBezTo>
                    <a:pt x="21215" y="79594"/>
                    <a:pt x="33100" y="85300"/>
                    <a:pt x="29807" y="89422"/>
                  </a:cubicBezTo>
                  <a:cubicBezTo>
                    <a:pt x="28154" y="91491"/>
                    <a:pt x="24469" y="89564"/>
                    <a:pt x="21873" y="89044"/>
                  </a:cubicBezTo>
                  <a:cubicBezTo>
                    <a:pt x="19956" y="88660"/>
                    <a:pt x="16502" y="89466"/>
                    <a:pt x="16205" y="87533"/>
                  </a:cubicBezTo>
                  <a:cubicBezTo>
                    <a:pt x="15850" y="85226"/>
                    <a:pt x="17742" y="82568"/>
                    <a:pt x="16583" y="80542"/>
                  </a:cubicBezTo>
                  <a:cubicBezTo>
                    <a:pt x="16295" y="80038"/>
                    <a:pt x="15463" y="80165"/>
                    <a:pt x="14882" y="80165"/>
                  </a:cubicBezTo>
                  <a:cubicBezTo>
                    <a:pt x="13055" y="80165"/>
                    <a:pt x="10696" y="78685"/>
                    <a:pt x="9403" y="79976"/>
                  </a:cubicBezTo>
                  <a:cubicBezTo>
                    <a:pt x="8110" y="81267"/>
                    <a:pt x="10883" y="84162"/>
                    <a:pt x="9592" y="85455"/>
                  </a:cubicBezTo>
                  <a:cubicBezTo>
                    <a:pt x="9233" y="85814"/>
                    <a:pt x="8342" y="85202"/>
                    <a:pt x="8270" y="84699"/>
                  </a:cubicBezTo>
                  <a:cubicBezTo>
                    <a:pt x="8081" y="83378"/>
                    <a:pt x="10253" y="82079"/>
                    <a:pt x="9592" y="80920"/>
                  </a:cubicBezTo>
                  <a:cubicBezTo>
                    <a:pt x="8247" y="78563"/>
                    <a:pt x="3388" y="78435"/>
                    <a:pt x="1469" y="80354"/>
                  </a:cubicBezTo>
                  <a:cubicBezTo>
                    <a:pt x="-1915" y="83738"/>
                    <a:pt x="1998" y="89955"/>
                    <a:pt x="1469" y="94712"/>
                  </a:cubicBezTo>
                  <a:cubicBezTo>
                    <a:pt x="760" y="101096"/>
                    <a:pt x="-1532" y="108406"/>
                    <a:pt x="1657" y="113982"/>
                  </a:cubicBezTo>
                  <a:cubicBezTo>
                    <a:pt x="5660" y="120982"/>
                    <a:pt x="21840" y="107548"/>
                    <a:pt x="25840" y="114549"/>
                  </a:cubicBezTo>
                  <a:cubicBezTo>
                    <a:pt x="27828" y="118028"/>
                    <a:pt x="22197" y="121733"/>
                    <a:pt x="19794" y="124940"/>
                  </a:cubicBezTo>
                  <a:cubicBezTo>
                    <a:pt x="18801" y="126266"/>
                    <a:pt x="15845" y="124348"/>
                    <a:pt x="14882" y="125696"/>
                  </a:cubicBezTo>
                  <a:cubicBezTo>
                    <a:pt x="13559" y="127547"/>
                    <a:pt x="13993" y="130749"/>
                    <a:pt x="15449" y="132497"/>
                  </a:cubicBezTo>
                  <a:cubicBezTo>
                    <a:pt x="17271" y="134683"/>
                    <a:pt x="20579" y="137208"/>
                    <a:pt x="23195" y="136087"/>
                  </a:cubicBezTo>
                  <a:cubicBezTo>
                    <a:pt x="24833" y="135385"/>
                    <a:pt x="24769" y="130292"/>
                    <a:pt x="26029" y="131552"/>
                  </a:cubicBezTo>
                  <a:cubicBezTo>
                    <a:pt x="27304" y="132827"/>
                    <a:pt x="23052" y="134806"/>
                    <a:pt x="23762" y="136464"/>
                  </a:cubicBezTo>
                  <a:cubicBezTo>
                    <a:pt x="24946" y="139229"/>
                    <a:pt x="29345" y="138757"/>
                    <a:pt x="32263" y="139487"/>
                  </a:cubicBezTo>
                  <a:cubicBezTo>
                    <a:pt x="33036" y="139680"/>
                    <a:pt x="33968" y="140806"/>
                    <a:pt x="34531" y="140243"/>
                  </a:cubicBezTo>
                  <a:cubicBezTo>
                    <a:pt x="37782" y="136992"/>
                    <a:pt x="30607" y="128508"/>
                    <a:pt x="34719" y="126451"/>
                  </a:cubicBezTo>
                  <a:cubicBezTo>
                    <a:pt x="40972" y="123323"/>
                    <a:pt x="48699" y="126074"/>
                    <a:pt x="55690" y="126074"/>
                  </a:cubicBezTo>
                </a:path>
              </a:pathLst>
            </a:custGeom>
            <a:noFill/>
            <a:ln w="38100" cap="flat" cmpd="sng">
              <a:solidFill>
                <a:schemeClr val="accent6"/>
              </a:solidFill>
              <a:prstDash val="solid"/>
              <a:round/>
              <a:headEnd type="none" w="med" len="med"/>
              <a:tailEnd type="none" w="med" len="med"/>
            </a:ln>
          </p:spPr>
          <p:txBody>
            <a:bodyPr/>
            <a:lstStyle/>
            <a:p>
              <a:endParaRPr lang="en-US"/>
            </a:p>
          </p:txBody>
        </p:sp>
      </p:grpSp>
      <p:grpSp>
        <p:nvGrpSpPr>
          <p:cNvPr id="124" name="Google Shape;124;p20"/>
          <p:cNvGrpSpPr/>
          <p:nvPr/>
        </p:nvGrpSpPr>
        <p:grpSpPr>
          <a:xfrm>
            <a:off x="2702227" y="720153"/>
            <a:ext cx="2560151" cy="2128140"/>
            <a:chOff x="166800" y="587800"/>
            <a:chExt cx="5133649" cy="4267375"/>
          </a:xfrm>
        </p:grpSpPr>
        <p:pic>
          <p:nvPicPr>
            <p:cNvPr id="125" name="Google Shape;125;p20"/>
            <p:cNvPicPr preferRelativeResize="0"/>
            <p:nvPr/>
          </p:nvPicPr>
          <p:blipFill>
            <a:blip r:embed="rId3">
              <a:alphaModFix/>
            </a:blip>
            <a:stretch>
              <a:fillRect/>
            </a:stretch>
          </p:blipFill>
          <p:spPr>
            <a:xfrm>
              <a:off x="166800" y="587800"/>
              <a:ext cx="5133649" cy="4267375"/>
            </a:xfrm>
            <a:prstGeom prst="rect">
              <a:avLst/>
            </a:prstGeom>
            <a:noFill/>
            <a:ln>
              <a:noFill/>
            </a:ln>
          </p:spPr>
        </p:pic>
        <p:pic>
          <p:nvPicPr>
            <p:cNvPr id="126" name="Google Shape;126;p20"/>
            <p:cNvPicPr preferRelativeResize="0"/>
            <p:nvPr/>
          </p:nvPicPr>
          <p:blipFill>
            <a:blip r:embed="rId4">
              <a:alphaModFix/>
            </a:blip>
            <a:stretch>
              <a:fillRect/>
            </a:stretch>
          </p:blipFill>
          <p:spPr>
            <a:xfrm>
              <a:off x="2163200" y="3865000"/>
              <a:ext cx="1140850" cy="570425"/>
            </a:xfrm>
            <a:prstGeom prst="rect">
              <a:avLst/>
            </a:prstGeom>
            <a:noFill/>
            <a:ln>
              <a:noFill/>
            </a:ln>
          </p:spPr>
        </p:pic>
        <p:pic>
          <p:nvPicPr>
            <p:cNvPr id="127" name="Google Shape;127;p20"/>
            <p:cNvPicPr preferRelativeResize="0"/>
            <p:nvPr/>
          </p:nvPicPr>
          <p:blipFill>
            <a:blip r:embed="rId5">
              <a:alphaModFix/>
            </a:blip>
            <a:stretch>
              <a:fillRect/>
            </a:stretch>
          </p:blipFill>
          <p:spPr>
            <a:xfrm>
              <a:off x="3983360" y="993275"/>
              <a:ext cx="281775" cy="265550"/>
            </a:xfrm>
            <a:prstGeom prst="rect">
              <a:avLst/>
            </a:prstGeom>
            <a:noFill/>
            <a:ln>
              <a:noFill/>
            </a:ln>
          </p:spPr>
        </p:pic>
        <p:cxnSp>
          <p:nvCxnSpPr>
            <p:cNvPr id="128" name="Google Shape;128;p20"/>
            <p:cNvCxnSpPr/>
            <p:nvPr/>
          </p:nvCxnSpPr>
          <p:spPr>
            <a:xfrm flipH="1">
              <a:off x="2734150" y="1416200"/>
              <a:ext cx="1249200" cy="560700"/>
            </a:xfrm>
            <a:prstGeom prst="straightConnector1">
              <a:avLst/>
            </a:prstGeom>
            <a:noFill/>
            <a:ln w="38100" cap="flat" cmpd="sng">
              <a:solidFill>
                <a:srgbClr val="980000"/>
              </a:solidFill>
              <a:prstDash val="solid"/>
              <a:round/>
              <a:headEnd type="none" w="med" len="med"/>
              <a:tailEnd type="none" w="med" len="med"/>
            </a:ln>
          </p:spPr>
        </p:cxnSp>
        <p:cxnSp>
          <p:nvCxnSpPr>
            <p:cNvPr id="129" name="Google Shape;129;p20"/>
            <p:cNvCxnSpPr/>
            <p:nvPr/>
          </p:nvCxnSpPr>
          <p:spPr>
            <a:xfrm rot="10800000">
              <a:off x="2744350" y="1986500"/>
              <a:ext cx="0" cy="1834200"/>
            </a:xfrm>
            <a:prstGeom prst="straightConnector1">
              <a:avLst/>
            </a:prstGeom>
            <a:noFill/>
            <a:ln w="38100" cap="flat" cmpd="sng">
              <a:solidFill>
                <a:srgbClr val="98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Effect transition="in" filter="fade">
                                      <p:cBhvr>
                                        <p:cTn id="7" dur="1000"/>
                                        <p:tgtEl>
                                          <p:spTgt spid="1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
                                            <p:txEl>
                                              <p:pRg st="1" end="1"/>
                                            </p:txEl>
                                          </p:spTgt>
                                        </p:tgtEl>
                                        <p:attrNameLst>
                                          <p:attrName>style.visibility</p:attrName>
                                        </p:attrNameLst>
                                      </p:cBhvr>
                                      <p:to>
                                        <p:strVal val="visible"/>
                                      </p:to>
                                    </p:set>
                                    <p:animEffect transition="in" filter="fade">
                                      <p:cBhvr>
                                        <p:cTn id="12" dur="1000"/>
                                        <p:tgtEl>
                                          <p:spTgt spid="1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
                                            <p:txEl>
                                              <p:pRg st="2" end="2"/>
                                            </p:txEl>
                                          </p:spTgt>
                                        </p:tgtEl>
                                        <p:attrNameLst>
                                          <p:attrName>style.visibility</p:attrName>
                                        </p:attrNameLst>
                                      </p:cBhvr>
                                      <p:to>
                                        <p:strVal val="visible"/>
                                      </p:to>
                                    </p:set>
                                    <p:animEffect transition="in" filter="fade">
                                      <p:cBhvr>
                                        <p:cTn id="17" dur="1000"/>
                                        <p:tgtEl>
                                          <p:spTgt spid="1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
                                            <p:txEl>
                                              <p:pRg st="3" end="3"/>
                                            </p:txEl>
                                          </p:spTgt>
                                        </p:tgtEl>
                                        <p:attrNameLst>
                                          <p:attrName>style.visibility</p:attrName>
                                        </p:attrNameLst>
                                      </p:cBhvr>
                                      <p:to>
                                        <p:strVal val="visible"/>
                                      </p:to>
                                    </p:set>
                                    <p:animEffect transition="in" filter="fade">
                                      <p:cBhvr>
                                        <p:cTn id="22" dur="1000"/>
                                        <p:tgtEl>
                                          <p:spTgt spid="1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Complexity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body" idx="1"/>
          </p:nvPr>
        </p:nvSpPr>
        <p:spPr>
          <a:xfrm>
            <a:off x="243000" y="556500"/>
            <a:ext cx="8443800" cy="1583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Complexity</a:t>
            </a:r>
            <a:r>
              <a:rPr lang="en"/>
              <a:t> refers to how we measure programming </a:t>
            </a:r>
            <a:r>
              <a:rPr lang="en" u="sng"/>
              <a:t>efficiency</a:t>
            </a:r>
            <a:r>
              <a:rPr lang="en"/>
              <a:t> in an </a:t>
            </a:r>
            <a:r>
              <a:rPr lang="en" i="1"/>
              <a:t>objective</a:t>
            </a:r>
            <a:r>
              <a:rPr lang="en"/>
              <a:t> way.  </a:t>
            </a:r>
            <a:endParaRPr/>
          </a:p>
        </p:txBody>
      </p:sp>
      <p:sp>
        <p:nvSpPr>
          <p:cNvPr id="140" name="Google Shape;140;p2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Complexity</a:t>
            </a:r>
            <a:endParaRPr/>
          </a:p>
        </p:txBody>
      </p:sp>
      <p:sp>
        <p:nvSpPr>
          <p:cNvPr id="141" name="Google Shape;141;p22"/>
          <p:cNvSpPr txBox="1">
            <a:spLocks noGrp="1"/>
          </p:cNvSpPr>
          <p:nvPr>
            <p:ph type="body" idx="1"/>
          </p:nvPr>
        </p:nvSpPr>
        <p:spPr>
          <a:xfrm>
            <a:off x="243000" y="2177375"/>
            <a:ext cx="8443800" cy="2685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think about this to...</a:t>
            </a:r>
            <a:endParaRPr/>
          </a:p>
          <a:p>
            <a:pPr marL="457200" lvl="0" indent="-355600" algn="l" rtl="0">
              <a:spcBef>
                <a:spcPts val="600"/>
              </a:spcBef>
              <a:spcAft>
                <a:spcPts val="0"/>
              </a:spcAft>
              <a:buSzPts val="2000"/>
              <a:buChar char="●"/>
            </a:pPr>
            <a:r>
              <a:rPr lang="en"/>
              <a:t>predict how much time needed to solve problem with particular input size</a:t>
            </a:r>
            <a:endParaRPr/>
          </a:p>
          <a:p>
            <a:pPr marL="457200" lvl="0" indent="-355600" algn="l" rtl="0">
              <a:spcBef>
                <a:spcPts val="0"/>
              </a:spcBef>
              <a:spcAft>
                <a:spcPts val="0"/>
              </a:spcAft>
              <a:buSzPts val="2000"/>
              <a:buChar char="●"/>
            </a:pPr>
            <a:r>
              <a:rPr lang="en"/>
              <a:t>be able to compare and pick a “best” algorithm among multiple algorithms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Evaluating Program Runtime</a:t>
            </a:r>
            <a:endParaRPr/>
          </a:p>
        </p:txBody>
      </p:sp>
      <p:sp>
        <p:nvSpPr>
          <p:cNvPr id="147" name="Google Shape;147;p23"/>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Three approaches we can take to measure runtime:</a:t>
            </a:r>
            <a:endParaRPr/>
          </a:p>
          <a:p>
            <a:pPr marL="0" lvl="0" indent="0" algn="l" rtl="0">
              <a:spcBef>
                <a:spcPts val="600"/>
              </a:spcBef>
              <a:spcAft>
                <a:spcPts val="0"/>
              </a:spcAft>
              <a:buNone/>
            </a:pPr>
            <a:endParaRPr/>
          </a:p>
          <a:p>
            <a:pPr marL="457200" lvl="0" indent="-355600" algn="l" rtl="0">
              <a:spcBef>
                <a:spcPts val="600"/>
              </a:spcBef>
              <a:spcAft>
                <a:spcPts val="0"/>
              </a:spcAft>
              <a:buSzPts val="2000"/>
              <a:buAutoNum type="arabicPeriod"/>
            </a:pPr>
            <a:r>
              <a:rPr lang="en"/>
              <a:t>Measure with a timer</a:t>
            </a:r>
            <a:endParaRPr/>
          </a:p>
          <a:p>
            <a:pPr marL="457200" lvl="0" indent="-355600" algn="l" rtl="0">
              <a:spcBef>
                <a:spcPts val="0"/>
              </a:spcBef>
              <a:spcAft>
                <a:spcPts val="0"/>
              </a:spcAft>
              <a:buSzPts val="2000"/>
              <a:buAutoNum type="arabicPeriod"/>
            </a:pPr>
            <a:r>
              <a:rPr lang="en"/>
              <a:t>Count number of operations</a:t>
            </a:r>
            <a:endParaRPr/>
          </a:p>
          <a:p>
            <a:pPr marL="457200" lvl="0" indent="-355600" algn="l" rtl="0">
              <a:spcBef>
                <a:spcPts val="0"/>
              </a:spcBef>
              <a:spcAft>
                <a:spcPts val="0"/>
              </a:spcAft>
              <a:buSzPts val="2000"/>
              <a:buAutoNum type="arabicPeriod"/>
            </a:pPr>
            <a:r>
              <a:rPr lang="en"/>
              <a:t>Order of growth: abstractly describe behavior of algorithm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928950" y="2143050"/>
            <a:ext cx="72861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Measuring Time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Timing a Program</a:t>
            </a:r>
            <a:endParaRPr/>
          </a:p>
        </p:txBody>
      </p:sp>
      <p:sp>
        <p:nvSpPr>
          <p:cNvPr id="158" name="Google Shape;158;p25"/>
          <p:cNvSpPr txBox="1">
            <a:spLocks noGrp="1"/>
          </p:cNvSpPr>
          <p:nvPr>
            <p:ph type="body" idx="1"/>
          </p:nvPr>
        </p:nvSpPr>
        <p:spPr>
          <a:xfrm>
            <a:off x="387900" y="1489825"/>
            <a:ext cx="4321200" cy="2078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900"/>
              <a:t>Can use time module</a:t>
            </a:r>
            <a:endParaRPr sz="1900"/>
          </a:p>
          <a:p>
            <a:pPr marL="0" lvl="0" indent="0" algn="l" rtl="0">
              <a:spcBef>
                <a:spcPts val="600"/>
              </a:spcBef>
              <a:spcAft>
                <a:spcPts val="0"/>
              </a:spcAft>
              <a:buNone/>
            </a:pPr>
            <a:r>
              <a:rPr lang="en" sz="1900"/>
              <a:t>Get the time before you call function</a:t>
            </a:r>
            <a:endParaRPr sz="1900"/>
          </a:p>
          <a:p>
            <a:pPr marL="0" lvl="0" indent="0" algn="l" rtl="0">
              <a:spcBef>
                <a:spcPts val="600"/>
              </a:spcBef>
              <a:spcAft>
                <a:spcPts val="0"/>
              </a:spcAft>
              <a:buNone/>
            </a:pPr>
            <a:r>
              <a:rPr lang="en" sz="1900"/>
              <a:t>Call function</a:t>
            </a:r>
            <a:endParaRPr sz="1900"/>
          </a:p>
          <a:p>
            <a:pPr marL="0" lvl="0" indent="0" algn="l" rtl="0">
              <a:spcBef>
                <a:spcPts val="600"/>
              </a:spcBef>
              <a:spcAft>
                <a:spcPts val="0"/>
              </a:spcAft>
              <a:buNone/>
            </a:pPr>
            <a:r>
              <a:rPr lang="en" sz="1900"/>
              <a:t>Stop clock</a:t>
            </a:r>
            <a:endParaRPr sz="1900"/>
          </a:p>
        </p:txBody>
      </p:sp>
      <p:cxnSp>
        <p:nvCxnSpPr>
          <p:cNvPr id="159" name="Google Shape;159;p25"/>
          <p:cNvCxnSpPr/>
          <p:nvPr/>
        </p:nvCxnSpPr>
        <p:spPr>
          <a:xfrm>
            <a:off x="4109150" y="2238775"/>
            <a:ext cx="831300" cy="513600"/>
          </a:xfrm>
          <a:prstGeom prst="straightConnector1">
            <a:avLst/>
          </a:prstGeom>
          <a:noFill/>
          <a:ln w="9525" cap="flat" cmpd="sng">
            <a:solidFill>
              <a:schemeClr val="accent4"/>
            </a:solidFill>
            <a:prstDash val="solid"/>
            <a:round/>
            <a:headEnd type="none" w="med" len="med"/>
            <a:tailEnd type="triangle" w="med" len="med"/>
          </a:ln>
        </p:spPr>
      </p:cxnSp>
      <p:cxnSp>
        <p:nvCxnSpPr>
          <p:cNvPr id="160" name="Google Shape;160;p25"/>
          <p:cNvCxnSpPr/>
          <p:nvPr/>
        </p:nvCxnSpPr>
        <p:spPr>
          <a:xfrm>
            <a:off x="2626075" y="1793000"/>
            <a:ext cx="2314500" cy="0"/>
          </a:xfrm>
          <a:prstGeom prst="straightConnector1">
            <a:avLst/>
          </a:prstGeom>
          <a:noFill/>
          <a:ln w="9525" cap="flat" cmpd="sng">
            <a:solidFill>
              <a:schemeClr val="accent4"/>
            </a:solidFill>
            <a:prstDash val="solid"/>
            <a:round/>
            <a:headEnd type="none" w="med" len="med"/>
            <a:tailEnd type="triangle" w="med" len="med"/>
          </a:ln>
        </p:spPr>
      </p:cxnSp>
      <p:cxnSp>
        <p:nvCxnSpPr>
          <p:cNvPr id="161" name="Google Shape;161;p25"/>
          <p:cNvCxnSpPr/>
          <p:nvPr/>
        </p:nvCxnSpPr>
        <p:spPr>
          <a:xfrm>
            <a:off x="1949250" y="2558225"/>
            <a:ext cx="2946000" cy="509700"/>
          </a:xfrm>
          <a:prstGeom prst="straightConnector1">
            <a:avLst/>
          </a:prstGeom>
          <a:noFill/>
          <a:ln w="9525" cap="flat" cmpd="sng">
            <a:solidFill>
              <a:schemeClr val="accent4"/>
            </a:solidFill>
            <a:prstDash val="solid"/>
            <a:round/>
            <a:headEnd type="none" w="med" len="med"/>
            <a:tailEnd type="triangle" w="med" len="med"/>
          </a:ln>
        </p:spPr>
      </p:cxnSp>
      <p:cxnSp>
        <p:nvCxnSpPr>
          <p:cNvPr id="162" name="Google Shape;162;p25"/>
          <p:cNvCxnSpPr/>
          <p:nvPr/>
        </p:nvCxnSpPr>
        <p:spPr>
          <a:xfrm>
            <a:off x="1586975" y="2909450"/>
            <a:ext cx="3319800" cy="417900"/>
          </a:xfrm>
          <a:prstGeom prst="straightConnector1">
            <a:avLst/>
          </a:prstGeom>
          <a:noFill/>
          <a:ln w="9525" cap="flat" cmpd="sng">
            <a:solidFill>
              <a:schemeClr val="accent4"/>
            </a:solidFill>
            <a:prstDash val="solid"/>
            <a:round/>
            <a:headEnd type="none" w="med" len="med"/>
            <a:tailEnd type="triangle" w="med" len="med"/>
          </a:ln>
        </p:spPr>
      </p:cxnSp>
      <p:graphicFrame>
        <p:nvGraphicFramePr>
          <p:cNvPr id="163" name="Google Shape;163;p25"/>
          <p:cNvGraphicFramePr/>
          <p:nvPr/>
        </p:nvGraphicFramePr>
        <p:xfrm>
          <a:off x="5033250" y="1489830"/>
          <a:ext cx="4040125" cy="3131219"/>
        </p:xfrm>
        <a:graphic>
          <a:graphicData uri="http://schemas.openxmlformats.org/drawingml/2006/table">
            <a:tbl>
              <a:tblPr>
                <a:noFill/>
                <a:tableStyleId>{6436D996-6D66-4ABA-853D-459B0397D2C1}</a:tableStyleId>
              </a:tblPr>
              <a:tblGrid>
                <a:gridCol w="4040125">
                  <a:extLst>
                    <a:ext uri="{9D8B030D-6E8A-4147-A177-3AD203B41FA5}">
                      <a16:colId xmlns:a16="http://schemas.microsoft.com/office/drawing/2014/main" val="20000"/>
                    </a:ext>
                  </a:extLst>
                </a:gridCol>
              </a:tblGrid>
              <a:tr h="3055225">
                <a:tc>
                  <a:txBody>
                    <a:bodyPr/>
                    <a:lstStyle/>
                    <a:p>
                      <a:pPr marL="0" lvl="0" indent="0" algn="l" rtl="0">
                        <a:lnSpc>
                          <a:spcPct val="115000"/>
                        </a:lnSpc>
                        <a:spcBef>
                          <a:spcPts val="0"/>
                        </a:spcBef>
                        <a:spcAft>
                          <a:spcPts val="0"/>
                        </a:spcAft>
                        <a:buNone/>
                      </a:pPr>
                      <a:r>
                        <a:rPr lang="en" sz="1350">
                          <a:solidFill>
                            <a:srgbClr val="4DD0E1"/>
                          </a:solidFill>
                          <a:latin typeface="Roboto Mono"/>
                          <a:ea typeface="Roboto Mono"/>
                          <a:cs typeface="Roboto Mono"/>
                          <a:sym typeface="Roboto Mono"/>
                        </a:rPr>
                        <a:t>import</a:t>
                      </a:r>
                      <a:r>
                        <a:rPr lang="en" sz="1350">
                          <a:solidFill>
                            <a:srgbClr val="ECEFF1"/>
                          </a:solidFill>
                          <a:latin typeface="Roboto Mono"/>
                          <a:ea typeface="Roboto Mono"/>
                          <a:cs typeface="Roboto Mono"/>
                          <a:sym typeface="Roboto Mono"/>
                        </a:rPr>
                        <a:t> time</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4DD0E1"/>
                          </a:solidFill>
                          <a:latin typeface="Roboto Mono"/>
                          <a:ea typeface="Roboto Mono"/>
                          <a:cs typeface="Roboto Mono"/>
                          <a:sym typeface="Roboto Mono"/>
                        </a:rPr>
                        <a:t>def</a:t>
                      </a:r>
                      <a:r>
                        <a:rPr lang="en" sz="1350">
                          <a:solidFill>
                            <a:srgbClr val="ECEFF1"/>
                          </a:solidFill>
                          <a:latin typeface="Roboto Mono"/>
                          <a:ea typeface="Roboto Mono"/>
                          <a:cs typeface="Roboto Mono"/>
                          <a:sym typeface="Roboto Mono"/>
                        </a:rPr>
                        <a:t> cels_to_fahr(celsius):</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a:t>
                      </a:r>
                      <a:r>
                        <a:rPr lang="en" sz="1350">
                          <a:solidFill>
                            <a:srgbClr val="4DD0E1"/>
                          </a:solidFill>
                          <a:latin typeface="Roboto Mono"/>
                          <a:ea typeface="Roboto Mono"/>
                          <a:cs typeface="Roboto Mono"/>
                          <a:sym typeface="Roboto Mono"/>
                        </a:rPr>
                        <a:t>return</a:t>
                      </a:r>
                      <a:r>
                        <a:rPr lang="en" sz="1350">
                          <a:solidFill>
                            <a:srgbClr val="ECEFF1"/>
                          </a:solidFill>
                          <a:latin typeface="Roboto Mono"/>
                          <a:ea typeface="Roboto Mono"/>
                          <a:cs typeface="Roboto Mono"/>
                          <a:sym typeface="Roboto Mono"/>
                        </a:rPr>
                        <a:t> celsius * </a:t>
                      </a:r>
                      <a:r>
                        <a:rPr lang="en" sz="1350">
                          <a:solidFill>
                            <a:srgbClr val="FBC02D"/>
                          </a:solidFill>
                          <a:latin typeface="Roboto Mono"/>
                          <a:ea typeface="Roboto Mono"/>
                          <a:cs typeface="Roboto Mono"/>
                          <a:sym typeface="Roboto Mono"/>
                        </a:rPr>
                        <a:t>9</a:t>
                      </a:r>
                      <a:r>
                        <a:rPr lang="en" sz="1350">
                          <a:solidFill>
                            <a:srgbClr val="ECEFF1"/>
                          </a:solidFill>
                          <a:latin typeface="Roboto Mono"/>
                          <a:ea typeface="Roboto Mono"/>
                          <a:cs typeface="Roboto Mono"/>
                          <a:sym typeface="Roboto Mono"/>
                        </a:rPr>
                        <a:t> / </a:t>
                      </a:r>
                      <a:r>
                        <a:rPr lang="en" sz="1350">
                          <a:solidFill>
                            <a:srgbClr val="FBC02D"/>
                          </a:solidFill>
                          <a:latin typeface="Roboto Mono"/>
                          <a:ea typeface="Roboto Mono"/>
                          <a:cs typeface="Roboto Mono"/>
                          <a:sym typeface="Roboto Mono"/>
                        </a:rPr>
                        <a:t>5</a:t>
                      </a:r>
                      <a:r>
                        <a:rPr lang="en" sz="1350">
                          <a:solidFill>
                            <a:srgbClr val="ECEFF1"/>
                          </a:solidFill>
                          <a:latin typeface="Roboto Mono"/>
                          <a:ea typeface="Roboto Mono"/>
                          <a:cs typeface="Roboto Mono"/>
                          <a:sym typeface="Roboto Mono"/>
                        </a:rPr>
                        <a:t> + </a:t>
                      </a:r>
                      <a:r>
                        <a:rPr lang="en" sz="1350">
                          <a:solidFill>
                            <a:srgbClr val="FBC02D"/>
                          </a:solidFill>
                          <a:latin typeface="Roboto Mono"/>
                          <a:ea typeface="Roboto Mono"/>
                          <a:cs typeface="Roboto Mono"/>
                          <a:sym typeface="Roboto Mono"/>
                        </a:rPr>
                        <a:t>32</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t0 = time.time_ns()</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cels_to_fahr(</a:t>
                      </a:r>
                      <a:r>
                        <a:rPr lang="en" sz="1350">
                          <a:solidFill>
                            <a:srgbClr val="FBC02D"/>
                          </a:solidFill>
                          <a:latin typeface="Roboto Mono"/>
                          <a:ea typeface="Roboto Mono"/>
                          <a:cs typeface="Roboto Mono"/>
                          <a:sym typeface="Roboto Mono"/>
                        </a:rPr>
                        <a:t>100000</a:t>
                      </a:r>
                      <a:r>
                        <a:rPr lang="en" sz="1350">
                          <a:solidFill>
                            <a:srgbClr val="ECEFF1"/>
                          </a:solidFill>
                          <a:latin typeface="Roboto Mono"/>
                          <a:ea typeface="Roboto Mono"/>
                          <a:cs typeface="Roboto Mono"/>
                          <a:sym typeface="Roboto Mono"/>
                        </a:rPr>
                        <a:t>)</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t1 = time.time_ns() - t0</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4DD0E1"/>
                          </a:solidFill>
                          <a:latin typeface="Roboto Mono"/>
                          <a:ea typeface="Roboto Mono"/>
                          <a:cs typeface="Roboto Mono"/>
                          <a:sym typeface="Roboto Mono"/>
                        </a:rPr>
                        <a:t>print</a:t>
                      </a:r>
                      <a:r>
                        <a:rPr lang="en" sz="1350">
                          <a:solidFill>
                            <a:srgbClr val="ECEFF1"/>
                          </a:solidFill>
                          <a:latin typeface="Roboto Mono"/>
                          <a:ea typeface="Roboto Mono"/>
                          <a:cs typeface="Roboto Mono"/>
                          <a:sym typeface="Roboto Mono"/>
                        </a:rPr>
                        <a:t>(</a:t>
                      </a:r>
                      <a:r>
                        <a:rPr lang="en" sz="1350">
                          <a:solidFill>
                            <a:srgbClr val="9CCC65"/>
                          </a:solidFill>
                          <a:latin typeface="Roboto Mono"/>
                          <a:ea typeface="Roboto Mono"/>
                          <a:cs typeface="Roboto Mono"/>
                          <a:sym typeface="Roboto Mono"/>
                        </a:rPr>
                        <a:t>'t = '</a:t>
                      </a:r>
                      <a:r>
                        <a:rPr lang="en" sz="1350">
                          <a:solidFill>
                            <a:srgbClr val="ECEFF1"/>
                          </a:solidFill>
                          <a:latin typeface="Roboto Mono"/>
                          <a:ea typeface="Roboto Mono"/>
                          <a:cs typeface="Roboto Mono"/>
                          <a:sym typeface="Roboto Mono"/>
                        </a:rPr>
                        <a:t> + </a:t>
                      </a:r>
                      <a:r>
                        <a:rPr lang="en" sz="1350">
                          <a:solidFill>
                            <a:srgbClr val="CE93D8"/>
                          </a:solidFill>
                          <a:latin typeface="Roboto Mono"/>
                          <a:ea typeface="Roboto Mono"/>
                          <a:cs typeface="Roboto Mono"/>
                          <a:sym typeface="Roboto Mono"/>
                        </a:rPr>
                        <a:t>str</a:t>
                      </a:r>
                      <a:r>
                        <a:rPr lang="en" sz="1350">
                          <a:solidFill>
                            <a:srgbClr val="ECEFF1"/>
                          </a:solidFill>
                          <a:latin typeface="Roboto Mono"/>
                          <a:ea typeface="Roboto Mono"/>
                          <a:cs typeface="Roboto Mono"/>
                          <a:sym typeface="Roboto Mono"/>
                        </a:rPr>
                        <a:t>(t1) + </a:t>
                      </a:r>
                      <a:r>
                        <a:rPr lang="en" sz="1350">
                          <a:solidFill>
                            <a:srgbClr val="9CCC65"/>
                          </a:solidFill>
                          <a:latin typeface="Roboto Mono"/>
                          <a:ea typeface="Roboto Mono"/>
                          <a:cs typeface="Roboto Mono"/>
                          <a:sym typeface="Roboto Mono"/>
                        </a:rPr>
                        <a:t>' nanoseconds'</a:t>
                      </a:r>
                      <a:r>
                        <a:rPr lang="en" sz="1350">
                          <a:solidFill>
                            <a:srgbClr val="ECEFF1"/>
                          </a:solidFill>
                          <a:latin typeface="Roboto Mono"/>
                          <a:ea typeface="Roboto Mono"/>
                          <a:cs typeface="Roboto Mono"/>
                          <a:sym typeface="Roboto Mono"/>
                        </a:rPr>
                        <a:t>)</a:t>
                      </a:r>
                      <a:endParaRPr sz="13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a:solidFill>
                            <a:srgbClr val="4DD0E1"/>
                          </a:solidFill>
                          <a:latin typeface="Roboto Mono"/>
                          <a:ea typeface="Roboto Mono"/>
                          <a:cs typeface="Roboto Mono"/>
                          <a:sym typeface="Roboto Mono"/>
                        </a:rPr>
                        <a:t>print</a:t>
                      </a:r>
                      <a:r>
                        <a:rPr lang="en" sz="1350">
                          <a:solidFill>
                            <a:srgbClr val="ECEFF1"/>
                          </a:solidFill>
                          <a:latin typeface="Roboto Mono"/>
                          <a:ea typeface="Roboto Mono"/>
                          <a:cs typeface="Roboto Mono"/>
                          <a:sym typeface="Roboto Mono"/>
                        </a:rPr>
                        <a:t>(</a:t>
                      </a:r>
                      <a:r>
                        <a:rPr lang="en" sz="1350">
                          <a:solidFill>
                            <a:srgbClr val="9CCC65"/>
                          </a:solidFill>
                          <a:latin typeface="Roboto Mono"/>
                          <a:ea typeface="Roboto Mono"/>
                          <a:cs typeface="Roboto Mono"/>
                          <a:sym typeface="Roboto Mono"/>
                        </a:rPr>
                        <a:t>'t = '</a:t>
                      </a:r>
                      <a:r>
                        <a:rPr lang="en" sz="1350">
                          <a:solidFill>
                            <a:srgbClr val="ECEFF1"/>
                          </a:solidFill>
                          <a:latin typeface="Roboto Mono"/>
                          <a:ea typeface="Roboto Mono"/>
                          <a:cs typeface="Roboto Mono"/>
                          <a:sym typeface="Roboto Mono"/>
                        </a:rPr>
                        <a:t>+ </a:t>
                      </a:r>
                      <a:r>
                        <a:rPr lang="en" sz="1350">
                          <a:solidFill>
                            <a:srgbClr val="CE93D8"/>
                          </a:solidFill>
                          <a:latin typeface="Roboto Mono"/>
                          <a:ea typeface="Roboto Mono"/>
                          <a:cs typeface="Roboto Mono"/>
                          <a:sym typeface="Roboto Mono"/>
                        </a:rPr>
                        <a:t>str</a:t>
                      </a:r>
                      <a:r>
                        <a:rPr lang="en" sz="1350">
                          <a:solidFill>
                            <a:srgbClr val="ECEFF1"/>
                          </a:solidFill>
                          <a:latin typeface="Roboto Mono"/>
                          <a:ea typeface="Roboto Mono"/>
                          <a:cs typeface="Roboto Mono"/>
                          <a:sym typeface="Roboto Mono"/>
                        </a:rPr>
                        <a:t>(</a:t>
                      </a:r>
                      <a:r>
                        <a:rPr lang="en" sz="1350">
                          <a:solidFill>
                            <a:srgbClr val="CE93D8"/>
                          </a:solidFill>
                          <a:latin typeface="Roboto Mono"/>
                          <a:ea typeface="Roboto Mono"/>
                          <a:cs typeface="Roboto Mono"/>
                          <a:sym typeface="Roboto Mono"/>
                        </a:rPr>
                        <a:t>round</a:t>
                      </a:r>
                      <a:r>
                        <a:rPr lang="en" sz="1350">
                          <a:solidFill>
                            <a:srgbClr val="ECEFF1"/>
                          </a:solidFill>
                          <a:latin typeface="Roboto Mono"/>
                          <a:ea typeface="Roboto Mono"/>
                          <a:cs typeface="Roboto Mono"/>
                          <a:sym typeface="Roboto Mono"/>
                        </a:rPr>
                        <a:t>(t1 / </a:t>
                      </a:r>
                      <a:r>
                        <a:rPr lang="en" sz="1350">
                          <a:solidFill>
                            <a:srgbClr val="FBC02D"/>
                          </a:solidFill>
                          <a:latin typeface="Roboto Mono"/>
                          <a:ea typeface="Roboto Mono"/>
                          <a:cs typeface="Roboto Mono"/>
                          <a:sym typeface="Roboto Mono"/>
                        </a:rPr>
                        <a:t>1000000</a:t>
                      </a:r>
                      <a:r>
                        <a:rPr lang="en" sz="1350">
                          <a:solidFill>
                            <a:srgbClr val="ECEFF1"/>
                          </a:solidFill>
                          <a:latin typeface="Roboto Mono"/>
                          <a:ea typeface="Roboto Mono"/>
                          <a:cs typeface="Roboto Mono"/>
                          <a:sym typeface="Roboto Mono"/>
                        </a:rPr>
                        <a:t>, </a:t>
                      </a:r>
                      <a:r>
                        <a:rPr lang="en" sz="1350">
                          <a:solidFill>
                            <a:srgbClr val="FBC02D"/>
                          </a:solidFill>
                          <a:latin typeface="Roboto Mono"/>
                          <a:ea typeface="Roboto Mono"/>
                          <a:cs typeface="Roboto Mono"/>
                          <a:sym typeface="Roboto Mono"/>
                        </a:rPr>
                        <a:t>2</a:t>
                      </a:r>
                      <a:r>
                        <a:rPr lang="en" sz="1350">
                          <a:solidFill>
                            <a:srgbClr val="ECEFF1"/>
                          </a:solidFill>
                          <a:latin typeface="Roboto Mono"/>
                          <a:ea typeface="Roboto Mono"/>
                          <a:cs typeface="Roboto Mono"/>
                          <a:sym typeface="Roboto Mono"/>
                        </a:rPr>
                        <a:t>)) + </a:t>
                      </a:r>
                      <a:r>
                        <a:rPr lang="en" sz="1350">
                          <a:solidFill>
                            <a:srgbClr val="9CCC65"/>
                          </a:solidFill>
                          <a:latin typeface="Roboto Mono"/>
                          <a:ea typeface="Roboto Mono"/>
                          <a:cs typeface="Roboto Mono"/>
                          <a:sym typeface="Roboto Mono"/>
                        </a:rPr>
                        <a:t>' milliseconds'</a:t>
                      </a:r>
                      <a:r>
                        <a:rPr lang="en" sz="1350">
                          <a:solidFill>
                            <a:srgbClr val="ECEFF1"/>
                          </a:solidFill>
                          <a:latin typeface="Roboto Mono"/>
                          <a:ea typeface="Roboto Mono"/>
                          <a:cs typeface="Roboto Mono"/>
                          <a:sym typeface="Roboto Mono"/>
                        </a:rPr>
                        <a:t>)</a:t>
                      </a:r>
                      <a:endParaRPr sz="10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fade">
                                      <p:cBhvr>
                                        <p:cTn id="12" dur="1"/>
                                        <p:tgtEl>
                                          <p:spTgt spid="1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1"/>
                                        </p:tgtEl>
                                        <p:attrNameLst>
                                          <p:attrName>style.visibility</p:attrName>
                                        </p:attrNameLst>
                                      </p:cBhvr>
                                      <p:to>
                                        <p:strVal val="visible"/>
                                      </p:to>
                                    </p:set>
                                    <p:animEffect transition="in" filter="fade">
                                      <p:cBhvr>
                                        <p:cTn id="17" dur="1"/>
                                        <p:tgtEl>
                                          <p:spTgt spid="1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2"/>
                                        </p:tgtEl>
                                        <p:attrNameLst>
                                          <p:attrName>style.visibility</p:attrName>
                                        </p:attrNameLst>
                                      </p:cBhvr>
                                      <p:to>
                                        <p:strVal val="visible"/>
                                      </p:to>
                                    </p:set>
                                    <p:animEffect transition="in" filter="fade">
                                      <p:cBhvr>
                                        <p:cTn id="22" dur="1"/>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Timekeeping Problems</a:t>
            </a:r>
            <a:endParaRPr/>
          </a:p>
        </p:txBody>
      </p:sp>
      <p:sp>
        <p:nvSpPr>
          <p:cNvPr id="169" name="Google Shape;169;p2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if you and your friend travel at different speeds!</a:t>
            </a:r>
            <a:endParaRPr/>
          </a:p>
          <a:p>
            <a:pPr marL="457200" lvl="0" indent="-355600" algn="l" rtl="0">
              <a:spcBef>
                <a:spcPts val="600"/>
              </a:spcBef>
              <a:spcAft>
                <a:spcPts val="0"/>
              </a:spcAft>
              <a:buSzPts val="2000"/>
              <a:buChar char="●"/>
            </a:pPr>
            <a:r>
              <a:rPr lang="en"/>
              <a:t>Maybe you walk faster</a:t>
            </a:r>
            <a:endParaRPr/>
          </a:p>
          <a:p>
            <a:pPr marL="457200" lvl="0" indent="-355600" algn="l" rtl="0">
              <a:spcBef>
                <a:spcPts val="0"/>
              </a:spcBef>
              <a:spcAft>
                <a:spcPts val="0"/>
              </a:spcAft>
              <a:buSzPts val="2000"/>
              <a:buChar char="●"/>
            </a:pPr>
            <a:r>
              <a:rPr lang="en"/>
              <a:t>Maybe your friend is on a scooter and you’re walking</a:t>
            </a:r>
            <a:endParaRPr/>
          </a:p>
          <a:p>
            <a:pPr marL="457200" lvl="0" indent="-355600" algn="l" rtl="0">
              <a:spcBef>
                <a:spcPts val="0"/>
              </a:spcBef>
              <a:spcAft>
                <a:spcPts val="0"/>
              </a:spcAft>
              <a:buSzPts val="2000"/>
              <a:buChar char="●"/>
            </a:pPr>
            <a:r>
              <a:rPr lang="en"/>
              <a:t>Maybe you get tired more easily</a:t>
            </a:r>
            <a:endParaRPr/>
          </a:p>
          <a:p>
            <a:pPr marL="0" lvl="0" indent="0" algn="l" rtl="0">
              <a:spcBef>
                <a:spcPts val="600"/>
              </a:spcBef>
              <a:spcAft>
                <a:spcPts val="0"/>
              </a:spcAft>
              <a:buNone/>
            </a:pPr>
            <a:endParaRPr/>
          </a:p>
          <a:p>
            <a:pPr marL="0" lvl="0" indent="0" algn="l" rtl="0">
              <a:spcBef>
                <a:spcPts val="600"/>
              </a:spcBef>
              <a:spcAft>
                <a:spcPts val="0"/>
              </a:spcAft>
              <a:buNone/>
            </a:pPr>
            <a:r>
              <a:rPr lang="en"/>
              <a:t>Many factors! Same problems in computer science</a:t>
            </a:r>
            <a:endParaRPr/>
          </a:p>
          <a:p>
            <a:pPr marL="457200" lvl="0" indent="-355600" algn="l" rtl="0">
              <a:spcBef>
                <a:spcPts val="600"/>
              </a:spcBef>
              <a:spcAft>
                <a:spcPts val="0"/>
              </a:spcAft>
              <a:buSzPts val="2000"/>
              <a:buChar char="●"/>
            </a:pPr>
            <a:r>
              <a:rPr lang="en"/>
              <a:t>What if one computer has a faster processor than the other?</a:t>
            </a:r>
            <a:endParaRPr/>
          </a:p>
          <a:p>
            <a:pPr marL="457200" lvl="0" indent="-355600" algn="l" rtl="0">
              <a:spcBef>
                <a:spcPts val="0"/>
              </a:spcBef>
              <a:spcAft>
                <a:spcPts val="0"/>
              </a:spcAft>
              <a:buSzPts val="2000"/>
              <a:buChar char="●"/>
            </a:pPr>
            <a:r>
              <a:rPr lang="en"/>
              <a:t>What if one computer has a limit on how much power it can consume?</a:t>
            </a:r>
            <a:endParaRPr/>
          </a:p>
          <a:p>
            <a:pPr marL="457200" lvl="0" indent="-355600" algn="l" rtl="0">
              <a:spcBef>
                <a:spcPts val="0"/>
              </a:spcBef>
              <a:spcAft>
                <a:spcPts val="0"/>
              </a:spcAft>
              <a:buSzPts val="2000"/>
              <a:buChar char="●"/>
            </a:pPr>
            <a:r>
              <a:rPr lang="en"/>
              <a:t>What if one computer has less memory than the other?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Timing Programs: Inconsistent</a:t>
            </a:r>
            <a:endParaRPr/>
          </a:p>
        </p:txBody>
      </p:sp>
      <p:sp>
        <p:nvSpPr>
          <p:cNvPr id="175" name="Google Shape;175;p27"/>
          <p:cNvSpPr txBox="1">
            <a:spLocks noGrp="1"/>
          </p:cNvSpPr>
          <p:nvPr>
            <p:ph type="body" idx="1"/>
          </p:nvPr>
        </p:nvSpPr>
        <p:spPr>
          <a:xfrm>
            <a:off x="383175" y="709875"/>
            <a:ext cx="86637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evaluate different algorithms</a:t>
            </a:r>
            <a:endParaRPr/>
          </a:p>
          <a:p>
            <a:pPr marL="0" lvl="0" indent="0" algn="l" rtl="0">
              <a:spcBef>
                <a:spcPts val="600"/>
              </a:spcBef>
              <a:spcAft>
                <a:spcPts val="0"/>
              </a:spcAft>
              <a:buNone/>
            </a:pPr>
            <a:r>
              <a:rPr lang="en"/>
              <a:t>Running time:</a:t>
            </a:r>
            <a:endParaRPr/>
          </a:p>
          <a:p>
            <a:pPr marL="0" marR="0" lvl="0" indent="0" algn="l" rtl="0">
              <a:lnSpc>
                <a:spcPct val="115000"/>
              </a:lnSpc>
              <a:spcBef>
                <a:spcPts val="0"/>
              </a:spcBef>
              <a:spcAft>
                <a:spcPts val="0"/>
              </a:spcAft>
              <a:buNone/>
            </a:pPr>
            <a:r>
              <a:rPr lang="en" sz="30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algorithms</a:t>
            </a:r>
            <a:endParaRPr/>
          </a:p>
          <a:p>
            <a:pPr marL="0" marR="0" lvl="0" indent="0" algn="l" rtl="0">
              <a:lnSpc>
                <a:spcPct val="115000"/>
              </a:lnSpc>
              <a:spcBef>
                <a:spcPts val="0"/>
              </a:spcBef>
              <a:spcAft>
                <a:spcPts val="0"/>
              </a:spcAft>
              <a:buNone/>
            </a:pPr>
            <a:r>
              <a:rPr lang="en" sz="27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implementations</a:t>
            </a:r>
            <a:endParaRPr/>
          </a:p>
          <a:p>
            <a:pPr marL="0" marR="0" lvl="0" indent="0" algn="l" rtl="0">
              <a:lnSpc>
                <a:spcPct val="115000"/>
              </a:lnSpc>
              <a:spcBef>
                <a:spcPts val="0"/>
              </a:spcBef>
              <a:spcAft>
                <a:spcPts val="0"/>
              </a:spcAft>
              <a:buNone/>
            </a:pPr>
            <a:r>
              <a:rPr lang="en" sz="27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computers</a:t>
            </a:r>
            <a:endParaRPr/>
          </a:p>
          <a:p>
            <a:pPr marL="0" marR="0" lvl="0" indent="0" algn="l" rtl="0">
              <a:lnSpc>
                <a:spcPct val="115000"/>
              </a:lnSpc>
              <a:spcBef>
                <a:spcPts val="0"/>
              </a:spcBef>
              <a:spcAft>
                <a:spcPts val="0"/>
              </a:spcAft>
              <a:buNone/>
            </a:pPr>
            <a:r>
              <a:rPr lang="en" sz="27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is not predictable based on small inputs</a:t>
            </a:r>
            <a:endParaRPr/>
          </a:p>
          <a:p>
            <a:pPr marL="0" marR="0" lvl="0" indent="0" algn="l" rtl="0">
              <a:lnSpc>
                <a:spcPct val="115000"/>
              </a:lnSpc>
              <a:spcBef>
                <a:spcPts val="0"/>
              </a:spcBef>
              <a:spcAft>
                <a:spcPts val="0"/>
              </a:spcAft>
              <a:buNone/>
            </a:pPr>
            <a:r>
              <a:rPr lang="en" sz="27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for different inputs, cannot express relationship between inputs and time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animEffect transition="in" filter="fade">
                                      <p:cBhvr>
                                        <p:cTn id="7" dur="1"/>
                                        <p:tgtEl>
                                          <p:spTgt spid="1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xEl>
                                              <p:pRg st="1" end="1"/>
                                            </p:txEl>
                                          </p:spTgt>
                                        </p:tgtEl>
                                        <p:attrNameLst>
                                          <p:attrName>style.visibility</p:attrName>
                                        </p:attrNameLst>
                                      </p:cBhvr>
                                      <p:to>
                                        <p:strVal val="visible"/>
                                      </p:to>
                                    </p:set>
                                    <p:animEffect transition="in" filter="fade">
                                      <p:cBhvr>
                                        <p:cTn id="12" dur="1"/>
                                        <p:tgtEl>
                                          <p:spTgt spid="1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
                                            <p:txEl>
                                              <p:pRg st="2" end="2"/>
                                            </p:txEl>
                                          </p:spTgt>
                                        </p:tgtEl>
                                        <p:attrNameLst>
                                          <p:attrName>style.visibility</p:attrName>
                                        </p:attrNameLst>
                                      </p:cBhvr>
                                      <p:to>
                                        <p:strVal val="visible"/>
                                      </p:to>
                                    </p:set>
                                    <p:animEffect transition="in" filter="fade">
                                      <p:cBhvr>
                                        <p:cTn id="17" dur="1"/>
                                        <p:tgtEl>
                                          <p:spTgt spid="1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xEl>
                                              <p:pRg st="3" end="3"/>
                                            </p:txEl>
                                          </p:spTgt>
                                        </p:tgtEl>
                                        <p:attrNameLst>
                                          <p:attrName>style.visibility</p:attrName>
                                        </p:attrNameLst>
                                      </p:cBhvr>
                                      <p:to>
                                        <p:strVal val="visible"/>
                                      </p:to>
                                    </p:set>
                                    <p:animEffect transition="in" filter="fade">
                                      <p:cBhvr>
                                        <p:cTn id="22" dur="1"/>
                                        <p:tgtEl>
                                          <p:spTgt spid="1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5">
                                            <p:txEl>
                                              <p:pRg st="4" end="4"/>
                                            </p:txEl>
                                          </p:spTgt>
                                        </p:tgtEl>
                                        <p:attrNameLst>
                                          <p:attrName>style.visibility</p:attrName>
                                        </p:attrNameLst>
                                      </p:cBhvr>
                                      <p:to>
                                        <p:strVal val="visible"/>
                                      </p:to>
                                    </p:set>
                                    <p:animEffect transition="in" filter="fade">
                                      <p:cBhvr>
                                        <p:cTn id="27" dur="1"/>
                                        <p:tgtEl>
                                          <p:spTgt spid="1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5">
                                            <p:txEl>
                                              <p:pRg st="5" end="5"/>
                                            </p:txEl>
                                          </p:spTgt>
                                        </p:tgtEl>
                                        <p:attrNameLst>
                                          <p:attrName>style.visibility</p:attrName>
                                        </p:attrNameLst>
                                      </p:cBhvr>
                                      <p:to>
                                        <p:strVal val="visible"/>
                                      </p:to>
                                    </p:set>
                                    <p:animEffect transition="in" filter="fade">
                                      <p:cBhvr>
                                        <p:cTn id="32" dur="1"/>
                                        <p:tgtEl>
                                          <p:spTgt spid="1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5">
                                            <p:txEl>
                                              <p:pRg st="6" end="6"/>
                                            </p:txEl>
                                          </p:spTgt>
                                        </p:tgtEl>
                                        <p:attrNameLst>
                                          <p:attrName>style.visibility</p:attrName>
                                        </p:attrNameLst>
                                      </p:cBhvr>
                                      <p:to>
                                        <p:strVal val="visible"/>
                                      </p:to>
                                    </p:set>
                                    <p:animEffect transition="in" filter="fade">
                                      <p:cBhvr>
                                        <p:cTn id="37" dur="1"/>
                                        <p:tgtEl>
                                          <p:spTgt spid="1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928950" y="2143050"/>
            <a:ext cx="72861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Counting Operations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9"/>
          <p:cNvSpPr txBox="1"/>
          <p:nvPr/>
        </p:nvSpPr>
        <p:spPr>
          <a:xfrm>
            <a:off x="5122800" y="904200"/>
            <a:ext cx="4021200" cy="136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def mysum(x): </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total = 0 </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for i in range(x + 1): </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total = total + i</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return total</a:t>
            </a:r>
            <a:endParaRPr sz="1800">
              <a:solidFill>
                <a:srgbClr val="FFFFFF"/>
              </a:solidFill>
              <a:latin typeface="Consolas"/>
              <a:ea typeface="Consolas"/>
              <a:cs typeface="Consolas"/>
              <a:sym typeface="Consolas"/>
            </a:endParaRPr>
          </a:p>
          <a:p>
            <a:pPr marL="0" lvl="0" indent="0" algn="l" rtl="0">
              <a:spcBef>
                <a:spcPts val="0"/>
              </a:spcBef>
              <a:spcAft>
                <a:spcPts val="0"/>
              </a:spcAft>
              <a:buNone/>
            </a:pPr>
            <a:endParaRPr sz="6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total = 0 =&gt; 1 op</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range =&gt; loop x times</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every time increment =&gt; 1 op</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inside for:</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	total + i =&gt; 1 op</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	store into total =&gt; 1 op</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return =&gt; 1 op</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total: 1 + 3x + 1</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endParaRPr sz="1800">
              <a:solidFill>
                <a:schemeClr val="accent5"/>
              </a:solidFill>
              <a:latin typeface="Consolas"/>
              <a:ea typeface="Consolas"/>
              <a:cs typeface="Consolas"/>
              <a:sym typeface="Consolas"/>
            </a:endParaRPr>
          </a:p>
        </p:txBody>
      </p:sp>
      <p:sp>
        <p:nvSpPr>
          <p:cNvPr id="186" name="Google Shape;186;p29"/>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Counting Operations</a:t>
            </a:r>
            <a:endParaRPr/>
          </a:p>
        </p:txBody>
      </p:sp>
      <p:sp>
        <p:nvSpPr>
          <p:cNvPr id="187" name="Google Shape;187;p29"/>
          <p:cNvSpPr txBox="1">
            <a:spLocks noGrp="1"/>
          </p:cNvSpPr>
          <p:nvPr>
            <p:ph type="body" idx="1"/>
          </p:nvPr>
        </p:nvSpPr>
        <p:spPr>
          <a:xfrm>
            <a:off x="255650" y="742300"/>
            <a:ext cx="4509000" cy="259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Assume these steps take constant time:</a:t>
            </a:r>
            <a:endParaRPr/>
          </a:p>
          <a:p>
            <a:pPr marL="457200" lvl="0" indent="-355600" algn="l" rtl="0">
              <a:spcBef>
                <a:spcPts val="600"/>
              </a:spcBef>
              <a:spcAft>
                <a:spcPts val="0"/>
              </a:spcAft>
              <a:buSzPts val="2000"/>
              <a:buChar char="●"/>
            </a:pPr>
            <a:r>
              <a:rPr lang="en"/>
              <a:t>mathematical operations</a:t>
            </a:r>
            <a:endParaRPr/>
          </a:p>
          <a:p>
            <a:pPr marL="457200" lvl="0" indent="-355600" algn="l" rtl="0">
              <a:spcBef>
                <a:spcPts val="0"/>
              </a:spcBef>
              <a:spcAft>
                <a:spcPts val="0"/>
              </a:spcAft>
              <a:buSzPts val="2000"/>
              <a:buChar char="●"/>
            </a:pPr>
            <a:r>
              <a:rPr lang="en"/>
              <a:t>comparisons</a:t>
            </a:r>
            <a:endParaRPr/>
          </a:p>
          <a:p>
            <a:pPr marL="457200" lvl="0" indent="-355600" algn="l" rtl="0">
              <a:spcBef>
                <a:spcPts val="0"/>
              </a:spcBef>
              <a:spcAft>
                <a:spcPts val="0"/>
              </a:spcAft>
              <a:buSzPts val="2000"/>
              <a:buChar char="●"/>
            </a:pPr>
            <a:r>
              <a:rPr lang="en"/>
              <a:t>assignments</a:t>
            </a:r>
            <a:endParaRPr/>
          </a:p>
          <a:p>
            <a:pPr marL="457200" lvl="0" indent="-355600" algn="l" rtl="0">
              <a:spcBef>
                <a:spcPts val="0"/>
              </a:spcBef>
              <a:spcAft>
                <a:spcPts val="0"/>
              </a:spcAft>
              <a:buSzPts val="2000"/>
              <a:buChar char="●"/>
            </a:pPr>
            <a:r>
              <a:rPr lang="en"/>
              <a:t>accessing items in memory</a:t>
            </a:r>
            <a:endParaRPr/>
          </a:p>
          <a:p>
            <a:pPr marL="0" lvl="0" indent="0" algn="l" rtl="0">
              <a:spcBef>
                <a:spcPts val="600"/>
              </a:spcBef>
              <a:spcAft>
                <a:spcPts val="0"/>
              </a:spcAft>
              <a:buNone/>
            </a:pPr>
            <a:r>
              <a:rPr lang="en"/>
              <a:t>Count number of operations executed as function of input size</a:t>
            </a:r>
            <a:endParaRPr/>
          </a:p>
        </p:txBody>
      </p:sp>
      <p:sp>
        <p:nvSpPr>
          <p:cNvPr id="188" name="Google Shape;188;p29"/>
          <p:cNvSpPr txBox="1"/>
          <p:nvPr/>
        </p:nvSpPr>
        <p:spPr>
          <a:xfrm>
            <a:off x="255650" y="3910175"/>
            <a:ext cx="4184100" cy="11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5 + 32</a:t>
            </a:r>
            <a:endParaRPr sz="1800">
              <a:solidFill>
                <a:srgbClr val="FFFFFF"/>
              </a:solidFill>
              <a:latin typeface="Consolas"/>
              <a:ea typeface="Consolas"/>
              <a:cs typeface="Consolas"/>
              <a:sym typeface="Consolas"/>
            </a:endParaRPr>
          </a:p>
          <a:p>
            <a:pPr marL="0" lvl="0" indent="0" algn="l" rtl="0">
              <a:spcBef>
                <a:spcPts val="0"/>
              </a:spcBef>
              <a:spcAft>
                <a:spcPts val="0"/>
              </a:spcAft>
              <a:buNone/>
            </a:pPr>
            <a:endParaRPr sz="6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chemeClr val="accent5"/>
                </a:solidFill>
                <a:latin typeface="Consolas"/>
                <a:ea typeface="Consolas"/>
                <a:cs typeface="Consolas"/>
                <a:sym typeface="Consolas"/>
              </a:rPr>
              <a:t>return value, *, /, + = 4 ops</a:t>
            </a:r>
            <a:endParaRPr sz="1800">
              <a:solidFill>
                <a:schemeClr val="accent5"/>
              </a:solidFill>
              <a:latin typeface="Consolas"/>
              <a:ea typeface="Consolas"/>
              <a:cs typeface="Consolas"/>
              <a:sym typeface="Consolas"/>
            </a:endParaRPr>
          </a:p>
          <a:p>
            <a:pPr marL="0" lvl="0" indent="0" algn="l" rtl="0">
              <a:spcBef>
                <a:spcPts val="0"/>
              </a:spcBef>
              <a:spcAft>
                <a:spcPts val="0"/>
              </a:spcAft>
              <a:buNone/>
            </a:pPr>
            <a:endParaRPr sz="1800">
              <a:solidFill>
                <a:schemeClr val="accent5"/>
              </a:solidFill>
              <a:latin typeface="Consolas"/>
              <a:ea typeface="Consolas"/>
              <a:cs typeface="Consolas"/>
              <a:sym typeface="Consolas"/>
            </a:endParaRPr>
          </a:p>
          <a:p>
            <a:pPr marL="0" lvl="0" indent="0" algn="l" rtl="0">
              <a:spcBef>
                <a:spcPts val="0"/>
              </a:spcBef>
              <a:spcAft>
                <a:spcPts val="0"/>
              </a:spcAft>
              <a:buNone/>
            </a:pPr>
            <a:endParaRPr sz="1800">
              <a:solidFill>
                <a:schemeClr val="accent5"/>
              </a:solidFill>
              <a:latin typeface="Consolas"/>
              <a:ea typeface="Consolas"/>
              <a:cs typeface="Consolas"/>
              <a:sym typeface="Consolas"/>
            </a:endParaRPr>
          </a:p>
        </p:txBody>
      </p:sp>
      <p:graphicFrame>
        <p:nvGraphicFramePr>
          <p:cNvPr id="189" name="Google Shape;189;p29"/>
          <p:cNvGraphicFramePr/>
          <p:nvPr/>
        </p:nvGraphicFramePr>
        <p:xfrm>
          <a:off x="5264175" y="791342"/>
          <a:ext cx="3414125" cy="1674084"/>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mysum(x):</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total = </a:t>
                      </a:r>
                      <a:r>
                        <a:rPr lang="en" sz="1650">
                          <a:solidFill>
                            <a:srgbClr val="FBC02D"/>
                          </a:solidFill>
                          <a:latin typeface="Roboto Mono"/>
                          <a:ea typeface="Roboto Mono"/>
                          <a:cs typeface="Roboto Mono"/>
                          <a:sym typeface="Roboto Mono"/>
                        </a:rPr>
                        <a:t>0</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for</a:t>
                      </a:r>
                      <a:r>
                        <a:rPr lang="en" sz="1650">
                          <a:solidFill>
                            <a:srgbClr val="ECEFF1"/>
                          </a:solidFill>
                          <a:latin typeface="Roboto Mono"/>
                          <a:ea typeface="Roboto Mono"/>
                          <a:cs typeface="Roboto Mono"/>
                          <a:sym typeface="Roboto Mono"/>
                        </a:rPr>
                        <a:t> i </a:t>
                      </a:r>
                      <a:r>
                        <a:rPr lang="en" sz="1650">
                          <a:solidFill>
                            <a:srgbClr val="4DD0E1"/>
                          </a:solidFill>
                          <a:latin typeface="Roboto Mono"/>
                          <a:ea typeface="Roboto Mono"/>
                          <a:cs typeface="Roboto Mono"/>
                          <a:sym typeface="Roboto Mono"/>
                        </a:rPr>
                        <a:t>in</a:t>
                      </a:r>
                      <a:r>
                        <a:rPr lang="en" sz="1650">
                          <a:solidFill>
                            <a:srgbClr val="ECEFF1"/>
                          </a:solidFill>
                          <a:latin typeface="Roboto Mono"/>
                          <a:ea typeface="Roboto Mono"/>
                          <a:cs typeface="Roboto Mono"/>
                          <a:sym typeface="Roboto Mono"/>
                        </a:rPr>
                        <a:t> </a:t>
                      </a:r>
                      <a:r>
                        <a:rPr lang="en" sz="1650">
                          <a:solidFill>
                            <a:srgbClr val="CE93D8"/>
                          </a:solidFill>
                          <a:latin typeface="Roboto Mono"/>
                          <a:ea typeface="Roboto Mono"/>
                          <a:cs typeface="Roboto Mono"/>
                          <a:sym typeface="Roboto Mono"/>
                        </a:rPr>
                        <a:t>range</a:t>
                      </a:r>
                      <a:r>
                        <a:rPr lang="en" sz="1650">
                          <a:solidFill>
                            <a:srgbClr val="ECEFF1"/>
                          </a:solidFill>
                          <a:latin typeface="Roboto Mono"/>
                          <a:ea typeface="Roboto Mono"/>
                          <a:cs typeface="Roboto Mono"/>
                          <a:sym typeface="Roboto Mono"/>
                        </a:rPr>
                        <a:t>(x):</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total = total + i</a:t>
                      </a:r>
                      <a:endParaRPr sz="16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total</a:t>
                      </a:r>
                      <a:endParaRPr sz="13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graphicFrame>
        <p:nvGraphicFramePr>
          <p:cNvPr id="190" name="Google Shape;190;p29"/>
          <p:cNvGraphicFramePr/>
          <p:nvPr/>
        </p:nvGraphicFramePr>
        <p:xfrm>
          <a:off x="507300" y="3456943"/>
          <a:ext cx="3414125" cy="894558"/>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50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c_to_f(c):</a:t>
                      </a:r>
                      <a:endParaRPr sz="16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c * </a:t>
                      </a:r>
                      <a:r>
                        <a:rPr lang="en" sz="1650">
                          <a:solidFill>
                            <a:srgbClr val="FBC02D"/>
                          </a:solidFill>
                          <a:latin typeface="Roboto Mono"/>
                          <a:ea typeface="Roboto Mono"/>
                          <a:cs typeface="Roboto Mono"/>
                          <a:sym typeface="Roboto Mono"/>
                        </a:rPr>
                        <a:t>9.0</a:t>
                      </a:r>
                      <a:r>
                        <a:rPr lang="en" sz="1650">
                          <a:solidFill>
                            <a:srgbClr val="ECEFF1"/>
                          </a:solidFill>
                          <a:latin typeface="Roboto Mono"/>
                          <a:ea typeface="Roboto Mono"/>
                          <a:cs typeface="Roboto Mono"/>
                          <a:sym typeface="Roboto Mono"/>
                        </a:rPr>
                        <a:t>/</a:t>
                      </a:r>
                      <a:r>
                        <a:rPr lang="en" sz="1650">
                          <a:solidFill>
                            <a:srgbClr val="FBC02D"/>
                          </a:solidFill>
                          <a:latin typeface="Roboto Mono"/>
                          <a:ea typeface="Roboto Mono"/>
                          <a:cs typeface="Roboto Mono"/>
                          <a:sym typeface="Roboto Mono"/>
                        </a:rPr>
                        <a:t>5</a:t>
                      </a:r>
                      <a:r>
                        <a:rPr lang="en" sz="1650">
                          <a:solidFill>
                            <a:srgbClr val="ECEFF1"/>
                          </a:solidFill>
                          <a:latin typeface="Roboto Mono"/>
                          <a:ea typeface="Roboto Mono"/>
                          <a:cs typeface="Roboto Mono"/>
                          <a:sym typeface="Roboto Mono"/>
                        </a:rPr>
                        <a:t> + </a:t>
                      </a:r>
                      <a:r>
                        <a:rPr lang="en" sz="1650">
                          <a:solidFill>
                            <a:srgbClr val="FBC02D"/>
                          </a:solidFill>
                          <a:latin typeface="Roboto Mono"/>
                          <a:ea typeface="Roboto Mono"/>
                          <a:cs typeface="Roboto Mono"/>
                          <a:sym typeface="Roboto Mono"/>
                        </a:rPr>
                        <a:t>32</a:t>
                      </a:r>
                      <a:endParaRPr sz="16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7">
                                            <p:txEl>
                                              <p:pRg st="0" end="0"/>
                                            </p:txEl>
                                          </p:spTgt>
                                        </p:tgtEl>
                                        <p:attrNameLst>
                                          <p:attrName>style.visibility</p:attrName>
                                        </p:attrNameLst>
                                      </p:cBhvr>
                                      <p:to>
                                        <p:strVal val="visible"/>
                                      </p:to>
                                    </p:set>
                                    <p:animEffect transition="in" filter="fade">
                                      <p:cBhvr>
                                        <p:cTn id="7" dur="1"/>
                                        <p:tgtEl>
                                          <p:spTgt spid="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7">
                                            <p:txEl>
                                              <p:pRg st="1" end="1"/>
                                            </p:txEl>
                                          </p:spTgt>
                                        </p:tgtEl>
                                        <p:attrNameLst>
                                          <p:attrName>style.visibility</p:attrName>
                                        </p:attrNameLst>
                                      </p:cBhvr>
                                      <p:to>
                                        <p:strVal val="visible"/>
                                      </p:to>
                                    </p:set>
                                    <p:animEffect transition="in" filter="fade">
                                      <p:cBhvr>
                                        <p:cTn id="12" dur="1"/>
                                        <p:tgtEl>
                                          <p:spTgt spid="1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
                                            <p:txEl>
                                              <p:pRg st="2" end="2"/>
                                            </p:txEl>
                                          </p:spTgt>
                                        </p:tgtEl>
                                        <p:attrNameLst>
                                          <p:attrName>style.visibility</p:attrName>
                                        </p:attrNameLst>
                                      </p:cBhvr>
                                      <p:to>
                                        <p:strVal val="visible"/>
                                      </p:to>
                                    </p:set>
                                    <p:animEffect transition="in" filter="fade">
                                      <p:cBhvr>
                                        <p:cTn id="17" dur="1"/>
                                        <p:tgtEl>
                                          <p:spTgt spid="1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7">
                                            <p:txEl>
                                              <p:pRg st="3" end="3"/>
                                            </p:txEl>
                                          </p:spTgt>
                                        </p:tgtEl>
                                        <p:attrNameLst>
                                          <p:attrName>style.visibility</p:attrName>
                                        </p:attrNameLst>
                                      </p:cBhvr>
                                      <p:to>
                                        <p:strVal val="visible"/>
                                      </p:to>
                                    </p:set>
                                    <p:animEffect transition="in" filter="fade">
                                      <p:cBhvr>
                                        <p:cTn id="22" dur="1"/>
                                        <p:tgtEl>
                                          <p:spTgt spid="1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7">
                                            <p:txEl>
                                              <p:pRg st="4" end="4"/>
                                            </p:txEl>
                                          </p:spTgt>
                                        </p:tgtEl>
                                        <p:attrNameLst>
                                          <p:attrName>style.visibility</p:attrName>
                                        </p:attrNameLst>
                                      </p:cBhvr>
                                      <p:to>
                                        <p:strVal val="visible"/>
                                      </p:to>
                                    </p:set>
                                    <p:animEffect transition="in" filter="fade">
                                      <p:cBhvr>
                                        <p:cTn id="27" dur="1"/>
                                        <p:tgtEl>
                                          <p:spTgt spid="1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7">
                                            <p:txEl>
                                              <p:pRg st="5" end="5"/>
                                            </p:txEl>
                                          </p:spTgt>
                                        </p:tgtEl>
                                        <p:attrNameLst>
                                          <p:attrName>style.visibility</p:attrName>
                                        </p:attrNameLst>
                                      </p:cBhvr>
                                      <p:to>
                                        <p:strVal val="visible"/>
                                      </p:to>
                                    </p:set>
                                    <p:animEffect transition="in" filter="fade">
                                      <p:cBhvr>
                                        <p:cTn id="32" dur="1"/>
                                        <p:tgtEl>
                                          <p:spTgt spid="1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0"/>
                                        </p:tgtEl>
                                        <p:attrNameLst>
                                          <p:attrName>style.visibility</p:attrName>
                                        </p:attrNameLst>
                                      </p:cBhvr>
                                      <p:to>
                                        <p:strVal val="visible"/>
                                      </p:to>
                                    </p:set>
                                    <p:animEffect transition="in" filter="fade">
                                      <p:cBhvr>
                                        <p:cTn id="37" dur="1000"/>
                                        <p:tgtEl>
                                          <p:spTgt spid="19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8"/>
                                        </p:tgtEl>
                                        <p:attrNameLst>
                                          <p:attrName>style.visibility</p:attrName>
                                        </p:attrNameLst>
                                      </p:cBhvr>
                                      <p:to>
                                        <p:strVal val="visible"/>
                                      </p:to>
                                    </p:set>
                                    <p:animEffect transition="in" filter="fade">
                                      <p:cBhvr>
                                        <p:cTn id="42" dur="1"/>
                                        <p:tgtEl>
                                          <p:spTgt spid="18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9"/>
                                        </p:tgtEl>
                                        <p:attrNameLst>
                                          <p:attrName>style.visibility</p:attrName>
                                        </p:attrNameLst>
                                      </p:cBhvr>
                                      <p:to>
                                        <p:strVal val="visible"/>
                                      </p:to>
                                    </p:set>
                                    <p:animEffect transition="in" filter="fade">
                                      <p:cBhvr>
                                        <p:cTn id="47" dur="1000"/>
                                        <p:tgtEl>
                                          <p:spTgt spid="18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5">
                                            <p:txEl>
                                              <p:pRg st="0" end="0"/>
                                            </p:txEl>
                                          </p:spTgt>
                                        </p:tgtEl>
                                        <p:attrNameLst>
                                          <p:attrName>style.visibility</p:attrName>
                                        </p:attrNameLst>
                                      </p:cBhvr>
                                      <p:to>
                                        <p:strVal val="visible"/>
                                      </p:to>
                                    </p:set>
                                    <p:animEffect transition="in" filter="fade">
                                      <p:cBhvr>
                                        <p:cTn id="52" dur="1"/>
                                        <p:tgtEl>
                                          <p:spTgt spid="18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5">
                                            <p:txEl>
                                              <p:pRg st="1" end="1"/>
                                            </p:txEl>
                                          </p:spTgt>
                                        </p:tgtEl>
                                        <p:attrNameLst>
                                          <p:attrName>style.visibility</p:attrName>
                                        </p:attrNameLst>
                                      </p:cBhvr>
                                      <p:to>
                                        <p:strVal val="visible"/>
                                      </p:to>
                                    </p:set>
                                    <p:animEffect transition="in" filter="fade">
                                      <p:cBhvr>
                                        <p:cTn id="57" dur="1"/>
                                        <p:tgtEl>
                                          <p:spTgt spid="18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5">
                                            <p:txEl>
                                              <p:pRg st="2" end="2"/>
                                            </p:txEl>
                                          </p:spTgt>
                                        </p:tgtEl>
                                        <p:attrNameLst>
                                          <p:attrName>style.visibility</p:attrName>
                                        </p:attrNameLst>
                                      </p:cBhvr>
                                      <p:to>
                                        <p:strVal val="visible"/>
                                      </p:to>
                                    </p:set>
                                    <p:animEffect transition="in" filter="fade">
                                      <p:cBhvr>
                                        <p:cTn id="62" dur="1"/>
                                        <p:tgtEl>
                                          <p:spTgt spid="185">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5">
                                            <p:txEl>
                                              <p:pRg st="3" end="3"/>
                                            </p:txEl>
                                          </p:spTgt>
                                        </p:tgtEl>
                                        <p:attrNameLst>
                                          <p:attrName>style.visibility</p:attrName>
                                        </p:attrNameLst>
                                      </p:cBhvr>
                                      <p:to>
                                        <p:strVal val="visible"/>
                                      </p:to>
                                    </p:set>
                                    <p:animEffect transition="in" filter="fade">
                                      <p:cBhvr>
                                        <p:cTn id="67" dur="1"/>
                                        <p:tgtEl>
                                          <p:spTgt spid="185">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85">
                                            <p:txEl>
                                              <p:pRg st="4" end="4"/>
                                            </p:txEl>
                                          </p:spTgt>
                                        </p:tgtEl>
                                        <p:attrNameLst>
                                          <p:attrName>style.visibility</p:attrName>
                                        </p:attrNameLst>
                                      </p:cBhvr>
                                      <p:to>
                                        <p:strVal val="visible"/>
                                      </p:to>
                                    </p:set>
                                    <p:animEffect transition="in" filter="fade">
                                      <p:cBhvr>
                                        <p:cTn id="72" dur="1"/>
                                        <p:tgtEl>
                                          <p:spTgt spid="185">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85">
                                            <p:txEl>
                                              <p:pRg st="5" end="5"/>
                                            </p:txEl>
                                          </p:spTgt>
                                        </p:tgtEl>
                                        <p:attrNameLst>
                                          <p:attrName>style.visibility</p:attrName>
                                        </p:attrNameLst>
                                      </p:cBhvr>
                                      <p:to>
                                        <p:strVal val="visible"/>
                                      </p:to>
                                    </p:set>
                                    <p:animEffect transition="in" filter="fade">
                                      <p:cBhvr>
                                        <p:cTn id="77" dur="1"/>
                                        <p:tgtEl>
                                          <p:spTgt spid="185">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85">
                                            <p:txEl>
                                              <p:pRg st="6" end="6"/>
                                            </p:txEl>
                                          </p:spTgt>
                                        </p:tgtEl>
                                        <p:attrNameLst>
                                          <p:attrName>style.visibility</p:attrName>
                                        </p:attrNameLst>
                                      </p:cBhvr>
                                      <p:to>
                                        <p:strVal val="visible"/>
                                      </p:to>
                                    </p:set>
                                    <p:animEffect transition="in" filter="fade">
                                      <p:cBhvr>
                                        <p:cTn id="82" dur="1"/>
                                        <p:tgtEl>
                                          <p:spTgt spid="185">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85">
                                            <p:txEl>
                                              <p:pRg st="7" end="7"/>
                                            </p:txEl>
                                          </p:spTgt>
                                        </p:tgtEl>
                                        <p:attrNameLst>
                                          <p:attrName>style.visibility</p:attrName>
                                        </p:attrNameLst>
                                      </p:cBhvr>
                                      <p:to>
                                        <p:strVal val="visible"/>
                                      </p:to>
                                    </p:set>
                                    <p:animEffect transition="in" filter="fade">
                                      <p:cBhvr>
                                        <p:cTn id="87" dur="1"/>
                                        <p:tgtEl>
                                          <p:spTgt spid="185">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85">
                                            <p:txEl>
                                              <p:pRg st="8" end="8"/>
                                            </p:txEl>
                                          </p:spTgt>
                                        </p:tgtEl>
                                        <p:attrNameLst>
                                          <p:attrName>style.visibility</p:attrName>
                                        </p:attrNameLst>
                                      </p:cBhvr>
                                      <p:to>
                                        <p:strVal val="visible"/>
                                      </p:to>
                                    </p:set>
                                    <p:animEffect transition="in" filter="fade">
                                      <p:cBhvr>
                                        <p:cTn id="92" dur="1"/>
                                        <p:tgtEl>
                                          <p:spTgt spid="185">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85">
                                            <p:txEl>
                                              <p:pRg st="9" end="9"/>
                                            </p:txEl>
                                          </p:spTgt>
                                        </p:tgtEl>
                                        <p:attrNameLst>
                                          <p:attrName>style.visibility</p:attrName>
                                        </p:attrNameLst>
                                      </p:cBhvr>
                                      <p:to>
                                        <p:strVal val="visible"/>
                                      </p:to>
                                    </p:set>
                                    <p:animEffect transition="in" filter="fade">
                                      <p:cBhvr>
                                        <p:cTn id="97" dur="1"/>
                                        <p:tgtEl>
                                          <p:spTgt spid="185">
                                            <p:txEl>
                                              <p:pRg st="9" end="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85">
                                            <p:txEl>
                                              <p:pRg st="10" end="10"/>
                                            </p:txEl>
                                          </p:spTgt>
                                        </p:tgtEl>
                                        <p:attrNameLst>
                                          <p:attrName>style.visibility</p:attrName>
                                        </p:attrNameLst>
                                      </p:cBhvr>
                                      <p:to>
                                        <p:strVal val="visible"/>
                                      </p:to>
                                    </p:set>
                                    <p:animEffect transition="in" filter="fade">
                                      <p:cBhvr>
                                        <p:cTn id="102" dur="1"/>
                                        <p:tgtEl>
                                          <p:spTgt spid="185">
                                            <p:txEl>
                                              <p:pRg st="10" end="1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85">
                                            <p:txEl>
                                              <p:pRg st="11" end="11"/>
                                            </p:txEl>
                                          </p:spTgt>
                                        </p:tgtEl>
                                        <p:attrNameLst>
                                          <p:attrName>style.visibility</p:attrName>
                                        </p:attrNameLst>
                                      </p:cBhvr>
                                      <p:to>
                                        <p:strVal val="visible"/>
                                      </p:to>
                                    </p:set>
                                    <p:animEffect transition="in" filter="fade">
                                      <p:cBhvr>
                                        <p:cTn id="107" dur="1"/>
                                        <p:tgtEl>
                                          <p:spTgt spid="185">
                                            <p:txEl>
                                              <p:pRg st="11" end="1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85">
                                            <p:txEl>
                                              <p:pRg st="12" end="12"/>
                                            </p:txEl>
                                          </p:spTgt>
                                        </p:tgtEl>
                                        <p:attrNameLst>
                                          <p:attrName>style.visibility</p:attrName>
                                        </p:attrNameLst>
                                      </p:cBhvr>
                                      <p:to>
                                        <p:strVal val="visible"/>
                                      </p:to>
                                    </p:set>
                                    <p:animEffect transition="in" filter="fade">
                                      <p:cBhvr>
                                        <p:cTn id="112" dur="1"/>
                                        <p:tgtEl>
                                          <p:spTgt spid="185">
                                            <p:txEl>
                                              <p:pRg st="12" end="12"/>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85">
                                            <p:txEl>
                                              <p:pRg st="13" end="13"/>
                                            </p:txEl>
                                          </p:spTgt>
                                        </p:tgtEl>
                                        <p:attrNameLst>
                                          <p:attrName>style.visibility</p:attrName>
                                        </p:attrNameLst>
                                      </p:cBhvr>
                                      <p:to>
                                        <p:strVal val="visible"/>
                                      </p:to>
                                    </p:set>
                                    <p:animEffect transition="in" filter="fade">
                                      <p:cBhvr>
                                        <p:cTn id="117" dur="1"/>
                                        <p:tgtEl>
                                          <p:spTgt spid="185">
                                            <p:txEl>
                                              <p:pRg st="13" end="13"/>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85">
                                            <p:txEl>
                                              <p:pRg st="14" end="14"/>
                                            </p:txEl>
                                          </p:spTgt>
                                        </p:tgtEl>
                                        <p:attrNameLst>
                                          <p:attrName>style.visibility</p:attrName>
                                        </p:attrNameLst>
                                      </p:cBhvr>
                                      <p:to>
                                        <p:strVal val="visible"/>
                                      </p:to>
                                    </p:set>
                                    <p:animEffect transition="in" filter="fade">
                                      <p:cBhvr>
                                        <p:cTn id="122" dur="1"/>
                                        <p:tgtEl>
                                          <p:spTgt spid="18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Counting Operations</a:t>
            </a:r>
            <a:endParaRPr/>
          </a:p>
        </p:txBody>
      </p:sp>
      <p:sp>
        <p:nvSpPr>
          <p:cNvPr id="196" name="Google Shape;196;p30"/>
          <p:cNvSpPr txBox="1"/>
          <p:nvPr/>
        </p:nvSpPr>
        <p:spPr>
          <a:xfrm>
            <a:off x="315900" y="2508600"/>
            <a:ext cx="40212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accent5"/>
                </a:solidFill>
                <a:latin typeface="Consolas"/>
                <a:ea typeface="Consolas"/>
                <a:cs typeface="Consolas"/>
                <a:sym typeface="Consolas"/>
              </a:rPr>
              <a:t>total = 0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range =&gt; loop x times</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every time increment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inside for:</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	total + i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	store into total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return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total: 1 + 3x + 1</a:t>
            </a:r>
            <a:endParaRPr sz="1600">
              <a:solidFill>
                <a:schemeClr val="accent5"/>
              </a:solidFill>
              <a:latin typeface="Consolas"/>
              <a:ea typeface="Consolas"/>
              <a:cs typeface="Consolas"/>
              <a:sym typeface="Consolas"/>
            </a:endParaRPr>
          </a:p>
        </p:txBody>
      </p:sp>
      <p:sp>
        <p:nvSpPr>
          <p:cNvPr id="197" name="Google Shape;197;p30"/>
          <p:cNvSpPr txBox="1"/>
          <p:nvPr/>
        </p:nvSpPr>
        <p:spPr>
          <a:xfrm>
            <a:off x="4742800" y="2508600"/>
            <a:ext cx="4243500" cy="21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accent5"/>
                </a:solidFill>
                <a:latin typeface="Consolas"/>
                <a:ea typeface="Consolas"/>
                <a:cs typeface="Consolas"/>
                <a:sym typeface="Consolas"/>
              </a:rPr>
              <a:t>total = 0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i = 0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while =&gt; loop x times</a:t>
            </a:r>
            <a:endParaRPr sz="1600">
              <a:solidFill>
                <a:schemeClr val="accent5"/>
              </a:solidFill>
              <a:latin typeface="Consolas"/>
              <a:ea typeface="Consolas"/>
              <a:cs typeface="Consolas"/>
              <a:sym typeface="Consolas"/>
            </a:endParaRPr>
          </a:p>
          <a:p>
            <a:pPr marL="0" lvl="0" indent="457200" algn="l" rtl="0">
              <a:spcBef>
                <a:spcPts val="0"/>
              </a:spcBef>
              <a:spcAft>
                <a:spcPts val="0"/>
              </a:spcAft>
              <a:buNone/>
            </a:pPr>
            <a:r>
              <a:rPr lang="en" sz="1600">
                <a:solidFill>
                  <a:schemeClr val="accent5"/>
                </a:solidFill>
                <a:latin typeface="Consolas"/>
                <a:ea typeface="Consolas"/>
                <a:cs typeface="Consolas"/>
                <a:sym typeface="Consolas"/>
              </a:rPr>
              <a:t>i comparison =&gt; 1 op</a:t>
            </a:r>
            <a:endParaRPr sz="1600">
              <a:solidFill>
                <a:schemeClr val="accent5"/>
              </a:solidFill>
              <a:latin typeface="Consolas"/>
              <a:ea typeface="Consolas"/>
              <a:cs typeface="Consolas"/>
              <a:sym typeface="Consolas"/>
            </a:endParaRPr>
          </a:p>
          <a:p>
            <a:pPr marL="0" lvl="0" indent="457200" algn="l" rtl="0">
              <a:spcBef>
                <a:spcPts val="0"/>
              </a:spcBef>
              <a:spcAft>
                <a:spcPts val="0"/>
              </a:spcAft>
              <a:buNone/>
            </a:pPr>
            <a:r>
              <a:rPr lang="en" sz="1600">
                <a:solidFill>
                  <a:schemeClr val="accent5"/>
                </a:solidFill>
                <a:latin typeface="Consolas"/>
                <a:ea typeface="Consolas"/>
                <a:cs typeface="Consolas"/>
                <a:sym typeface="Consolas"/>
              </a:rPr>
              <a:t>inside while:</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		total = total + i =&gt; 2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		i = i + 1 =&gt; 2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return =&gt; 1 op</a:t>
            </a:r>
            <a:endParaRPr sz="1600">
              <a:solidFill>
                <a:schemeClr val="accent5"/>
              </a:solidFill>
              <a:latin typeface="Consolas"/>
              <a:ea typeface="Consolas"/>
              <a:cs typeface="Consolas"/>
              <a:sym typeface="Consolas"/>
            </a:endParaRPr>
          </a:p>
          <a:p>
            <a:pPr marL="0" lvl="0" indent="0" algn="l" rtl="0">
              <a:spcBef>
                <a:spcPts val="0"/>
              </a:spcBef>
              <a:spcAft>
                <a:spcPts val="0"/>
              </a:spcAft>
              <a:buNone/>
            </a:pPr>
            <a:r>
              <a:rPr lang="en" sz="1600">
                <a:solidFill>
                  <a:schemeClr val="accent5"/>
                </a:solidFill>
                <a:latin typeface="Consolas"/>
                <a:ea typeface="Consolas"/>
                <a:cs typeface="Consolas"/>
                <a:sym typeface="Consolas"/>
              </a:rPr>
              <a:t>total: 1 + 1 + 5x + 1</a:t>
            </a:r>
            <a:endParaRPr sz="1200"/>
          </a:p>
        </p:txBody>
      </p:sp>
      <p:graphicFrame>
        <p:nvGraphicFramePr>
          <p:cNvPr id="198" name="Google Shape;198;p30"/>
          <p:cNvGraphicFramePr/>
          <p:nvPr/>
        </p:nvGraphicFramePr>
        <p:xfrm>
          <a:off x="437900" y="675342"/>
          <a:ext cx="3414125" cy="1403003"/>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15000"/>
                        </a:lnSpc>
                        <a:spcBef>
                          <a:spcPts val="0"/>
                        </a:spcBef>
                        <a:spcAft>
                          <a:spcPts val="0"/>
                        </a:spcAft>
                        <a:buNone/>
                      </a:pPr>
                      <a:r>
                        <a:rPr lang="en" sz="1350">
                          <a:solidFill>
                            <a:srgbClr val="4DD0E1"/>
                          </a:solidFill>
                          <a:latin typeface="Roboto Mono"/>
                          <a:ea typeface="Roboto Mono"/>
                          <a:cs typeface="Roboto Mono"/>
                          <a:sym typeface="Roboto Mono"/>
                        </a:rPr>
                        <a:t>def</a:t>
                      </a:r>
                      <a:r>
                        <a:rPr lang="en" sz="1350">
                          <a:solidFill>
                            <a:srgbClr val="ECEFF1"/>
                          </a:solidFill>
                          <a:latin typeface="Roboto Mono"/>
                          <a:ea typeface="Roboto Mono"/>
                          <a:cs typeface="Roboto Mono"/>
                          <a:sym typeface="Roboto Mono"/>
                        </a:rPr>
                        <a:t> mysum(x):</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total = </a:t>
                      </a:r>
                      <a:r>
                        <a:rPr lang="en" sz="1350">
                          <a:solidFill>
                            <a:srgbClr val="FBC02D"/>
                          </a:solidFill>
                          <a:latin typeface="Roboto Mono"/>
                          <a:ea typeface="Roboto Mono"/>
                          <a:cs typeface="Roboto Mono"/>
                          <a:sym typeface="Roboto Mono"/>
                        </a:rPr>
                        <a:t>0</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a:t>
                      </a:r>
                      <a:r>
                        <a:rPr lang="en" sz="1350">
                          <a:solidFill>
                            <a:srgbClr val="4DD0E1"/>
                          </a:solidFill>
                          <a:latin typeface="Roboto Mono"/>
                          <a:ea typeface="Roboto Mono"/>
                          <a:cs typeface="Roboto Mono"/>
                          <a:sym typeface="Roboto Mono"/>
                        </a:rPr>
                        <a:t>for</a:t>
                      </a:r>
                      <a:r>
                        <a:rPr lang="en" sz="1350">
                          <a:solidFill>
                            <a:srgbClr val="ECEFF1"/>
                          </a:solidFill>
                          <a:latin typeface="Roboto Mono"/>
                          <a:ea typeface="Roboto Mono"/>
                          <a:cs typeface="Roboto Mono"/>
                          <a:sym typeface="Roboto Mono"/>
                        </a:rPr>
                        <a:t> i </a:t>
                      </a:r>
                      <a:r>
                        <a:rPr lang="en" sz="1350">
                          <a:solidFill>
                            <a:srgbClr val="4DD0E1"/>
                          </a:solidFill>
                          <a:latin typeface="Roboto Mono"/>
                          <a:ea typeface="Roboto Mono"/>
                          <a:cs typeface="Roboto Mono"/>
                          <a:sym typeface="Roboto Mono"/>
                        </a:rPr>
                        <a:t>in</a:t>
                      </a:r>
                      <a:r>
                        <a:rPr lang="en" sz="1350">
                          <a:solidFill>
                            <a:srgbClr val="ECEFF1"/>
                          </a:solidFill>
                          <a:latin typeface="Roboto Mono"/>
                          <a:ea typeface="Roboto Mono"/>
                          <a:cs typeface="Roboto Mono"/>
                          <a:sym typeface="Roboto Mono"/>
                        </a:rPr>
                        <a:t> </a:t>
                      </a:r>
                      <a:r>
                        <a:rPr lang="en" sz="1350">
                          <a:solidFill>
                            <a:srgbClr val="CE93D8"/>
                          </a:solidFill>
                          <a:latin typeface="Roboto Mono"/>
                          <a:ea typeface="Roboto Mono"/>
                          <a:cs typeface="Roboto Mono"/>
                          <a:sym typeface="Roboto Mono"/>
                        </a:rPr>
                        <a:t>range</a:t>
                      </a:r>
                      <a:r>
                        <a:rPr lang="en" sz="1350">
                          <a:solidFill>
                            <a:srgbClr val="ECEFF1"/>
                          </a:solidFill>
                          <a:latin typeface="Roboto Mono"/>
                          <a:ea typeface="Roboto Mono"/>
                          <a:cs typeface="Roboto Mono"/>
                          <a:sym typeface="Roboto Mono"/>
                        </a:rPr>
                        <a:t>(x):</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total = total + i</a:t>
                      </a:r>
                      <a:endParaRPr sz="13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a:solidFill>
                            <a:srgbClr val="ECEFF1"/>
                          </a:solidFill>
                          <a:latin typeface="Roboto Mono"/>
                          <a:ea typeface="Roboto Mono"/>
                          <a:cs typeface="Roboto Mono"/>
                          <a:sym typeface="Roboto Mono"/>
                        </a:rPr>
                        <a:t>  </a:t>
                      </a:r>
                      <a:r>
                        <a:rPr lang="en" sz="1350">
                          <a:solidFill>
                            <a:srgbClr val="4DD0E1"/>
                          </a:solidFill>
                          <a:latin typeface="Roboto Mono"/>
                          <a:ea typeface="Roboto Mono"/>
                          <a:cs typeface="Roboto Mono"/>
                          <a:sym typeface="Roboto Mono"/>
                        </a:rPr>
                        <a:t>return</a:t>
                      </a:r>
                      <a:r>
                        <a:rPr lang="en" sz="1350">
                          <a:solidFill>
                            <a:srgbClr val="ECEFF1"/>
                          </a:solidFill>
                          <a:latin typeface="Roboto Mono"/>
                          <a:ea typeface="Roboto Mono"/>
                          <a:cs typeface="Roboto Mono"/>
                          <a:sym typeface="Roboto Mono"/>
                        </a:rPr>
                        <a:t> total</a:t>
                      </a:r>
                      <a:endParaRPr sz="10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graphicFrame>
        <p:nvGraphicFramePr>
          <p:cNvPr id="199" name="Google Shape;199;p30"/>
          <p:cNvGraphicFramePr/>
          <p:nvPr/>
        </p:nvGraphicFramePr>
        <p:xfrm>
          <a:off x="4986688" y="675342"/>
          <a:ext cx="3414125" cy="1822230"/>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15000"/>
                        </a:lnSpc>
                        <a:spcBef>
                          <a:spcPts val="0"/>
                        </a:spcBef>
                        <a:spcAft>
                          <a:spcPts val="0"/>
                        </a:spcAft>
                        <a:buNone/>
                      </a:pPr>
                      <a:r>
                        <a:rPr lang="en" sz="1350">
                          <a:solidFill>
                            <a:srgbClr val="4DD0E1"/>
                          </a:solidFill>
                          <a:latin typeface="Roboto Mono"/>
                          <a:ea typeface="Roboto Mono"/>
                          <a:cs typeface="Roboto Mono"/>
                          <a:sym typeface="Roboto Mono"/>
                        </a:rPr>
                        <a:t>def</a:t>
                      </a:r>
                      <a:r>
                        <a:rPr lang="en" sz="1350">
                          <a:solidFill>
                            <a:srgbClr val="ECEFF1"/>
                          </a:solidFill>
                          <a:latin typeface="Roboto Mono"/>
                          <a:ea typeface="Roboto Mono"/>
                          <a:cs typeface="Roboto Mono"/>
                          <a:sym typeface="Roboto Mono"/>
                        </a:rPr>
                        <a:t> mysum(x):</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total = </a:t>
                      </a:r>
                      <a:r>
                        <a:rPr lang="en" sz="1350">
                          <a:solidFill>
                            <a:srgbClr val="FBC02D"/>
                          </a:solidFill>
                          <a:latin typeface="Roboto Mono"/>
                          <a:ea typeface="Roboto Mono"/>
                          <a:cs typeface="Roboto Mono"/>
                          <a:sym typeface="Roboto Mono"/>
                        </a:rPr>
                        <a:t>0</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i = </a:t>
                      </a:r>
                      <a:r>
                        <a:rPr lang="en" sz="1350">
                          <a:solidFill>
                            <a:srgbClr val="FBC02D"/>
                          </a:solidFill>
                          <a:latin typeface="Roboto Mono"/>
                          <a:ea typeface="Roboto Mono"/>
                          <a:cs typeface="Roboto Mono"/>
                          <a:sym typeface="Roboto Mono"/>
                        </a:rPr>
                        <a:t>0</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a:t>
                      </a:r>
                      <a:r>
                        <a:rPr lang="en" sz="1350">
                          <a:solidFill>
                            <a:srgbClr val="4DD0E1"/>
                          </a:solidFill>
                          <a:latin typeface="Roboto Mono"/>
                          <a:ea typeface="Roboto Mono"/>
                          <a:cs typeface="Roboto Mono"/>
                          <a:sym typeface="Roboto Mono"/>
                        </a:rPr>
                        <a:t>while</a:t>
                      </a:r>
                      <a:r>
                        <a:rPr lang="en" sz="1350">
                          <a:solidFill>
                            <a:srgbClr val="ECEFF1"/>
                          </a:solidFill>
                          <a:latin typeface="Roboto Mono"/>
                          <a:ea typeface="Roboto Mono"/>
                          <a:cs typeface="Roboto Mono"/>
                          <a:sym typeface="Roboto Mono"/>
                        </a:rPr>
                        <a:t> i &lt; x:</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total = total + i</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i = i + </a:t>
                      </a:r>
                      <a:r>
                        <a:rPr lang="en" sz="1350">
                          <a:solidFill>
                            <a:srgbClr val="FBC02D"/>
                          </a:solidFill>
                          <a:latin typeface="Roboto Mono"/>
                          <a:ea typeface="Roboto Mono"/>
                          <a:cs typeface="Roboto Mono"/>
                          <a:sym typeface="Roboto Mono"/>
                        </a:rPr>
                        <a:t>1</a:t>
                      </a:r>
                      <a:endParaRPr sz="13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350">
                          <a:solidFill>
                            <a:srgbClr val="ECEFF1"/>
                          </a:solidFill>
                          <a:latin typeface="Roboto Mono"/>
                          <a:ea typeface="Roboto Mono"/>
                          <a:cs typeface="Roboto Mono"/>
                          <a:sym typeface="Roboto Mono"/>
                        </a:rPr>
                        <a:t>  </a:t>
                      </a:r>
                      <a:r>
                        <a:rPr lang="en" sz="1350">
                          <a:solidFill>
                            <a:srgbClr val="4DD0E1"/>
                          </a:solidFill>
                          <a:latin typeface="Roboto Mono"/>
                          <a:ea typeface="Roboto Mono"/>
                          <a:cs typeface="Roboto Mono"/>
                          <a:sym typeface="Roboto Mono"/>
                        </a:rPr>
                        <a:t>return</a:t>
                      </a:r>
                      <a:r>
                        <a:rPr lang="en" sz="1350">
                          <a:solidFill>
                            <a:srgbClr val="ECEFF1"/>
                          </a:solidFill>
                          <a:latin typeface="Roboto Mono"/>
                          <a:ea typeface="Roboto Mono"/>
                          <a:cs typeface="Roboto Mono"/>
                          <a:sym typeface="Roboto Mono"/>
                        </a:rPr>
                        <a:t> total</a:t>
                      </a:r>
                      <a:endParaRPr sz="13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gtEl>
                                        <p:attrNameLst>
                                          <p:attrName>style.visibility</p:attrName>
                                        </p:attrNameLst>
                                      </p:cBhvr>
                                      <p:to>
                                        <p:strVal val="visible"/>
                                      </p:to>
                                    </p:set>
                                    <p:animEffect transition="in" filter="fade">
                                      <p:cBhvr>
                                        <p:cTn id="12" dur="1000"/>
                                        <p:tgtEl>
                                          <p:spTgt spid="1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6">
                                            <p:txEl>
                                              <p:pRg st="0" end="0"/>
                                            </p:txEl>
                                          </p:spTgt>
                                        </p:tgtEl>
                                        <p:attrNameLst>
                                          <p:attrName>style.visibility</p:attrName>
                                        </p:attrNameLst>
                                      </p:cBhvr>
                                      <p:to>
                                        <p:strVal val="visible"/>
                                      </p:to>
                                    </p:set>
                                    <p:animEffect transition="in" filter="fade">
                                      <p:cBhvr>
                                        <p:cTn id="17" dur="1"/>
                                        <p:tgtEl>
                                          <p:spTgt spid="19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6">
                                            <p:txEl>
                                              <p:pRg st="1" end="1"/>
                                            </p:txEl>
                                          </p:spTgt>
                                        </p:tgtEl>
                                        <p:attrNameLst>
                                          <p:attrName>style.visibility</p:attrName>
                                        </p:attrNameLst>
                                      </p:cBhvr>
                                      <p:to>
                                        <p:strVal val="visible"/>
                                      </p:to>
                                    </p:set>
                                    <p:animEffect transition="in" filter="fade">
                                      <p:cBhvr>
                                        <p:cTn id="22" dur="1"/>
                                        <p:tgtEl>
                                          <p:spTgt spid="19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6">
                                            <p:txEl>
                                              <p:pRg st="2" end="2"/>
                                            </p:txEl>
                                          </p:spTgt>
                                        </p:tgtEl>
                                        <p:attrNameLst>
                                          <p:attrName>style.visibility</p:attrName>
                                        </p:attrNameLst>
                                      </p:cBhvr>
                                      <p:to>
                                        <p:strVal val="visible"/>
                                      </p:to>
                                    </p:set>
                                    <p:animEffect transition="in" filter="fade">
                                      <p:cBhvr>
                                        <p:cTn id="27" dur="1"/>
                                        <p:tgtEl>
                                          <p:spTgt spid="19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6">
                                            <p:txEl>
                                              <p:pRg st="3" end="3"/>
                                            </p:txEl>
                                          </p:spTgt>
                                        </p:tgtEl>
                                        <p:attrNameLst>
                                          <p:attrName>style.visibility</p:attrName>
                                        </p:attrNameLst>
                                      </p:cBhvr>
                                      <p:to>
                                        <p:strVal val="visible"/>
                                      </p:to>
                                    </p:set>
                                    <p:animEffect transition="in" filter="fade">
                                      <p:cBhvr>
                                        <p:cTn id="32" dur="1"/>
                                        <p:tgtEl>
                                          <p:spTgt spid="19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6">
                                            <p:txEl>
                                              <p:pRg st="4" end="4"/>
                                            </p:txEl>
                                          </p:spTgt>
                                        </p:tgtEl>
                                        <p:attrNameLst>
                                          <p:attrName>style.visibility</p:attrName>
                                        </p:attrNameLst>
                                      </p:cBhvr>
                                      <p:to>
                                        <p:strVal val="visible"/>
                                      </p:to>
                                    </p:set>
                                    <p:animEffect transition="in" filter="fade">
                                      <p:cBhvr>
                                        <p:cTn id="37" dur="1"/>
                                        <p:tgtEl>
                                          <p:spTgt spid="19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6">
                                            <p:txEl>
                                              <p:pRg st="5" end="5"/>
                                            </p:txEl>
                                          </p:spTgt>
                                        </p:tgtEl>
                                        <p:attrNameLst>
                                          <p:attrName>style.visibility</p:attrName>
                                        </p:attrNameLst>
                                      </p:cBhvr>
                                      <p:to>
                                        <p:strVal val="visible"/>
                                      </p:to>
                                    </p:set>
                                    <p:animEffect transition="in" filter="fade">
                                      <p:cBhvr>
                                        <p:cTn id="42" dur="1"/>
                                        <p:tgtEl>
                                          <p:spTgt spid="19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6">
                                            <p:txEl>
                                              <p:pRg st="6" end="6"/>
                                            </p:txEl>
                                          </p:spTgt>
                                        </p:tgtEl>
                                        <p:attrNameLst>
                                          <p:attrName>style.visibility</p:attrName>
                                        </p:attrNameLst>
                                      </p:cBhvr>
                                      <p:to>
                                        <p:strVal val="visible"/>
                                      </p:to>
                                    </p:set>
                                    <p:animEffect transition="in" filter="fade">
                                      <p:cBhvr>
                                        <p:cTn id="47" dur="1"/>
                                        <p:tgtEl>
                                          <p:spTgt spid="19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6">
                                            <p:txEl>
                                              <p:pRg st="7" end="7"/>
                                            </p:txEl>
                                          </p:spTgt>
                                        </p:tgtEl>
                                        <p:attrNameLst>
                                          <p:attrName>style.visibility</p:attrName>
                                        </p:attrNameLst>
                                      </p:cBhvr>
                                      <p:to>
                                        <p:strVal val="visible"/>
                                      </p:to>
                                    </p:set>
                                    <p:animEffect transition="in" filter="fade">
                                      <p:cBhvr>
                                        <p:cTn id="52" dur="1"/>
                                        <p:tgtEl>
                                          <p:spTgt spid="196">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97">
                                            <p:txEl>
                                              <p:pRg st="0" end="0"/>
                                            </p:txEl>
                                          </p:spTgt>
                                        </p:tgtEl>
                                        <p:attrNameLst>
                                          <p:attrName>style.visibility</p:attrName>
                                        </p:attrNameLst>
                                      </p:cBhvr>
                                      <p:to>
                                        <p:strVal val="visible"/>
                                      </p:to>
                                    </p:set>
                                    <p:animEffect transition="in" filter="fade">
                                      <p:cBhvr>
                                        <p:cTn id="57" dur="1"/>
                                        <p:tgtEl>
                                          <p:spTgt spid="19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7">
                                            <p:txEl>
                                              <p:pRg st="1" end="1"/>
                                            </p:txEl>
                                          </p:spTgt>
                                        </p:tgtEl>
                                        <p:attrNameLst>
                                          <p:attrName>style.visibility</p:attrName>
                                        </p:attrNameLst>
                                      </p:cBhvr>
                                      <p:to>
                                        <p:strVal val="visible"/>
                                      </p:to>
                                    </p:set>
                                    <p:animEffect transition="in" filter="fade">
                                      <p:cBhvr>
                                        <p:cTn id="62" dur="1"/>
                                        <p:tgtEl>
                                          <p:spTgt spid="197">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97">
                                            <p:txEl>
                                              <p:pRg st="2" end="2"/>
                                            </p:txEl>
                                          </p:spTgt>
                                        </p:tgtEl>
                                        <p:attrNameLst>
                                          <p:attrName>style.visibility</p:attrName>
                                        </p:attrNameLst>
                                      </p:cBhvr>
                                      <p:to>
                                        <p:strVal val="visible"/>
                                      </p:to>
                                    </p:set>
                                    <p:animEffect transition="in" filter="fade">
                                      <p:cBhvr>
                                        <p:cTn id="67" dur="1"/>
                                        <p:tgtEl>
                                          <p:spTgt spid="197">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7">
                                            <p:txEl>
                                              <p:pRg st="3" end="3"/>
                                            </p:txEl>
                                          </p:spTgt>
                                        </p:tgtEl>
                                        <p:attrNameLst>
                                          <p:attrName>style.visibility</p:attrName>
                                        </p:attrNameLst>
                                      </p:cBhvr>
                                      <p:to>
                                        <p:strVal val="visible"/>
                                      </p:to>
                                    </p:set>
                                    <p:animEffect transition="in" filter="fade">
                                      <p:cBhvr>
                                        <p:cTn id="72" dur="1"/>
                                        <p:tgtEl>
                                          <p:spTgt spid="197">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97">
                                            <p:txEl>
                                              <p:pRg st="4" end="4"/>
                                            </p:txEl>
                                          </p:spTgt>
                                        </p:tgtEl>
                                        <p:attrNameLst>
                                          <p:attrName>style.visibility</p:attrName>
                                        </p:attrNameLst>
                                      </p:cBhvr>
                                      <p:to>
                                        <p:strVal val="visible"/>
                                      </p:to>
                                    </p:set>
                                    <p:animEffect transition="in" filter="fade">
                                      <p:cBhvr>
                                        <p:cTn id="77" dur="1"/>
                                        <p:tgtEl>
                                          <p:spTgt spid="197">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97">
                                            <p:txEl>
                                              <p:pRg st="5" end="5"/>
                                            </p:txEl>
                                          </p:spTgt>
                                        </p:tgtEl>
                                        <p:attrNameLst>
                                          <p:attrName>style.visibility</p:attrName>
                                        </p:attrNameLst>
                                      </p:cBhvr>
                                      <p:to>
                                        <p:strVal val="visible"/>
                                      </p:to>
                                    </p:set>
                                    <p:animEffect transition="in" filter="fade">
                                      <p:cBhvr>
                                        <p:cTn id="82" dur="1"/>
                                        <p:tgtEl>
                                          <p:spTgt spid="197">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97">
                                            <p:txEl>
                                              <p:pRg st="6" end="6"/>
                                            </p:txEl>
                                          </p:spTgt>
                                        </p:tgtEl>
                                        <p:attrNameLst>
                                          <p:attrName>style.visibility</p:attrName>
                                        </p:attrNameLst>
                                      </p:cBhvr>
                                      <p:to>
                                        <p:strVal val="visible"/>
                                      </p:to>
                                    </p:set>
                                    <p:animEffect transition="in" filter="fade">
                                      <p:cBhvr>
                                        <p:cTn id="87" dur="1"/>
                                        <p:tgtEl>
                                          <p:spTgt spid="197">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97">
                                            <p:txEl>
                                              <p:pRg st="7" end="7"/>
                                            </p:txEl>
                                          </p:spTgt>
                                        </p:tgtEl>
                                        <p:attrNameLst>
                                          <p:attrName>style.visibility</p:attrName>
                                        </p:attrNameLst>
                                      </p:cBhvr>
                                      <p:to>
                                        <p:strVal val="visible"/>
                                      </p:to>
                                    </p:set>
                                    <p:animEffect transition="in" filter="fade">
                                      <p:cBhvr>
                                        <p:cTn id="92" dur="1"/>
                                        <p:tgtEl>
                                          <p:spTgt spid="197">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97">
                                            <p:txEl>
                                              <p:pRg st="8" end="8"/>
                                            </p:txEl>
                                          </p:spTgt>
                                        </p:tgtEl>
                                        <p:attrNameLst>
                                          <p:attrName>style.visibility</p:attrName>
                                        </p:attrNameLst>
                                      </p:cBhvr>
                                      <p:to>
                                        <p:strVal val="visible"/>
                                      </p:to>
                                    </p:set>
                                    <p:animEffect transition="in" filter="fade">
                                      <p:cBhvr>
                                        <p:cTn id="97" dur="1"/>
                                        <p:tgtEl>
                                          <p:spTgt spid="19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1"/>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Counter Operations: Nested Loops</a:t>
            </a:r>
            <a:endParaRPr/>
          </a:p>
        </p:txBody>
      </p:sp>
      <p:sp>
        <p:nvSpPr>
          <p:cNvPr id="205" name="Google Shape;205;p31"/>
          <p:cNvSpPr txBox="1">
            <a:spLocks noGrp="1"/>
          </p:cNvSpPr>
          <p:nvPr>
            <p:ph type="body" idx="1"/>
          </p:nvPr>
        </p:nvSpPr>
        <p:spPr>
          <a:xfrm>
            <a:off x="243000" y="2635200"/>
            <a:ext cx="8443800" cy="207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many times do we print? x</a:t>
            </a:r>
            <a:r>
              <a:rPr lang="en" baseline="30000"/>
              <a:t>2</a:t>
            </a:r>
            <a:r>
              <a:rPr lang="en"/>
              <a:t> times</a:t>
            </a:r>
            <a:endParaRPr baseline="30000"/>
          </a:p>
        </p:txBody>
      </p:sp>
      <p:graphicFrame>
        <p:nvGraphicFramePr>
          <p:cNvPr id="206" name="Google Shape;206;p31"/>
          <p:cNvGraphicFramePr/>
          <p:nvPr/>
        </p:nvGraphicFramePr>
        <p:xfrm>
          <a:off x="2574538" y="1099892"/>
          <a:ext cx="3414125" cy="1318929"/>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mystery(x):</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for</a:t>
                      </a:r>
                      <a:r>
                        <a:rPr lang="en" sz="1650">
                          <a:solidFill>
                            <a:srgbClr val="ECEFF1"/>
                          </a:solidFill>
                          <a:latin typeface="Roboto Mono"/>
                          <a:ea typeface="Roboto Mono"/>
                          <a:cs typeface="Roboto Mono"/>
                          <a:sym typeface="Roboto Mono"/>
                        </a:rPr>
                        <a:t> i </a:t>
                      </a:r>
                      <a:r>
                        <a:rPr lang="en" sz="1650">
                          <a:solidFill>
                            <a:srgbClr val="4DD0E1"/>
                          </a:solidFill>
                          <a:latin typeface="Roboto Mono"/>
                          <a:ea typeface="Roboto Mono"/>
                          <a:cs typeface="Roboto Mono"/>
                          <a:sym typeface="Roboto Mono"/>
                        </a:rPr>
                        <a:t>in</a:t>
                      </a:r>
                      <a:r>
                        <a:rPr lang="en" sz="1650">
                          <a:solidFill>
                            <a:srgbClr val="ECEFF1"/>
                          </a:solidFill>
                          <a:latin typeface="Roboto Mono"/>
                          <a:ea typeface="Roboto Mono"/>
                          <a:cs typeface="Roboto Mono"/>
                          <a:sym typeface="Roboto Mono"/>
                        </a:rPr>
                        <a:t> </a:t>
                      </a:r>
                      <a:r>
                        <a:rPr lang="en" sz="1650">
                          <a:solidFill>
                            <a:srgbClr val="CE93D8"/>
                          </a:solidFill>
                          <a:latin typeface="Roboto Mono"/>
                          <a:ea typeface="Roboto Mono"/>
                          <a:cs typeface="Roboto Mono"/>
                          <a:sym typeface="Roboto Mono"/>
                        </a:rPr>
                        <a:t>range</a:t>
                      </a:r>
                      <a:r>
                        <a:rPr lang="en" sz="1650">
                          <a:solidFill>
                            <a:srgbClr val="ECEFF1"/>
                          </a:solidFill>
                          <a:latin typeface="Roboto Mono"/>
                          <a:ea typeface="Roboto Mono"/>
                          <a:cs typeface="Roboto Mono"/>
                          <a:sym typeface="Roboto Mono"/>
                        </a:rPr>
                        <a:t>(x):</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for</a:t>
                      </a:r>
                      <a:r>
                        <a:rPr lang="en" sz="1650">
                          <a:solidFill>
                            <a:srgbClr val="ECEFF1"/>
                          </a:solidFill>
                          <a:latin typeface="Roboto Mono"/>
                          <a:ea typeface="Roboto Mono"/>
                          <a:cs typeface="Roboto Mono"/>
                          <a:sym typeface="Roboto Mono"/>
                        </a:rPr>
                        <a:t> j </a:t>
                      </a:r>
                      <a:r>
                        <a:rPr lang="en" sz="1650">
                          <a:solidFill>
                            <a:srgbClr val="4DD0E1"/>
                          </a:solidFill>
                          <a:latin typeface="Roboto Mono"/>
                          <a:ea typeface="Roboto Mono"/>
                          <a:cs typeface="Roboto Mono"/>
                          <a:sym typeface="Roboto Mono"/>
                        </a:rPr>
                        <a:t>in</a:t>
                      </a:r>
                      <a:r>
                        <a:rPr lang="en" sz="1650">
                          <a:solidFill>
                            <a:srgbClr val="ECEFF1"/>
                          </a:solidFill>
                          <a:latin typeface="Roboto Mono"/>
                          <a:ea typeface="Roboto Mono"/>
                          <a:cs typeface="Roboto Mono"/>
                          <a:sym typeface="Roboto Mono"/>
                        </a:rPr>
                        <a:t> </a:t>
                      </a:r>
                      <a:r>
                        <a:rPr lang="en" sz="1650">
                          <a:solidFill>
                            <a:srgbClr val="CE93D8"/>
                          </a:solidFill>
                          <a:latin typeface="Roboto Mono"/>
                          <a:ea typeface="Roboto Mono"/>
                          <a:cs typeface="Roboto Mono"/>
                          <a:sym typeface="Roboto Mono"/>
                        </a:rPr>
                        <a:t>range</a:t>
                      </a:r>
                      <a:r>
                        <a:rPr lang="en" sz="1650">
                          <a:solidFill>
                            <a:srgbClr val="ECEFF1"/>
                          </a:solidFill>
                          <a:latin typeface="Roboto Mono"/>
                          <a:ea typeface="Roboto Mono"/>
                          <a:cs typeface="Roboto Mono"/>
                          <a:sym typeface="Roboto Mono"/>
                        </a:rPr>
                        <a:t>(x):</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print</a:t>
                      </a:r>
                      <a:r>
                        <a:rPr lang="en" sz="1650">
                          <a:solidFill>
                            <a:srgbClr val="ECEFF1"/>
                          </a:solidFill>
                          <a:latin typeface="Roboto Mono"/>
                          <a:ea typeface="Roboto Mono"/>
                          <a:cs typeface="Roboto Mono"/>
                          <a:sym typeface="Roboto Mono"/>
                        </a:rPr>
                        <a:t>(i, j)</a:t>
                      </a:r>
                      <a:endParaRPr sz="13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fade">
                                      <p:cBhvr>
                                        <p:cTn id="7"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2"/>
          <p:cNvSpPr txBox="1">
            <a:spLocks noGrp="1"/>
          </p:cNvSpPr>
          <p:nvPr>
            <p:ph type="body" idx="1"/>
          </p:nvPr>
        </p:nvSpPr>
        <p:spPr>
          <a:xfrm>
            <a:off x="235500" y="727825"/>
            <a:ext cx="86637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evaluate different algorithms</a:t>
            </a:r>
            <a:endParaRPr/>
          </a:p>
          <a:p>
            <a:pPr marL="0" lvl="0" indent="0" algn="l" rtl="0">
              <a:spcBef>
                <a:spcPts val="600"/>
              </a:spcBef>
              <a:spcAft>
                <a:spcPts val="0"/>
              </a:spcAft>
              <a:buNone/>
            </a:pPr>
            <a:r>
              <a:rPr lang="en"/>
              <a:t>Running time:</a:t>
            </a:r>
            <a:endParaRPr/>
          </a:p>
          <a:p>
            <a:pPr marL="0" lvl="0" indent="0" algn="l" rtl="0">
              <a:spcBef>
                <a:spcPts val="600"/>
              </a:spcBef>
              <a:spcAft>
                <a:spcPts val="0"/>
              </a:spcAft>
              <a:buNone/>
            </a:pPr>
            <a:r>
              <a:rPr lang="en" sz="30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algorithms</a:t>
            </a:r>
            <a:endParaRPr/>
          </a:p>
        </p:txBody>
      </p:sp>
      <p:sp>
        <p:nvSpPr>
          <p:cNvPr id="212" name="Google Shape;212;p3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Counting Operations: Better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animEffect transition="in" filter="fade">
                                      <p:cBhvr>
                                        <p:cTn id="7" dur="1"/>
                                        <p:tgtEl>
                                          <p:spTgt spid="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
                                            <p:txEl>
                                              <p:pRg st="1" end="1"/>
                                            </p:txEl>
                                          </p:spTgt>
                                        </p:tgtEl>
                                        <p:attrNameLst>
                                          <p:attrName>style.visibility</p:attrName>
                                        </p:attrNameLst>
                                      </p:cBhvr>
                                      <p:to>
                                        <p:strVal val="visible"/>
                                      </p:to>
                                    </p:set>
                                    <p:animEffect transition="in" filter="fade">
                                      <p:cBhvr>
                                        <p:cTn id="12" dur="1"/>
                                        <p:tgtEl>
                                          <p:spTgt spid="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
                                            <p:txEl>
                                              <p:pRg st="2" end="2"/>
                                            </p:txEl>
                                          </p:spTgt>
                                        </p:tgtEl>
                                        <p:attrNameLst>
                                          <p:attrName>style.visibility</p:attrName>
                                        </p:attrNameLst>
                                      </p:cBhvr>
                                      <p:to>
                                        <p:strVal val="visible"/>
                                      </p:to>
                                    </p:set>
                                    <p:animEffect transition="in" filter="fade">
                                      <p:cBhvr>
                                        <p:cTn id="17" dur="1"/>
                                        <p:tgtEl>
                                          <p:spTgt spid="2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Different Inputs Changes How Program Runs</a:t>
            </a:r>
            <a:endParaRPr/>
          </a:p>
        </p:txBody>
      </p:sp>
      <p:sp>
        <p:nvSpPr>
          <p:cNvPr id="218" name="Google Shape;218;p33"/>
          <p:cNvSpPr txBox="1"/>
          <p:nvPr/>
        </p:nvSpPr>
        <p:spPr>
          <a:xfrm>
            <a:off x="212200" y="2670625"/>
            <a:ext cx="6403200" cy="3000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800">
                <a:solidFill>
                  <a:schemeClr val="dk1"/>
                </a:solidFill>
                <a:latin typeface="Roboto"/>
                <a:ea typeface="Roboto"/>
                <a:cs typeface="Roboto"/>
                <a:sym typeface="Roboto"/>
              </a:rPr>
              <a:t>element first element in list: best case</a:t>
            </a:r>
            <a:endParaRPr sz="1800">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800">
                <a:solidFill>
                  <a:schemeClr val="dk1"/>
                </a:solidFill>
                <a:latin typeface="Roboto"/>
                <a:ea typeface="Roboto"/>
                <a:cs typeface="Roboto"/>
                <a:sym typeface="Roboto"/>
              </a:rPr>
              <a:t>element not in list: worst case</a:t>
            </a:r>
            <a:endParaRPr sz="1800">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800">
                <a:solidFill>
                  <a:schemeClr val="dk1"/>
                </a:solidFill>
                <a:latin typeface="Roboto"/>
                <a:ea typeface="Roboto"/>
                <a:cs typeface="Roboto"/>
                <a:sym typeface="Roboto"/>
              </a:rPr>
              <a:t>look through about half of elements in list: average case</a:t>
            </a:r>
            <a:endParaRPr sz="1800">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800">
                <a:solidFill>
                  <a:schemeClr val="dk1"/>
                </a:solidFill>
                <a:latin typeface="Roboto"/>
                <a:ea typeface="Roboto"/>
                <a:cs typeface="Roboto"/>
                <a:sym typeface="Roboto"/>
              </a:rPr>
              <a:t>want to measure behavior in a general way</a:t>
            </a:r>
            <a:endParaRPr/>
          </a:p>
        </p:txBody>
      </p:sp>
      <p:graphicFrame>
        <p:nvGraphicFramePr>
          <p:cNvPr id="219" name="Google Shape;219;p33"/>
          <p:cNvGraphicFramePr/>
          <p:nvPr/>
        </p:nvGraphicFramePr>
        <p:xfrm>
          <a:off x="1797400" y="860767"/>
          <a:ext cx="4968400" cy="1608108"/>
        </p:xfrm>
        <a:graphic>
          <a:graphicData uri="http://schemas.openxmlformats.org/drawingml/2006/table">
            <a:tbl>
              <a:tblPr>
                <a:noFill/>
                <a:tableStyleId>{6436D996-6D66-4ABA-853D-459B0397D2C1}</a:tableStyleId>
              </a:tblPr>
              <a:tblGrid>
                <a:gridCol w="4968400">
                  <a:extLst>
                    <a:ext uri="{9D8B030D-6E8A-4147-A177-3AD203B41FA5}">
                      <a16:colId xmlns:a16="http://schemas.microsoft.com/office/drawing/2014/main" val="20000"/>
                    </a:ext>
                  </a:extLst>
                </a:gridCol>
              </a:tblGrid>
              <a:tr h="1183275">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search_for_element(lst, element):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for</a:t>
                      </a:r>
                      <a:r>
                        <a:rPr lang="en" sz="1650">
                          <a:solidFill>
                            <a:srgbClr val="ECEFF1"/>
                          </a:solidFill>
                          <a:latin typeface="Roboto Mono"/>
                          <a:ea typeface="Roboto Mono"/>
                          <a:cs typeface="Roboto Mono"/>
                          <a:sym typeface="Roboto Mono"/>
                        </a:rPr>
                        <a:t> item </a:t>
                      </a:r>
                      <a:r>
                        <a:rPr lang="en" sz="1650">
                          <a:solidFill>
                            <a:srgbClr val="4DD0E1"/>
                          </a:solidFill>
                          <a:latin typeface="Roboto Mono"/>
                          <a:ea typeface="Roboto Mono"/>
                          <a:cs typeface="Roboto Mono"/>
                          <a:sym typeface="Roboto Mono"/>
                        </a:rPr>
                        <a:t>in</a:t>
                      </a:r>
                      <a:r>
                        <a:rPr lang="en" sz="1650">
                          <a:solidFill>
                            <a:srgbClr val="ECEFF1"/>
                          </a:solidFill>
                          <a:latin typeface="Roboto Mono"/>
                          <a:ea typeface="Roboto Mono"/>
                          <a:cs typeface="Roboto Mono"/>
                          <a:sym typeface="Roboto Mono"/>
                        </a:rPr>
                        <a:t> lst: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if</a:t>
                      </a:r>
                      <a:r>
                        <a:rPr lang="en" sz="1650">
                          <a:solidFill>
                            <a:srgbClr val="ECEFF1"/>
                          </a:solidFill>
                          <a:latin typeface="Roboto Mono"/>
                          <a:ea typeface="Roboto Mono"/>
                          <a:cs typeface="Roboto Mono"/>
                          <a:sym typeface="Roboto Mono"/>
                        </a:rPr>
                        <a:t> item == element: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True</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False</a:t>
                      </a:r>
                      <a:endParaRPr sz="13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animEffect transition="in" filter="fade">
                                      <p:cBhvr>
                                        <p:cTn id="7" dur="1"/>
                                        <p:tgtEl>
                                          <p:spTgt spid="2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8">
                                            <p:txEl>
                                              <p:pRg st="1" end="1"/>
                                            </p:txEl>
                                          </p:spTgt>
                                        </p:tgtEl>
                                        <p:attrNameLst>
                                          <p:attrName>style.visibility</p:attrName>
                                        </p:attrNameLst>
                                      </p:cBhvr>
                                      <p:to>
                                        <p:strVal val="visible"/>
                                      </p:to>
                                    </p:set>
                                    <p:animEffect transition="in" filter="fade">
                                      <p:cBhvr>
                                        <p:cTn id="12" dur="1"/>
                                        <p:tgtEl>
                                          <p:spTgt spid="2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8">
                                            <p:txEl>
                                              <p:pRg st="2" end="2"/>
                                            </p:txEl>
                                          </p:spTgt>
                                        </p:tgtEl>
                                        <p:attrNameLst>
                                          <p:attrName>style.visibility</p:attrName>
                                        </p:attrNameLst>
                                      </p:cBhvr>
                                      <p:to>
                                        <p:strVal val="visible"/>
                                      </p:to>
                                    </p:set>
                                    <p:animEffect transition="in" filter="fade">
                                      <p:cBhvr>
                                        <p:cTn id="17" dur="1"/>
                                        <p:tgtEl>
                                          <p:spTgt spid="2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8">
                                            <p:txEl>
                                              <p:pRg st="3" end="3"/>
                                            </p:txEl>
                                          </p:spTgt>
                                        </p:tgtEl>
                                        <p:attrNameLst>
                                          <p:attrName>style.visibility</p:attrName>
                                        </p:attrNameLst>
                                      </p:cBhvr>
                                      <p:to>
                                        <p:strVal val="visible"/>
                                      </p:to>
                                    </p:set>
                                    <p:animEffect transition="in" filter="fade">
                                      <p:cBhvr>
                                        <p:cTn id="22" dur="1"/>
                                        <p:tgtEl>
                                          <p:spTgt spid="2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Best, Average, Worst Cases</a:t>
            </a:r>
            <a:endParaRPr/>
          </a:p>
        </p:txBody>
      </p:sp>
      <p:sp>
        <p:nvSpPr>
          <p:cNvPr id="225" name="Google Shape;225;p34"/>
          <p:cNvSpPr txBox="1">
            <a:spLocks noGrp="1"/>
          </p:cNvSpPr>
          <p:nvPr>
            <p:ph type="body" idx="1"/>
          </p:nvPr>
        </p:nvSpPr>
        <p:spPr>
          <a:xfrm>
            <a:off x="387900" y="735300"/>
            <a:ext cx="8756100" cy="3513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given list </a:t>
            </a:r>
            <a:r>
              <a:rPr lang="en">
                <a:latin typeface="Consolas"/>
                <a:ea typeface="Consolas"/>
                <a:cs typeface="Consolas"/>
                <a:sym typeface="Consolas"/>
              </a:rPr>
              <a:t>lst</a:t>
            </a:r>
            <a:r>
              <a:rPr lang="en"/>
              <a:t> of some length </a:t>
            </a:r>
            <a:r>
              <a:rPr lang="en">
                <a:latin typeface="Consolas"/>
                <a:ea typeface="Consolas"/>
                <a:cs typeface="Consolas"/>
                <a:sym typeface="Consolas"/>
              </a:rPr>
              <a:t>len(lst)</a:t>
            </a:r>
            <a:endParaRPr/>
          </a:p>
          <a:p>
            <a:pPr marL="0" lvl="0" indent="0" algn="l" rtl="0">
              <a:spcBef>
                <a:spcPts val="600"/>
              </a:spcBef>
              <a:spcAft>
                <a:spcPts val="0"/>
              </a:spcAft>
              <a:buNone/>
            </a:pPr>
            <a:r>
              <a:rPr lang="en" b="1"/>
              <a:t>best case</a:t>
            </a:r>
            <a:r>
              <a:rPr lang="en"/>
              <a:t>: minimum running time over all possible inputs of given size, </a:t>
            </a:r>
            <a:r>
              <a:rPr lang="en">
                <a:latin typeface="Consolas"/>
                <a:ea typeface="Consolas"/>
                <a:cs typeface="Consolas"/>
                <a:sym typeface="Consolas"/>
              </a:rPr>
              <a:t>len(lst)</a:t>
            </a:r>
            <a:endParaRPr>
              <a:latin typeface="Consolas"/>
              <a:ea typeface="Consolas"/>
              <a:cs typeface="Consolas"/>
              <a:sym typeface="Consolas"/>
            </a:endParaRPr>
          </a:p>
          <a:p>
            <a:pPr marL="457200" lvl="0" indent="-355600" algn="l" rtl="0">
              <a:spcBef>
                <a:spcPts val="600"/>
              </a:spcBef>
              <a:spcAft>
                <a:spcPts val="0"/>
              </a:spcAft>
              <a:buSzPts val="2000"/>
              <a:buFont typeface="Consolas"/>
              <a:buChar char="●"/>
            </a:pPr>
            <a:r>
              <a:rPr lang="en"/>
              <a:t>constant for </a:t>
            </a:r>
            <a:r>
              <a:rPr lang="en">
                <a:latin typeface="Consolas"/>
                <a:ea typeface="Consolas"/>
                <a:cs typeface="Consolas"/>
                <a:sym typeface="Consolas"/>
              </a:rPr>
              <a:t>search_for_element</a:t>
            </a:r>
            <a:endParaRPr>
              <a:latin typeface="Consolas"/>
              <a:ea typeface="Consolas"/>
              <a:cs typeface="Consolas"/>
              <a:sym typeface="Consolas"/>
            </a:endParaRPr>
          </a:p>
          <a:p>
            <a:pPr marL="457200" lvl="0" indent="-355600" algn="l" rtl="0">
              <a:spcBef>
                <a:spcPts val="0"/>
              </a:spcBef>
              <a:spcAft>
                <a:spcPts val="0"/>
              </a:spcAft>
              <a:buSzPts val="2000"/>
              <a:buChar char="●"/>
            </a:pPr>
            <a:r>
              <a:rPr lang="en"/>
              <a:t>ex: first element in any list</a:t>
            </a:r>
            <a:endParaRPr/>
          </a:p>
          <a:p>
            <a:pPr marL="0" lvl="0" indent="0" algn="l" rtl="0">
              <a:spcBef>
                <a:spcPts val="600"/>
              </a:spcBef>
              <a:spcAft>
                <a:spcPts val="0"/>
              </a:spcAft>
              <a:buNone/>
            </a:pPr>
            <a:r>
              <a:rPr lang="en" b="1"/>
              <a:t>average case</a:t>
            </a:r>
            <a:r>
              <a:rPr lang="en"/>
              <a:t>: average running time over all possible inputs of given size, </a:t>
            </a:r>
            <a:r>
              <a:rPr lang="en">
                <a:latin typeface="Consolas"/>
                <a:ea typeface="Consolas"/>
                <a:cs typeface="Consolas"/>
                <a:sym typeface="Consolas"/>
              </a:rPr>
              <a:t>len(lst)</a:t>
            </a:r>
            <a:endParaRPr>
              <a:latin typeface="Consolas"/>
              <a:ea typeface="Consolas"/>
              <a:cs typeface="Consolas"/>
              <a:sym typeface="Consolas"/>
            </a:endParaRPr>
          </a:p>
          <a:p>
            <a:pPr marL="457200" lvl="0" indent="-355600" algn="l" rtl="0">
              <a:spcBef>
                <a:spcPts val="600"/>
              </a:spcBef>
              <a:spcAft>
                <a:spcPts val="0"/>
              </a:spcAft>
              <a:buSzPts val="2000"/>
              <a:buChar char="●"/>
            </a:pPr>
            <a:r>
              <a:rPr lang="en"/>
              <a:t>practical measure</a:t>
            </a:r>
            <a:endParaRPr/>
          </a:p>
          <a:p>
            <a:pPr marL="0" lvl="0" indent="0" algn="l" rtl="0">
              <a:spcBef>
                <a:spcPts val="600"/>
              </a:spcBef>
              <a:spcAft>
                <a:spcPts val="0"/>
              </a:spcAft>
              <a:buNone/>
            </a:pPr>
            <a:r>
              <a:rPr lang="en" b="1"/>
              <a:t>worst case</a:t>
            </a:r>
            <a:r>
              <a:rPr lang="en"/>
              <a:t>: maximum running time over all possible inputs of given size, </a:t>
            </a:r>
            <a:r>
              <a:rPr lang="en">
                <a:latin typeface="Consolas"/>
                <a:ea typeface="Consolas"/>
                <a:cs typeface="Consolas"/>
                <a:sym typeface="Consolas"/>
              </a:rPr>
              <a:t>len(lst)</a:t>
            </a:r>
            <a:endParaRPr>
              <a:latin typeface="Consolas"/>
              <a:ea typeface="Consolas"/>
              <a:cs typeface="Consolas"/>
              <a:sym typeface="Consolas"/>
            </a:endParaRPr>
          </a:p>
          <a:p>
            <a:pPr marL="457200" lvl="0" indent="-355600" algn="l" rtl="0">
              <a:spcBef>
                <a:spcPts val="600"/>
              </a:spcBef>
              <a:spcAft>
                <a:spcPts val="0"/>
              </a:spcAft>
              <a:buSzPts val="2000"/>
              <a:buChar char="●"/>
            </a:pPr>
            <a:r>
              <a:rPr lang="en"/>
              <a:t>linear in length of list for </a:t>
            </a:r>
            <a:r>
              <a:rPr lang="en">
                <a:latin typeface="Consolas"/>
                <a:ea typeface="Consolas"/>
                <a:cs typeface="Consolas"/>
                <a:sym typeface="Consolas"/>
              </a:rPr>
              <a:t>search_for_element</a:t>
            </a:r>
            <a:endParaRPr>
              <a:latin typeface="Consolas"/>
              <a:ea typeface="Consolas"/>
              <a:cs typeface="Consolas"/>
              <a:sym typeface="Consolas"/>
            </a:endParaRPr>
          </a:p>
          <a:p>
            <a:pPr marL="457200" lvl="0" indent="-355600" algn="l" rtl="0">
              <a:spcBef>
                <a:spcPts val="0"/>
              </a:spcBef>
              <a:spcAft>
                <a:spcPts val="0"/>
              </a:spcAft>
              <a:buSzPts val="2000"/>
              <a:buChar char="●"/>
            </a:pPr>
            <a:r>
              <a:rPr lang="en"/>
              <a:t>must search entire list and not find it</a:t>
            </a:r>
            <a:endParaRPr/>
          </a:p>
        </p:txBody>
      </p:sp>
      <p:sp>
        <p:nvSpPr>
          <p:cNvPr id="226" name="Google Shape;226;p34"/>
          <p:cNvSpPr/>
          <p:nvPr/>
        </p:nvSpPr>
        <p:spPr>
          <a:xfrm>
            <a:off x="387900" y="3403675"/>
            <a:ext cx="1285800" cy="374100"/>
          </a:xfrm>
          <a:prstGeom prst="rect">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0" end="0"/>
                                            </p:txEl>
                                          </p:spTgt>
                                        </p:tgtEl>
                                        <p:attrNameLst>
                                          <p:attrName>style.visibility</p:attrName>
                                        </p:attrNameLst>
                                      </p:cBhvr>
                                      <p:to>
                                        <p:strVal val="visible"/>
                                      </p:to>
                                    </p:set>
                                    <p:animEffect transition="in" filter="fade">
                                      <p:cBhvr>
                                        <p:cTn id="7" dur="1"/>
                                        <p:tgtEl>
                                          <p:spTgt spid="2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xEl>
                                              <p:pRg st="1" end="1"/>
                                            </p:txEl>
                                          </p:spTgt>
                                        </p:tgtEl>
                                        <p:attrNameLst>
                                          <p:attrName>style.visibility</p:attrName>
                                        </p:attrNameLst>
                                      </p:cBhvr>
                                      <p:to>
                                        <p:strVal val="visible"/>
                                      </p:to>
                                    </p:set>
                                    <p:animEffect transition="in" filter="fade">
                                      <p:cBhvr>
                                        <p:cTn id="12" dur="1"/>
                                        <p:tgtEl>
                                          <p:spTgt spid="2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5">
                                            <p:txEl>
                                              <p:pRg st="2" end="2"/>
                                            </p:txEl>
                                          </p:spTgt>
                                        </p:tgtEl>
                                        <p:attrNameLst>
                                          <p:attrName>style.visibility</p:attrName>
                                        </p:attrNameLst>
                                      </p:cBhvr>
                                      <p:to>
                                        <p:strVal val="visible"/>
                                      </p:to>
                                    </p:set>
                                    <p:animEffect transition="in" filter="fade">
                                      <p:cBhvr>
                                        <p:cTn id="17" dur="1"/>
                                        <p:tgtEl>
                                          <p:spTgt spid="2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5">
                                            <p:txEl>
                                              <p:pRg st="3" end="3"/>
                                            </p:txEl>
                                          </p:spTgt>
                                        </p:tgtEl>
                                        <p:attrNameLst>
                                          <p:attrName>style.visibility</p:attrName>
                                        </p:attrNameLst>
                                      </p:cBhvr>
                                      <p:to>
                                        <p:strVal val="visible"/>
                                      </p:to>
                                    </p:set>
                                    <p:animEffect transition="in" filter="fade">
                                      <p:cBhvr>
                                        <p:cTn id="22" dur="1"/>
                                        <p:tgtEl>
                                          <p:spTgt spid="2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5">
                                            <p:txEl>
                                              <p:pRg st="4" end="4"/>
                                            </p:txEl>
                                          </p:spTgt>
                                        </p:tgtEl>
                                        <p:attrNameLst>
                                          <p:attrName>style.visibility</p:attrName>
                                        </p:attrNameLst>
                                      </p:cBhvr>
                                      <p:to>
                                        <p:strVal val="visible"/>
                                      </p:to>
                                    </p:set>
                                    <p:animEffect transition="in" filter="fade">
                                      <p:cBhvr>
                                        <p:cTn id="27" dur="1"/>
                                        <p:tgtEl>
                                          <p:spTgt spid="22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5">
                                            <p:txEl>
                                              <p:pRg st="5" end="5"/>
                                            </p:txEl>
                                          </p:spTgt>
                                        </p:tgtEl>
                                        <p:attrNameLst>
                                          <p:attrName>style.visibility</p:attrName>
                                        </p:attrNameLst>
                                      </p:cBhvr>
                                      <p:to>
                                        <p:strVal val="visible"/>
                                      </p:to>
                                    </p:set>
                                    <p:animEffect transition="in" filter="fade">
                                      <p:cBhvr>
                                        <p:cTn id="32" dur="1"/>
                                        <p:tgtEl>
                                          <p:spTgt spid="22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5">
                                            <p:txEl>
                                              <p:pRg st="6" end="6"/>
                                            </p:txEl>
                                          </p:spTgt>
                                        </p:tgtEl>
                                        <p:attrNameLst>
                                          <p:attrName>style.visibility</p:attrName>
                                        </p:attrNameLst>
                                      </p:cBhvr>
                                      <p:to>
                                        <p:strVal val="visible"/>
                                      </p:to>
                                    </p:set>
                                    <p:animEffect transition="in" filter="fade">
                                      <p:cBhvr>
                                        <p:cTn id="37" dur="1"/>
                                        <p:tgtEl>
                                          <p:spTgt spid="22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5">
                                            <p:txEl>
                                              <p:pRg st="7" end="7"/>
                                            </p:txEl>
                                          </p:spTgt>
                                        </p:tgtEl>
                                        <p:attrNameLst>
                                          <p:attrName>style.visibility</p:attrName>
                                        </p:attrNameLst>
                                      </p:cBhvr>
                                      <p:to>
                                        <p:strVal val="visible"/>
                                      </p:to>
                                    </p:set>
                                    <p:animEffect transition="in" filter="fade">
                                      <p:cBhvr>
                                        <p:cTn id="42" dur="1"/>
                                        <p:tgtEl>
                                          <p:spTgt spid="22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5">
                                            <p:txEl>
                                              <p:pRg st="8" end="8"/>
                                            </p:txEl>
                                          </p:spTgt>
                                        </p:tgtEl>
                                        <p:attrNameLst>
                                          <p:attrName>style.visibility</p:attrName>
                                        </p:attrNameLst>
                                      </p:cBhvr>
                                      <p:to>
                                        <p:strVal val="visible"/>
                                      </p:to>
                                    </p:set>
                                    <p:animEffect transition="in" filter="fade">
                                      <p:cBhvr>
                                        <p:cTn id="47" dur="1"/>
                                        <p:tgtEl>
                                          <p:spTgt spid="22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6"/>
                                        </p:tgtEl>
                                        <p:attrNameLst>
                                          <p:attrName>style.visibility</p:attrName>
                                        </p:attrNameLst>
                                      </p:cBhvr>
                                      <p:to>
                                        <p:strVal val="visible"/>
                                      </p:to>
                                    </p:set>
                                    <p:animEffect transition="in" filter="fade">
                                      <p:cBhvr>
                                        <p:cTn id="52" dur="1"/>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5"/>
          <p:cNvSpPr txBox="1">
            <a:spLocks noGrp="1"/>
          </p:cNvSpPr>
          <p:nvPr>
            <p:ph type="body" idx="1"/>
          </p:nvPr>
        </p:nvSpPr>
        <p:spPr>
          <a:xfrm>
            <a:off x="235500" y="651625"/>
            <a:ext cx="8663700" cy="1872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evaluate different algorithms</a:t>
            </a:r>
            <a:endParaRPr/>
          </a:p>
          <a:p>
            <a:pPr marL="0" lvl="0" indent="0" algn="l" rtl="0">
              <a:spcBef>
                <a:spcPts val="1000"/>
              </a:spcBef>
              <a:spcAft>
                <a:spcPts val="0"/>
              </a:spcAft>
              <a:buNone/>
            </a:pPr>
            <a:r>
              <a:rPr lang="en"/>
              <a:t>Running time:</a:t>
            </a:r>
            <a:endParaRPr/>
          </a:p>
          <a:p>
            <a:pPr marL="0" lvl="0" indent="0" algn="l" rtl="0">
              <a:spcBef>
                <a:spcPts val="600"/>
              </a:spcBef>
              <a:spcAft>
                <a:spcPts val="0"/>
              </a:spcAft>
              <a:buNone/>
            </a:pPr>
            <a:r>
              <a:rPr lang="en" sz="30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algorithms</a:t>
            </a:r>
            <a:endParaRPr/>
          </a:p>
          <a:p>
            <a:pPr marL="0" lvl="0" indent="0" algn="l" rtl="0">
              <a:spcBef>
                <a:spcPts val="600"/>
              </a:spcBef>
              <a:spcAft>
                <a:spcPts val="0"/>
              </a:spcAft>
              <a:buNone/>
            </a:pPr>
            <a:r>
              <a:rPr lang="en" sz="2700">
                <a:solidFill>
                  <a:srgbClr val="000000"/>
                </a:solidFill>
                <a:latin typeface="Source Code Pro"/>
                <a:ea typeface="Source Code Pro"/>
                <a:cs typeface="Source Code Pro"/>
                <a:sym typeface="Source Code Pro"/>
              </a:rPr>
              <a:t>❌</a:t>
            </a:r>
            <a:r>
              <a:rPr lang="en" sz="1000">
                <a:solidFill>
                  <a:srgbClr val="000000"/>
                </a:solidFill>
                <a:latin typeface="Source Code Pro"/>
                <a:ea typeface="Source Code Pro"/>
                <a:cs typeface="Source Code Pro"/>
                <a:sym typeface="Source Code Pro"/>
              </a:rPr>
              <a:t> </a:t>
            </a:r>
            <a:r>
              <a:rPr lang="en"/>
              <a:t>varies between implementations</a:t>
            </a:r>
            <a:endParaRPr/>
          </a:p>
        </p:txBody>
      </p:sp>
      <p:sp>
        <p:nvSpPr>
          <p:cNvPr id="232" name="Google Shape;232;p3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Counting Operations: Slightly Better</a:t>
            </a:r>
            <a:endParaRPr/>
          </a:p>
        </p:txBody>
      </p:sp>
      <p:sp>
        <p:nvSpPr>
          <p:cNvPr id="233" name="Google Shape;233;p35"/>
          <p:cNvSpPr txBox="1"/>
          <p:nvPr/>
        </p:nvSpPr>
        <p:spPr>
          <a:xfrm>
            <a:off x="200625" y="2402475"/>
            <a:ext cx="8574000" cy="177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3000">
                <a:latin typeface="Source Code Pro"/>
                <a:ea typeface="Source Code Pro"/>
                <a:cs typeface="Source Code Pro"/>
                <a:sym typeface="Source Code Pro"/>
              </a:rPr>
              <a:t>✅</a:t>
            </a:r>
            <a:r>
              <a:rPr lang="en" sz="1000">
                <a:latin typeface="Source Code Pro"/>
                <a:ea typeface="Source Code Pro"/>
                <a:cs typeface="Source Code Pro"/>
                <a:sym typeface="Source Code Pro"/>
              </a:rPr>
              <a:t> </a:t>
            </a:r>
            <a:r>
              <a:rPr lang="en" sz="1800">
                <a:solidFill>
                  <a:schemeClr val="dk1"/>
                </a:solidFill>
                <a:latin typeface="Roboto"/>
                <a:ea typeface="Roboto"/>
                <a:cs typeface="Roboto"/>
                <a:sym typeface="Roboto"/>
              </a:rPr>
              <a:t>independent between computers</a:t>
            </a:r>
            <a:endParaRPr sz="180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2700">
                <a:latin typeface="Source Code Pro"/>
                <a:ea typeface="Source Code Pro"/>
                <a:cs typeface="Source Code Pro"/>
                <a:sym typeface="Source Code Pro"/>
              </a:rPr>
              <a:t>❌</a:t>
            </a:r>
            <a:r>
              <a:rPr lang="en" sz="1000">
                <a:latin typeface="Source Code Pro"/>
                <a:ea typeface="Source Code Pro"/>
                <a:cs typeface="Source Code Pro"/>
                <a:sym typeface="Source Code Pro"/>
              </a:rPr>
              <a:t> </a:t>
            </a:r>
            <a:r>
              <a:rPr lang="en" sz="1800">
                <a:solidFill>
                  <a:schemeClr val="dk1"/>
                </a:solidFill>
                <a:latin typeface="Roboto"/>
                <a:ea typeface="Roboto"/>
                <a:cs typeface="Roboto"/>
                <a:sym typeface="Roboto"/>
              </a:rPr>
              <a:t>no clear definition of which operations to count</a:t>
            </a:r>
            <a:endParaRPr sz="180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3000">
                <a:latin typeface="Source Code Pro"/>
                <a:ea typeface="Source Code Pro"/>
                <a:cs typeface="Source Code Pro"/>
                <a:sym typeface="Source Code Pro"/>
              </a:rPr>
              <a:t>✅</a:t>
            </a:r>
            <a:r>
              <a:rPr lang="en" sz="1000">
                <a:latin typeface="Source Code Pro"/>
                <a:ea typeface="Source Code Pro"/>
                <a:cs typeface="Source Code Pro"/>
                <a:sym typeface="Source Code Pro"/>
              </a:rPr>
              <a:t> </a:t>
            </a:r>
            <a:r>
              <a:rPr lang="en" sz="1800">
                <a:solidFill>
                  <a:schemeClr val="dk1"/>
                </a:solidFill>
                <a:latin typeface="Roboto"/>
                <a:ea typeface="Roboto"/>
                <a:cs typeface="Roboto"/>
                <a:sym typeface="Roboto"/>
              </a:rPr>
              <a:t>varies for different inputs, can express relationship between inputs and count</a:t>
            </a:r>
            <a:endParaRPr sz="18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animEffect transition="in" filter="fade">
                                      <p:cBhvr>
                                        <p:cTn id="7" dur="1"/>
                                        <p:tgtEl>
                                          <p:spTgt spid="2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3">
                                            <p:txEl>
                                              <p:pRg st="1" end="1"/>
                                            </p:txEl>
                                          </p:spTgt>
                                        </p:tgtEl>
                                        <p:attrNameLst>
                                          <p:attrName>style.visibility</p:attrName>
                                        </p:attrNameLst>
                                      </p:cBhvr>
                                      <p:to>
                                        <p:strVal val="visible"/>
                                      </p:to>
                                    </p:set>
                                    <p:animEffect transition="in" filter="fade">
                                      <p:cBhvr>
                                        <p:cTn id="12" dur="1"/>
                                        <p:tgtEl>
                                          <p:spTgt spid="2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3">
                                            <p:txEl>
                                              <p:pRg st="2" end="2"/>
                                            </p:txEl>
                                          </p:spTgt>
                                        </p:tgtEl>
                                        <p:attrNameLst>
                                          <p:attrName>style.visibility</p:attrName>
                                        </p:attrNameLst>
                                      </p:cBhvr>
                                      <p:to>
                                        <p:strVal val="visible"/>
                                      </p:to>
                                    </p:set>
                                    <p:animEffect transition="in" filter="fade">
                                      <p:cBhvr>
                                        <p:cTn id="17" dur="1"/>
                                        <p:tgtEl>
                                          <p:spTgt spid="2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Still Need Better Way</a:t>
            </a:r>
            <a:endParaRPr/>
          </a:p>
        </p:txBody>
      </p:sp>
      <p:sp>
        <p:nvSpPr>
          <p:cNvPr id="239" name="Google Shape;239;p3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Timing and counting evaluate implementations</a:t>
            </a:r>
            <a:endParaRPr/>
          </a:p>
          <a:p>
            <a:pPr marL="0" lvl="0" indent="0" algn="l" rtl="0">
              <a:spcBef>
                <a:spcPts val="600"/>
              </a:spcBef>
              <a:spcAft>
                <a:spcPts val="0"/>
              </a:spcAft>
              <a:buNone/>
            </a:pPr>
            <a:r>
              <a:rPr lang="en"/>
              <a:t>Timing evaluates machines</a:t>
            </a:r>
            <a:endParaRPr/>
          </a:p>
          <a:p>
            <a:pPr marL="0" lvl="0" indent="0" algn="l" rtl="0">
              <a:spcBef>
                <a:spcPts val="600"/>
              </a:spcBef>
              <a:spcAft>
                <a:spcPts val="0"/>
              </a:spcAft>
              <a:buNone/>
            </a:pPr>
            <a:r>
              <a:rPr lang="en"/>
              <a:t>Want to:</a:t>
            </a:r>
            <a:endParaRPr/>
          </a:p>
          <a:p>
            <a:pPr marL="457200" lvl="0" indent="-355600" algn="l" rtl="0">
              <a:spcBef>
                <a:spcPts val="600"/>
              </a:spcBef>
              <a:spcAft>
                <a:spcPts val="0"/>
              </a:spcAft>
              <a:buSzPts val="2000"/>
              <a:buChar char="●"/>
            </a:pPr>
            <a:r>
              <a:rPr lang="en"/>
              <a:t>evaluate algorithm</a:t>
            </a:r>
            <a:endParaRPr/>
          </a:p>
          <a:p>
            <a:pPr marL="457200" lvl="0" indent="-355600" algn="l" rtl="0">
              <a:spcBef>
                <a:spcPts val="0"/>
              </a:spcBef>
              <a:spcAft>
                <a:spcPts val="0"/>
              </a:spcAft>
              <a:buSzPts val="2000"/>
              <a:buChar char="●"/>
            </a:pPr>
            <a:r>
              <a:rPr lang="en"/>
              <a:t>evaluate scalability</a:t>
            </a:r>
            <a:endParaRPr/>
          </a:p>
          <a:p>
            <a:pPr marL="457200" lvl="0" indent="-355600" algn="l" rtl="0">
              <a:spcBef>
                <a:spcPts val="0"/>
              </a:spcBef>
              <a:spcAft>
                <a:spcPts val="0"/>
              </a:spcAft>
              <a:buSzPts val="2000"/>
              <a:buChar char="●"/>
            </a:pPr>
            <a:r>
              <a:rPr lang="en"/>
              <a:t>evaluate in terms of input size</a:t>
            </a:r>
            <a:endParaRPr/>
          </a:p>
        </p:txBody>
      </p:sp>
      <p:sp>
        <p:nvSpPr>
          <p:cNvPr id="240" name="Google Shape;240;p36"/>
          <p:cNvSpPr txBox="1"/>
          <p:nvPr/>
        </p:nvSpPr>
        <p:spPr>
          <a:xfrm>
            <a:off x="3298050" y="4295475"/>
            <a:ext cx="25479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latin typeface="Calibri"/>
                <a:ea typeface="Calibri"/>
                <a:cs typeface="Calibri"/>
                <a:sym typeface="Calibri"/>
              </a:rPr>
              <a:t>To be continued...</a:t>
            </a:r>
            <a:endParaRPr sz="22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Evaluating Program Runtime</a:t>
            </a:r>
            <a:endParaRPr/>
          </a:p>
        </p:txBody>
      </p:sp>
      <p:sp>
        <p:nvSpPr>
          <p:cNvPr id="246" name="Google Shape;246;p37"/>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Three approaches we can take to measure runtime:</a:t>
            </a:r>
            <a:endParaRPr/>
          </a:p>
          <a:p>
            <a:pPr marL="0" lvl="0" indent="0" algn="l" rtl="0">
              <a:spcBef>
                <a:spcPts val="600"/>
              </a:spcBef>
              <a:spcAft>
                <a:spcPts val="0"/>
              </a:spcAft>
              <a:buNone/>
            </a:pPr>
            <a:endParaRPr/>
          </a:p>
          <a:p>
            <a:pPr marL="457200" lvl="0" indent="-355600" algn="l" rtl="0">
              <a:spcBef>
                <a:spcPts val="600"/>
              </a:spcBef>
              <a:spcAft>
                <a:spcPts val="0"/>
              </a:spcAft>
              <a:buSzPts val="2000"/>
              <a:buAutoNum type="arabicPeriod"/>
            </a:pPr>
            <a:r>
              <a:rPr lang="en" b="1"/>
              <a:t>Measure with a timer</a:t>
            </a:r>
            <a:endParaRPr b="1"/>
          </a:p>
          <a:p>
            <a:pPr marL="914400" lvl="0" indent="-330200" algn="l" rtl="0">
              <a:spcBef>
                <a:spcPts val="0"/>
              </a:spcBef>
              <a:spcAft>
                <a:spcPts val="0"/>
              </a:spcAft>
              <a:buSzPts val="1600"/>
              <a:buChar char="●"/>
            </a:pPr>
            <a:r>
              <a:rPr lang="en" sz="1600"/>
              <a:t>Time the program using an accurate stopwatch.</a:t>
            </a:r>
            <a:endParaRPr sz="1600"/>
          </a:p>
          <a:p>
            <a:pPr marL="914400" lvl="0" indent="-330200" algn="l" rtl="0">
              <a:spcBef>
                <a:spcPts val="0"/>
              </a:spcBef>
              <a:spcAft>
                <a:spcPts val="0"/>
              </a:spcAft>
              <a:buSzPts val="1600"/>
              <a:buChar char="●"/>
            </a:pPr>
            <a:r>
              <a:rPr lang="en" sz="1600"/>
              <a:t>Compare how long 2 different algorithms take to run.</a:t>
            </a:r>
            <a:endParaRPr sz="1600"/>
          </a:p>
          <a:p>
            <a:pPr marL="914400" lvl="0" indent="-330200" algn="l" rtl="0">
              <a:spcBef>
                <a:spcPts val="0"/>
              </a:spcBef>
              <a:spcAft>
                <a:spcPts val="0"/>
              </a:spcAft>
              <a:buSzPts val="1600"/>
              <a:buChar char="●"/>
            </a:pPr>
            <a:r>
              <a:rPr lang="en" sz="1600"/>
              <a:t>Problems:</a:t>
            </a:r>
            <a:endParaRPr sz="1600"/>
          </a:p>
          <a:p>
            <a:pPr marL="1371600" lvl="1" indent="-304800" algn="l" rtl="0">
              <a:spcBef>
                <a:spcPts val="0"/>
              </a:spcBef>
              <a:spcAft>
                <a:spcPts val="0"/>
              </a:spcAft>
              <a:buSzPts val="1200"/>
              <a:buChar char="○"/>
            </a:pPr>
            <a:r>
              <a:rPr lang="en" sz="1600"/>
              <a:t>Depends on the hardware the code is running on</a:t>
            </a:r>
            <a:endParaRPr sz="1600"/>
          </a:p>
          <a:p>
            <a:pPr marL="1371600" lvl="1" indent="-304800" algn="l" rtl="0">
              <a:spcBef>
                <a:spcPts val="0"/>
              </a:spcBef>
              <a:spcAft>
                <a:spcPts val="0"/>
              </a:spcAft>
              <a:buSzPts val="1200"/>
              <a:buChar char="○"/>
            </a:pPr>
            <a:r>
              <a:rPr lang="en" sz="1600"/>
              <a:t>Varies from run-to-run (based on available memory, etc.)</a:t>
            </a:r>
            <a:endParaRPr sz="1200"/>
          </a:p>
          <a:p>
            <a:pPr marL="457200" lvl="0" indent="-355600" algn="l" rtl="0">
              <a:spcBef>
                <a:spcPts val="0"/>
              </a:spcBef>
              <a:spcAft>
                <a:spcPts val="0"/>
              </a:spcAft>
              <a:buSzPts val="2000"/>
              <a:buAutoNum type="arabicPeriod"/>
            </a:pPr>
            <a:r>
              <a:rPr lang="en"/>
              <a:t>Count number of operations</a:t>
            </a:r>
            <a:endParaRPr/>
          </a:p>
          <a:p>
            <a:pPr marL="457200" lvl="0" indent="-355600" algn="l" rtl="0">
              <a:spcBef>
                <a:spcPts val="0"/>
              </a:spcBef>
              <a:spcAft>
                <a:spcPts val="0"/>
              </a:spcAft>
              <a:buSzPts val="2000"/>
              <a:buAutoNum type="arabicPeriod"/>
            </a:pPr>
            <a:r>
              <a:rPr lang="en"/>
              <a:t>Order of growth: abstractly describe behavior of algorithm</a:t>
            </a:r>
            <a:endParaRPr/>
          </a:p>
          <a:p>
            <a:pPr marL="0" lvl="0" indent="0" algn="l" rtl="0">
              <a:spcBef>
                <a:spcPts val="600"/>
              </a:spcBef>
              <a:spcAft>
                <a:spcPts val="0"/>
              </a:spcAft>
              <a:buNone/>
            </a:pPr>
            <a:endParaRPr/>
          </a:p>
        </p:txBody>
      </p:sp>
      <p:pic>
        <p:nvPicPr>
          <p:cNvPr id="247" name="Google Shape;247;p37"/>
          <p:cNvPicPr preferRelativeResize="0"/>
          <p:nvPr/>
        </p:nvPicPr>
        <p:blipFill>
          <a:blip r:embed="rId3">
            <a:alphaModFix/>
          </a:blip>
          <a:stretch>
            <a:fillRect/>
          </a:stretch>
        </p:blipFill>
        <p:spPr>
          <a:xfrm>
            <a:off x="6579393" y="1159500"/>
            <a:ext cx="1266250" cy="16936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8"/>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Evaluating Program Runtime</a:t>
            </a:r>
            <a:endParaRPr/>
          </a:p>
        </p:txBody>
      </p:sp>
      <p:sp>
        <p:nvSpPr>
          <p:cNvPr id="253" name="Google Shape;253;p38"/>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Three approaches we can take to measure runtime:</a:t>
            </a:r>
            <a:endParaRPr dirty="0"/>
          </a:p>
          <a:p>
            <a:pPr marL="0" lvl="0" indent="0" algn="l" rtl="0">
              <a:spcBef>
                <a:spcPts val="600"/>
              </a:spcBef>
              <a:spcAft>
                <a:spcPts val="0"/>
              </a:spcAft>
              <a:buNone/>
            </a:pPr>
            <a:endParaRPr dirty="0"/>
          </a:p>
          <a:p>
            <a:pPr marL="457200" lvl="0" indent="-355600" algn="l" rtl="0">
              <a:spcBef>
                <a:spcPts val="600"/>
              </a:spcBef>
              <a:spcAft>
                <a:spcPts val="0"/>
              </a:spcAft>
              <a:buSzPts val="2000"/>
              <a:buAutoNum type="arabicPeriod"/>
            </a:pPr>
            <a:r>
              <a:rPr lang="en" dirty="0"/>
              <a:t>Measure with a timer</a:t>
            </a:r>
            <a:endParaRPr dirty="0"/>
          </a:p>
          <a:p>
            <a:pPr marL="457200" lvl="0" indent="-355600" algn="l" rtl="0">
              <a:spcBef>
                <a:spcPts val="0"/>
              </a:spcBef>
              <a:spcAft>
                <a:spcPts val="0"/>
              </a:spcAft>
              <a:buSzPts val="2000"/>
              <a:buAutoNum type="arabicPeriod"/>
            </a:pPr>
            <a:r>
              <a:rPr lang="en" b="1" dirty="0"/>
              <a:t>Count number of operations</a:t>
            </a:r>
            <a:endParaRPr b="1" dirty="0"/>
          </a:p>
          <a:p>
            <a:pPr marL="914400" lvl="0" indent="-330200" algn="l" rtl="0">
              <a:spcBef>
                <a:spcPts val="0"/>
              </a:spcBef>
              <a:spcAft>
                <a:spcPts val="0"/>
              </a:spcAft>
              <a:buSzPts val="1600"/>
              <a:buChar char="●"/>
            </a:pPr>
            <a:r>
              <a:rPr lang="en" sz="1600" dirty="0"/>
              <a:t>Assume each “operation” takes 1 unit of time, count number of operations</a:t>
            </a:r>
            <a:endParaRPr sz="1600" dirty="0"/>
          </a:p>
          <a:p>
            <a:pPr marL="914400" lvl="0" indent="-330200" algn="l" rtl="0">
              <a:spcBef>
                <a:spcPts val="0"/>
              </a:spcBef>
              <a:spcAft>
                <a:spcPts val="0"/>
              </a:spcAft>
              <a:buSzPts val="1600"/>
              <a:buChar char="●"/>
            </a:pPr>
            <a:r>
              <a:rPr lang="en" sz="1600" dirty="0"/>
              <a:t>Count uses variable “n” which is the size of input</a:t>
            </a:r>
            <a:endParaRPr sz="1600" dirty="0"/>
          </a:p>
          <a:p>
            <a:pPr marL="914400" lvl="0" indent="-330200" algn="l" rtl="0">
              <a:spcBef>
                <a:spcPts val="0"/>
              </a:spcBef>
              <a:spcAft>
                <a:spcPts val="0"/>
              </a:spcAft>
              <a:buSzPts val="1600"/>
              <a:buChar char="●"/>
            </a:pPr>
            <a:r>
              <a:rPr lang="en" sz="1600" dirty="0"/>
              <a:t>Pros: takes into account size of input</a:t>
            </a:r>
            <a:endParaRPr sz="1600" dirty="0"/>
          </a:p>
          <a:p>
            <a:pPr marL="914400" lvl="0" indent="-330200" algn="l" rtl="0">
              <a:spcBef>
                <a:spcPts val="0"/>
              </a:spcBef>
              <a:spcAft>
                <a:spcPts val="0"/>
              </a:spcAft>
              <a:buSzPts val="1600"/>
              <a:buChar char="●"/>
            </a:pPr>
            <a:r>
              <a:rPr lang="en" sz="1600" dirty="0"/>
              <a:t>Cons: What counts as an “operation”? Unruly answer with many terms?</a:t>
            </a:r>
            <a:endParaRPr sz="1600" dirty="0"/>
          </a:p>
          <a:p>
            <a:pPr marL="457200" lvl="0" indent="-355600" algn="l" rtl="0">
              <a:spcBef>
                <a:spcPts val="0"/>
              </a:spcBef>
              <a:spcAft>
                <a:spcPts val="0"/>
              </a:spcAft>
              <a:buSzPts val="2000"/>
              <a:buAutoNum type="arabicPeriod"/>
            </a:pPr>
            <a:r>
              <a:rPr lang="en" dirty="0"/>
              <a:t>Order of growth: abstractly describe behavior of algorithm</a:t>
            </a:r>
            <a:endParaRPr dirty="0"/>
          </a:p>
        </p:txBody>
      </p:sp>
      <p:sp>
        <p:nvSpPr>
          <p:cNvPr id="254" name="Google Shape;254;p38"/>
          <p:cNvSpPr txBox="1"/>
          <p:nvPr/>
        </p:nvSpPr>
        <p:spPr>
          <a:xfrm>
            <a:off x="4963275" y="3491213"/>
            <a:ext cx="2485200" cy="14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dirty="0">
                <a:solidFill>
                  <a:srgbClr val="8B81D2"/>
                </a:solidFill>
                <a:latin typeface="Consolas"/>
                <a:ea typeface="Consolas"/>
                <a:cs typeface="Consolas"/>
                <a:sym typeface="Consolas"/>
              </a:rPr>
              <a:t>total = 0 =&gt; 1 op</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range =&gt; loop n times</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every time increment =&gt; 1 op</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inside for:</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	total + i =&gt; 1 op</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	store into total =&gt; 1 op</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return =&gt; 1 op</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r>
              <a:rPr lang="en" sz="1100" dirty="0">
                <a:solidFill>
                  <a:srgbClr val="8B81D2"/>
                </a:solidFill>
                <a:latin typeface="Consolas"/>
                <a:ea typeface="Consolas"/>
                <a:cs typeface="Consolas"/>
                <a:sym typeface="Consolas"/>
              </a:rPr>
              <a:t>total: 1 + 3n + 1</a:t>
            </a:r>
            <a:endParaRPr sz="1100" dirty="0">
              <a:solidFill>
                <a:srgbClr val="8B81D2"/>
              </a:solidFill>
              <a:latin typeface="Consolas"/>
              <a:ea typeface="Consolas"/>
              <a:cs typeface="Consolas"/>
              <a:sym typeface="Consolas"/>
            </a:endParaRPr>
          </a:p>
          <a:p>
            <a:pPr marL="0" lvl="0" indent="0" algn="l" rtl="0">
              <a:spcBef>
                <a:spcPts val="0"/>
              </a:spcBef>
              <a:spcAft>
                <a:spcPts val="0"/>
              </a:spcAft>
              <a:buNone/>
            </a:pPr>
            <a:endParaRPr sz="1100" dirty="0">
              <a:solidFill>
                <a:srgbClr val="8B81D2"/>
              </a:solidFill>
              <a:latin typeface="Consolas"/>
              <a:ea typeface="Consolas"/>
              <a:cs typeface="Consolas"/>
              <a:sym typeface="Consolas"/>
            </a:endParaRPr>
          </a:p>
        </p:txBody>
      </p:sp>
      <p:graphicFrame>
        <p:nvGraphicFramePr>
          <p:cNvPr id="255" name="Google Shape;255;p38"/>
          <p:cNvGraphicFramePr/>
          <p:nvPr>
            <p:extLst>
              <p:ext uri="{D42A27DB-BD31-4B8C-83A1-F6EECF244321}">
                <p14:modId xmlns:p14="http://schemas.microsoft.com/office/powerpoint/2010/main" val="2265474189"/>
              </p:ext>
            </p:extLst>
          </p:nvPr>
        </p:nvGraphicFramePr>
        <p:xfrm>
          <a:off x="869425" y="3442843"/>
          <a:ext cx="3414125" cy="1674084"/>
        </p:xfrm>
        <a:graphic>
          <a:graphicData uri="http://schemas.openxmlformats.org/drawingml/2006/table">
            <a:tbl>
              <a:tblPr>
                <a:noFill/>
                <a:tableStyleId>{6436D996-6D66-4ABA-853D-459B0397D2C1}</a:tableStyleId>
              </a:tblPr>
              <a:tblGrid>
                <a:gridCol w="3414125">
                  <a:extLst>
                    <a:ext uri="{9D8B030D-6E8A-4147-A177-3AD203B41FA5}">
                      <a16:colId xmlns:a16="http://schemas.microsoft.com/office/drawing/2014/main" val="20000"/>
                    </a:ext>
                  </a:extLst>
                </a:gridCol>
              </a:tblGrid>
              <a:tr h="845650">
                <a:tc>
                  <a:txBody>
                    <a:bodyPr/>
                    <a:lstStyle/>
                    <a:p>
                      <a:pPr marL="0" lvl="0" indent="0" algn="l" rtl="0">
                        <a:lnSpc>
                          <a:spcPct val="115000"/>
                        </a:lnSpc>
                        <a:spcBef>
                          <a:spcPts val="0"/>
                        </a:spcBef>
                        <a:spcAft>
                          <a:spcPts val="0"/>
                        </a:spcAft>
                        <a:buNone/>
                      </a:pPr>
                      <a:r>
                        <a:rPr lang="en" sz="1650" dirty="0">
                          <a:solidFill>
                            <a:srgbClr val="4DD0E1"/>
                          </a:solidFill>
                          <a:latin typeface="Roboto Mono"/>
                          <a:ea typeface="Roboto Mono"/>
                          <a:cs typeface="Roboto Mono"/>
                          <a:sym typeface="Roboto Mono"/>
                        </a:rPr>
                        <a:t>def</a:t>
                      </a:r>
                      <a:r>
                        <a:rPr lang="en" sz="1650" dirty="0">
                          <a:solidFill>
                            <a:srgbClr val="ECEFF1"/>
                          </a:solidFill>
                          <a:latin typeface="Roboto Mono"/>
                          <a:ea typeface="Roboto Mono"/>
                          <a:cs typeface="Roboto Mono"/>
                          <a:sym typeface="Roboto Mono"/>
                        </a:rPr>
                        <a:t> mysum(n):</a:t>
                      </a:r>
                      <a:endParaRPr sz="1650" dirty="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dirty="0">
                          <a:solidFill>
                            <a:srgbClr val="ECEFF1"/>
                          </a:solidFill>
                          <a:latin typeface="Roboto Mono"/>
                          <a:ea typeface="Roboto Mono"/>
                          <a:cs typeface="Roboto Mono"/>
                          <a:sym typeface="Roboto Mono"/>
                        </a:rPr>
                        <a:t>  total = </a:t>
                      </a:r>
                      <a:r>
                        <a:rPr lang="en" sz="1650" dirty="0">
                          <a:solidFill>
                            <a:srgbClr val="FBC02D"/>
                          </a:solidFill>
                          <a:latin typeface="Roboto Mono"/>
                          <a:ea typeface="Roboto Mono"/>
                          <a:cs typeface="Roboto Mono"/>
                          <a:sym typeface="Roboto Mono"/>
                        </a:rPr>
                        <a:t>0</a:t>
                      </a:r>
                      <a:endParaRPr sz="1650" dirty="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dirty="0">
                          <a:solidFill>
                            <a:srgbClr val="ECEFF1"/>
                          </a:solidFill>
                          <a:latin typeface="Roboto Mono"/>
                          <a:ea typeface="Roboto Mono"/>
                          <a:cs typeface="Roboto Mono"/>
                          <a:sym typeface="Roboto Mono"/>
                        </a:rPr>
                        <a:t>  </a:t>
                      </a:r>
                      <a:r>
                        <a:rPr lang="en" sz="1650" dirty="0">
                          <a:solidFill>
                            <a:srgbClr val="4DD0E1"/>
                          </a:solidFill>
                          <a:latin typeface="Roboto Mono"/>
                          <a:ea typeface="Roboto Mono"/>
                          <a:cs typeface="Roboto Mono"/>
                          <a:sym typeface="Roboto Mono"/>
                        </a:rPr>
                        <a:t>for</a:t>
                      </a:r>
                      <a:r>
                        <a:rPr lang="en" sz="1650" dirty="0">
                          <a:solidFill>
                            <a:srgbClr val="ECEFF1"/>
                          </a:solidFill>
                          <a:latin typeface="Roboto Mono"/>
                          <a:ea typeface="Roboto Mono"/>
                          <a:cs typeface="Roboto Mono"/>
                          <a:sym typeface="Roboto Mono"/>
                        </a:rPr>
                        <a:t> i </a:t>
                      </a:r>
                      <a:r>
                        <a:rPr lang="en" sz="1650" dirty="0">
                          <a:solidFill>
                            <a:srgbClr val="4DD0E1"/>
                          </a:solidFill>
                          <a:latin typeface="Roboto Mono"/>
                          <a:ea typeface="Roboto Mono"/>
                          <a:cs typeface="Roboto Mono"/>
                          <a:sym typeface="Roboto Mono"/>
                        </a:rPr>
                        <a:t>in</a:t>
                      </a:r>
                      <a:r>
                        <a:rPr lang="en" sz="1650" dirty="0">
                          <a:solidFill>
                            <a:srgbClr val="ECEFF1"/>
                          </a:solidFill>
                          <a:latin typeface="Roboto Mono"/>
                          <a:ea typeface="Roboto Mono"/>
                          <a:cs typeface="Roboto Mono"/>
                          <a:sym typeface="Roboto Mono"/>
                        </a:rPr>
                        <a:t> </a:t>
                      </a:r>
                      <a:r>
                        <a:rPr lang="en" sz="1650" dirty="0">
                          <a:solidFill>
                            <a:srgbClr val="CE93D8"/>
                          </a:solidFill>
                          <a:latin typeface="Roboto Mono"/>
                          <a:ea typeface="Roboto Mono"/>
                          <a:cs typeface="Roboto Mono"/>
                          <a:sym typeface="Roboto Mono"/>
                        </a:rPr>
                        <a:t>range</a:t>
                      </a:r>
                      <a:r>
                        <a:rPr lang="en" sz="1650" dirty="0">
                          <a:solidFill>
                            <a:srgbClr val="ECEFF1"/>
                          </a:solidFill>
                          <a:latin typeface="Roboto Mono"/>
                          <a:ea typeface="Roboto Mono"/>
                          <a:cs typeface="Roboto Mono"/>
                          <a:sym typeface="Roboto Mono"/>
                        </a:rPr>
                        <a:t>(n):</a:t>
                      </a:r>
                      <a:endParaRPr sz="1650" dirty="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dirty="0">
                          <a:solidFill>
                            <a:srgbClr val="ECEFF1"/>
                          </a:solidFill>
                          <a:latin typeface="Roboto Mono"/>
                          <a:ea typeface="Roboto Mono"/>
                          <a:cs typeface="Roboto Mono"/>
                          <a:sym typeface="Roboto Mono"/>
                        </a:rPr>
                        <a:t>    total = total + i</a:t>
                      </a:r>
                      <a:endParaRPr sz="1650" dirty="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dirty="0">
                          <a:solidFill>
                            <a:srgbClr val="ECEFF1"/>
                          </a:solidFill>
                          <a:latin typeface="Roboto Mono"/>
                          <a:ea typeface="Roboto Mono"/>
                          <a:cs typeface="Roboto Mono"/>
                          <a:sym typeface="Roboto Mono"/>
                        </a:rPr>
                        <a:t>  </a:t>
                      </a:r>
                      <a:r>
                        <a:rPr lang="en" sz="1650" dirty="0">
                          <a:solidFill>
                            <a:srgbClr val="4DD0E1"/>
                          </a:solidFill>
                          <a:latin typeface="Roboto Mono"/>
                          <a:ea typeface="Roboto Mono"/>
                          <a:cs typeface="Roboto Mono"/>
                          <a:sym typeface="Roboto Mono"/>
                        </a:rPr>
                        <a:t>return</a:t>
                      </a:r>
                      <a:r>
                        <a:rPr lang="en" sz="1650" dirty="0">
                          <a:solidFill>
                            <a:srgbClr val="ECEFF1"/>
                          </a:solidFill>
                          <a:latin typeface="Roboto Mono"/>
                          <a:ea typeface="Roboto Mono"/>
                          <a:cs typeface="Roboto Mono"/>
                          <a:sym typeface="Roboto Mono"/>
                        </a:rPr>
                        <a:t> total</a:t>
                      </a:r>
                      <a:endParaRPr sz="1350" dirty="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9"/>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Evaluating Program Runtime</a:t>
            </a:r>
            <a:endParaRPr/>
          </a:p>
        </p:txBody>
      </p:sp>
      <p:sp>
        <p:nvSpPr>
          <p:cNvPr id="261" name="Google Shape;261;p39"/>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Three approaches we can take to measure runtime:</a:t>
            </a:r>
            <a:endParaRPr/>
          </a:p>
          <a:p>
            <a:pPr marL="0" lvl="0" indent="0" algn="l" rtl="0">
              <a:spcBef>
                <a:spcPts val="600"/>
              </a:spcBef>
              <a:spcAft>
                <a:spcPts val="0"/>
              </a:spcAft>
              <a:buNone/>
            </a:pPr>
            <a:endParaRPr/>
          </a:p>
          <a:p>
            <a:pPr marL="457200" lvl="0" indent="-355600" algn="l" rtl="0">
              <a:spcBef>
                <a:spcPts val="600"/>
              </a:spcBef>
              <a:spcAft>
                <a:spcPts val="0"/>
              </a:spcAft>
              <a:buSzPts val="2000"/>
              <a:buAutoNum type="arabicPeriod"/>
            </a:pPr>
            <a:r>
              <a:rPr lang="en"/>
              <a:t>Measure with a timer</a:t>
            </a:r>
            <a:endParaRPr/>
          </a:p>
          <a:p>
            <a:pPr marL="457200" lvl="0" indent="-355600" algn="l" rtl="0">
              <a:spcBef>
                <a:spcPts val="0"/>
              </a:spcBef>
              <a:spcAft>
                <a:spcPts val="0"/>
              </a:spcAft>
              <a:buSzPts val="2000"/>
              <a:buAutoNum type="arabicPeriod"/>
            </a:pPr>
            <a:r>
              <a:rPr lang="en"/>
              <a:t>Count number of operations</a:t>
            </a:r>
            <a:endParaRPr/>
          </a:p>
          <a:p>
            <a:pPr marL="457200" lvl="0" indent="-355600" algn="l" rtl="0">
              <a:spcBef>
                <a:spcPts val="0"/>
              </a:spcBef>
              <a:spcAft>
                <a:spcPts val="0"/>
              </a:spcAft>
              <a:buSzPts val="2000"/>
              <a:buAutoNum type="arabicPeriod"/>
            </a:pPr>
            <a:r>
              <a:rPr lang="en" b="1"/>
              <a:t>Order of growth: abstractly describe behavior of algorithm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O Notation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1"/>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Counting Operation Cons</a:t>
            </a:r>
            <a:endParaRPr/>
          </a:p>
        </p:txBody>
      </p:sp>
      <p:sp>
        <p:nvSpPr>
          <p:cNvPr id="272" name="Google Shape;272;p41"/>
          <p:cNvSpPr txBox="1">
            <a:spLocks noGrp="1"/>
          </p:cNvSpPr>
          <p:nvPr>
            <p:ph type="body" idx="1"/>
          </p:nvPr>
        </p:nvSpPr>
        <p:spPr>
          <a:xfrm>
            <a:off x="243000" y="556500"/>
            <a:ext cx="8443800" cy="2029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Counting operations seems nice, but…</a:t>
            </a:r>
            <a:endParaRPr dirty="0"/>
          </a:p>
          <a:p>
            <a:pPr marL="457200" lvl="0" indent="-355600" algn="l" rtl="0">
              <a:spcBef>
                <a:spcPts val="600"/>
              </a:spcBef>
              <a:spcAft>
                <a:spcPts val="0"/>
              </a:spcAft>
              <a:buSzPts val="2000"/>
              <a:buChar char="●"/>
            </a:pPr>
            <a:r>
              <a:rPr lang="en" dirty="0"/>
              <a:t>We end up getting long, complicated functions (300n</a:t>
            </a:r>
            <a:r>
              <a:rPr lang="en" baseline="30000" dirty="0"/>
              <a:t>2</a:t>
            </a:r>
            <a:r>
              <a:rPr lang="en" dirty="0"/>
              <a:t> + 10n + 15)</a:t>
            </a:r>
            <a:endParaRPr dirty="0"/>
          </a:p>
          <a:p>
            <a:pPr marL="914400" lvl="1" indent="-355600" algn="l" rtl="0">
              <a:spcBef>
                <a:spcPts val="0"/>
              </a:spcBef>
              <a:spcAft>
                <a:spcPts val="0"/>
              </a:spcAft>
              <a:buSzPts val="2000"/>
              <a:buChar char="○"/>
            </a:pPr>
            <a:r>
              <a:rPr lang="en" dirty="0"/>
              <a:t>We really only care about what happens when the input is large</a:t>
            </a:r>
            <a:endParaRPr dirty="0"/>
          </a:p>
          <a:p>
            <a:pPr marL="457200" lvl="0" indent="-355600" algn="l" rtl="0">
              <a:spcBef>
                <a:spcPts val="0"/>
              </a:spcBef>
              <a:spcAft>
                <a:spcPts val="0"/>
              </a:spcAft>
              <a:buSzPts val="2000"/>
              <a:buChar char="●"/>
            </a:pPr>
            <a:r>
              <a:rPr lang="en" dirty="0"/>
              <a:t>What should we count as an operation?</a:t>
            </a:r>
            <a:endParaRPr dirty="0"/>
          </a:p>
        </p:txBody>
      </p:sp>
      <p:sp>
        <p:nvSpPr>
          <p:cNvPr id="273" name="Google Shape;273;p41"/>
          <p:cNvSpPr txBox="1">
            <a:spLocks noGrp="1"/>
          </p:cNvSpPr>
          <p:nvPr>
            <p:ph type="body" idx="1"/>
          </p:nvPr>
        </p:nvSpPr>
        <p:spPr>
          <a:xfrm>
            <a:off x="243000" y="2893250"/>
            <a:ext cx="8443800" cy="165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Is there some way we can</a:t>
            </a:r>
            <a:endParaRPr dirty="0"/>
          </a:p>
          <a:p>
            <a:pPr marL="457200" lvl="0" indent="-355600" algn="l" rtl="0">
              <a:spcBef>
                <a:spcPts val="600"/>
              </a:spcBef>
              <a:spcAft>
                <a:spcPts val="0"/>
              </a:spcAft>
              <a:buSzPts val="2000"/>
              <a:buChar char="●"/>
            </a:pPr>
            <a:r>
              <a:rPr lang="en" dirty="0"/>
              <a:t>Count operations but not worry about small variations</a:t>
            </a:r>
            <a:endParaRPr dirty="0"/>
          </a:p>
          <a:p>
            <a:pPr marL="457200" lvl="0" indent="-355600" algn="l" rtl="0">
              <a:spcBef>
                <a:spcPts val="0"/>
              </a:spcBef>
              <a:spcAft>
                <a:spcPts val="0"/>
              </a:spcAft>
              <a:buSzPts val="2000"/>
              <a:buChar char="●"/>
            </a:pPr>
            <a:r>
              <a:rPr lang="en" dirty="0"/>
              <a:t>Performance when problem size gets arbitrarily large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animEffect transition="in" filter="fade">
                                      <p:cBhvr>
                                        <p:cTn id="7" dur="1"/>
                                        <p:tgtEl>
                                          <p:spTgt spid="2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2">
                                            <p:txEl>
                                              <p:pRg st="1" end="1"/>
                                            </p:txEl>
                                          </p:spTgt>
                                        </p:tgtEl>
                                        <p:attrNameLst>
                                          <p:attrName>style.visibility</p:attrName>
                                        </p:attrNameLst>
                                      </p:cBhvr>
                                      <p:to>
                                        <p:strVal val="visible"/>
                                      </p:to>
                                    </p:set>
                                    <p:animEffect transition="in" filter="fade">
                                      <p:cBhvr>
                                        <p:cTn id="12" dur="1"/>
                                        <p:tgtEl>
                                          <p:spTgt spid="2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2">
                                            <p:txEl>
                                              <p:pRg st="2" end="2"/>
                                            </p:txEl>
                                          </p:spTgt>
                                        </p:tgtEl>
                                        <p:attrNameLst>
                                          <p:attrName>style.visibility</p:attrName>
                                        </p:attrNameLst>
                                      </p:cBhvr>
                                      <p:to>
                                        <p:strVal val="visible"/>
                                      </p:to>
                                    </p:set>
                                    <p:animEffect transition="in" filter="fade">
                                      <p:cBhvr>
                                        <p:cTn id="17" dur="1"/>
                                        <p:tgtEl>
                                          <p:spTgt spid="2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2">
                                            <p:txEl>
                                              <p:pRg st="3" end="3"/>
                                            </p:txEl>
                                          </p:spTgt>
                                        </p:tgtEl>
                                        <p:attrNameLst>
                                          <p:attrName>style.visibility</p:attrName>
                                        </p:attrNameLst>
                                      </p:cBhvr>
                                      <p:to>
                                        <p:strVal val="visible"/>
                                      </p:to>
                                    </p:set>
                                    <p:animEffect transition="in" filter="fade">
                                      <p:cBhvr>
                                        <p:cTn id="22" dur="1"/>
                                        <p:tgtEl>
                                          <p:spTgt spid="2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3"/>
                                        </p:tgtEl>
                                        <p:attrNameLst>
                                          <p:attrName>style.visibility</p:attrName>
                                        </p:attrNameLst>
                                      </p:cBhvr>
                                      <p:to>
                                        <p:strVal val="visible"/>
                                      </p:to>
                                    </p:set>
                                    <p:animEffect transition="in" filter="fade">
                                      <p:cBhvr>
                                        <p:cTn id="27" dur="10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Big O Notation: O()</a:t>
            </a:r>
            <a:endParaRPr/>
          </a:p>
        </p:txBody>
      </p:sp>
      <p:sp>
        <p:nvSpPr>
          <p:cNvPr id="279" name="Google Shape;279;p42"/>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Slight tweak to counting operations...we will leave out any multiplicative or lower-order additive terms. This is the “order of growth” of the function. </a:t>
            </a:r>
            <a:endParaRPr/>
          </a:p>
          <a:p>
            <a:pPr marL="0" lvl="0" indent="0" algn="l" rtl="0">
              <a:spcBef>
                <a:spcPts val="600"/>
              </a:spcBef>
              <a:spcAft>
                <a:spcPts val="0"/>
              </a:spcAft>
              <a:buNone/>
            </a:pPr>
            <a:endParaRPr/>
          </a:p>
          <a:p>
            <a:pPr marL="0" lvl="0" indent="0" algn="l" rtl="0">
              <a:spcBef>
                <a:spcPts val="600"/>
              </a:spcBef>
              <a:spcAft>
                <a:spcPts val="0"/>
              </a:spcAft>
              <a:buNone/>
            </a:pPr>
            <a:r>
              <a:rPr lang="en"/>
              <a:t>We often call this “Big O notation” of the runtime. Measures </a:t>
            </a:r>
            <a:r>
              <a:rPr lang="en" b="1">
                <a:solidFill>
                  <a:schemeClr val="accent5"/>
                </a:solidFill>
              </a:rPr>
              <a:t>upper bound on order of growth</a:t>
            </a:r>
            <a:endParaRPr b="1">
              <a:solidFill>
                <a:schemeClr val="accent5"/>
              </a:solidFill>
            </a:endParaRPr>
          </a:p>
          <a:p>
            <a:pPr marL="0" lvl="0" indent="0" algn="l" rtl="0">
              <a:lnSpc>
                <a:spcPct val="150000"/>
              </a:lnSpc>
              <a:spcBef>
                <a:spcPts val="600"/>
              </a:spcBef>
              <a:spcAft>
                <a:spcPts val="0"/>
              </a:spcAft>
              <a:buClr>
                <a:schemeClr val="dk1"/>
              </a:buClr>
              <a:buSzPts val="1100"/>
              <a:buFont typeface="Arial"/>
              <a:buNone/>
            </a:pPr>
            <a:r>
              <a:rPr lang="en"/>
              <a:t>Used to describe </a:t>
            </a:r>
            <a:r>
              <a:rPr lang="en" i="1"/>
              <a:t>worst case</a:t>
            </a:r>
            <a:endParaRPr i="1"/>
          </a:p>
          <a:p>
            <a:pPr marL="457200" lvl="0" indent="-355600" algn="l" rtl="0">
              <a:lnSpc>
                <a:spcPct val="115000"/>
              </a:lnSpc>
              <a:spcBef>
                <a:spcPts val="600"/>
              </a:spcBef>
              <a:spcAft>
                <a:spcPts val="0"/>
              </a:spcAft>
              <a:buSzPts val="2000"/>
              <a:buChar char="●"/>
            </a:pPr>
            <a:r>
              <a:rPr lang="en"/>
              <a:t>Occurs often and is </a:t>
            </a:r>
            <a:r>
              <a:rPr lang="en" u="sng"/>
              <a:t>bottleneck</a:t>
            </a:r>
            <a:r>
              <a:rPr lang="en"/>
              <a:t> when program runs</a:t>
            </a:r>
            <a:endParaRPr/>
          </a:p>
          <a:p>
            <a:pPr marL="457200" lvl="0" indent="-355600" algn="l" rtl="0">
              <a:lnSpc>
                <a:spcPct val="115000"/>
              </a:lnSpc>
              <a:spcBef>
                <a:spcPts val="0"/>
              </a:spcBef>
              <a:spcAft>
                <a:spcPts val="0"/>
              </a:spcAft>
              <a:buSzPts val="2000"/>
              <a:buChar char="●"/>
            </a:pPr>
            <a:r>
              <a:rPr lang="en"/>
              <a:t>Express rate of program growth relative to input size</a:t>
            </a:r>
            <a:endParaRPr/>
          </a:p>
          <a:p>
            <a:pPr marL="457200" lvl="0" indent="-355600" algn="l" rtl="0">
              <a:lnSpc>
                <a:spcPct val="115000"/>
              </a:lnSpc>
              <a:spcBef>
                <a:spcPts val="0"/>
              </a:spcBef>
              <a:spcAft>
                <a:spcPts val="0"/>
              </a:spcAft>
              <a:buSzPts val="2000"/>
              <a:buChar char="●"/>
            </a:pPr>
            <a:r>
              <a:rPr lang="en"/>
              <a:t>Evaluate algorithm, </a:t>
            </a:r>
            <a:r>
              <a:rPr lang="en" i="1"/>
              <a:t>not</a:t>
            </a:r>
            <a:r>
              <a:rPr lang="en"/>
              <a:t> machine / implementation</a:t>
            </a:r>
            <a:endParaRPr/>
          </a:p>
          <a:p>
            <a:pPr marL="0" lvl="0" indent="0" algn="l" rtl="0">
              <a:spcBef>
                <a:spcPts val="60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Order of Growth</a:t>
            </a:r>
            <a:endParaRPr/>
          </a:p>
        </p:txBody>
      </p:sp>
      <p:sp>
        <p:nvSpPr>
          <p:cNvPr id="285" name="Google Shape;285;p43"/>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 </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grpSp>
        <p:nvGrpSpPr>
          <p:cNvPr id="286" name="Google Shape;286;p43"/>
          <p:cNvGrpSpPr/>
          <p:nvPr/>
        </p:nvGrpSpPr>
        <p:grpSpPr>
          <a:xfrm>
            <a:off x="242971" y="1010454"/>
            <a:ext cx="1759161" cy="2119756"/>
            <a:chOff x="854381" y="1348950"/>
            <a:chExt cx="2237550" cy="2948200"/>
          </a:xfrm>
        </p:grpSpPr>
        <p:pic>
          <p:nvPicPr>
            <p:cNvPr id="287" name="Google Shape;287;p43"/>
            <p:cNvPicPr preferRelativeResize="0"/>
            <p:nvPr/>
          </p:nvPicPr>
          <p:blipFill>
            <a:blip r:embed="rId3">
              <a:alphaModFix/>
            </a:blip>
            <a:stretch>
              <a:fillRect/>
            </a:stretch>
          </p:blipFill>
          <p:spPr>
            <a:xfrm>
              <a:off x="854381" y="1348950"/>
              <a:ext cx="2237550" cy="2258175"/>
            </a:xfrm>
            <a:prstGeom prst="rect">
              <a:avLst/>
            </a:prstGeom>
            <a:noFill/>
            <a:ln>
              <a:noFill/>
            </a:ln>
            <a:effectLst>
              <a:outerShdw blurRad="57150" dist="19050" dir="5400000" algn="bl" rotWithShape="0">
                <a:srgbClr val="000000">
                  <a:alpha val="50000"/>
                </a:srgbClr>
              </a:outerShdw>
            </a:effectLst>
          </p:spPr>
        </p:pic>
        <p:sp>
          <p:nvSpPr>
            <p:cNvPr id="288" name="Google Shape;288;p43"/>
            <p:cNvSpPr txBox="1"/>
            <p:nvPr/>
          </p:nvSpPr>
          <p:spPr>
            <a:xfrm>
              <a:off x="1387700" y="3483550"/>
              <a:ext cx="11709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a:t>
              </a:r>
              <a:endParaRPr sz="2600">
                <a:latin typeface="Calibri"/>
                <a:ea typeface="Calibri"/>
                <a:cs typeface="Calibri"/>
                <a:sym typeface="Calibri"/>
              </a:endParaRPr>
            </a:p>
          </p:txBody>
        </p:sp>
      </p:grpSp>
      <p:grpSp>
        <p:nvGrpSpPr>
          <p:cNvPr id="289" name="Google Shape;289;p43"/>
          <p:cNvGrpSpPr/>
          <p:nvPr/>
        </p:nvGrpSpPr>
        <p:grpSpPr>
          <a:xfrm>
            <a:off x="2375549" y="1014626"/>
            <a:ext cx="1759162" cy="2111388"/>
            <a:chOff x="3671825" y="1225113"/>
            <a:chExt cx="2237550" cy="2936563"/>
          </a:xfrm>
        </p:grpSpPr>
        <p:pic>
          <p:nvPicPr>
            <p:cNvPr id="290" name="Google Shape;290;p43"/>
            <p:cNvPicPr preferRelativeResize="0"/>
            <p:nvPr/>
          </p:nvPicPr>
          <p:blipFill>
            <a:blip r:embed="rId4">
              <a:alphaModFix/>
            </a:blip>
            <a:stretch>
              <a:fillRect/>
            </a:stretch>
          </p:blipFill>
          <p:spPr>
            <a:xfrm>
              <a:off x="3671825" y="1225113"/>
              <a:ext cx="2237550" cy="2266070"/>
            </a:xfrm>
            <a:prstGeom prst="rect">
              <a:avLst/>
            </a:prstGeom>
            <a:noFill/>
            <a:ln>
              <a:noFill/>
            </a:ln>
            <a:effectLst>
              <a:outerShdw blurRad="57150" dist="19050" dir="5400000" algn="bl" rotWithShape="0">
                <a:srgbClr val="000000">
                  <a:alpha val="50000"/>
                </a:srgbClr>
              </a:outerShdw>
            </a:effectLst>
          </p:spPr>
        </p:pic>
        <p:sp>
          <p:nvSpPr>
            <p:cNvPr id="291" name="Google Shape;291;p43"/>
            <p:cNvSpPr txBox="1"/>
            <p:nvPr/>
          </p:nvSpPr>
          <p:spPr>
            <a:xfrm>
              <a:off x="3942050" y="3348075"/>
              <a:ext cx="16971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 + 1</a:t>
              </a:r>
              <a:endParaRPr sz="2600">
                <a:latin typeface="Calibri"/>
                <a:ea typeface="Calibri"/>
                <a:cs typeface="Calibri"/>
                <a:sym typeface="Calibri"/>
              </a:endParaRPr>
            </a:p>
          </p:txBody>
        </p:sp>
      </p:grpSp>
      <p:grpSp>
        <p:nvGrpSpPr>
          <p:cNvPr id="292" name="Google Shape;292;p43"/>
          <p:cNvGrpSpPr/>
          <p:nvPr/>
        </p:nvGrpSpPr>
        <p:grpSpPr>
          <a:xfrm>
            <a:off x="4508134" y="1014637"/>
            <a:ext cx="1759162" cy="2111379"/>
            <a:chOff x="6262625" y="1225125"/>
            <a:chExt cx="2237550" cy="2936550"/>
          </a:xfrm>
        </p:grpSpPr>
        <p:pic>
          <p:nvPicPr>
            <p:cNvPr id="293" name="Google Shape;293;p43"/>
            <p:cNvPicPr preferRelativeResize="0"/>
            <p:nvPr/>
          </p:nvPicPr>
          <p:blipFill>
            <a:blip r:embed="rId5">
              <a:alphaModFix/>
            </a:blip>
            <a:stretch>
              <a:fillRect/>
            </a:stretch>
          </p:blipFill>
          <p:spPr>
            <a:xfrm>
              <a:off x="6262625" y="1225125"/>
              <a:ext cx="2237550" cy="2253873"/>
            </a:xfrm>
            <a:prstGeom prst="rect">
              <a:avLst/>
            </a:prstGeom>
            <a:noFill/>
            <a:ln>
              <a:noFill/>
            </a:ln>
            <a:effectLst>
              <a:outerShdw blurRad="57150" dist="19050" dir="5400000" algn="bl" rotWithShape="0">
                <a:srgbClr val="000000">
                  <a:alpha val="50000"/>
                </a:srgbClr>
              </a:outerShdw>
            </a:effectLst>
          </p:spPr>
        </p:pic>
        <p:sp>
          <p:nvSpPr>
            <p:cNvPr id="294" name="Google Shape;294;p43"/>
            <p:cNvSpPr txBox="1"/>
            <p:nvPr/>
          </p:nvSpPr>
          <p:spPr>
            <a:xfrm>
              <a:off x="6635300" y="3348075"/>
              <a:ext cx="14922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2n</a:t>
              </a:r>
              <a:endParaRPr sz="2600">
                <a:latin typeface="Calibri"/>
                <a:ea typeface="Calibri"/>
                <a:cs typeface="Calibri"/>
                <a:sym typeface="Calibri"/>
              </a:endParaRPr>
            </a:p>
          </p:txBody>
        </p:sp>
      </p:grpSp>
      <p:grpSp>
        <p:nvGrpSpPr>
          <p:cNvPr id="295" name="Google Shape;295;p43"/>
          <p:cNvGrpSpPr/>
          <p:nvPr/>
        </p:nvGrpSpPr>
        <p:grpSpPr>
          <a:xfrm>
            <a:off x="6640734" y="1004892"/>
            <a:ext cx="1759162" cy="2130874"/>
            <a:chOff x="2147821" y="2420350"/>
            <a:chExt cx="2237550" cy="2963664"/>
          </a:xfrm>
        </p:grpSpPr>
        <p:pic>
          <p:nvPicPr>
            <p:cNvPr id="296" name="Google Shape;296;p43"/>
            <p:cNvPicPr preferRelativeResize="0"/>
            <p:nvPr/>
          </p:nvPicPr>
          <p:blipFill>
            <a:blip r:embed="rId6">
              <a:alphaModFix/>
            </a:blip>
            <a:stretch>
              <a:fillRect/>
            </a:stretch>
          </p:blipFill>
          <p:spPr>
            <a:xfrm>
              <a:off x="2147821" y="2420350"/>
              <a:ext cx="2237550" cy="2253834"/>
            </a:xfrm>
            <a:prstGeom prst="rect">
              <a:avLst/>
            </a:prstGeom>
            <a:noFill/>
            <a:ln>
              <a:noFill/>
            </a:ln>
            <a:effectLst>
              <a:outerShdw blurRad="57150" dist="19050" dir="5400000" algn="bl" rotWithShape="0">
                <a:srgbClr val="000000">
                  <a:alpha val="50000"/>
                </a:srgbClr>
              </a:outerShdw>
            </a:effectLst>
          </p:spPr>
        </p:pic>
        <p:sp>
          <p:nvSpPr>
            <p:cNvPr id="297" name="Google Shape;297;p43"/>
            <p:cNvSpPr txBox="1"/>
            <p:nvPr/>
          </p:nvSpPr>
          <p:spPr>
            <a:xfrm>
              <a:off x="2147890" y="4570414"/>
              <a:ext cx="22374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0.5n + 1</a:t>
              </a:r>
              <a:endParaRPr sz="2600">
                <a:latin typeface="Calibri"/>
                <a:ea typeface="Calibri"/>
                <a:cs typeface="Calibri"/>
                <a:sym typeface="Calibri"/>
              </a:endParaRPr>
            </a:p>
          </p:txBody>
        </p:sp>
      </p:grpSp>
      <p:sp>
        <p:nvSpPr>
          <p:cNvPr id="298" name="Google Shape;298;p43"/>
          <p:cNvSpPr/>
          <p:nvPr/>
        </p:nvSpPr>
        <p:spPr>
          <a:xfrm>
            <a:off x="5319600" y="2695400"/>
            <a:ext cx="386400" cy="3153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3"/>
          <p:cNvSpPr/>
          <p:nvPr/>
        </p:nvSpPr>
        <p:spPr>
          <a:xfrm>
            <a:off x="7148400" y="2619200"/>
            <a:ext cx="531000" cy="4953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3"/>
          <p:cNvSpPr txBox="1"/>
          <p:nvPr/>
        </p:nvSpPr>
        <p:spPr>
          <a:xfrm>
            <a:off x="5197525" y="3254800"/>
            <a:ext cx="280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accent2"/>
                </a:solidFill>
                <a:latin typeface="Calibri"/>
                <a:ea typeface="Calibri"/>
                <a:cs typeface="Calibri"/>
                <a:sym typeface="Calibri"/>
              </a:rPr>
              <a:t>Multiplicative Constant</a:t>
            </a:r>
            <a:endParaRPr sz="2000">
              <a:solidFill>
                <a:schemeClr val="accent2"/>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4"/>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Order of Growth</a:t>
            </a:r>
            <a:endParaRPr/>
          </a:p>
        </p:txBody>
      </p:sp>
      <p:sp>
        <p:nvSpPr>
          <p:cNvPr id="306" name="Google Shape;306;p44"/>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 </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grpSp>
        <p:nvGrpSpPr>
          <p:cNvPr id="307" name="Google Shape;307;p44"/>
          <p:cNvGrpSpPr/>
          <p:nvPr/>
        </p:nvGrpSpPr>
        <p:grpSpPr>
          <a:xfrm>
            <a:off x="242971" y="1010454"/>
            <a:ext cx="1759161" cy="2119756"/>
            <a:chOff x="854381" y="1348950"/>
            <a:chExt cx="2237550" cy="2948200"/>
          </a:xfrm>
        </p:grpSpPr>
        <p:pic>
          <p:nvPicPr>
            <p:cNvPr id="308" name="Google Shape;308;p44"/>
            <p:cNvPicPr preferRelativeResize="0"/>
            <p:nvPr/>
          </p:nvPicPr>
          <p:blipFill>
            <a:blip r:embed="rId3">
              <a:alphaModFix/>
            </a:blip>
            <a:stretch>
              <a:fillRect/>
            </a:stretch>
          </p:blipFill>
          <p:spPr>
            <a:xfrm>
              <a:off x="854381" y="1348950"/>
              <a:ext cx="2237550" cy="2258175"/>
            </a:xfrm>
            <a:prstGeom prst="rect">
              <a:avLst/>
            </a:prstGeom>
            <a:noFill/>
            <a:ln>
              <a:noFill/>
            </a:ln>
            <a:effectLst>
              <a:outerShdw blurRad="57150" dist="19050" dir="5400000" algn="bl" rotWithShape="0">
                <a:srgbClr val="000000">
                  <a:alpha val="50000"/>
                </a:srgbClr>
              </a:outerShdw>
            </a:effectLst>
          </p:spPr>
        </p:pic>
        <p:sp>
          <p:nvSpPr>
            <p:cNvPr id="309" name="Google Shape;309;p44"/>
            <p:cNvSpPr txBox="1"/>
            <p:nvPr/>
          </p:nvSpPr>
          <p:spPr>
            <a:xfrm>
              <a:off x="1387700" y="3483550"/>
              <a:ext cx="11709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a:t>
              </a:r>
              <a:endParaRPr sz="2600">
                <a:latin typeface="Calibri"/>
                <a:ea typeface="Calibri"/>
                <a:cs typeface="Calibri"/>
                <a:sym typeface="Calibri"/>
              </a:endParaRPr>
            </a:p>
          </p:txBody>
        </p:sp>
      </p:grpSp>
      <p:grpSp>
        <p:nvGrpSpPr>
          <p:cNvPr id="310" name="Google Shape;310;p44"/>
          <p:cNvGrpSpPr/>
          <p:nvPr/>
        </p:nvGrpSpPr>
        <p:grpSpPr>
          <a:xfrm>
            <a:off x="2375549" y="1014626"/>
            <a:ext cx="1759162" cy="2111388"/>
            <a:chOff x="3671825" y="1225113"/>
            <a:chExt cx="2237550" cy="2936563"/>
          </a:xfrm>
        </p:grpSpPr>
        <p:pic>
          <p:nvPicPr>
            <p:cNvPr id="311" name="Google Shape;311;p44"/>
            <p:cNvPicPr preferRelativeResize="0"/>
            <p:nvPr/>
          </p:nvPicPr>
          <p:blipFill>
            <a:blip r:embed="rId4">
              <a:alphaModFix/>
            </a:blip>
            <a:stretch>
              <a:fillRect/>
            </a:stretch>
          </p:blipFill>
          <p:spPr>
            <a:xfrm>
              <a:off x="3671825" y="1225113"/>
              <a:ext cx="2237550" cy="2266070"/>
            </a:xfrm>
            <a:prstGeom prst="rect">
              <a:avLst/>
            </a:prstGeom>
            <a:noFill/>
            <a:ln>
              <a:noFill/>
            </a:ln>
            <a:effectLst>
              <a:outerShdw blurRad="57150" dist="19050" dir="5400000" algn="bl" rotWithShape="0">
                <a:srgbClr val="000000">
                  <a:alpha val="50000"/>
                </a:srgbClr>
              </a:outerShdw>
            </a:effectLst>
          </p:spPr>
        </p:pic>
        <p:sp>
          <p:nvSpPr>
            <p:cNvPr id="312" name="Google Shape;312;p44"/>
            <p:cNvSpPr txBox="1"/>
            <p:nvPr/>
          </p:nvSpPr>
          <p:spPr>
            <a:xfrm>
              <a:off x="3942050" y="3348075"/>
              <a:ext cx="16971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 + 1</a:t>
              </a:r>
              <a:endParaRPr sz="2600">
                <a:latin typeface="Calibri"/>
                <a:ea typeface="Calibri"/>
                <a:cs typeface="Calibri"/>
                <a:sym typeface="Calibri"/>
              </a:endParaRPr>
            </a:p>
          </p:txBody>
        </p:sp>
      </p:grpSp>
      <p:grpSp>
        <p:nvGrpSpPr>
          <p:cNvPr id="313" name="Google Shape;313;p44"/>
          <p:cNvGrpSpPr/>
          <p:nvPr/>
        </p:nvGrpSpPr>
        <p:grpSpPr>
          <a:xfrm>
            <a:off x="4508134" y="1014637"/>
            <a:ext cx="1759162" cy="2111379"/>
            <a:chOff x="6262625" y="1225125"/>
            <a:chExt cx="2237550" cy="2936550"/>
          </a:xfrm>
        </p:grpSpPr>
        <p:pic>
          <p:nvPicPr>
            <p:cNvPr id="314" name="Google Shape;314;p44"/>
            <p:cNvPicPr preferRelativeResize="0"/>
            <p:nvPr/>
          </p:nvPicPr>
          <p:blipFill>
            <a:blip r:embed="rId5">
              <a:alphaModFix/>
            </a:blip>
            <a:stretch>
              <a:fillRect/>
            </a:stretch>
          </p:blipFill>
          <p:spPr>
            <a:xfrm>
              <a:off x="6262625" y="1225125"/>
              <a:ext cx="2237550" cy="2253873"/>
            </a:xfrm>
            <a:prstGeom prst="rect">
              <a:avLst/>
            </a:prstGeom>
            <a:noFill/>
            <a:ln>
              <a:noFill/>
            </a:ln>
            <a:effectLst>
              <a:outerShdw blurRad="57150" dist="19050" dir="5400000" algn="bl" rotWithShape="0">
                <a:srgbClr val="000000">
                  <a:alpha val="50000"/>
                </a:srgbClr>
              </a:outerShdw>
            </a:effectLst>
          </p:spPr>
        </p:pic>
        <p:sp>
          <p:nvSpPr>
            <p:cNvPr id="315" name="Google Shape;315;p44"/>
            <p:cNvSpPr txBox="1"/>
            <p:nvPr/>
          </p:nvSpPr>
          <p:spPr>
            <a:xfrm>
              <a:off x="6635300" y="3348075"/>
              <a:ext cx="14922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2n</a:t>
              </a:r>
              <a:endParaRPr sz="2600">
                <a:latin typeface="Calibri"/>
                <a:ea typeface="Calibri"/>
                <a:cs typeface="Calibri"/>
                <a:sym typeface="Calibri"/>
              </a:endParaRPr>
            </a:p>
          </p:txBody>
        </p:sp>
      </p:grpSp>
      <p:grpSp>
        <p:nvGrpSpPr>
          <p:cNvPr id="316" name="Google Shape;316;p44"/>
          <p:cNvGrpSpPr/>
          <p:nvPr/>
        </p:nvGrpSpPr>
        <p:grpSpPr>
          <a:xfrm>
            <a:off x="6640734" y="1004892"/>
            <a:ext cx="1759162" cy="2130874"/>
            <a:chOff x="2147821" y="2420350"/>
            <a:chExt cx="2237550" cy="2963664"/>
          </a:xfrm>
        </p:grpSpPr>
        <p:pic>
          <p:nvPicPr>
            <p:cNvPr id="317" name="Google Shape;317;p44"/>
            <p:cNvPicPr preferRelativeResize="0"/>
            <p:nvPr/>
          </p:nvPicPr>
          <p:blipFill>
            <a:blip r:embed="rId6">
              <a:alphaModFix/>
            </a:blip>
            <a:stretch>
              <a:fillRect/>
            </a:stretch>
          </p:blipFill>
          <p:spPr>
            <a:xfrm>
              <a:off x="2147821" y="2420350"/>
              <a:ext cx="2237550" cy="2253834"/>
            </a:xfrm>
            <a:prstGeom prst="rect">
              <a:avLst/>
            </a:prstGeom>
            <a:noFill/>
            <a:ln>
              <a:noFill/>
            </a:ln>
            <a:effectLst>
              <a:outerShdw blurRad="57150" dist="19050" dir="5400000" algn="bl" rotWithShape="0">
                <a:srgbClr val="000000">
                  <a:alpha val="50000"/>
                </a:srgbClr>
              </a:outerShdw>
            </a:effectLst>
          </p:spPr>
        </p:pic>
        <p:sp>
          <p:nvSpPr>
            <p:cNvPr id="318" name="Google Shape;318;p44"/>
            <p:cNvSpPr txBox="1"/>
            <p:nvPr/>
          </p:nvSpPr>
          <p:spPr>
            <a:xfrm>
              <a:off x="2147890" y="4570414"/>
              <a:ext cx="22374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0.5n + 1</a:t>
              </a:r>
              <a:endParaRPr sz="2600">
                <a:latin typeface="Calibri"/>
                <a:ea typeface="Calibri"/>
                <a:cs typeface="Calibri"/>
                <a:sym typeface="Calibri"/>
              </a:endParaRPr>
            </a:p>
          </p:txBody>
        </p:sp>
      </p:grpSp>
      <p:sp>
        <p:nvSpPr>
          <p:cNvPr id="319" name="Google Shape;319;p44"/>
          <p:cNvSpPr/>
          <p:nvPr/>
        </p:nvSpPr>
        <p:spPr>
          <a:xfrm>
            <a:off x="3376875" y="2664900"/>
            <a:ext cx="477900" cy="3663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4"/>
          <p:cNvSpPr/>
          <p:nvPr/>
        </p:nvSpPr>
        <p:spPr>
          <a:xfrm>
            <a:off x="7868900" y="2664900"/>
            <a:ext cx="531000" cy="4953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4"/>
          <p:cNvSpPr txBox="1"/>
          <p:nvPr/>
        </p:nvSpPr>
        <p:spPr>
          <a:xfrm>
            <a:off x="4508125" y="3407375"/>
            <a:ext cx="2481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accent2"/>
                </a:solidFill>
                <a:latin typeface="Calibri"/>
                <a:ea typeface="Calibri"/>
                <a:cs typeface="Calibri"/>
                <a:sym typeface="Calibri"/>
              </a:rPr>
              <a:t>Lower Order Terms</a:t>
            </a:r>
            <a:endParaRPr sz="2000">
              <a:solidFill>
                <a:schemeClr val="accent2"/>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Order of Growth</a:t>
            </a:r>
            <a:endParaRPr/>
          </a:p>
        </p:txBody>
      </p:sp>
      <p:sp>
        <p:nvSpPr>
          <p:cNvPr id="327" name="Google Shape;327;p45"/>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 </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Dropping all multiplicative constants and lower order terms, these are all O(n). </a:t>
            </a:r>
            <a:endParaRPr/>
          </a:p>
        </p:txBody>
      </p:sp>
      <p:grpSp>
        <p:nvGrpSpPr>
          <p:cNvPr id="328" name="Google Shape;328;p45"/>
          <p:cNvGrpSpPr/>
          <p:nvPr/>
        </p:nvGrpSpPr>
        <p:grpSpPr>
          <a:xfrm>
            <a:off x="242971" y="1010454"/>
            <a:ext cx="1759161" cy="2119756"/>
            <a:chOff x="854381" y="1348950"/>
            <a:chExt cx="2237550" cy="2948200"/>
          </a:xfrm>
        </p:grpSpPr>
        <p:pic>
          <p:nvPicPr>
            <p:cNvPr id="329" name="Google Shape;329;p45"/>
            <p:cNvPicPr preferRelativeResize="0"/>
            <p:nvPr/>
          </p:nvPicPr>
          <p:blipFill>
            <a:blip r:embed="rId3">
              <a:alphaModFix/>
            </a:blip>
            <a:stretch>
              <a:fillRect/>
            </a:stretch>
          </p:blipFill>
          <p:spPr>
            <a:xfrm>
              <a:off x="854381" y="1348950"/>
              <a:ext cx="2237550" cy="2258175"/>
            </a:xfrm>
            <a:prstGeom prst="rect">
              <a:avLst/>
            </a:prstGeom>
            <a:noFill/>
            <a:ln>
              <a:noFill/>
            </a:ln>
            <a:effectLst>
              <a:outerShdw blurRad="57150" dist="19050" dir="5400000" algn="bl" rotWithShape="0">
                <a:srgbClr val="000000">
                  <a:alpha val="50000"/>
                </a:srgbClr>
              </a:outerShdw>
            </a:effectLst>
          </p:spPr>
        </p:pic>
        <p:sp>
          <p:nvSpPr>
            <p:cNvPr id="330" name="Google Shape;330;p45"/>
            <p:cNvSpPr txBox="1"/>
            <p:nvPr/>
          </p:nvSpPr>
          <p:spPr>
            <a:xfrm>
              <a:off x="1387700" y="3483550"/>
              <a:ext cx="11709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a:t>
              </a:r>
              <a:endParaRPr sz="2600">
                <a:latin typeface="Calibri"/>
                <a:ea typeface="Calibri"/>
                <a:cs typeface="Calibri"/>
                <a:sym typeface="Calibri"/>
              </a:endParaRPr>
            </a:p>
          </p:txBody>
        </p:sp>
      </p:grpSp>
      <p:grpSp>
        <p:nvGrpSpPr>
          <p:cNvPr id="331" name="Google Shape;331;p45"/>
          <p:cNvGrpSpPr/>
          <p:nvPr/>
        </p:nvGrpSpPr>
        <p:grpSpPr>
          <a:xfrm>
            <a:off x="2375549" y="1014626"/>
            <a:ext cx="1759162" cy="2111388"/>
            <a:chOff x="3671825" y="1225113"/>
            <a:chExt cx="2237550" cy="2936563"/>
          </a:xfrm>
        </p:grpSpPr>
        <p:pic>
          <p:nvPicPr>
            <p:cNvPr id="332" name="Google Shape;332;p45"/>
            <p:cNvPicPr preferRelativeResize="0"/>
            <p:nvPr/>
          </p:nvPicPr>
          <p:blipFill>
            <a:blip r:embed="rId4">
              <a:alphaModFix/>
            </a:blip>
            <a:stretch>
              <a:fillRect/>
            </a:stretch>
          </p:blipFill>
          <p:spPr>
            <a:xfrm>
              <a:off x="3671825" y="1225113"/>
              <a:ext cx="2237550" cy="2266070"/>
            </a:xfrm>
            <a:prstGeom prst="rect">
              <a:avLst/>
            </a:prstGeom>
            <a:noFill/>
            <a:ln>
              <a:noFill/>
            </a:ln>
            <a:effectLst>
              <a:outerShdw blurRad="57150" dist="19050" dir="5400000" algn="bl" rotWithShape="0">
                <a:srgbClr val="000000">
                  <a:alpha val="50000"/>
                </a:srgbClr>
              </a:outerShdw>
            </a:effectLst>
          </p:spPr>
        </p:pic>
        <p:sp>
          <p:nvSpPr>
            <p:cNvPr id="333" name="Google Shape;333;p45"/>
            <p:cNvSpPr txBox="1"/>
            <p:nvPr/>
          </p:nvSpPr>
          <p:spPr>
            <a:xfrm>
              <a:off x="3942050" y="3348075"/>
              <a:ext cx="16971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n + 1</a:t>
              </a:r>
              <a:endParaRPr sz="2600">
                <a:latin typeface="Calibri"/>
                <a:ea typeface="Calibri"/>
                <a:cs typeface="Calibri"/>
                <a:sym typeface="Calibri"/>
              </a:endParaRPr>
            </a:p>
          </p:txBody>
        </p:sp>
      </p:grpSp>
      <p:grpSp>
        <p:nvGrpSpPr>
          <p:cNvPr id="334" name="Google Shape;334;p45"/>
          <p:cNvGrpSpPr/>
          <p:nvPr/>
        </p:nvGrpSpPr>
        <p:grpSpPr>
          <a:xfrm>
            <a:off x="4508134" y="1014637"/>
            <a:ext cx="1759162" cy="2111379"/>
            <a:chOff x="6262625" y="1225125"/>
            <a:chExt cx="2237550" cy="2936550"/>
          </a:xfrm>
        </p:grpSpPr>
        <p:pic>
          <p:nvPicPr>
            <p:cNvPr id="335" name="Google Shape;335;p45"/>
            <p:cNvPicPr preferRelativeResize="0"/>
            <p:nvPr/>
          </p:nvPicPr>
          <p:blipFill>
            <a:blip r:embed="rId5">
              <a:alphaModFix/>
            </a:blip>
            <a:stretch>
              <a:fillRect/>
            </a:stretch>
          </p:blipFill>
          <p:spPr>
            <a:xfrm>
              <a:off x="6262625" y="1225125"/>
              <a:ext cx="2237550" cy="2253873"/>
            </a:xfrm>
            <a:prstGeom prst="rect">
              <a:avLst/>
            </a:prstGeom>
            <a:noFill/>
            <a:ln>
              <a:noFill/>
            </a:ln>
            <a:effectLst>
              <a:outerShdw blurRad="57150" dist="19050" dir="5400000" algn="bl" rotWithShape="0">
                <a:srgbClr val="000000">
                  <a:alpha val="50000"/>
                </a:srgbClr>
              </a:outerShdw>
            </a:effectLst>
          </p:spPr>
        </p:pic>
        <p:sp>
          <p:nvSpPr>
            <p:cNvPr id="336" name="Google Shape;336;p45"/>
            <p:cNvSpPr txBox="1"/>
            <p:nvPr/>
          </p:nvSpPr>
          <p:spPr>
            <a:xfrm>
              <a:off x="6635300" y="3348075"/>
              <a:ext cx="14922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2n</a:t>
              </a:r>
              <a:endParaRPr sz="2600">
                <a:latin typeface="Calibri"/>
                <a:ea typeface="Calibri"/>
                <a:cs typeface="Calibri"/>
                <a:sym typeface="Calibri"/>
              </a:endParaRPr>
            </a:p>
          </p:txBody>
        </p:sp>
      </p:grpSp>
      <p:grpSp>
        <p:nvGrpSpPr>
          <p:cNvPr id="337" name="Google Shape;337;p45"/>
          <p:cNvGrpSpPr/>
          <p:nvPr/>
        </p:nvGrpSpPr>
        <p:grpSpPr>
          <a:xfrm>
            <a:off x="6640734" y="1004892"/>
            <a:ext cx="1759162" cy="2130874"/>
            <a:chOff x="2147821" y="2420350"/>
            <a:chExt cx="2237550" cy="2963664"/>
          </a:xfrm>
        </p:grpSpPr>
        <p:pic>
          <p:nvPicPr>
            <p:cNvPr id="338" name="Google Shape;338;p45"/>
            <p:cNvPicPr preferRelativeResize="0"/>
            <p:nvPr/>
          </p:nvPicPr>
          <p:blipFill>
            <a:blip r:embed="rId6">
              <a:alphaModFix/>
            </a:blip>
            <a:stretch>
              <a:fillRect/>
            </a:stretch>
          </p:blipFill>
          <p:spPr>
            <a:xfrm>
              <a:off x="2147821" y="2420350"/>
              <a:ext cx="2237550" cy="2253834"/>
            </a:xfrm>
            <a:prstGeom prst="rect">
              <a:avLst/>
            </a:prstGeom>
            <a:noFill/>
            <a:ln>
              <a:noFill/>
            </a:ln>
            <a:effectLst>
              <a:outerShdw blurRad="57150" dist="19050" dir="5400000" algn="bl" rotWithShape="0">
                <a:srgbClr val="000000">
                  <a:alpha val="50000"/>
                </a:srgbClr>
              </a:outerShdw>
            </a:effectLst>
          </p:spPr>
        </p:pic>
        <p:sp>
          <p:nvSpPr>
            <p:cNvPr id="339" name="Google Shape;339;p45"/>
            <p:cNvSpPr txBox="1"/>
            <p:nvPr/>
          </p:nvSpPr>
          <p:spPr>
            <a:xfrm>
              <a:off x="2147890" y="4570414"/>
              <a:ext cx="2237400" cy="81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a:latin typeface="Calibri"/>
                  <a:ea typeface="Calibri"/>
                  <a:cs typeface="Calibri"/>
                  <a:sym typeface="Calibri"/>
                </a:rPr>
                <a:t>y = 0.5n + 1</a:t>
              </a:r>
              <a:endParaRPr sz="2600">
                <a:latin typeface="Calibri"/>
                <a:ea typeface="Calibri"/>
                <a:cs typeface="Calibri"/>
                <a:sym typeface="Calibri"/>
              </a:endParaRPr>
            </a:p>
          </p:txBody>
        </p:sp>
      </p:grpSp>
      <p:sp>
        <p:nvSpPr>
          <p:cNvPr id="340" name="Google Shape;340;p45"/>
          <p:cNvSpPr txBox="1"/>
          <p:nvPr/>
        </p:nvSpPr>
        <p:spPr>
          <a:xfrm>
            <a:off x="4508125" y="3407375"/>
            <a:ext cx="2481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accent2"/>
              </a:solidFill>
              <a:latin typeface="Calibri"/>
              <a:ea typeface="Calibri"/>
              <a:cs typeface="Calibri"/>
              <a:sym typeface="Calibri"/>
            </a:endParaRPr>
          </a:p>
        </p:txBody>
      </p:sp>
      <p:cxnSp>
        <p:nvCxnSpPr>
          <p:cNvPr id="341" name="Google Shape;341;p45"/>
          <p:cNvCxnSpPr/>
          <p:nvPr/>
        </p:nvCxnSpPr>
        <p:spPr>
          <a:xfrm>
            <a:off x="3427725" y="2685225"/>
            <a:ext cx="376500" cy="376200"/>
          </a:xfrm>
          <a:prstGeom prst="straightConnector1">
            <a:avLst/>
          </a:prstGeom>
          <a:noFill/>
          <a:ln w="28575" cap="flat" cmpd="sng">
            <a:solidFill>
              <a:schemeClr val="accent6"/>
            </a:solidFill>
            <a:prstDash val="solid"/>
            <a:round/>
            <a:headEnd type="none" w="med" len="med"/>
            <a:tailEnd type="none" w="med" len="med"/>
          </a:ln>
        </p:spPr>
      </p:cxnSp>
      <p:cxnSp>
        <p:nvCxnSpPr>
          <p:cNvPr id="342" name="Google Shape;342;p45"/>
          <p:cNvCxnSpPr/>
          <p:nvPr/>
        </p:nvCxnSpPr>
        <p:spPr>
          <a:xfrm flipH="1">
            <a:off x="3445725" y="2703075"/>
            <a:ext cx="340500" cy="340500"/>
          </a:xfrm>
          <a:prstGeom prst="straightConnector1">
            <a:avLst/>
          </a:prstGeom>
          <a:noFill/>
          <a:ln w="28575" cap="flat" cmpd="sng">
            <a:solidFill>
              <a:schemeClr val="accent6"/>
            </a:solidFill>
            <a:prstDash val="solid"/>
            <a:round/>
            <a:headEnd type="none" w="med" len="med"/>
            <a:tailEnd type="none" w="med" len="med"/>
          </a:ln>
        </p:spPr>
      </p:cxnSp>
      <p:cxnSp>
        <p:nvCxnSpPr>
          <p:cNvPr id="343" name="Google Shape;343;p45"/>
          <p:cNvCxnSpPr/>
          <p:nvPr/>
        </p:nvCxnSpPr>
        <p:spPr>
          <a:xfrm>
            <a:off x="7847325" y="2685225"/>
            <a:ext cx="376500" cy="376200"/>
          </a:xfrm>
          <a:prstGeom prst="straightConnector1">
            <a:avLst/>
          </a:prstGeom>
          <a:noFill/>
          <a:ln w="28575" cap="flat" cmpd="sng">
            <a:solidFill>
              <a:schemeClr val="accent6"/>
            </a:solidFill>
            <a:prstDash val="solid"/>
            <a:round/>
            <a:headEnd type="none" w="med" len="med"/>
            <a:tailEnd type="none" w="med" len="med"/>
          </a:ln>
        </p:spPr>
      </p:cxnSp>
      <p:cxnSp>
        <p:nvCxnSpPr>
          <p:cNvPr id="344" name="Google Shape;344;p45"/>
          <p:cNvCxnSpPr/>
          <p:nvPr/>
        </p:nvCxnSpPr>
        <p:spPr>
          <a:xfrm flipH="1">
            <a:off x="7865325" y="2703075"/>
            <a:ext cx="340500" cy="340500"/>
          </a:xfrm>
          <a:prstGeom prst="straightConnector1">
            <a:avLst/>
          </a:prstGeom>
          <a:noFill/>
          <a:ln w="28575" cap="flat" cmpd="sng">
            <a:solidFill>
              <a:schemeClr val="accent6"/>
            </a:solidFill>
            <a:prstDash val="solid"/>
            <a:round/>
            <a:headEnd type="none" w="med" len="med"/>
            <a:tailEnd type="none" w="med" len="med"/>
          </a:ln>
        </p:spPr>
      </p:cxnSp>
      <p:cxnSp>
        <p:nvCxnSpPr>
          <p:cNvPr id="345" name="Google Shape;345;p45"/>
          <p:cNvCxnSpPr/>
          <p:nvPr/>
        </p:nvCxnSpPr>
        <p:spPr>
          <a:xfrm>
            <a:off x="7237725" y="2685225"/>
            <a:ext cx="376500" cy="376200"/>
          </a:xfrm>
          <a:prstGeom prst="straightConnector1">
            <a:avLst/>
          </a:prstGeom>
          <a:noFill/>
          <a:ln w="28575" cap="flat" cmpd="sng">
            <a:solidFill>
              <a:schemeClr val="accent6"/>
            </a:solidFill>
            <a:prstDash val="solid"/>
            <a:round/>
            <a:headEnd type="none" w="med" len="med"/>
            <a:tailEnd type="none" w="med" len="med"/>
          </a:ln>
        </p:spPr>
      </p:cxnSp>
      <p:cxnSp>
        <p:nvCxnSpPr>
          <p:cNvPr id="346" name="Google Shape;346;p45"/>
          <p:cNvCxnSpPr/>
          <p:nvPr/>
        </p:nvCxnSpPr>
        <p:spPr>
          <a:xfrm flipH="1">
            <a:off x="7255725" y="2703075"/>
            <a:ext cx="340500" cy="340500"/>
          </a:xfrm>
          <a:prstGeom prst="straightConnector1">
            <a:avLst/>
          </a:prstGeom>
          <a:noFill/>
          <a:ln w="28575" cap="flat" cmpd="sng">
            <a:solidFill>
              <a:schemeClr val="accent6"/>
            </a:solidFill>
            <a:prstDash val="solid"/>
            <a:round/>
            <a:headEnd type="none" w="med" len="med"/>
            <a:tailEnd type="none" w="med" len="med"/>
          </a:ln>
        </p:spPr>
      </p:cxnSp>
      <p:cxnSp>
        <p:nvCxnSpPr>
          <p:cNvPr id="347" name="Google Shape;347;p45"/>
          <p:cNvCxnSpPr/>
          <p:nvPr/>
        </p:nvCxnSpPr>
        <p:spPr>
          <a:xfrm>
            <a:off x="5408925" y="2685225"/>
            <a:ext cx="274800" cy="274500"/>
          </a:xfrm>
          <a:prstGeom prst="straightConnector1">
            <a:avLst/>
          </a:prstGeom>
          <a:noFill/>
          <a:ln w="28575" cap="flat" cmpd="sng">
            <a:solidFill>
              <a:schemeClr val="accent6"/>
            </a:solidFill>
            <a:prstDash val="solid"/>
            <a:round/>
            <a:headEnd type="none" w="med" len="med"/>
            <a:tailEnd type="none" w="med" len="med"/>
          </a:ln>
        </p:spPr>
      </p:cxnSp>
      <p:cxnSp>
        <p:nvCxnSpPr>
          <p:cNvPr id="348" name="Google Shape;348;p45"/>
          <p:cNvCxnSpPr/>
          <p:nvPr/>
        </p:nvCxnSpPr>
        <p:spPr>
          <a:xfrm flipH="1">
            <a:off x="5422259" y="2698257"/>
            <a:ext cx="248400" cy="248400"/>
          </a:xfrm>
          <a:prstGeom prst="straightConnector1">
            <a:avLst/>
          </a:prstGeom>
          <a:noFill/>
          <a:ln w="28575" cap="flat" cmpd="sng">
            <a:solidFill>
              <a:schemeClr val="accent6"/>
            </a:solidFill>
            <a:prstDash val="solid"/>
            <a:round/>
            <a:headEnd type="none" w="med" len="med"/>
            <a:tailEnd type="non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Lower-Order Terms</a:t>
            </a:r>
            <a:endParaRPr/>
          </a:p>
        </p:txBody>
      </p:sp>
      <p:sp>
        <p:nvSpPr>
          <p:cNvPr id="354" name="Google Shape;354;p4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“order” of a term is how quickly it grows. The most common ones in order from lower order to higher order</a:t>
            </a:r>
            <a:endParaRPr/>
          </a:p>
        </p:txBody>
      </p:sp>
      <p:graphicFrame>
        <p:nvGraphicFramePr>
          <p:cNvPr id="355" name="Google Shape;355;p46"/>
          <p:cNvGraphicFramePr/>
          <p:nvPr/>
        </p:nvGraphicFramePr>
        <p:xfrm>
          <a:off x="2349188" y="1413438"/>
          <a:ext cx="5629500" cy="3311635"/>
        </p:xfrm>
        <a:graphic>
          <a:graphicData uri="http://schemas.openxmlformats.org/drawingml/2006/table">
            <a:tbl>
              <a:tblPr>
                <a:noFill/>
                <a:tableStyleId>{6436D996-6D66-4ABA-853D-459B0397D2C1}</a:tableStyleId>
              </a:tblPr>
              <a:tblGrid>
                <a:gridCol w="1876500">
                  <a:extLst>
                    <a:ext uri="{9D8B030D-6E8A-4147-A177-3AD203B41FA5}">
                      <a16:colId xmlns:a16="http://schemas.microsoft.com/office/drawing/2014/main" val="20000"/>
                    </a:ext>
                  </a:extLst>
                </a:gridCol>
                <a:gridCol w="1144175">
                  <a:extLst>
                    <a:ext uri="{9D8B030D-6E8A-4147-A177-3AD203B41FA5}">
                      <a16:colId xmlns:a16="http://schemas.microsoft.com/office/drawing/2014/main" val="20001"/>
                    </a:ext>
                  </a:extLst>
                </a:gridCol>
                <a:gridCol w="2608825">
                  <a:extLst>
                    <a:ext uri="{9D8B030D-6E8A-4147-A177-3AD203B41FA5}">
                      <a16:colId xmlns:a16="http://schemas.microsoft.com/office/drawing/2014/main" val="20002"/>
                    </a:ext>
                  </a:extLst>
                </a:gridCol>
              </a:tblGrid>
              <a:tr h="472400">
                <a:tc>
                  <a:txBody>
                    <a:bodyPr/>
                    <a:lstStyle/>
                    <a:p>
                      <a:pPr marL="0" lvl="0" indent="0" algn="ctr" rtl="0">
                        <a:spcBef>
                          <a:spcPts val="0"/>
                        </a:spcBef>
                        <a:spcAft>
                          <a:spcPts val="0"/>
                        </a:spcAft>
                        <a:buNone/>
                      </a:pPr>
                      <a:r>
                        <a:rPr lang="en" sz="1900" b="1" u="sng">
                          <a:latin typeface="Calibri"/>
                          <a:ea typeface="Calibri"/>
                          <a:cs typeface="Calibri"/>
                          <a:sym typeface="Calibri"/>
                        </a:rPr>
                        <a:t>Name</a:t>
                      </a:r>
                      <a:endParaRPr sz="1900" b="1" u="sng">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u="sng">
                          <a:latin typeface="Calibri"/>
                          <a:ea typeface="Calibri"/>
                          <a:cs typeface="Calibri"/>
                          <a:sym typeface="Calibri"/>
                        </a:rPr>
                        <a:t>Function</a:t>
                      </a:r>
                      <a:endParaRPr sz="1900" b="1" u="sng">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u="sng">
                          <a:latin typeface="Calibri"/>
                          <a:ea typeface="Calibri"/>
                          <a:cs typeface="Calibri"/>
                          <a:sym typeface="Calibri"/>
                        </a:rPr>
                        <a:t>Examples</a:t>
                      </a:r>
                      <a:endParaRPr sz="1900" b="1" u="sng">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constant</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1</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1, 5, 10</a:t>
                      </a:r>
                      <a:endParaRPr sz="190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logarithmic</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log(n)</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log(2n), 3log(n)</a:t>
                      </a:r>
                      <a:endParaRPr sz="1900">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linear</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n</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4n, 0.5n, n</a:t>
                      </a:r>
                      <a:endParaRPr sz="1900">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477175">
                <a:tc>
                  <a:txBody>
                    <a:bodyPr/>
                    <a:lstStyle/>
                    <a:p>
                      <a:pPr marL="0" lvl="0" indent="0" algn="l" rtl="0">
                        <a:spcBef>
                          <a:spcPts val="0"/>
                        </a:spcBef>
                        <a:spcAft>
                          <a:spcPts val="0"/>
                        </a:spcAft>
                        <a:buNone/>
                      </a:pPr>
                      <a:r>
                        <a:rPr lang="en" sz="1900">
                          <a:latin typeface="Calibri"/>
                          <a:ea typeface="Calibri"/>
                          <a:cs typeface="Calibri"/>
                          <a:sym typeface="Calibri"/>
                        </a:rPr>
                        <a:t>log-linear</a:t>
                      </a:r>
                      <a:endParaRPr sz="1900">
                        <a:latin typeface="Calibri"/>
                        <a:ea typeface="Calibri"/>
                        <a:cs typeface="Calibri"/>
                        <a:sym typeface="Calibri"/>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a:latin typeface="Calibri"/>
                          <a:ea typeface="Calibri"/>
                          <a:cs typeface="Calibri"/>
                          <a:sym typeface="Calibri"/>
                        </a:rPr>
                        <a:t>n log(n)</a:t>
                      </a:r>
                      <a:endParaRPr sz="1900">
                        <a:latin typeface="Calibri"/>
                        <a:ea typeface="Calibri"/>
                        <a:cs typeface="Calibri"/>
                        <a:sym typeface="Calibri"/>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a:latin typeface="Calibri"/>
                          <a:ea typeface="Calibri"/>
                          <a:cs typeface="Calibri"/>
                          <a:sym typeface="Calibri"/>
                        </a:rPr>
                        <a:t>3nlog(n), nlog(0.5n)</a:t>
                      </a:r>
                      <a:endParaRPr sz="1900">
                        <a:latin typeface="Calibri"/>
                        <a:ea typeface="Calibri"/>
                        <a:cs typeface="Calibri"/>
                        <a:sym typeface="Calibri"/>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polynomial</a:t>
                      </a:r>
                      <a:endParaRPr sz="1900">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a:latin typeface="Calibri"/>
                          <a:ea typeface="Calibri"/>
                          <a:cs typeface="Calibri"/>
                          <a:sym typeface="Calibri"/>
                        </a:rPr>
                        <a:t>n</a:t>
                      </a:r>
                      <a:r>
                        <a:rPr lang="en" sz="1900" baseline="30000">
                          <a:latin typeface="Calibri"/>
                          <a:ea typeface="Calibri"/>
                          <a:cs typeface="Calibri"/>
                          <a:sym typeface="Calibri"/>
                        </a:rPr>
                        <a:t>c</a:t>
                      </a:r>
                      <a:endParaRPr sz="1900" baseline="30000">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a:latin typeface="Calibri"/>
                          <a:ea typeface="Calibri"/>
                          <a:cs typeface="Calibri"/>
                          <a:sym typeface="Calibri"/>
                        </a:rPr>
                        <a:t>2</a:t>
                      </a:r>
                      <a:r>
                        <a:rPr lang="en" sz="1900">
                          <a:solidFill>
                            <a:schemeClr val="dk1"/>
                          </a:solidFill>
                          <a:latin typeface="Calibri"/>
                          <a:ea typeface="Calibri"/>
                          <a:cs typeface="Calibri"/>
                          <a:sym typeface="Calibri"/>
                        </a:rPr>
                        <a:t>n</a:t>
                      </a:r>
                      <a:r>
                        <a:rPr lang="en" sz="1900" baseline="30000">
                          <a:solidFill>
                            <a:schemeClr val="dk1"/>
                          </a:solidFill>
                          <a:latin typeface="Calibri"/>
                          <a:ea typeface="Calibri"/>
                          <a:cs typeface="Calibri"/>
                          <a:sym typeface="Calibri"/>
                        </a:rPr>
                        <a:t>2</a:t>
                      </a:r>
                      <a:r>
                        <a:rPr lang="en" sz="1900">
                          <a:latin typeface="Calibri"/>
                          <a:ea typeface="Calibri"/>
                          <a:cs typeface="Calibri"/>
                          <a:sym typeface="Calibri"/>
                        </a:rPr>
                        <a:t>, </a:t>
                      </a:r>
                      <a:r>
                        <a:rPr lang="en" sz="1900">
                          <a:solidFill>
                            <a:schemeClr val="dk1"/>
                          </a:solidFill>
                          <a:latin typeface="Calibri"/>
                          <a:ea typeface="Calibri"/>
                          <a:cs typeface="Calibri"/>
                          <a:sym typeface="Calibri"/>
                        </a:rPr>
                        <a:t>5n</a:t>
                      </a:r>
                      <a:r>
                        <a:rPr lang="en" sz="1900" baseline="30000">
                          <a:solidFill>
                            <a:schemeClr val="dk1"/>
                          </a:solidFill>
                          <a:latin typeface="Calibri"/>
                          <a:ea typeface="Calibri"/>
                          <a:cs typeface="Calibri"/>
                          <a:sym typeface="Calibri"/>
                        </a:rPr>
                        <a:t>3</a:t>
                      </a:r>
                      <a:endParaRPr sz="1900">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exponential</a:t>
                      </a:r>
                      <a:endParaRPr sz="1900">
                        <a:latin typeface="Calibri"/>
                        <a:ea typeface="Calibri"/>
                        <a:cs typeface="Calibri"/>
                        <a:sym typeface="Calibri"/>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900">
                          <a:solidFill>
                            <a:schemeClr val="dk1"/>
                          </a:solidFill>
                          <a:latin typeface="Calibri"/>
                          <a:ea typeface="Calibri"/>
                          <a:cs typeface="Calibri"/>
                          <a:sym typeface="Calibri"/>
                        </a:rPr>
                        <a:t>c</a:t>
                      </a:r>
                      <a:r>
                        <a:rPr lang="en" sz="1900" baseline="30000">
                          <a:solidFill>
                            <a:schemeClr val="dk1"/>
                          </a:solidFill>
                          <a:latin typeface="Calibri"/>
                          <a:ea typeface="Calibri"/>
                          <a:cs typeface="Calibri"/>
                          <a:sym typeface="Calibri"/>
                        </a:rPr>
                        <a:t>n</a:t>
                      </a:r>
                      <a:endParaRPr sz="1900">
                        <a:latin typeface="Calibri"/>
                        <a:ea typeface="Calibri"/>
                        <a:cs typeface="Calibri"/>
                        <a:sym typeface="Calibri"/>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900">
                          <a:solidFill>
                            <a:schemeClr val="dk1"/>
                          </a:solidFill>
                          <a:latin typeface="Calibri"/>
                          <a:ea typeface="Calibri"/>
                          <a:cs typeface="Calibri"/>
                          <a:sym typeface="Calibri"/>
                        </a:rPr>
                        <a:t>2</a:t>
                      </a:r>
                      <a:r>
                        <a:rPr lang="en" sz="1900" baseline="30000">
                          <a:solidFill>
                            <a:schemeClr val="dk1"/>
                          </a:solidFill>
                          <a:latin typeface="Calibri"/>
                          <a:ea typeface="Calibri"/>
                          <a:cs typeface="Calibri"/>
                          <a:sym typeface="Calibri"/>
                        </a:rPr>
                        <a:t>n</a:t>
                      </a:r>
                      <a:r>
                        <a:rPr lang="en" sz="1900">
                          <a:solidFill>
                            <a:schemeClr val="dk1"/>
                          </a:solidFill>
                          <a:latin typeface="Calibri"/>
                          <a:ea typeface="Calibri"/>
                          <a:cs typeface="Calibri"/>
                          <a:sym typeface="Calibri"/>
                        </a:rPr>
                        <a:t>, 5</a:t>
                      </a:r>
                      <a:r>
                        <a:rPr lang="en" sz="1900" baseline="30000">
                          <a:solidFill>
                            <a:schemeClr val="dk1"/>
                          </a:solidFill>
                          <a:latin typeface="Calibri"/>
                          <a:ea typeface="Calibri"/>
                          <a:cs typeface="Calibri"/>
                          <a:sym typeface="Calibri"/>
                        </a:rPr>
                        <a:t>n + 1</a:t>
                      </a:r>
                      <a:endParaRPr sz="1900">
                        <a:solidFill>
                          <a:schemeClr val="dk1"/>
                        </a:solidFill>
                        <a:latin typeface="Calibri"/>
                        <a:ea typeface="Calibri"/>
                        <a:cs typeface="Calibri"/>
                        <a:sym typeface="Calibri"/>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6"/>
                  </a:ext>
                </a:extLst>
              </a:tr>
            </a:tbl>
          </a:graphicData>
        </a:graphic>
      </p:graphicFrame>
      <p:cxnSp>
        <p:nvCxnSpPr>
          <p:cNvPr id="356" name="Google Shape;356;p46"/>
          <p:cNvCxnSpPr/>
          <p:nvPr/>
        </p:nvCxnSpPr>
        <p:spPr>
          <a:xfrm>
            <a:off x="996800" y="1767250"/>
            <a:ext cx="0" cy="2604000"/>
          </a:xfrm>
          <a:prstGeom prst="straightConnector1">
            <a:avLst/>
          </a:prstGeom>
          <a:noFill/>
          <a:ln w="38100" cap="flat" cmpd="sng">
            <a:solidFill>
              <a:schemeClr val="dk2"/>
            </a:solidFill>
            <a:prstDash val="solid"/>
            <a:round/>
            <a:headEnd type="none" w="med" len="med"/>
            <a:tailEnd type="triangle" w="med" len="med"/>
          </a:ln>
        </p:spPr>
      </p:cxnSp>
      <p:sp>
        <p:nvSpPr>
          <p:cNvPr id="357" name="Google Shape;357;p46"/>
          <p:cNvSpPr txBox="1"/>
          <p:nvPr/>
        </p:nvSpPr>
        <p:spPr>
          <a:xfrm>
            <a:off x="376400" y="1490025"/>
            <a:ext cx="1240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Lower “order”</a:t>
            </a:r>
            <a:endParaRPr>
              <a:latin typeface="Calibri"/>
              <a:ea typeface="Calibri"/>
              <a:cs typeface="Calibri"/>
              <a:sym typeface="Calibri"/>
            </a:endParaRPr>
          </a:p>
        </p:txBody>
      </p:sp>
      <p:sp>
        <p:nvSpPr>
          <p:cNvPr id="358" name="Google Shape;358;p46"/>
          <p:cNvSpPr txBox="1"/>
          <p:nvPr/>
        </p:nvSpPr>
        <p:spPr>
          <a:xfrm>
            <a:off x="330800" y="4309425"/>
            <a:ext cx="133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Higher “order”</a:t>
            </a:r>
            <a:endParaRPr>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7"/>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Lower-Order Terms</a:t>
            </a:r>
            <a:endParaRPr/>
          </a:p>
        </p:txBody>
      </p:sp>
      <p:sp>
        <p:nvSpPr>
          <p:cNvPr id="364" name="Google Shape;364;p47"/>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“order” of a term is how quickly it grows. The most common ones in order from lower order to higher order</a:t>
            </a:r>
            <a:endParaRPr/>
          </a:p>
        </p:txBody>
      </p:sp>
      <p:graphicFrame>
        <p:nvGraphicFramePr>
          <p:cNvPr id="365" name="Google Shape;365;p47"/>
          <p:cNvGraphicFramePr/>
          <p:nvPr/>
        </p:nvGraphicFramePr>
        <p:xfrm>
          <a:off x="2349188" y="1413438"/>
          <a:ext cx="5629500" cy="3311635"/>
        </p:xfrm>
        <a:graphic>
          <a:graphicData uri="http://schemas.openxmlformats.org/drawingml/2006/table">
            <a:tbl>
              <a:tblPr>
                <a:noFill/>
                <a:tableStyleId>{6436D996-6D66-4ABA-853D-459B0397D2C1}</a:tableStyleId>
              </a:tblPr>
              <a:tblGrid>
                <a:gridCol w="1876500">
                  <a:extLst>
                    <a:ext uri="{9D8B030D-6E8A-4147-A177-3AD203B41FA5}">
                      <a16:colId xmlns:a16="http://schemas.microsoft.com/office/drawing/2014/main" val="20000"/>
                    </a:ext>
                  </a:extLst>
                </a:gridCol>
                <a:gridCol w="1144175">
                  <a:extLst>
                    <a:ext uri="{9D8B030D-6E8A-4147-A177-3AD203B41FA5}">
                      <a16:colId xmlns:a16="http://schemas.microsoft.com/office/drawing/2014/main" val="20001"/>
                    </a:ext>
                  </a:extLst>
                </a:gridCol>
                <a:gridCol w="2608825">
                  <a:extLst>
                    <a:ext uri="{9D8B030D-6E8A-4147-A177-3AD203B41FA5}">
                      <a16:colId xmlns:a16="http://schemas.microsoft.com/office/drawing/2014/main" val="20002"/>
                    </a:ext>
                  </a:extLst>
                </a:gridCol>
              </a:tblGrid>
              <a:tr h="472400">
                <a:tc>
                  <a:txBody>
                    <a:bodyPr/>
                    <a:lstStyle/>
                    <a:p>
                      <a:pPr marL="0" lvl="0" indent="0" algn="ctr" rtl="0">
                        <a:spcBef>
                          <a:spcPts val="0"/>
                        </a:spcBef>
                        <a:spcAft>
                          <a:spcPts val="0"/>
                        </a:spcAft>
                        <a:buNone/>
                      </a:pPr>
                      <a:r>
                        <a:rPr lang="en" sz="1900" b="1" u="sng">
                          <a:latin typeface="Calibri"/>
                          <a:ea typeface="Calibri"/>
                          <a:cs typeface="Calibri"/>
                          <a:sym typeface="Calibri"/>
                        </a:rPr>
                        <a:t>Name</a:t>
                      </a:r>
                      <a:endParaRPr sz="1900" b="1" u="sng">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u="sng">
                          <a:latin typeface="Calibri"/>
                          <a:ea typeface="Calibri"/>
                          <a:cs typeface="Calibri"/>
                          <a:sym typeface="Calibri"/>
                        </a:rPr>
                        <a:t>Function</a:t>
                      </a:r>
                      <a:endParaRPr sz="1900" b="1" u="sng">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u="sng">
                          <a:latin typeface="Calibri"/>
                          <a:ea typeface="Calibri"/>
                          <a:cs typeface="Calibri"/>
                          <a:sym typeface="Calibri"/>
                        </a:rPr>
                        <a:t>Examples</a:t>
                      </a:r>
                      <a:endParaRPr sz="1900" b="1" u="sng">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472400">
                <a:tc>
                  <a:txBody>
                    <a:bodyPr/>
                    <a:lstStyle/>
                    <a:p>
                      <a:pPr marL="0" lvl="0" indent="0" algn="l" rtl="0">
                        <a:spcBef>
                          <a:spcPts val="0"/>
                        </a:spcBef>
                        <a:spcAft>
                          <a:spcPts val="0"/>
                        </a:spcAft>
                        <a:buNone/>
                      </a:pPr>
                      <a:r>
                        <a:rPr lang="en" sz="1900" b="1">
                          <a:latin typeface="Calibri"/>
                          <a:ea typeface="Calibri"/>
                          <a:cs typeface="Calibri"/>
                          <a:sym typeface="Calibri"/>
                        </a:rPr>
                        <a:t>constant</a:t>
                      </a:r>
                      <a:endParaRPr sz="19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a:latin typeface="Calibri"/>
                          <a:ea typeface="Calibri"/>
                          <a:cs typeface="Calibri"/>
                          <a:sym typeface="Calibri"/>
                        </a:rPr>
                        <a:t>1</a:t>
                      </a:r>
                      <a:endParaRPr sz="19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a:latin typeface="Calibri"/>
                          <a:ea typeface="Calibri"/>
                          <a:cs typeface="Calibri"/>
                          <a:sym typeface="Calibri"/>
                        </a:rPr>
                        <a:t>1, 5, 10</a:t>
                      </a:r>
                      <a:endParaRPr sz="1900" b="1">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logarithmic</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log(n)</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log(2n), 3log(n)</a:t>
                      </a:r>
                      <a:endParaRPr sz="1900">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472400">
                <a:tc>
                  <a:txBody>
                    <a:bodyPr/>
                    <a:lstStyle/>
                    <a:p>
                      <a:pPr marL="0" lvl="0" indent="0" algn="l" rtl="0">
                        <a:spcBef>
                          <a:spcPts val="0"/>
                        </a:spcBef>
                        <a:spcAft>
                          <a:spcPts val="0"/>
                        </a:spcAft>
                        <a:buNone/>
                      </a:pPr>
                      <a:r>
                        <a:rPr lang="en" sz="1900" b="1">
                          <a:latin typeface="Calibri"/>
                          <a:ea typeface="Calibri"/>
                          <a:cs typeface="Calibri"/>
                          <a:sym typeface="Calibri"/>
                        </a:rPr>
                        <a:t>linear</a:t>
                      </a:r>
                      <a:endParaRPr sz="19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a:latin typeface="Calibri"/>
                          <a:ea typeface="Calibri"/>
                          <a:cs typeface="Calibri"/>
                          <a:sym typeface="Calibri"/>
                        </a:rPr>
                        <a:t>n</a:t>
                      </a:r>
                      <a:endParaRPr sz="19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a:latin typeface="Calibri"/>
                          <a:ea typeface="Calibri"/>
                          <a:cs typeface="Calibri"/>
                          <a:sym typeface="Calibri"/>
                        </a:rPr>
                        <a:t>4n, 0.5n, n</a:t>
                      </a:r>
                      <a:endParaRPr sz="1900" b="1">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477175">
                <a:tc>
                  <a:txBody>
                    <a:bodyPr/>
                    <a:lstStyle/>
                    <a:p>
                      <a:pPr marL="0" lvl="0" indent="0" algn="l" rtl="0">
                        <a:spcBef>
                          <a:spcPts val="0"/>
                        </a:spcBef>
                        <a:spcAft>
                          <a:spcPts val="0"/>
                        </a:spcAft>
                        <a:buNone/>
                      </a:pPr>
                      <a:r>
                        <a:rPr lang="en" sz="1900">
                          <a:latin typeface="Calibri"/>
                          <a:ea typeface="Calibri"/>
                          <a:cs typeface="Calibri"/>
                          <a:sym typeface="Calibri"/>
                        </a:rPr>
                        <a:t>log-linear</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n log(n)</a:t>
                      </a:r>
                      <a:endParaRPr sz="190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a:latin typeface="Calibri"/>
                          <a:ea typeface="Calibri"/>
                          <a:cs typeface="Calibri"/>
                          <a:sym typeface="Calibri"/>
                        </a:rPr>
                        <a:t>3nlog(n), nlog(0.5n)</a:t>
                      </a:r>
                      <a:endParaRPr sz="1900">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472400">
                <a:tc>
                  <a:txBody>
                    <a:bodyPr/>
                    <a:lstStyle/>
                    <a:p>
                      <a:pPr marL="0" lvl="0" indent="0" algn="l" rtl="0">
                        <a:spcBef>
                          <a:spcPts val="0"/>
                        </a:spcBef>
                        <a:spcAft>
                          <a:spcPts val="0"/>
                        </a:spcAft>
                        <a:buNone/>
                      </a:pPr>
                      <a:r>
                        <a:rPr lang="en" sz="1900" b="1">
                          <a:latin typeface="Calibri"/>
                          <a:ea typeface="Calibri"/>
                          <a:cs typeface="Calibri"/>
                          <a:sym typeface="Calibri"/>
                        </a:rPr>
                        <a:t>polynomial</a:t>
                      </a:r>
                      <a:endParaRPr sz="19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 sz="1900" b="1">
                          <a:latin typeface="Calibri"/>
                          <a:ea typeface="Calibri"/>
                          <a:cs typeface="Calibri"/>
                          <a:sym typeface="Calibri"/>
                        </a:rPr>
                        <a:t>n</a:t>
                      </a:r>
                      <a:r>
                        <a:rPr lang="en" sz="1900" b="1" baseline="30000">
                          <a:latin typeface="Calibri"/>
                          <a:ea typeface="Calibri"/>
                          <a:cs typeface="Calibri"/>
                          <a:sym typeface="Calibri"/>
                        </a:rPr>
                        <a:t>c</a:t>
                      </a:r>
                      <a:endParaRPr sz="1900" b="1" baseline="30000">
                        <a:latin typeface="Calibri"/>
                        <a:ea typeface="Calibri"/>
                        <a:cs typeface="Calibri"/>
                        <a:sym typeface="Calibri"/>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a:latin typeface="Calibri"/>
                          <a:ea typeface="Calibri"/>
                          <a:cs typeface="Calibri"/>
                          <a:sym typeface="Calibri"/>
                        </a:rPr>
                        <a:t>2</a:t>
                      </a:r>
                      <a:r>
                        <a:rPr lang="en" sz="1900" b="1">
                          <a:solidFill>
                            <a:schemeClr val="dk1"/>
                          </a:solidFill>
                          <a:latin typeface="Calibri"/>
                          <a:ea typeface="Calibri"/>
                          <a:cs typeface="Calibri"/>
                          <a:sym typeface="Calibri"/>
                        </a:rPr>
                        <a:t>n</a:t>
                      </a:r>
                      <a:r>
                        <a:rPr lang="en" sz="1900" b="1" baseline="30000">
                          <a:solidFill>
                            <a:schemeClr val="dk1"/>
                          </a:solidFill>
                          <a:latin typeface="Calibri"/>
                          <a:ea typeface="Calibri"/>
                          <a:cs typeface="Calibri"/>
                          <a:sym typeface="Calibri"/>
                        </a:rPr>
                        <a:t>2</a:t>
                      </a:r>
                      <a:r>
                        <a:rPr lang="en" sz="1900" b="1">
                          <a:latin typeface="Calibri"/>
                          <a:ea typeface="Calibri"/>
                          <a:cs typeface="Calibri"/>
                          <a:sym typeface="Calibri"/>
                        </a:rPr>
                        <a:t>, </a:t>
                      </a:r>
                      <a:r>
                        <a:rPr lang="en" sz="1900" b="1">
                          <a:solidFill>
                            <a:schemeClr val="dk1"/>
                          </a:solidFill>
                          <a:latin typeface="Calibri"/>
                          <a:ea typeface="Calibri"/>
                          <a:cs typeface="Calibri"/>
                          <a:sym typeface="Calibri"/>
                        </a:rPr>
                        <a:t>5n</a:t>
                      </a:r>
                      <a:r>
                        <a:rPr lang="en" sz="1900" b="1" baseline="30000">
                          <a:solidFill>
                            <a:schemeClr val="dk1"/>
                          </a:solidFill>
                          <a:latin typeface="Calibri"/>
                          <a:ea typeface="Calibri"/>
                          <a:cs typeface="Calibri"/>
                          <a:sym typeface="Calibri"/>
                        </a:rPr>
                        <a:t>3</a:t>
                      </a:r>
                      <a:endParaRPr sz="1900" b="1">
                        <a:latin typeface="Calibri"/>
                        <a:ea typeface="Calibri"/>
                        <a:cs typeface="Calibri"/>
                        <a:sym typeface="Calibri"/>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72400">
                <a:tc>
                  <a:txBody>
                    <a:bodyPr/>
                    <a:lstStyle/>
                    <a:p>
                      <a:pPr marL="0" lvl="0" indent="0" algn="l" rtl="0">
                        <a:spcBef>
                          <a:spcPts val="0"/>
                        </a:spcBef>
                        <a:spcAft>
                          <a:spcPts val="0"/>
                        </a:spcAft>
                        <a:buNone/>
                      </a:pPr>
                      <a:r>
                        <a:rPr lang="en" sz="1900">
                          <a:latin typeface="Calibri"/>
                          <a:ea typeface="Calibri"/>
                          <a:cs typeface="Calibri"/>
                          <a:sym typeface="Calibri"/>
                        </a:rPr>
                        <a:t>exponential</a:t>
                      </a:r>
                      <a:endParaRPr sz="1900">
                        <a:latin typeface="Calibri"/>
                        <a:ea typeface="Calibri"/>
                        <a:cs typeface="Calibri"/>
                        <a:sym typeface="Calibri"/>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900">
                          <a:solidFill>
                            <a:schemeClr val="dk1"/>
                          </a:solidFill>
                          <a:latin typeface="Calibri"/>
                          <a:ea typeface="Calibri"/>
                          <a:cs typeface="Calibri"/>
                          <a:sym typeface="Calibri"/>
                        </a:rPr>
                        <a:t>c</a:t>
                      </a:r>
                      <a:r>
                        <a:rPr lang="en" sz="1900" baseline="30000">
                          <a:solidFill>
                            <a:schemeClr val="dk1"/>
                          </a:solidFill>
                          <a:latin typeface="Calibri"/>
                          <a:ea typeface="Calibri"/>
                          <a:cs typeface="Calibri"/>
                          <a:sym typeface="Calibri"/>
                        </a:rPr>
                        <a:t>n</a:t>
                      </a:r>
                      <a:endParaRPr sz="1900">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a:solidFill>
                            <a:schemeClr val="dk1"/>
                          </a:solidFill>
                          <a:latin typeface="Calibri"/>
                          <a:ea typeface="Calibri"/>
                          <a:cs typeface="Calibri"/>
                          <a:sym typeface="Calibri"/>
                        </a:rPr>
                        <a:t>2</a:t>
                      </a:r>
                      <a:r>
                        <a:rPr lang="en" sz="1900" baseline="30000">
                          <a:solidFill>
                            <a:schemeClr val="dk1"/>
                          </a:solidFill>
                          <a:latin typeface="Calibri"/>
                          <a:ea typeface="Calibri"/>
                          <a:cs typeface="Calibri"/>
                          <a:sym typeface="Calibri"/>
                        </a:rPr>
                        <a:t>n</a:t>
                      </a:r>
                      <a:r>
                        <a:rPr lang="en" sz="1900">
                          <a:solidFill>
                            <a:schemeClr val="dk1"/>
                          </a:solidFill>
                          <a:latin typeface="Calibri"/>
                          <a:ea typeface="Calibri"/>
                          <a:cs typeface="Calibri"/>
                          <a:sym typeface="Calibri"/>
                        </a:rPr>
                        <a:t>, 5</a:t>
                      </a:r>
                      <a:r>
                        <a:rPr lang="en" sz="1900" baseline="30000">
                          <a:solidFill>
                            <a:schemeClr val="dk1"/>
                          </a:solidFill>
                          <a:latin typeface="Calibri"/>
                          <a:ea typeface="Calibri"/>
                          <a:cs typeface="Calibri"/>
                          <a:sym typeface="Calibri"/>
                        </a:rPr>
                        <a:t>n + 1</a:t>
                      </a:r>
                      <a:endParaRPr sz="1900">
                        <a:solidFill>
                          <a:schemeClr val="dk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cxnSp>
        <p:nvCxnSpPr>
          <p:cNvPr id="366" name="Google Shape;366;p47"/>
          <p:cNvCxnSpPr/>
          <p:nvPr/>
        </p:nvCxnSpPr>
        <p:spPr>
          <a:xfrm>
            <a:off x="996800" y="1767250"/>
            <a:ext cx="0" cy="2604000"/>
          </a:xfrm>
          <a:prstGeom prst="straightConnector1">
            <a:avLst/>
          </a:prstGeom>
          <a:noFill/>
          <a:ln w="38100" cap="flat" cmpd="sng">
            <a:solidFill>
              <a:schemeClr val="dk2"/>
            </a:solidFill>
            <a:prstDash val="solid"/>
            <a:round/>
            <a:headEnd type="none" w="med" len="med"/>
            <a:tailEnd type="triangle" w="med" len="med"/>
          </a:ln>
        </p:spPr>
      </p:cxnSp>
      <p:sp>
        <p:nvSpPr>
          <p:cNvPr id="367" name="Google Shape;367;p47"/>
          <p:cNvSpPr txBox="1"/>
          <p:nvPr/>
        </p:nvSpPr>
        <p:spPr>
          <a:xfrm>
            <a:off x="376400" y="1490025"/>
            <a:ext cx="1240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Lower “order”</a:t>
            </a:r>
            <a:endParaRPr>
              <a:latin typeface="Calibri"/>
              <a:ea typeface="Calibri"/>
              <a:cs typeface="Calibri"/>
              <a:sym typeface="Calibri"/>
            </a:endParaRPr>
          </a:p>
        </p:txBody>
      </p:sp>
      <p:sp>
        <p:nvSpPr>
          <p:cNvPr id="368" name="Google Shape;368;p47"/>
          <p:cNvSpPr txBox="1"/>
          <p:nvPr/>
        </p:nvSpPr>
        <p:spPr>
          <a:xfrm>
            <a:off x="330800" y="4309425"/>
            <a:ext cx="133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Higher “order”</a:t>
            </a:r>
            <a:endParaRPr>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8"/>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Orders of Growth</a:t>
            </a:r>
            <a:endParaRPr/>
          </a:p>
        </p:txBody>
      </p:sp>
      <p:pic>
        <p:nvPicPr>
          <p:cNvPr id="374" name="Google Shape;374;p48"/>
          <p:cNvPicPr preferRelativeResize="0"/>
          <p:nvPr/>
        </p:nvPicPr>
        <p:blipFill>
          <a:blip r:embed="rId3">
            <a:alphaModFix/>
          </a:blip>
          <a:stretch>
            <a:fillRect/>
          </a:stretch>
        </p:blipFill>
        <p:spPr>
          <a:xfrm>
            <a:off x="482400" y="1365100"/>
            <a:ext cx="2183549" cy="1613550"/>
          </a:xfrm>
          <a:prstGeom prst="rect">
            <a:avLst/>
          </a:prstGeom>
          <a:noFill/>
          <a:ln>
            <a:noFill/>
          </a:ln>
        </p:spPr>
      </p:pic>
      <p:pic>
        <p:nvPicPr>
          <p:cNvPr id="375" name="Google Shape;375;p48"/>
          <p:cNvPicPr preferRelativeResize="0"/>
          <p:nvPr/>
        </p:nvPicPr>
        <p:blipFill>
          <a:blip r:embed="rId4">
            <a:alphaModFix/>
          </a:blip>
          <a:stretch>
            <a:fillRect/>
          </a:stretch>
        </p:blipFill>
        <p:spPr>
          <a:xfrm>
            <a:off x="3602425" y="1330813"/>
            <a:ext cx="2353083" cy="1613550"/>
          </a:xfrm>
          <a:prstGeom prst="rect">
            <a:avLst/>
          </a:prstGeom>
          <a:noFill/>
          <a:ln>
            <a:noFill/>
          </a:ln>
        </p:spPr>
      </p:pic>
      <p:pic>
        <p:nvPicPr>
          <p:cNvPr id="376" name="Google Shape;376;p48"/>
          <p:cNvPicPr preferRelativeResize="0"/>
          <p:nvPr/>
        </p:nvPicPr>
        <p:blipFill>
          <a:blip r:embed="rId5">
            <a:alphaModFix/>
          </a:blip>
          <a:stretch>
            <a:fillRect/>
          </a:stretch>
        </p:blipFill>
        <p:spPr>
          <a:xfrm>
            <a:off x="6726725" y="1237637"/>
            <a:ext cx="1974350" cy="1741012"/>
          </a:xfrm>
          <a:prstGeom prst="rect">
            <a:avLst/>
          </a:prstGeom>
          <a:noFill/>
          <a:ln>
            <a:noFill/>
          </a:ln>
        </p:spPr>
      </p:pic>
      <p:pic>
        <p:nvPicPr>
          <p:cNvPr id="377" name="Google Shape;377;p48"/>
          <p:cNvPicPr preferRelativeResize="0"/>
          <p:nvPr/>
        </p:nvPicPr>
        <p:blipFill>
          <a:blip r:embed="rId6">
            <a:alphaModFix/>
          </a:blip>
          <a:stretch>
            <a:fillRect/>
          </a:stretch>
        </p:blipFill>
        <p:spPr>
          <a:xfrm>
            <a:off x="482400" y="3196517"/>
            <a:ext cx="2183550" cy="1794583"/>
          </a:xfrm>
          <a:prstGeom prst="rect">
            <a:avLst/>
          </a:prstGeom>
          <a:noFill/>
          <a:ln>
            <a:noFill/>
          </a:ln>
        </p:spPr>
      </p:pic>
      <p:pic>
        <p:nvPicPr>
          <p:cNvPr id="378" name="Google Shape;378;p48"/>
          <p:cNvPicPr preferRelativeResize="0"/>
          <p:nvPr/>
        </p:nvPicPr>
        <p:blipFill>
          <a:blip r:embed="rId7">
            <a:alphaModFix/>
          </a:blip>
          <a:stretch>
            <a:fillRect/>
          </a:stretch>
        </p:blipFill>
        <p:spPr>
          <a:xfrm>
            <a:off x="3602425" y="3131050"/>
            <a:ext cx="2353075" cy="1947013"/>
          </a:xfrm>
          <a:prstGeom prst="rect">
            <a:avLst/>
          </a:prstGeom>
          <a:noFill/>
          <a:ln>
            <a:noFill/>
          </a:ln>
        </p:spPr>
      </p:pic>
      <p:pic>
        <p:nvPicPr>
          <p:cNvPr id="379" name="Google Shape;379;p48"/>
          <p:cNvPicPr preferRelativeResize="0"/>
          <p:nvPr/>
        </p:nvPicPr>
        <p:blipFill>
          <a:blip r:embed="rId8">
            <a:alphaModFix/>
          </a:blip>
          <a:stretch>
            <a:fillRect/>
          </a:stretch>
        </p:blipFill>
        <p:spPr>
          <a:xfrm>
            <a:off x="6726725" y="3148925"/>
            <a:ext cx="1974355" cy="1860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1"/>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6"/>
                                        </p:tgtEl>
                                        <p:attrNameLst>
                                          <p:attrName>style.visibility</p:attrName>
                                        </p:attrNameLst>
                                      </p:cBhvr>
                                      <p:to>
                                        <p:strVal val="visible"/>
                                      </p:to>
                                    </p:set>
                                    <p:animEffect transition="in" filter="fade">
                                      <p:cBhvr>
                                        <p:cTn id="12" dur="1"/>
                                        <p:tgtEl>
                                          <p:spTgt spid="3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7"/>
                                        </p:tgtEl>
                                        <p:attrNameLst>
                                          <p:attrName>style.visibility</p:attrName>
                                        </p:attrNameLst>
                                      </p:cBhvr>
                                      <p:to>
                                        <p:strVal val="visible"/>
                                      </p:to>
                                    </p:set>
                                    <p:animEffect transition="in" filter="fade">
                                      <p:cBhvr>
                                        <p:cTn id="17" dur="1"/>
                                        <p:tgtEl>
                                          <p:spTgt spid="3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8"/>
                                        </p:tgtEl>
                                        <p:attrNameLst>
                                          <p:attrName>style.visibility</p:attrName>
                                        </p:attrNameLst>
                                      </p:cBhvr>
                                      <p:to>
                                        <p:strVal val="visible"/>
                                      </p:to>
                                    </p:set>
                                    <p:animEffect transition="in" filter="fade">
                                      <p:cBhvr>
                                        <p:cTn id="22" dur="1"/>
                                        <p:tgtEl>
                                          <p:spTgt spid="3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9"/>
                                        </p:tgtEl>
                                        <p:attrNameLst>
                                          <p:attrName>style.visibility</p:attrName>
                                        </p:attrNameLst>
                                      </p:cBhvr>
                                      <p:to>
                                        <p:strVal val="visible"/>
                                      </p:to>
                                    </p:set>
                                    <p:animEffect transition="in" filter="fade">
                                      <p:cBhvr>
                                        <p:cTn id="27" dur="1"/>
                                        <p:tgtEl>
                                          <p:spTgt spid="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9"/>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Simplification Examples</a:t>
            </a:r>
            <a:endParaRPr/>
          </a:p>
        </p:txBody>
      </p:sp>
      <p:sp>
        <p:nvSpPr>
          <p:cNvPr id="385" name="Google Shape;385;p49"/>
          <p:cNvSpPr txBox="1">
            <a:spLocks noGrp="1"/>
          </p:cNvSpPr>
          <p:nvPr>
            <p:ph type="body" idx="1"/>
          </p:nvPr>
        </p:nvSpPr>
        <p:spPr>
          <a:xfrm>
            <a:off x="311700" y="727825"/>
            <a:ext cx="74667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Drop lower order terms and multiplicative factors</a:t>
            </a:r>
            <a:endParaRPr dirty="0"/>
          </a:p>
          <a:p>
            <a:pPr marL="0" lvl="0" indent="0" algn="l" rtl="0">
              <a:spcBef>
                <a:spcPts val="600"/>
              </a:spcBef>
              <a:spcAft>
                <a:spcPts val="0"/>
              </a:spcAft>
              <a:buNone/>
            </a:pPr>
            <a:r>
              <a:rPr lang="en" dirty="0"/>
              <a:t>Focus on </a:t>
            </a:r>
            <a:r>
              <a:rPr lang="en" b="1" dirty="0"/>
              <a:t>dominant term</a:t>
            </a:r>
            <a:r>
              <a:rPr lang="en" dirty="0"/>
              <a:t>: term that will increase the fastest</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latin typeface="Consolas"/>
                <a:ea typeface="Consolas"/>
                <a:cs typeface="Consolas"/>
                <a:sym typeface="Consolas"/>
              </a:rPr>
              <a:t>2n</a:t>
            </a:r>
            <a:r>
              <a:rPr lang="en" baseline="30000" dirty="0">
                <a:latin typeface="Consolas"/>
                <a:ea typeface="Consolas"/>
                <a:cs typeface="Consolas"/>
                <a:sym typeface="Consolas"/>
              </a:rPr>
              <a:t>2</a:t>
            </a:r>
            <a:r>
              <a:rPr lang="en" dirty="0">
                <a:latin typeface="Consolas"/>
                <a:ea typeface="Consolas"/>
                <a:cs typeface="Consolas"/>
                <a:sym typeface="Consolas"/>
              </a:rPr>
              <a:t> + 2n + 2</a:t>
            </a:r>
            <a:endParaRPr dirty="0">
              <a:latin typeface="Consolas"/>
              <a:ea typeface="Consolas"/>
              <a:cs typeface="Consolas"/>
              <a:sym typeface="Consolas"/>
            </a:endParaRPr>
          </a:p>
          <a:p>
            <a:pPr marL="0" lvl="0" indent="0" algn="l" rtl="0">
              <a:spcBef>
                <a:spcPts val="600"/>
              </a:spcBef>
              <a:spcAft>
                <a:spcPts val="0"/>
              </a:spcAft>
              <a:buNone/>
            </a:pPr>
            <a:r>
              <a:rPr lang="en" dirty="0">
                <a:latin typeface="Consolas"/>
                <a:ea typeface="Consolas"/>
                <a:cs typeface="Consolas"/>
                <a:sym typeface="Consolas"/>
              </a:rPr>
              <a:t>10</a:t>
            </a:r>
            <a:r>
              <a:rPr lang="en" baseline="30000" dirty="0">
                <a:latin typeface="Consolas"/>
                <a:ea typeface="Consolas"/>
                <a:cs typeface="Consolas"/>
                <a:sym typeface="Consolas"/>
              </a:rPr>
              <a:t>1000 </a:t>
            </a:r>
            <a:r>
              <a:rPr lang="en" dirty="0">
                <a:latin typeface="Consolas"/>
                <a:ea typeface="Consolas"/>
                <a:cs typeface="Consolas"/>
                <a:sym typeface="Consolas"/>
              </a:rPr>
              <a:t>+ 10n</a:t>
            </a:r>
            <a:r>
              <a:rPr lang="en" baseline="30000" dirty="0">
                <a:latin typeface="Consolas"/>
                <a:ea typeface="Consolas"/>
                <a:cs typeface="Consolas"/>
                <a:sym typeface="Consolas"/>
              </a:rPr>
              <a:t>3</a:t>
            </a:r>
            <a:r>
              <a:rPr lang="en" dirty="0">
                <a:latin typeface="Consolas"/>
                <a:ea typeface="Consolas"/>
                <a:cs typeface="Consolas"/>
                <a:sym typeface="Consolas"/>
              </a:rPr>
              <a:t> + 100n</a:t>
            </a:r>
            <a:endParaRPr baseline="30000" dirty="0">
              <a:latin typeface="Consolas"/>
              <a:ea typeface="Consolas"/>
              <a:cs typeface="Consolas"/>
              <a:sym typeface="Consolas"/>
            </a:endParaRPr>
          </a:p>
          <a:p>
            <a:pPr marL="0" lvl="0" indent="0" algn="l" rtl="0">
              <a:spcBef>
                <a:spcPts val="600"/>
              </a:spcBef>
              <a:spcAft>
                <a:spcPts val="0"/>
              </a:spcAft>
              <a:buNone/>
            </a:pPr>
            <a:r>
              <a:rPr lang="en" dirty="0">
                <a:latin typeface="Consolas"/>
                <a:ea typeface="Consolas"/>
                <a:cs typeface="Consolas"/>
                <a:sym typeface="Consolas"/>
              </a:rPr>
              <a:t>log(n) + n + 4</a:t>
            </a:r>
            <a:endParaRPr dirty="0">
              <a:latin typeface="Consolas"/>
              <a:ea typeface="Consolas"/>
              <a:cs typeface="Consolas"/>
              <a:sym typeface="Consolas"/>
            </a:endParaRPr>
          </a:p>
          <a:p>
            <a:pPr marL="0" lvl="0" indent="0" algn="l" rtl="0">
              <a:spcBef>
                <a:spcPts val="600"/>
              </a:spcBef>
              <a:spcAft>
                <a:spcPts val="0"/>
              </a:spcAft>
              <a:buNone/>
            </a:pPr>
            <a:r>
              <a:rPr lang="en" dirty="0">
                <a:latin typeface="Consolas"/>
                <a:ea typeface="Consolas"/>
                <a:cs typeface="Consolas"/>
                <a:sym typeface="Consolas"/>
              </a:rPr>
              <a:t>0.0001 * n * log(n) + 300n</a:t>
            </a:r>
            <a:endParaRPr dirty="0">
              <a:latin typeface="Consolas"/>
              <a:ea typeface="Consolas"/>
              <a:cs typeface="Consolas"/>
              <a:sym typeface="Consolas"/>
            </a:endParaRPr>
          </a:p>
          <a:p>
            <a:pPr marL="0" lvl="0" indent="0" algn="l" rtl="0">
              <a:spcBef>
                <a:spcPts val="600"/>
              </a:spcBef>
              <a:spcAft>
                <a:spcPts val="0"/>
              </a:spcAft>
              <a:buNone/>
            </a:pPr>
            <a:r>
              <a:rPr lang="en" dirty="0">
                <a:latin typeface="Consolas"/>
                <a:ea typeface="Consolas"/>
                <a:cs typeface="Consolas"/>
                <a:sym typeface="Consolas"/>
              </a:rPr>
              <a:t>2n</a:t>
            </a:r>
            <a:r>
              <a:rPr lang="en" baseline="30000" dirty="0">
                <a:latin typeface="Consolas"/>
                <a:ea typeface="Consolas"/>
                <a:cs typeface="Consolas"/>
                <a:sym typeface="Consolas"/>
              </a:rPr>
              <a:t>30</a:t>
            </a:r>
            <a:r>
              <a:rPr lang="en" dirty="0">
                <a:latin typeface="Consolas"/>
                <a:ea typeface="Consolas"/>
                <a:cs typeface="Consolas"/>
                <a:sym typeface="Consolas"/>
              </a:rPr>
              <a:t> + 3</a:t>
            </a:r>
            <a:r>
              <a:rPr lang="en" baseline="30000" dirty="0">
                <a:latin typeface="Consolas"/>
                <a:ea typeface="Consolas"/>
                <a:cs typeface="Consolas"/>
                <a:sym typeface="Consolas"/>
              </a:rPr>
              <a:t>n</a:t>
            </a:r>
            <a:endParaRPr baseline="30000" dirty="0">
              <a:latin typeface="Consolas"/>
              <a:ea typeface="Consolas"/>
              <a:cs typeface="Consolas"/>
              <a:sym typeface="Consolas"/>
            </a:endParaRPr>
          </a:p>
        </p:txBody>
      </p:sp>
      <p:sp>
        <p:nvSpPr>
          <p:cNvPr id="386" name="Google Shape;386;p49"/>
          <p:cNvSpPr txBox="1">
            <a:spLocks noGrp="1"/>
          </p:cNvSpPr>
          <p:nvPr>
            <p:ph type="body" idx="1"/>
          </p:nvPr>
        </p:nvSpPr>
        <p:spPr>
          <a:xfrm>
            <a:off x="4373170" y="1871074"/>
            <a:ext cx="4676400" cy="2632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2n</a:t>
            </a:r>
            <a:r>
              <a:rPr lang="en"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2</a:t>
            </a:r>
            <a:endParaRP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endParaRPr>
          </a:p>
          <a:p>
            <a:pPr marL="0" lvl="0" indent="0" algn="l" rtl="0">
              <a:spcBef>
                <a:spcPts val="600"/>
              </a:spcBef>
              <a:spcAft>
                <a:spcPts val="0"/>
              </a:spcAft>
              <a:buNone/>
            </a:pPr>
            <a:r>
              <a:rPr lang="en"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10n</a:t>
            </a:r>
            <a:r>
              <a:rPr lang="en"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3</a:t>
            </a:r>
          </a:p>
          <a:p>
            <a:pPr marL="0" lvl="0" indent="0" algn="l" rtl="0">
              <a:spcBef>
                <a:spcPts val="600"/>
              </a:spcBef>
              <a:spcAft>
                <a:spcPts val="0"/>
              </a:spcAft>
              <a:buNone/>
            </a:pPr>
            <a:r>
              <a:rPr lang="en"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n</a:t>
            </a:r>
            <a:endParaRP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endParaRPr>
          </a:p>
          <a:p>
            <a:pPr marL="0" lvl="0" indent="0" algn="l" rtl="0">
              <a:spcBef>
                <a:spcPts val="600"/>
              </a:spcBef>
              <a:spcAft>
                <a:spcPts val="0"/>
              </a:spcAft>
              <a:buNone/>
            </a:pPr>
            <a:r>
              <a:rPr lang="en"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0.0001 n log n</a:t>
            </a:r>
            <a:endParaRP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endParaRPr>
          </a:p>
          <a:p>
            <a:pPr marL="0" lvl="0" indent="0" algn="l" rtl="0">
              <a:spcBef>
                <a:spcPts val="600"/>
              </a:spcBef>
              <a:spcAft>
                <a:spcPts val="0"/>
              </a:spcAft>
              <a:buNone/>
            </a:pPr>
            <a:r>
              <a:rPr lang="en"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3</a:t>
            </a:r>
            <a:r>
              <a:rPr lang="en"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n</a:t>
            </a:r>
            <a:endParaRP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endParaRPr>
          </a:p>
        </p:txBody>
      </p:sp>
      <p:sp>
        <p:nvSpPr>
          <p:cNvPr id="2" name="Google Shape;386;p49">
            <a:extLst>
              <a:ext uri="{FF2B5EF4-FFF2-40B4-BE49-F238E27FC236}">
                <a16:creationId xmlns:a16="http://schemas.microsoft.com/office/drawing/2014/main" id="{303AC7D2-005E-28CF-2EA4-0267E9D97B19}"/>
              </a:ext>
            </a:extLst>
          </p:cNvPr>
          <p:cNvSpPr txBox="1">
            <a:spLocks/>
          </p:cNvSpPr>
          <p:nvPr/>
        </p:nvSpPr>
        <p:spPr>
          <a:xfrm>
            <a:off x="7060948" y="1871074"/>
            <a:ext cx="4676400" cy="2632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dk1"/>
              </a:buClr>
              <a:buSzPts val="2000"/>
              <a:buFont typeface="Calibri"/>
              <a:buChar char="●"/>
              <a:defRPr sz="20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0"/>
              </a:spcBef>
              <a:spcAft>
                <a:spcPts val="0"/>
              </a:spcAft>
              <a:buClr>
                <a:schemeClr val="dk1"/>
              </a:buClr>
              <a:buSzPts val="20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9pPr>
          </a:lstStyle>
          <a:p>
            <a:pPr marL="0" indent="0">
              <a:buFont typeface="Calibri"/>
              <a:buNone/>
            </a:pP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O(n</a:t>
            </a:r>
            <a:r>
              <a:rPr lang="pt-BR"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2</a:t>
            </a: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a:t>
            </a:r>
          </a:p>
          <a:p>
            <a:pPr marL="0" indent="0">
              <a:buFont typeface="Calibri"/>
              <a:buNone/>
            </a:pP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O(n</a:t>
            </a:r>
            <a:r>
              <a:rPr lang="pt-BR"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3</a:t>
            </a: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a:t>
            </a:r>
            <a:endParaRPr lang="pt-BR"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endParaRPr>
          </a:p>
          <a:p>
            <a:pPr marL="0" indent="0">
              <a:buFont typeface="Calibri"/>
              <a:buNone/>
            </a:pP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O(n)</a:t>
            </a:r>
          </a:p>
          <a:p>
            <a:pPr marL="0" indent="0">
              <a:buFont typeface="Calibri"/>
              <a:buNone/>
            </a:pP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O(n log n)</a:t>
            </a:r>
          </a:p>
          <a:p>
            <a:pPr marL="0" indent="0">
              <a:buFont typeface="Calibri"/>
              <a:buNone/>
            </a:pP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O(3</a:t>
            </a:r>
            <a:r>
              <a:rPr lang="pt-BR" baseline="30000"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n</a:t>
            </a:r>
            <a:r>
              <a:rPr lang="pt-BR" dirty="0">
                <a:solidFill>
                  <a:schemeClr val="accent5"/>
                </a:solidFill>
                <a:latin typeface="Calibri" panose="020F0502020204030204" pitchFamily="34" charset="0"/>
                <a:ea typeface="Calibri" panose="020F0502020204030204" pitchFamily="34" charset="0"/>
                <a:cs typeface="Calibri" panose="020F0502020204030204" pitchFamily="34" charset="0"/>
                <a:sym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5"/>
                                        </p:tgtEl>
                                        <p:attrNameLst>
                                          <p:attrName>style.visibility</p:attrName>
                                        </p:attrNameLst>
                                      </p:cBhvr>
                                      <p:to>
                                        <p:strVal val="visible"/>
                                      </p:to>
                                    </p:set>
                                    <p:animEffect transition="in" filter="fade">
                                      <p:cBhvr>
                                        <p:cTn id="7" dur="1"/>
                                        <p:tgtEl>
                                          <p:spTgt spid="3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6">
                                            <p:txEl>
                                              <p:pRg st="0" end="0"/>
                                            </p:txEl>
                                          </p:spTgt>
                                        </p:tgtEl>
                                        <p:attrNameLst>
                                          <p:attrName>style.visibility</p:attrName>
                                        </p:attrNameLst>
                                      </p:cBhvr>
                                      <p:to>
                                        <p:strVal val="visible"/>
                                      </p:to>
                                    </p:set>
                                    <p:animEffect transition="in" filter="fade">
                                      <p:cBhvr>
                                        <p:cTn id="12" dur="1"/>
                                        <p:tgtEl>
                                          <p:spTgt spid="3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6">
                                            <p:txEl>
                                              <p:pRg st="1" end="1"/>
                                            </p:txEl>
                                          </p:spTgt>
                                        </p:tgtEl>
                                        <p:attrNameLst>
                                          <p:attrName>style.visibility</p:attrName>
                                        </p:attrNameLst>
                                      </p:cBhvr>
                                      <p:to>
                                        <p:strVal val="visible"/>
                                      </p:to>
                                    </p:set>
                                    <p:animEffect transition="in" filter="fade">
                                      <p:cBhvr>
                                        <p:cTn id="17" dur="1"/>
                                        <p:tgtEl>
                                          <p:spTgt spid="38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6">
                                            <p:txEl>
                                              <p:pRg st="2" end="2"/>
                                            </p:txEl>
                                          </p:spTgt>
                                        </p:tgtEl>
                                        <p:attrNameLst>
                                          <p:attrName>style.visibility</p:attrName>
                                        </p:attrNameLst>
                                      </p:cBhvr>
                                      <p:to>
                                        <p:strVal val="visible"/>
                                      </p:to>
                                    </p:set>
                                    <p:animEffect transition="in" filter="fade">
                                      <p:cBhvr>
                                        <p:cTn id="22" dur="1"/>
                                        <p:tgtEl>
                                          <p:spTgt spid="38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6">
                                            <p:txEl>
                                              <p:pRg st="3" end="3"/>
                                            </p:txEl>
                                          </p:spTgt>
                                        </p:tgtEl>
                                        <p:attrNameLst>
                                          <p:attrName>style.visibility</p:attrName>
                                        </p:attrNameLst>
                                      </p:cBhvr>
                                      <p:to>
                                        <p:strVal val="visible"/>
                                      </p:to>
                                    </p:set>
                                    <p:animEffect transition="in" filter="fade">
                                      <p:cBhvr>
                                        <p:cTn id="27" dur="1"/>
                                        <p:tgtEl>
                                          <p:spTgt spid="38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6">
                                            <p:txEl>
                                              <p:pRg st="4" end="4"/>
                                            </p:txEl>
                                          </p:spTgt>
                                        </p:tgtEl>
                                        <p:attrNameLst>
                                          <p:attrName>style.visibility</p:attrName>
                                        </p:attrNameLst>
                                      </p:cBhvr>
                                      <p:to>
                                        <p:strVal val="visible"/>
                                      </p:to>
                                    </p:set>
                                    <p:animEffect transition="in" filter="fade">
                                      <p:cBhvr>
                                        <p:cTn id="32" dur="1"/>
                                        <p:tgtEl>
                                          <p:spTgt spid="38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fade">
                                      <p:cBhvr>
                                        <p:cTn id="37" dur="1"/>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fade">
                                      <p:cBhvr>
                                        <p:cTn id="42" dur="1"/>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2" end="2"/>
                                            </p:txEl>
                                          </p:spTgt>
                                        </p:tgtEl>
                                        <p:attrNameLst>
                                          <p:attrName>style.visibility</p:attrName>
                                        </p:attrNameLst>
                                      </p:cBhvr>
                                      <p:to>
                                        <p:strVal val="visible"/>
                                      </p:to>
                                    </p:set>
                                    <p:animEffect transition="in" filter="fade">
                                      <p:cBhvr>
                                        <p:cTn id="47" dur="1"/>
                                        <p:tgtEl>
                                          <p:spTgt spid="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fade">
                                      <p:cBhvr>
                                        <p:cTn id="52" dur="1"/>
                                        <p:tgtEl>
                                          <p:spTgt spid="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4" end="4"/>
                                            </p:txEl>
                                          </p:spTgt>
                                        </p:tgtEl>
                                        <p:attrNameLst>
                                          <p:attrName>style.visibility</p:attrName>
                                        </p:attrNameLst>
                                      </p:cBhvr>
                                      <p:to>
                                        <p:strVal val="visible"/>
                                      </p:to>
                                    </p:set>
                                    <p:animEffect transition="in" filter="fade">
                                      <p:cBhvr>
                                        <p:cTn id="57" dur="1"/>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0"/>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Orders of Growth</a:t>
            </a:r>
            <a:endParaRPr/>
          </a:p>
        </p:txBody>
      </p:sp>
      <p:sp>
        <p:nvSpPr>
          <p:cNvPr id="392" name="Google Shape;392;p50"/>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“Order of Growth” of a program looks at the largest factors in the runtime (which part contributes the most to the runtime when input size gets very big).</a:t>
            </a:r>
            <a:endParaRPr/>
          </a:p>
          <a:p>
            <a:pPr marL="0" lvl="0" indent="0" algn="l" rtl="0">
              <a:spcBef>
                <a:spcPts val="600"/>
              </a:spcBef>
              <a:spcAft>
                <a:spcPts val="0"/>
              </a:spcAft>
              <a:buNone/>
            </a:pPr>
            <a:endParaRPr/>
          </a:p>
          <a:p>
            <a:pPr marL="0" lvl="0" indent="0" algn="l" rtl="0">
              <a:spcBef>
                <a:spcPts val="600"/>
              </a:spcBef>
              <a:spcAft>
                <a:spcPts val="0"/>
              </a:spcAft>
              <a:buClr>
                <a:schemeClr val="dk1"/>
              </a:buClr>
              <a:buSzPts val="1100"/>
              <a:buFont typeface="Arial"/>
              <a:buNone/>
            </a:pPr>
            <a:r>
              <a:rPr lang="en"/>
              <a:t>Doesn’t need to be precise: </a:t>
            </a:r>
            <a:r>
              <a:rPr lang="en" b="1">
                <a:solidFill>
                  <a:schemeClr val="accent5"/>
                </a:solidFill>
              </a:rPr>
              <a:t>“order of”, not “exact”, </a:t>
            </a:r>
            <a:r>
              <a:rPr lang="en"/>
              <a:t>growth</a:t>
            </a:r>
            <a:endParaRPr/>
          </a:p>
          <a:p>
            <a:pPr marL="0" lvl="0" indent="0" algn="l" rtl="0">
              <a:spcBef>
                <a:spcPts val="600"/>
              </a:spcBef>
              <a:spcAft>
                <a:spcPts val="0"/>
              </a:spcAft>
              <a:buNone/>
            </a:pPr>
            <a:endParaRPr/>
          </a:p>
          <a:p>
            <a:pPr marL="0" lvl="0" indent="0" algn="l" rtl="0">
              <a:spcBef>
                <a:spcPts val="600"/>
              </a:spcBef>
              <a:spcAft>
                <a:spcPts val="0"/>
              </a:spcAft>
              <a:buNone/>
            </a:pPr>
            <a:r>
              <a:rPr lang="en"/>
              <a:t>Properties:</a:t>
            </a:r>
            <a:endParaRPr/>
          </a:p>
          <a:p>
            <a:pPr marL="457200" lvl="0" indent="-355600" algn="l" rtl="0">
              <a:spcBef>
                <a:spcPts val="600"/>
              </a:spcBef>
              <a:spcAft>
                <a:spcPts val="0"/>
              </a:spcAft>
              <a:buSzPts val="2000"/>
              <a:buChar char="●"/>
            </a:pPr>
            <a:r>
              <a:rPr lang="en"/>
              <a:t>Evaluate program’s efficiency when </a:t>
            </a:r>
            <a:r>
              <a:rPr lang="en" b="1">
                <a:solidFill>
                  <a:schemeClr val="accent5"/>
                </a:solidFill>
              </a:rPr>
              <a:t>input is very big</a:t>
            </a:r>
            <a:endParaRPr b="1">
              <a:solidFill>
                <a:schemeClr val="accent5"/>
              </a:solidFill>
            </a:endParaRPr>
          </a:p>
          <a:p>
            <a:pPr marL="457200" lvl="0" indent="-355600" algn="l" rtl="0">
              <a:spcBef>
                <a:spcPts val="0"/>
              </a:spcBef>
              <a:spcAft>
                <a:spcPts val="0"/>
              </a:spcAft>
              <a:buSzPts val="2000"/>
              <a:buChar char="●"/>
            </a:pPr>
            <a:r>
              <a:rPr lang="en"/>
              <a:t>Express </a:t>
            </a:r>
            <a:r>
              <a:rPr lang="en" b="1">
                <a:solidFill>
                  <a:schemeClr val="accent5"/>
                </a:solidFill>
              </a:rPr>
              <a:t>growth of program’s runtime</a:t>
            </a:r>
            <a:r>
              <a:rPr lang="en"/>
              <a:t> as input size grows</a:t>
            </a:r>
            <a:endParaRPr/>
          </a:p>
          <a:p>
            <a:pPr marL="457200" lvl="0" indent="-355600" algn="l" rtl="0">
              <a:spcBef>
                <a:spcPts val="0"/>
              </a:spcBef>
              <a:spcAft>
                <a:spcPts val="0"/>
              </a:spcAft>
              <a:buSzPts val="2000"/>
              <a:buChar char="●"/>
            </a:pPr>
            <a:r>
              <a:rPr lang="en"/>
              <a:t>Put </a:t>
            </a:r>
            <a:r>
              <a:rPr lang="en" b="1">
                <a:solidFill>
                  <a:schemeClr val="accent5"/>
                </a:solidFill>
              </a:rPr>
              <a:t>upper bound</a:t>
            </a:r>
            <a:r>
              <a:rPr lang="en"/>
              <a:t> on growth</a:t>
            </a:r>
            <a:endParaRPr/>
          </a:p>
          <a:p>
            <a:pPr marL="0" lvl="0" indent="0" algn="l" rtl="0">
              <a:spcBef>
                <a:spcPts val="600"/>
              </a:spcBef>
              <a:spcAft>
                <a:spcPts val="0"/>
              </a:spcAft>
              <a:buNone/>
            </a:pPr>
            <a:endParaRPr/>
          </a:p>
          <a:p>
            <a:pPr marL="0" lvl="0" indent="0" algn="l" rtl="0">
              <a:spcBef>
                <a:spcPts val="600"/>
              </a:spcBef>
              <a:spcAft>
                <a:spcPts val="0"/>
              </a:spcAft>
              <a:buNone/>
            </a:pPr>
            <a:r>
              <a:rPr lang="en" b="1" u="sng">
                <a:solidFill>
                  <a:schemeClr val="accent5"/>
                </a:solidFill>
              </a:rPr>
              <a:t>Want upper bound (worst case) on growth as function of input size</a:t>
            </a:r>
            <a:endParaRPr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xEl>
                                              <p:pRg st="0" end="0"/>
                                            </p:txEl>
                                          </p:spTgt>
                                        </p:tgtEl>
                                        <p:attrNameLst>
                                          <p:attrName>style.visibility</p:attrName>
                                        </p:attrNameLst>
                                      </p:cBhvr>
                                      <p:to>
                                        <p:strVal val="visible"/>
                                      </p:to>
                                    </p:set>
                                    <p:animEffect transition="in" filter="fade">
                                      <p:cBhvr>
                                        <p:cTn id="7" dur="1"/>
                                        <p:tgtEl>
                                          <p:spTgt spid="3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2">
                                            <p:txEl>
                                              <p:pRg st="1" end="1"/>
                                            </p:txEl>
                                          </p:spTgt>
                                        </p:tgtEl>
                                        <p:attrNameLst>
                                          <p:attrName>style.visibility</p:attrName>
                                        </p:attrNameLst>
                                      </p:cBhvr>
                                      <p:to>
                                        <p:strVal val="visible"/>
                                      </p:to>
                                    </p:set>
                                    <p:animEffect transition="in" filter="fade">
                                      <p:cBhvr>
                                        <p:cTn id="12" dur="1"/>
                                        <p:tgtEl>
                                          <p:spTgt spid="3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2">
                                            <p:txEl>
                                              <p:pRg st="2" end="2"/>
                                            </p:txEl>
                                          </p:spTgt>
                                        </p:tgtEl>
                                        <p:attrNameLst>
                                          <p:attrName>style.visibility</p:attrName>
                                        </p:attrNameLst>
                                      </p:cBhvr>
                                      <p:to>
                                        <p:strVal val="visible"/>
                                      </p:to>
                                    </p:set>
                                    <p:animEffect transition="in" filter="fade">
                                      <p:cBhvr>
                                        <p:cTn id="17" dur="1"/>
                                        <p:tgtEl>
                                          <p:spTgt spid="3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2">
                                            <p:txEl>
                                              <p:pRg st="3" end="3"/>
                                            </p:txEl>
                                          </p:spTgt>
                                        </p:tgtEl>
                                        <p:attrNameLst>
                                          <p:attrName>style.visibility</p:attrName>
                                        </p:attrNameLst>
                                      </p:cBhvr>
                                      <p:to>
                                        <p:strVal val="visible"/>
                                      </p:to>
                                    </p:set>
                                    <p:animEffect transition="in" filter="fade">
                                      <p:cBhvr>
                                        <p:cTn id="22" dur="1"/>
                                        <p:tgtEl>
                                          <p:spTgt spid="3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2">
                                            <p:txEl>
                                              <p:pRg st="4" end="4"/>
                                            </p:txEl>
                                          </p:spTgt>
                                        </p:tgtEl>
                                        <p:attrNameLst>
                                          <p:attrName>style.visibility</p:attrName>
                                        </p:attrNameLst>
                                      </p:cBhvr>
                                      <p:to>
                                        <p:strVal val="visible"/>
                                      </p:to>
                                    </p:set>
                                    <p:animEffect transition="in" filter="fade">
                                      <p:cBhvr>
                                        <p:cTn id="27" dur="1"/>
                                        <p:tgtEl>
                                          <p:spTgt spid="39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2">
                                            <p:txEl>
                                              <p:pRg st="5" end="5"/>
                                            </p:txEl>
                                          </p:spTgt>
                                        </p:tgtEl>
                                        <p:attrNameLst>
                                          <p:attrName>style.visibility</p:attrName>
                                        </p:attrNameLst>
                                      </p:cBhvr>
                                      <p:to>
                                        <p:strVal val="visible"/>
                                      </p:to>
                                    </p:set>
                                    <p:animEffect transition="in" filter="fade">
                                      <p:cBhvr>
                                        <p:cTn id="32" dur="1"/>
                                        <p:tgtEl>
                                          <p:spTgt spid="39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2">
                                            <p:txEl>
                                              <p:pRg st="6" end="6"/>
                                            </p:txEl>
                                          </p:spTgt>
                                        </p:tgtEl>
                                        <p:attrNameLst>
                                          <p:attrName>style.visibility</p:attrName>
                                        </p:attrNameLst>
                                      </p:cBhvr>
                                      <p:to>
                                        <p:strVal val="visible"/>
                                      </p:to>
                                    </p:set>
                                    <p:animEffect transition="in" filter="fade">
                                      <p:cBhvr>
                                        <p:cTn id="37" dur="1"/>
                                        <p:tgtEl>
                                          <p:spTgt spid="39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2">
                                            <p:txEl>
                                              <p:pRg st="7" end="7"/>
                                            </p:txEl>
                                          </p:spTgt>
                                        </p:tgtEl>
                                        <p:attrNameLst>
                                          <p:attrName>style.visibility</p:attrName>
                                        </p:attrNameLst>
                                      </p:cBhvr>
                                      <p:to>
                                        <p:strVal val="visible"/>
                                      </p:to>
                                    </p:set>
                                    <p:animEffect transition="in" filter="fade">
                                      <p:cBhvr>
                                        <p:cTn id="42" dur="1"/>
                                        <p:tgtEl>
                                          <p:spTgt spid="39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2">
                                            <p:txEl>
                                              <p:pRg st="8" end="8"/>
                                            </p:txEl>
                                          </p:spTgt>
                                        </p:tgtEl>
                                        <p:attrNameLst>
                                          <p:attrName>style.visibility</p:attrName>
                                        </p:attrNameLst>
                                      </p:cBhvr>
                                      <p:to>
                                        <p:strVal val="visible"/>
                                      </p:to>
                                    </p:set>
                                    <p:animEffect transition="in" filter="fade">
                                      <p:cBhvr>
                                        <p:cTn id="47" dur="1"/>
                                        <p:tgtEl>
                                          <p:spTgt spid="39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92">
                                            <p:txEl>
                                              <p:pRg st="9" end="9"/>
                                            </p:txEl>
                                          </p:spTgt>
                                        </p:tgtEl>
                                        <p:attrNameLst>
                                          <p:attrName>style.visibility</p:attrName>
                                        </p:attrNameLst>
                                      </p:cBhvr>
                                      <p:to>
                                        <p:strVal val="visible"/>
                                      </p:to>
                                    </p:set>
                                    <p:animEffect transition="in" filter="fade">
                                      <p:cBhvr>
                                        <p:cTn id="52" dur="1"/>
                                        <p:tgtEl>
                                          <p:spTgt spid="39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1"/>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Exact Steps vs </a:t>
            </a:r>
            <a:r>
              <a:rPr lang="en">
                <a:latin typeface="Consolas"/>
                <a:ea typeface="Consolas"/>
                <a:cs typeface="Consolas"/>
                <a:sym typeface="Consolas"/>
              </a:rPr>
              <a:t>O()</a:t>
            </a:r>
            <a:r>
              <a:rPr lang="en"/>
              <a:t> </a:t>
            </a:r>
            <a:endParaRPr/>
          </a:p>
        </p:txBody>
      </p:sp>
      <p:sp>
        <p:nvSpPr>
          <p:cNvPr id="398" name="Google Shape;398;p51"/>
          <p:cNvSpPr txBox="1"/>
          <p:nvPr/>
        </p:nvSpPr>
        <p:spPr>
          <a:xfrm>
            <a:off x="400575" y="2877700"/>
            <a:ext cx="29322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5"/>
                </a:solidFill>
                <a:latin typeface="Consolas"/>
                <a:ea typeface="Consolas"/>
                <a:cs typeface="Consolas"/>
                <a:sym typeface="Consolas"/>
              </a:rPr>
              <a:t>num1 = n * 2 =&gt; 2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num2 = n + 6 =&gt; 2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num1 + num2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return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total: 6</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399" name="Google Shape;399;p51"/>
          <p:cNvSpPr txBox="1"/>
          <p:nvPr/>
        </p:nvSpPr>
        <p:spPr>
          <a:xfrm>
            <a:off x="400575" y="25779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(Exact) Number of Operations</a:t>
            </a:r>
            <a:endParaRPr u="sng">
              <a:latin typeface="Calibri"/>
              <a:ea typeface="Calibri"/>
              <a:cs typeface="Calibri"/>
              <a:sym typeface="Calibri"/>
            </a:endParaRPr>
          </a:p>
        </p:txBody>
      </p:sp>
      <p:graphicFrame>
        <p:nvGraphicFramePr>
          <p:cNvPr id="400" name="Google Shape;400;p51"/>
          <p:cNvGraphicFramePr/>
          <p:nvPr/>
        </p:nvGraphicFramePr>
        <p:xfrm>
          <a:off x="2452350" y="840147"/>
          <a:ext cx="4239275" cy="1384905"/>
        </p:xfrm>
        <a:graphic>
          <a:graphicData uri="http://schemas.openxmlformats.org/drawingml/2006/table">
            <a:tbl>
              <a:tblPr>
                <a:noFill/>
                <a:tableStyleId>{6436D996-6D66-4ABA-853D-459B0397D2C1}</a:tableStyleId>
              </a:tblPr>
              <a:tblGrid>
                <a:gridCol w="4239275">
                  <a:extLst>
                    <a:ext uri="{9D8B030D-6E8A-4147-A177-3AD203B41FA5}">
                      <a16:colId xmlns:a16="http://schemas.microsoft.com/office/drawing/2014/main" val="20000"/>
                    </a:ext>
                  </a:extLst>
                </a:gridCol>
              </a:tblGrid>
              <a:tr h="133665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mystery(n):</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num1 = n * </a:t>
                      </a:r>
                      <a:r>
                        <a:rPr lang="en" sz="1650">
                          <a:solidFill>
                            <a:srgbClr val="FBC02D"/>
                          </a:solidFill>
                          <a:latin typeface="Roboto Mono"/>
                          <a:ea typeface="Roboto Mono"/>
                          <a:cs typeface="Roboto Mono"/>
                          <a:sym typeface="Roboto Mono"/>
                        </a:rPr>
                        <a:t>2</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num2 = n + </a:t>
                      </a:r>
                      <a:r>
                        <a:rPr lang="en" sz="1650">
                          <a:solidFill>
                            <a:srgbClr val="FBC02D"/>
                          </a:solidFill>
                          <a:latin typeface="Roboto Mono"/>
                          <a:ea typeface="Roboto Mono"/>
                          <a:cs typeface="Roboto Mono"/>
                          <a:sym typeface="Roboto Mono"/>
                        </a:rPr>
                        <a:t>6</a:t>
                      </a:r>
                      <a:endParaRPr sz="16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num1 + num2</a:t>
                      </a:r>
                      <a:endParaRPr sz="16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
        <p:nvSpPr>
          <p:cNvPr id="401" name="Google Shape;401;p51"/>
          <p:cNvSpPr txBox="1"/>
          <p:nvPr/>
        </p:nvSpPr>
        <p:spPr>
          <a:xfrm>
            <a:off x="4972575" y="2877700"/>
            <a:ext cx="32154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5"/>
                </a:solidFill>
                <a:latin typeface="Consolas"/>
                <a:ea typeface="Consolas"/>
                <a:cs typeface="Consolas"/>
                <a:sym typeface="Consolas"/>
              </a:rPr>
              <a:t>Take the number of operations, and drop multiplicative constants and lower order terms</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O(6) = O(1)</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Constant runtime</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402" name="Google Shape;402;p51"/>
          <p:cNvSpPr txBox="1"/>
          <p:nvPr/>
        </p:nvSpPr>
        <p:spPr>
          <a:xfrm>
            <a:off x="4972575" y="25779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Big O Runtime</a:t>
            </a:r>
            <a:endParaRPr u="sng">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animEffect transition="in" filter="fade">
                                      <p:cBhvr>
                                        <p:cTn id="7" dur="1000"/>
                                        <p:tgtEl>
                                          <p:spTgt spid="3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8">
                                            <p:txEl>
                                              <p:pRg st="0" end="0"/>
                                            </p:txEl>
                                          </p:spTgt>
                                        </p:tgtEl>
                                        <p:attrNameLst>
                                          <p:attrName>style.visibility</p:attrName>
                                        </p:attrNameLst>
                                      </p:cBhvr>
                                      <p:to>
                                        <p:strVal val="visible"/>
                                      </p:to>
                                    </p:set>
                                    <p:animEffect transition="in" filter="fade">
                                      <p:cBhvr>
                                        <p:cTn id="12" dur="1"/>
                                        <p:tgtEl>
                                          <p:spTgt spid="39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8">
                                            <p:txEl>
                                              <p:pRg st="1" end="1"/>
                                            </p:txEl>
                                          </p:spTgt>
                                        </p:tgtEl>
                                        <p:attrNameLst>
                                          <p:attrName>style.visibility</p:attrName>
                                        </p:attrNameLst>
                                      </p:cBhvr>
                                      <p:to>
                                        <p:strVal val="visible"/>
                                      </p:to>
                                    </p:set>
                                    <p:animEffect transition="in" filter="fade">
                                      <p:cBhvr>
                                        <p:cTn id="17" dur="1"/>
                                        <p:tgtEl>
                                          <p:spTgt spid="39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8">
                                            <p:txEl>
                                              <p:pRg st="2" end="2"/>
                                            </p:txEl>
                                          </p:spTgt>
                                        </p:tgtEl>
                                        <p:attrNameLst>
                                          <p:attrName>style.visibility</p:attrName>
                                        </p:attrNameLst>
                                      </p:cBhvr>
                                      <p:to>
                                        <p:strVal val="visible"/>
                                      </p:to>
                                    </p:set>
                                    <p:animEffect transition="in" filter="fade">
                                      <p:cBhvr>
                                        <p:cTn id="22" dur="1"/>
                                        <p:tgtEl>
                                          <p:spTgt spid="39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8">
                                            <p:txEl>
                                              <p:pRg st="3" end="3"/>
                                            </p:txEl>
                                          </p:spTgt>
                                        </p:tgtEl>
                                        <p:attrNameLst>
                                          <p:attrName>style.visibility</p:attrName>
                                        </p:attrNameLst>
                                      </p:cBhvr>
                                      <p:to>
                                        <p:strVal val="visible"/>
                                      </p:to>
                                    </p:set>
                                    <p:animEffect transition="in" filter="fade">
                                      <p:cBhvr>
                                        <p:cTn id="27" dur="1"/>
                                        <p:tgtEl>
                                          <p:spTgt spid="39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8">
                                            <p:txEl>
                                              <p:pRg st="4" end="4"/>
                                            </p:txEl>
                                          </p:spTgt>
                                        </p:tgtEl>
                                        <p:attrNameLst>
                                          <p:attrName>style.visibility</p:attrName>
                                        </p:attrNameLst>
                                      </p:cBhvr>
                                      <p:to>
                                        <p:strVal val="visible"/>
                                      </p:to>
                                    </p:set>
                                    <p:animEffect transition="in" filter="fade">
                                      <p:cBhvr>
                                        <p:cTn id="32" dur="1"/>
                                        <p:tgtEl>
                                          <p:spTgt spid="39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8">
                                            <p:txEl>
                                              <p:pRg st="5" end="5"/>
                                            </p:txEl>
                                          </p:spTgt>
                                        </p:tgtEl>
                                        <p:attrNameLst>
                                          <p:attrName>style.visibility</p:attrName>
                                        </p:attrNameLst>
                                      </p:cBhvr>
                                      <p:to>
                                        <p:strVal val="visible"/>
                                      </p:to>
                                    </p:set>
                                    <p:animEffect transition="in" filter="fade">
                                      <p:cBhvr>
                                        <p:cTn id="37" dur="1"/>
                                        <p:tgtEl>
                                          <p:spTgt spid="39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8">
                                            <p:txEl>
                                              <p:pRg st="6" end="6"/>
                                            </p:txEl>
                                          </p:spTgt>
                                        </p:tgtEl>
                                        <p:attrNameLst>
                                          <p:attrName>style.visibility</p:attrName>
                                        </p:attrNameLst>
                                      </p:cBhvr>
                                      <p:to>
                                        <p:strVal val="visible"/>
                                      </p:to>
                                    </p:set>
                                    <p:animEffect transition="in" filter="fade">
                                      <p:cBhvr>
                                        <p:cTn id="42" dur="1"/>
                                        <p:tgtEl>
                                          <p:spTgt spid="39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02"/>
                                        </p:tgtEl>
                                        <p:attrNameLst>
                                          <p:attrName>style.visibility</p:attrName>
                                        </p:attrNameLst>
                                      </p:cBhvr>
                                      <p:to>
                                        <p:strVal val="visible"/>
                                      </p:to>
                                    </p:set>
                                    <p:animEffect transition="in" filter="fade">
                                      <p:cBhvr>
                                        <p:cTn id="47" dur="1000"/>
                                        <p:tgtEl>
                                          <p:spTgt spid="40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01"/>
                                        </p:tgtEl>
                                        <p:attrNameLst>
                                          <p:attrName>style.visibility</p:attrName>
                                        </p:attrNameLst>
                                      </p:cBhvr>
                                      <p:to>
                                        <p:strVal val="visible"/>
                                      </p:to>
                                    </p:set>
                                    <p:animEffect transition="in" filter="fade">
                                      <p:cBhvr>
                                        <p:cTn id="52" dur="1000"/>
                                        <p:tgtEl>
                                          <p:spTgt spid="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2"/>
          <p:cNvSpPr txBox="1">
            <a:spLocks noGrp="1"/>
          </p:cNvSpPr>
          <p:nvPr>
            <p:ph type="body" idx="1"/>
          </p:nvPr>
        </p:nvSpPr>
        <p:spPr>
          <a:xfrm>
            <a:off x="387900" y="1489825"/>
            <a:ext cx="4184100" cy="3078900"/>
          </a:xfrm>
          <a:prstGeom prst="rect">
            <a:avLst/>
          </a:prstGeom>
        </p:spPr>
        <p:txBody>
          <a:bodyPr spcFirstLastPara="1" wrap="square" lIns="91425" tIns="91425" rIns="91425" bIns="91425" anchor="t" anchorCtr="0">
            <a:noAutofit/>
          </a:bodyPr>
          <a:lstStyle/>
          <a:p>
            <a:pPr marL="0" lvl="0" indent="0" algn="l" rtl="0">
              <a:lnSpc>
                <a:spcPct val="200000"/>
              </a:lnSpc>
              <a:spcBef>
                <a:spcPts val="600"/>
              </a:spcBef>
              <a:spcAft>
                <a:spcPts val="0"/>
              </a:spcAft>
              <a:buNone/>
            </a:pPr>
            <a:r>
              <a:rPr lang="en" sz="1600"/>
              <a:t>Sequential statements, add </a:t>
            </a:r>
            <a:endParaRPr sz="1600"/>
          </a:p>
          <a:p>
            <a:pPr marL="0" lvl="0" indent="0" algn="l" rtl="0">
              <a:lnSpc>
                <a:spcPct val="200000"/>
              </a:lnSpc>
              <a:spcBef>
                <a:spcPts val="600"/>
              </a:spcBef>
              <a:spcAft>
                <a:spcPts val="0"/>
              </a:spcAft>
              <a:buNone/>
            </a:pPr>
            <a:r>
              <a:rPr lang="en" sz="1600">
                <a:latin typeface="Consolas"/>
                <a:ea typeface="Consolas"/>
                <a:cs typeface="Consolas"/>
                <a:sym typeface="Consolas"/>
              </a:rPr>
              <a:t>O(f(n)) + O(g(n)) = O(f(n) + g(n))</a:t>
            </a:r>
            <a:endParaRPr sz="1600">
              <a:latin typeface="Consolas"/>
              <a:ea typeface="Consolas"/>
              <a:cs typeface="Consolas"/>
              <a:sym typeface="Consolas"/>
            </a:endParaRPr>
          </a:p>
        </p:txBody>
      </p:sp>
      <p:sp>
        <p:nvSpPr>
          <p:cNvPr id="408" name="Google Shape;408;p5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Law of Addition</a:t>
            </a:r>
            <a:endParaRPr/>
          </a:p>
        </p:txBody>
      </p:sp>
      <p:sp>
        <p:nvSpPr>
          <p:cNvPr id="409" name="Google Shape;409;p52"/>
          <p:cNvSpPr txBox="1">
            <a:spLocks noGrp="1"/>
          </p:cNvSpPr>
          <p:nvPr>
            <p:ph type="body" idx="1"/>
          </p:nvPr>
        </p:nvSpPr>
        <p:spPr>
          <a:xfrm>
            <a:off x="4578900" y="651625"/>
            <a:ext cx="37098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Example:</a:t>
            </a:r>
            <a:endParaRPr sz="1600"/>
          </a:p>
          <a:p>
            <a:pPr marL="0" lvl="0" indent="0" algn="l" rtl="0">
              <a:spcBef>
                <a:spcPts val="600"/>
              </a:spcBef>
              <a:spcAft>
                <a:spcPts val="0"/>
              </a:spcAft>
              <a:buNone/>
            </a:pPr>
            <a:r>
              <a:rPr lang="en" sz="1600">
                <a:latin typeface="Consolas"/>
                <a:ea typeface="Consolas"/>
                <a:cs typeface="Consolas"/>
                <a:sym typeface="Consolas"/>
              </a:rPr>
              <a:t>def printing(items, digits):</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for item in items:</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	print(item)</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for digit in digits:</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	print(digit)</a:t>
            </a:r>
            <a:endParaRPr sz="1600">
              <a:latin typeface="Consolas"/>
              <a:ea typeface="Consolas"/>
              <a:cs typeface="Consolas"/>
              <a:sym typeface="Consolas"/>
            </a:endParaRPr>
          </a:p>
        </p:txBody>
      </p:sp>
      <p:sp>
        <p:nvSpPr>
          <p:cNvPr id="410" name="Google Shape;410;p52"/>
          <p:cNvSpPr/>
          <p:nvPr/>
        </p:nvSpPr>
        <p:spPr>
          <a:xfrm>
            <a:off x="7394400" y="1424093"/>
            <a:ext cx="261300" cy="744900"/>
          </a:xfrm>
          <a:prstGeom prst="rightBrace">
            <a:avLst>
              <a:gd name="adj1" fmla="val 8333"/>
              <a:gd name="adj2" fmla="val 50835"/>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2"/>
          <p:cNvSpPr txBox="1"/>
          <p:nvPr/>
        </p:nvSpPr>
        <p:spPr>
          <a:xfrm>
            <a:off x="7729145" y="1587046"/>
            <a:ext cx="743700" cy="34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5"/>
                </a:solidFill>
                <a:latin typeface="Consolas"/>
                <a:ea typeface="Consolas"/>
                <a:cs typeface="Consolas"/>
                <a:sym typeface="Consolas"/>
              </a:rPr>
              <a:t>O(n)</a:t>
            </a:r>
            <a:endParaRPr sz="1800">
              <a:solidFill>
                <a:schemeClr val="accent5"/>
              </a:solidFill>
              <a:latin typeface="Consolas"/>
              <a:ea typeface="Consolas"/>
              <a:cs typeface="Consolas"/>
              <a:sym typeface="Consolas"/>
            </a:endParaRPr>
          </a:p>
        </p:txBody>
      </p:sp>
      <p:sp>
        <p:nvSpPr>
          <p:cNvPr id="412" name="Google Shape;412;p52"/>
          <p:cNvSpPr/>
          <p:nvPr/>
        </p:nvSpPr>
        <p:spPr>
          <a:xfrm>
            <a:off x="7394400" y="2157775"/>
            <a:ext cx="261300" cy="744900"/>
          </a:xfrm>
          <a:prstGeom prst="rightBrace">
            <a:avLst>
              <a:gd name="adj1" fmla="val 8333"/>
              <a:gd name="adj2" fmla="val 50835"/>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2"/>
          <p:cNvSpPr txBox="1"/>
          <p:nvPr/>
        </p:nvSpPr>
        <p:spPr>
          <a:xfrm>
            <a:off x="7729198" y="2320754"/>
            <a:ext cx="744000" cy="34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5"/>
                </a:solidFill>
                <a:latin typeface="Consolas"/>
                <a:ea typeface="Consolas"/>
                <a:cs typeface="Consolas"/>
                <a:sym typeface="Consolas"/>
              </a:rPr>
              <a:t>O(n)</a:t>
            </a:r>
            <a:endParaRPr sz="1800">
              <a:solidFill>
                <a:schemeClr val="accent5"/>
              </a:solidFill>
              <a:latin typeface="Consolas"/>
              <a:ea typeface="Consolas"/>
              <a:cs typeface="Consolas"/>
              <a:sym typeface="Consolas"/>
            </a:endParaRPr>
          </a:p>
        </p:txBody>
      </p:sp>
      <p:sp>
        <p:nvSpPr>
          <p:cNvPr id="414" name="Google Shape;414;p52"/>
          <p:cNvSpPr txBox="1"/>
          <p:nvPr/>
        </p:nvSpPr>
        <p:spPr>
          <a:xfrm>
            <a:off x="4578900" y="3111900"/>
            <a:ext cx="3771300" cy="16857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O(n) + O(n)</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 O(n + n)</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 O(2n) </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 O(n)</a:t>
            </a:r>
            <a:endParaRPr sz="1800">
              <a:solidFill>
                <a:schemeClr val="accent5"/>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1"/>
                                        <p:tgtEl>
                                          <p:spTgt spid="4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0"/>
                                        </p:tgtEl>
                                        <p:attrNameLst>
                                          <p:attrName>style.visibility</p:attrName>
                                        </p:attrNameLst>
                                      </p:cBhvr>
                                      <p:to>
                                        <p:strVal val="visible"/>
                                      </p:to>
                                    </p:set>
                                    <p:animEffect transition="in" filter="fade">
                                      <p:cBhvr>
                                        <p:cTn id="12" dur="1"/>
                                        <p:tgtEl>
                                          <p:spTgt spid="410"/>
                                        </p:tgtEl>
                                      </p:cBhvr>
                                    </p:animEffect>
                                  </p:childTnLst>
                                </p:cTn>
                              </p:par>
                              <p:par>
                                <p:cTn id="13" presetID="10" presetClass="entr" presetSubtype="0" fill="hold" nodeType="withEffect">
                                  <p:stCondLst>
                                    <p:cond delay="0"/>
                                  </p:stCondLst>
                                  <p:childTnLst>
                                    <p:set>
                                      <p:cBhvr>
                                        <p:cTn id="14" dur="1" fill="hold">
                                          <p:stCondLst>
                                            <p:cond delay="0"/>
                                          </p:stCondLst>
                                        </p:cTn>
                                        <p:tgtEl>
                                          <p:spTgt spid="411"/>
                                        </p:tgtEl>
                                        <p:attrNameLst>
                                          <p:attrName>style.visibility</p:attrName>
                                        </p:attrNameLst>
                                      </p:cBhvr>
                                      <p:to>
                                        <p:strVal val="visible"/>
                                      </p:to>
                                    </p:set>
                                    <p:animEffect transition="in" filter="fade">
                                      <p:cBhvr>
                                        <p:cTn id="15" dur="1"/>
                                        <p:tgtEl>
                                          <p:spTgt spid="4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12"/>
                                        </p:tgtEl>
                                        <p:attrNameLst>
                                          <p:attrName>style.visibility</p:attrName>
                                        </p:attrNameLst>
                                      </p:cBhvr>
                                      <p:to>
                                        <p:strVal val="visible"/>
                                      </p:to>
                                    </p:set>
                                    <p:animEffect transition="in" filter="fade">
                                      <p:cBhvr>
                                        <p:cTn id="20" dur="1"/>
                                        <p:tgtEl>
                                          <p:spTgt spid="412"/>
                                        </p:tgtEl>
                                      </p:cBhvr>
                                    </p:animEffect>
                                  </p:childTnLst>
                                </p:cTn>
                              </p:par>
                              <p:par>
                                <p:cTn id="21" presetID="10" presetClass="entr" presetSubtype="0" fill="hold" nodeType="withEffect">
                                  <p:stCondLst>
                                    <p:cond delay="0"/>
                                  </p:stCondLst>
                                  <p:childTnLst>
                                    <p:set>
                                      <p:cBhvr>
                                        <p:cTn id="22" dur="1" fill="hold">
                                          <p:stCondLst>
                                            <p:cond delay="0"/>
                                          </p:stCondLst>
                                        </p:cTn>
                                        <p:tgtEl>
                                          <p:spTgt spid="413"/>
                                        </p:tgtEl>
                                        <p:attrNameLst>
                                          <p:attrName>style.visibility</p:attrName>
                                        </p:attrNameLst>
                                      </p:cBhvr>
                                      <p:to>
                                        <p:strVal val="visible"/>
                                      </p:to>
                                    </p:set>
                                    <p:animEffect transition="in" filter="fade">
                                      <p:cBhvr>
                                        <p:cTn id="23" dur="1"/>
                                        <p:tgtEl>
                                          <p:spTgt spid="4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14">
                                            <p:txEl>
                                              <p:pRg st="0" end="0"/>
                                            </p:txEl>
                                          </p:spTgt>
                                        </p:tgtEl>
                                        <p:attrNameLst>
                                          <p:attrName>style.visibility</p:attrName>
                                        </p:attrNameLst>
                                      </p:cBhvr>
                                      <p:to>
                                        <p:strVal val="visible"/>
                                      </p:to>
                                    </p:set>
                                    <p:animEffect transition="in" filter="fade">
                                      <p:cBhvr>
                                        <p:cTn id="28" dur="1"/>
                                        <p:tgtEl>
                                          <p:spTgt spid="41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14">
                                            <p:txEl>
                                              <p:pRg st="1" end="1"/>
                                            </p:txEl>
                                          </p:spTgt>
                                        </p:tgtEl>
                                        <p:attrNameLst>
                                          <p:attrName>style.visibility</p:attrName>
                                        </p:attrNameLst>
                                      </p:cBhvr>
                                      <p:to>
                                        <p:strVal val="visible"/>
                                      </p:to>
                                    </p:set>
                                    <p:animEffect transition="in" filter="fade">
                                      <p:cBhvr>
                                        <p:cTn id="33" dur="1"/>
                                        <p:tgtEl>
                                          <p:spTgt spid="41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14">
                                            <p:txEl>
                                              <p:pRg st="2" end="2"/>
                                            </p:txEl>
                                          </p:spTgt>
                                        </p:tgtEl>
                                        <p:attrNameLst>
                                          <p:attrName>style.visibility</p:attrName>
                                        </p:attrNameLst>
                                      </p:cBhvr>
                                      <p:to>
                                        <p:strVal val="visible"/>
                                      </p:to>
                                    </p:set>
                                    <p:animEffect transition="in" filter="fade">
                                      <p:cBhvr>
                                        <p:cTn id="38" dur="1"/>
                                        <p:tgtEl>
                                          <p:spTgt spid="414">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14">
                                            <p:txEl>
                                              <p:pRg st="3" end="3"/>
                                            </p:txEl>
                                          </p:spTgt>
                                        </p:tgtEl>
                                        <p:attrNameLst>
                                          <p:attrName>style.visibility</p:attrName>
                                        </p:attrNameLst>
                                      </p:cBhvr>
                                      <p:to>
                                        <p:strVal val="visible"/>
                                      </p:to>
                                    </p:set>
                                    <p:animEffect transition="in" filter="fade">
                                      <p:cBhvr>
                                        <p:cTn id="43" dur="1"/>
                                        <p:tgtEl>
                                          <p:spTgt spid="4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Exact Steps vs </a:t>
            </a:r>
            <a:r>
              <a:rPr lang="en">
                <a:latin typeface="Consolas"/>
                <a:ea typeface="Consolas"/>
                <a:cs typeface="Consolas"/>
                <a:sym typeface="Consolas"/>
              </a:rPr>
              <a:t>O()</a:t>
            </a:r>
            <a:r>
              <a:rPr lang="en"/>
              <a:t> </a:t>
            </a:r>
            <a:endParaRPr/>
          </a:p>
        </p:txBody>
      </p:sp>
      <p:sp>
        <p:nvSpPr>
          <p:cNvPr id="420" name="Google Shape;420;p53"/>
          <p:cNvSpPr txBox="1"/>
          <p:nvPr/>
        </p:nvSpPr>
        <p:spPr>
          <a:xfrm>
            <a:off x="400575" y="2877700"/>
            <a:ext cx="29322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5"/>
                </a:solidFill>
                <a:latin typeface="Consolas"/>
                <a:ea typeface="Consolas"/>
                <a:cs typeface="Consolas"/>
                <a:sym typeface="Consolas"/>
              </a:rPr>
              <a:t>answer = 1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while =&gt; loop n times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n &gt; 1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inside while:</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answer * n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store into answer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n - 1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store into n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return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total: 1 + 5n + 1</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421" name="Google Shape;421;p53"/>
          <p:cNvSpPr txBox="1"/>
          <p:nvPr/>
        </p:nvSpPr>
        <p:spPr>
          <a:xfrm>
            <a:off x="400575" y="25779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(Exact) Number of Operations</a:t>
            </a:r>
            <a:endParaRPr u="sng">
              <a:latin typeface="Calibri"/>
              <a:ea typeface="Calibri"/>
              <a:cs typeface="Calibri"/>
              <a:sym typeface="Calibri"/>
            </a:endParaRPr>
          </a:p>
        </p:txBody>
      </p:sp>
      <p:graphicFrame>
        <p:nvGraphicFramePr>
          <p:cNvPr id="422" name="Google Shape;422;p53"/>
          <p:cNvGraphicFramePr/>
          <p:nvPr/>
        </p:nvGraphicFramePr>
        <p:xfrm>
          <a:off x="2452363" y="697747"/>
          <a:ext cx="4239275" cy="1897287"/>
        </p:xfrm>
        <a:graphic>
          <a:graphicData uri="http://schemas.openxmlformats.org/drawingml/2006/table">
            <a:tbl>
              <a:tblPr>
                <a:noFill/>
                <a:tableStyleId>{6436D996-6D66-4ABA-853D-459B0397D2C1}</a:tableStyleId>
              </a:tblPr>
              <a:tblGrid>
                <a:gridCol w="4239275">
                  <a:extLst>
                    <a:ext uri="{9D8B030D-6E8A-4147-A177-3AD203B41FA5}">
                      <a16:colId xmlns:a16="http://schemas.microsoft.com/office/drawing/2014/main" val="20000"/>
                    </a:ext>
                  </a:extLst>
                </a:gridCol>
              </a:tblGrid>
              <a:tr h="162655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fact_iter(n):</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answer = </a:t>
                      </a:r>
                      <a:r>
                        <a:rPr lang="en" sz="1650">
                          <a:solidFill>
                            <a:srgbClr val="FBC02D"/>
                          </a:solidFill>
                          <a:latin typeface="Roboto Mono"/>
                          <a:ea typeface="Roboto Mono"/>
                          <a:cs typeface="Roboto Mono"/>
                          <a:sym typeface="Roboto Mono"/>
                        </a:rPr>
                        <a:t>1</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while</a:t>
                      </a:r>
                      <a:r>
                        <a:rPr lang="en" sz="1650">
                          <a:solidFill>
                            <a:srgbClr val="ECEFF1"/>
                          </a:solidFill>
                          <a:latin typeface="Roboto Mono"/>
                          <a:ea typeface="Roboto Mono"/>
                          <a:cs typeface="Roboto Mono"/>
                          <a:sym typeface="Roboto Mono"/>
                        </a:rPr>
                        <a:t> n &gt; </a:t>
                      </a:r>
                      <a:r>
                        <a:rPr lang="en" sz="1650">
                          <a:solidFill>
                            <a:srgbClr val="FBC02D"/>
                          </a:solidFill>
                          <a:latin typeface="Roboto Mono"/>
                          <a:ea typeface="Roboto Mono"/>
                          <a:cs typeface="Roboto Mono"/>
                          <a:sym typeface="Roboto Mono"/>
                        </a:rPr>
                        <a:t>1</a:t>
                      </a:r>
                      <a:r>
                        <a:rPr lang="en" sz="1650">
                          <a:solidFill>
                            <a:srgbClr val="ECEFF1"/>
                          </a:solidFill>
                          <a:latin typeface="Roboto Mono"/>
                          <a:ea typeface="Roboto Mono"/>
                          <a:cs typeface="Roboto Mono"/>
                          <a:sym typeface="Roboto Mono"/>
                        </a:rPr>
                        <a: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answer = answer * n</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n = n - </a:t>
                      </a:r>
                      <a:r>
                        <a:rPr lang="en" sz="1650">
                          <a:solidFill>
                            <a:srgbClr val="FBC02D"/>
                          </a:solidFill>
                          <a:latin typeface="Roboto Mono"/>
                          <a:ea typeface="Roboto Mono"/>
                          <a:cs typeface="Roboto Mono"/>
                          <a:sym typeface="Roboto Mono"/>
                        </a:rPr>
                        <a:t>1</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answer</a:t>
                      </a:r>
                      <a:endParaRPr sz="16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
        <p:nvSpPr>
          <p:cNvPr id="423" name="Google Shape;423;p53"/>
          <p:cNvSpPr txBox="1"/>
          <p:nvPr/>
        </p:nvSpPr>
        <p:spPr>
          <a:xfrm>
            <a:off x="4972575" y="2877700"/>
            <a:ext cx="32154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5"/>
                </a:solidFill>
                <a:latin typeface="Consolas"/>
                <a:ea typeface="Consolas"/>
                <a:cs typeface="Consolas"/>
                <a:sym typeface="Consolas"/>
              </a:rPr>
              <a:t>Take the number of operations, and drop multiplicative constants and lower order terms</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O(1 + 5n + 1) = O(5n + 2) = O(n)</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Linear runtime</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424" name="Google Shape;424;p53"/>
          <p:cNvSpPr txBox="1"/>
          <p:nvPr/>
        </p:nvSpPr>
        <p:spPr>
          <a:xfrm>
            <a:off x="4972575" y="25779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Big O Runtime</a:t>
            </a:r>
            <a:endParaRPr u="sng">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1"/>
                                        </p:tgtEl>
                                        <p:attrNameLst>
                                          <p:attrName>style.visibility</p:attrName>
                                        </p:attrNameLst>
                                      </p:cBhvr>
                                      <p:to>
                                        <p:strVal val="visible"/>
                                      </p:to>
                                    </p:set>
                                    <p:animEffect transition="in" filter="fade">
                                      <p:cBhvr>
                                        <p:cTn id="7" dur="1000"/>
                                        <p:tgtEl>
                                          <p:spTgt spid="4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0">
                                            <p:txEl>
                                              <p:pRg st="0" end="0"/>
                                            </p:txEl>
                                          </p:spTgt>
                                        </p:tgtEl>
                                        <p:attrNameLst>
                                          <p:attrName>style.visibility</p:attrName>
                                        </p:attrNameLst>
                                      </p:cBhvr>
                                      <p:to>
                                        <p:strVal val="visible"/>
                                      </p:to>
                                    </p:set>
                                    <p:animEffect transition="in" filter="fade">
                                      <p:cBhvr>
                                        <p:cTn id="12" dur="1"/>
                                        <p:tgtEl>
                                          <p:spTgt spid="4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0">
                                            <p:txEl>
                                              <p:pRg st="1" end="1"/>
                                            </p:txEl>
                                          </p:spTgt>
                                        </p:tgtEl>
                                        <p:attrNameLst>
                                          <p:attrName>style.visibility</p:attrName>
                                        </p:attrNameLst>
                                      </p:cBhvr>
                                      <p:to>
                                        <p:strVal val="visible"/>
                                      </p:to>
                                    </p:set>
                                    <p:animEffect transition="in" filter="fade">
                                      <p:cBhvr>
                                        <p:cTn id="17" dur="1"/>
                                        <p:tgtEl>
                                          <p:spTgt spid="42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0">
                                            <p:txEl>
                                              <p:pRg st="2" end="2"/>
                                            </p:txEl>
                                          </p:spTgt>
                                        </p:tgtEl>
                                        <p:attrNameLst>
                                          <p:attrName>style.visibility</p:attrName>
                                        </p:attrNameLst>
                                      </p:cBhvr>
                                      <p:to>
                                        <p:strVal val="visible"/>
                                      </p:to>
                                    </p:set>
                                    <p:animEffect transition="in" filter="fade">
                                      <p:cBhvr>
                                        <p:cTn id="22" dur="1"/>
                                        <p:tgtEl>
                                          <p:spTgt spid="42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20">
                                            <p:txEl>
                                              <p:pRg st="3" end="3"/>
                                            </p:txEl>
                                          </p:spTgt>
                                        </p:tgtEl>
                                        <p:attrNameLst>
                                          <p:attrName>style.visibility</p:attrName>
                                        </p:attrNameLst>
                                      </p:cBhvr>
                                      <p:to>
                                        <p:strVal val="visible"/>
                                      </p:to>
                                    </p:set>
                                    <p:animEffect transition="in" filter="fade">
                                      <p:cBhvr>
                                        <p:cTn id="27" dur="1"/>
                                        <p:tgtEl>
                                          <p:spTgt spid="42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0">
                                            <p:txEl>
                                              <p:pRg st="4" end="4"/>
                                            </p:txEl>
                                          </p:spTgt>
                                        </p:tgtEl>
                                        <p:attrNameLst>
                                          <p:attrName>style.visibility</p:attrName>
                                        </p:attrNameLst>
                                      </p:cBhvr>
                                      <p:to>
                                        <p:strVal val="visible"/>
                                      </p:to>
                                    </p:set>
                                    <p:animEffect transition="in" filter="fade">
                                      <p:cBhvr>
                                        <p:cTn id="32" dur="1"/>
                                        <p:tgtEl>
                                          <p:spTgt spid="42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20">
                                            <p:txEl>
                                              <p:pRg st="5" end="5"/>
                                            </p:txEl>
                                          </p:spTgt>
                                        </p:tgtEl>
                                        <p:attrNameLst>
                                          <p:attrName>style.visibility</p:attrName>
                                        </p:attrNameLst>
                                      </p:cBhvr>
                                      <p:to>
                                        <p:strVal val="visible"/>
                                      </p:to>
                                    </p:set>
                                    <p:animEffect transition="in" filter="fade">
                                      <p:cBhvr>
                                        <p:cTn id="37" dur="1"/>
                                        <p:tgtEl>
                                          <p:spTgt spid="42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20">
                                            <p:txEl>
                                              <p:pRg st="6" end="6"/>
                                            </p:txEl>
                                          </p:spTgt>
                                        </p:tgtEl>
                                        <p:attrNameLst>
                                          <p:attrName>style.visibility</p:attrName>
                                        </p:attrNameLst>
                                      </p:cBhvr>
                                      <p:to>
                                        <p:strVal val="visible"/>
                                      </p:to>
                                    </p:set>
                                    <p:animEffect transition="in" filter="fade">
                                      <p:cBhvr>
                                        <p:cTn id="42" dur="1"/>
                                        <p:tgtEl>
                                          <p:spTgt spid="420">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20">
                                            <p:txEl>
                                              <p:pRg st="7" end="7"/>
                                            </p:txEl>
                                          </p:spTgt>
                                        </p:tgtEl>
                                        <p:attrNameLst>
                                          <p:attrName>style.visibility</p:attrName>
                                        </p:attrNameLst>
                                      </p:cBhvr>
                                      <p:to>
                                        <p:strVal val="visible"/>
                                      </p:to>
                                    </p:set>
                                    <p:animEffect transition="in" filter="fade">
                                      <p:cBhvr>
                                        <p:cTn id="47" dur="1"/>
                                        <p:tgtEl>
                                          <p:spTgt spid="420">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20">
                                            <p:txEl>
                                              <p:pRg st="8" end="8"/>
                                            </p:txEl>
                                          </p:spTgt>
                                        </p:tgtEl>
                                        <p:attrNameLst>
                                          <p:attrName>style.visibility</p:attrName>
                                        </p:attrNameLst>
                                      </p:cBhvr>
                                      <p:to>
                                        <p:strVal val="visible"/>
                                      </p:to>
                                    </p:set>
                                    <p:animEffect transition="in" filter="fade">
                                      <p:cBhvr>
                                        <p:cTn id="52" dur="1"/>
                                        <p:tgtEl>
                                          <p:spTgt spid="420">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20">
                                            <p:txEl>
                                              <p:pRg st="9" end="9"/>
                                            </p:txEl>
                                          </p:spTgt>
                                        </p:tgtEl>
                                        <p:attrNameLst>
                                          <p:attrName>style.visibility</p:attrName>
                                        </p:attrNameLst>
                                      </p:cBhvr>
                                      <p:to>
                                        <p:strVal val="visible"/>
                                      </p:to>
                                    </p:set>
                                    <p:animEffect transition="in" filter="fade">
                                      <p:cBhvr>
                                        <p:cTn id="57" dur="1"/>
                                        <p:tgtEl>
                                          <p:spTgt spid="420">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20">
                                            <p:txEl>
                                              <p:pRg st="10" end="10"/>
                                            </p:txEl>
                                          </p:spTgt>
                                        </p:tgtEl>
                                        <p:attrNameLst>
                                          <p:attrName>style.visibility</p:attrName>
                                        </p:attrNameLst>
                                      </p:cBhvr>
                                      <p:to>
                                        <p:strVal val="visible"/>
                                      </p:to>
                                    </p:set>
                                    <p:animEffect transition="in" filter="fade">
                                      <p:cBhvr>
                                        <p:cTn id="62" dur="1"/>
                                        <p:tgtEl>
                                          <p:spTgt spid="420">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24"/>
                                        </p:tgtEl>
                                        <p:attrNameLst>
                                          <p:attrName>style.visibility</p:attrName>
                                        </p:attrNameLst>
                                      </p:cBhvr>
                                      <p:to>
                                        <p:strVal val="visible"/>
                                      </p:to>
                                    </p:set>
                                    <p:animEffect transition="in" filter="fade">
                                      <p:cBhvr>
                                        <p:cTn id="67" dur="1000"/>
                                        <p:tgtEl>
                                          <p:spTgt spid="42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23"/>
                                        </p:tgtEl>
                                        <p:attrNameLst>
                                          <p:attrName>style.visibility</p:attrName>
                                        </p:attrNameLst>
                                      </p:cBhvr>
                                      <p:to>
                                        <p:strVal val="visible"/>
                                      </p:to>
                                    </p:set>
                                    <p:animEffect transition="in" filter="fade">
                                      <p:cBhvr>
                                        <p:cTn id="72" dur="10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4"/>
          <p:cNvSpPr txBox="1">
            <a:spLocks noGrp="1"/>
          </p:cNvSpPr>
          <p:nvPr>
            <p:ph type="body" idx="1"/>
          </p:nvPr>
        </p:nvSpPr>
        <p:spPr>
          <a:xfrm>
            <a:off x="387900" y="1489825"/>
            <a:ext cx="44244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700"/>
              <a:t>Used with nested loops </a:t>
            </a:r>
            <a:endParaRPr sz="1700"/>
          </a:p>
          <a:p>
            <a:pPr marL="0" lvl="0" indent="0" algn="l" rtl="0">
              <a:spcBef>
                <a:spcPts val="600"/>
              </a:spcBef>
              <a:spcAft>
                <a:spcPts val="0"/>
              </a:spcAft>
              <a:buNone/>
            </a:pPr>
            <a:r>
              <a:rPr lang="en" sz="1500">
                <a:latin typeface="Consolas"/>
                <a:ea typeface="Consolas"/>
                <a:cs typeface="Consolas"/>
                <a:sym typeface="Consolas"/>
              </a:rPr>
              <a:t>O(f(n)) * O(g(n)) = O(f(n) * g(n))</a:t>
            </a:r>
            <a:endParaRPr sz="1500">
              <a:latin typeface="Consolas"/>
              <a:ea typeface="Consolas"/>
              <a:cs typeface="Consolas"/>
              <a:sym typeface="Consolas"/>
            </a:endParaRPr>
          </a:p>
        </p:txBody>
      </p:sp>
      <p:sp>
        <p:nvSpPr>
          <p:cNvPr id="430" name="Google Shape;430;p54"/>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Law of Multiplication</a:t>
            </a:r>
            <a:endParaRPr/>
          </a:p>
        </p:txBody>
      </p:sp>
      <p:sp>
        <p:nvSpPr>
          <p:cNvPr id="431" name="Google Shape;431;p54"/>
          <p:cNvSpPr txBox="1">
            <a:spLocks noGrp="1"/>
          </p:cNvSpPr>
          <p:nvPr>
            <p:ph type="body" idx="1"/>
          </p:nvPr>
        </p:nvSpPr>
        <p:spPr>
          <a:xfrm>
            <a:off x="4350300" y="1185025"/>
            <a:ext cx="37713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Example:</a:t>
            </a:r>
            <a:endParaRPr sz="1600"/>
          </a:p>
          <a:p>
            <a:pPr marL="0" lvl="0" indent="0" algn="l" rtl="0">
              <a:spcBef>
                <a:spcPts val="600"/>
              </a:spcBef>
              <a:spcAft>
                <a:spcPts val="0"/>
              </a:spcAft>
              <a:buNone/>
            </a:pPr>
            <a:r>
              <a:rPr lang="en" sz="1600">
                <a:latin typeface="Consolas"/>
                <a:ea typeface="Consolas"/>
                <a:cs typeface="Consolas"/>
                <a:sym typeface="Consolas"/>
              </a:rPr>
              <a:t>def printing(grid):</a:t>
            </a:r>
            <a:endParaRPr sz="1600">
              <a:latin typeface="Consolas"/>
              <a:ea typeface="Consolas"/>
              <a:cs typeface="Consolas"/>
              <a:sym typeface="Consolas"/>
            </a:endParaRPr>
          </a:p>
          <a:p>
            <a:pPr marL="0" lvl="0" indent="0" algn="l" rtl="0">
              <a:spcBef>
                <a:spcPts val="600"/>
              </a:spcBef>
              <a:spcAft>
                <a:spcPts val="0"/>
              </a:spcAft>
              <a:buNone/>
            </a:pPr>
            <a:r>
              <a:rPr lang="en" sz="1600">
                <a:latin typeface="Consolas"/>
                <a:ea typeface="Consolas"/>
                <a:cs typeface="Consolas"/>
                <a:sym typeface="Consolas"/>
              </a:rPr>
              <a:t>  for row in range(len(grid)):</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for col in range(len(row)):</a:t>
            </a:r>
            <a:endParaRPr sz="1600">
              <a:latin typeface="Consolas"/>
              <a:ea typeface="Consolas"/>
              <a:cs typeface="Consolas"/>
              <a:sym typeface="Consolas"/>
            </a:endParaRPr>
          </a:p>
          <a:p>
            <a:pPr marL="457200" lvl="0" indent="0" algn="l" rtl="0">
              <a:spcBef>
                <a:spcPts val="600"/>
              </a:spcBef>
              <a:spcAft>
                <a:spcPts val="0"/>
              </a:spcAft>
              <a:buNone/>
            </a:pPr>
            <a:r>
              <a:rPr lang="en" sz="1600">
                <a:latin typeface="Consolas"/>
                <a:ea typeface="Consolas"/>
                <a:cs typeface="Consolas"/>
                <a:sym typeface="Consolas"/>
              </a:rPr>
              <a:t>  print(grid[row][col])</a:t>
            </a:r>
            <a:endParaRPr sz="1600">
              <a:latin typeface="Consolas"/>
              <a:ea typeface="Consolas"/>
              <a:cs typeface="Consolas"/>
              <a:sym typeface="Consolas"/>
            </a:endParaRPr>
          </a:p>
        </p:txBody>
      </p:sp>
      <p:sp>
        <p:nvSpPr>
          <p:cNvPr id="432" name="Google Shape;432;p54"/>
          <p:cNvSpPr/>
          <p:nvPr/>
        </p:nvSpPr>
        <p:spPr>
          <a:xfrm>
            <a:off x="7863575" y="2000550"/>
            <a:ext cx="305100" cy="1336800"/>
          </a:xfrm>
          <a:prstGeom prst="rightBrace">
            <a:avLst>
              <a:gd name="adj1" fmla="val 8333"/>
              <a:gd name="adj2" fmla="val 50835"/>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4"/>
          <p:cNvSpPr/>
          <p:nvPr/>
        </p:nvSpPr>
        <p:spPr>
          <a:xfrm rot="10800000">
            <a:off x="4605875" y="2314825"/>
            <a:ext cx="296700" cy="756900"/>
          </a:xfrm>
          <a:prstGeom prst="rightBrace">
            <a:avLst>
              <a:gd name="adj1" fmla="val 8333"/>
              <a:gd name="adj2" fmla="val 49971"/>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4"/>
          <p:cNvSpPr txBox="1"/>
          <p:nvPr/>
        </p:nvSpPr>
        <p:spPr>
          <a:xfrm>
            <a:off x="3983025" y="2422313"/>
            <a:ext cx="844800" cy="35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5"/>
                </a:solidFill>
                <a:latin typeface="Consolas"/>
                <a:ea typeface="Consolas"/>
                <a:cs typeface="Consolas"/>
                <a:sym typeface="Consolas"/>
              </a:rPr>
              <a:t>O(n)</a:t>
            </a:r>
            <a:endParaRPr sz="1800">
              <a:solidFill>
                <a:schemeClr val="accent5"/>
              </a:solidFill>
              <a:latin typeface="Consolas"/>
              <a:ea typeface="Consolas"/>
              <a:cs typeface="Consolas"/>
              <a:sym typeface="Consolas"/>
            </a:endParaRPr>
          </a:p>
        </p:txBody>
      </p:sp>
      <p:sp>
        <p:nvSpPr>
          <p:cNvPr id="435" name="Google Shape;435;p54"/>
          <p:cNvSpPr txBox="1"/>
          <p:nvPr/>
        </p:nvSpPr>
        <p:spPr>
          <a:xfrm>
            <a:off x="4350300" y="3583700"/>
            <a:ext cx="4504500" cy="121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O(n) * O(n)</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 O(n * n)</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 O(n</a:t>
            </a:r>
            <a:r>
              <a:rPr lang="en" sz="1800" baseline="30000">
                <a:solidFill>
                  <a:schemeClr val="accent5"/>
                </a:solidFill>
                <a:latin typeface="Consolas"/>
                <a:ea typeface="Consolas"/>
                <a:cs typeface="Consolas"/>
                <a:sym typeface="Consolas"/>
              </a:rPr>
              <a:t>2</a:t>
            </a:r>
            <a:r>
              <a:rPr lang="en" sz="1800">
                <a:solidFill>
                  <a:schemeClr val="accent5"/>
                </a:solidFill>
                <a:latin typeface="Consolas"/>
                <a:ea typeface="Consolas"/>
                <a:cs typeface="Consolas"/>
                <a:sym typeface="Consolas"/>
              </a:rPr>
              <a:t>)</a:t>
            </a:r>
            <a:endParaRPr sz="1800">
              <a:solidFill>
                <a:schemeClr val="accent5"/>
              </a:solidFill>
              <a:latin typeface="Consolas"/>
              <a:ea typeface="Consolas"/>
              <a:cs typeface="Consolas"/>
              <a:sym typeface="Consolas"/>
            </a:endParaRPr>
          </a:p>
        </p:txBody>
      </p:sp>
      <p:sp>
        <p:nvSpPr>
          <p:cNvPr id="436" name="Google Shape;436;p54"/>
          <p:cNvSpPr txBox="1"/>
          <p:nvPr/>
        </p:nvSpPr>
        <p:spPr>
          <a:xfrm>
            <a:off x="8140184" y="2350055"/>
            <a:ext cx="10950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Roboto"/>
                <a:ea typeface="Roboto"/>
                <a:cs typeface="Roboto"/>
                <a:sym typeface="Roboto"/>
              </a:rPr>
              <a:t>n loops, each O(n)</a:t>
            </a:r>
            <a:endParaRPr>
              <a:solidFill>
                <a:schemeClr val="accent5"/>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1"/>
                                        <p:tgtEl>
                                          <p:spTgt spid="4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3"/>
                                        </p:tgtEl>
                                        <p:attrNameLst>
                                          <p:attrName>style.visibility</p:attrName>
                                        </p:attrNameLst>
                                      </p:cBhvr>
                                      <p:to>
                                        <p:strVal val="visible"/>
                                      </p:to>
                                    </p:set>
                                    <p:animEffect transition="in" filter="fade">
                                      <p:cBhvr>
                                        <p:cTn id="12" dur="1"/>
                                        <p:tgtEl>
                                          <p:spTgt spid="433"/>
                                        </p:tgtEl>
                                      </p:cBhvr>
                                    </p:animEffect>
                                  </p:childTnLst>
                                </p:cTn>
                              </p:par>
                              <p:par>
                                <p:cTn id="13" presetID="10" presetClass="entr" presetSubtype="0" fill="hold" nodeType="withEffect">
                                  <p:stCondLst>
                                    <p:cond delay="0"/>
                                  </p:stCondLst>
                                  <p:childTnLst>
                                    <p:set>
                                      <p:cBhvr>
                                        <p:cTn id="14" dur="1" fill="hold">
                                          <p:stCondLst>
                                            <p:cond delay="0"/>
                                          </p:stCondLst>
                                        </p:cTn>
                                        <p:tgtEl>
                                          <p:spTgt spid="434"/>
                                        </p:tgtEl>
                                        <p:attrNameLst>
                                          <p:attrName>style.visibility</p:attrName>
                                        </p:attrNameLst>
                                      </p:cBhvr>
                                      <p:to>
                                        <p:strVal val="visible"/>
                                      </p:to>
                                    </p:set>
                                    <p:animEffect transition="in" filter="fade">
                                      <p:cBhvr>
                                        <p:cTn id="15" dur="1"/>
                                        <p:tgtEl>
                                          <p:spTgt spid="4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2"/>
                                        </p:tgtEl>
                                        <p:attrNameLst>
                                          <p:attrName>style.visibility</p:attrName>
                                        </p:attrNameLst>
                                      </p:cBhvr>
                                      <p:to>
                                        <p:strVal val="visible"/>
                                      </p:to>
                                    </p:set>
                                    <p:animEffect transition="in" filter="fade">
                                      <p:cBhvr>
                                        <p:cTn id="20" dur="1"/>
                                        <p:tgtEl>
                                          <p:spTgt spid="432"/>
                                        </p:tgtEl>
                                      </p:cBhvr>
                                    </p:animEffect>
                                  </p:childTnLst>
                                </p:cTn>
                              </p:par>
                              <p:par>
                                <p:cTn id="21" presetID="10" presetClass="entr" presetSubtype="0" fill="hold" nodeType="withEffect">
                                  <p:stCondLst>
                                    <p:cond delay="0"/>
                                  </p:stCondLst>
                                  <p:childTnLst>
                                    <p:set>
                                      <p:cBhvr>
                                        <p:cTn id="22" dur="1" fill="hold">
                                          <p:stCondLst>
                                            <p:cond delay="0"/>
                                          </p:stCondLst>
                                        </p:cTn>
                                        <p:tgtEl>
                                          <p:spTgt spid="436"/>
                                        </p:tgtEl>
                                        <p:attrNameLst>
                                          <p:attrName>style.visibility</p:attrName>
                                        </p:attrNameLst>
                                      </p:cBhvr>
                                      <p:to>
                                        <p:strVal val="visible"/>
                                      </p:to>
                                    </p:set>
                                    <p:animEffect transition="in" filter="fade">
                                      <p:cBhvr>
                                        <p:cTn id="23" dur="1"/>
                                        <p:tgtEl>
                                          <p:spTgt spid="43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35">
                                            <p:txEl>
                                              <p:pRg st="0" end="0"/>
                                            </p:txEl>
                                          </p:spTgt>
                                        </p:tgtEl>
                                        <p:attrNameLst>
                                          <p:attrName>style.visibility</p:attrName>
                                        </p:attrNameLst>
                                      </p:cBhvr>
                                      <p:to>
                                        <p:strVal val="visible"/>
                                      </p:to>
                                    </p:set>
                                    <p:animEffect transition="in" filter="fade">
                                      <p:cBhvr>
                                        <p:cTn id="28" dur="1"/>
                                        <p:tgtEl>
                                          <p:spTgt spid="43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5">
                                            <p:txEl>
                                              <p:pRg st="1" end="1"/>
                                            </p:txEl>
                                          </p:spTgt>
                                        </p:tgtEl>
                                        <p:attrNameLst>
                                          <p:attrName>style.visibility</p:attrName>
                                        </p:attrNameLst>
                                      </p:cBhvr>
                                      <p:to>
                                        <p:strVal val="visible"/>
                                      </p:to>
                                    </p:set>
                                    <p:animEffect transition="in" filter="fade">
                                      <p:cBhvr>
                                        <p:cTn id="33" dur="1"/>
                                        <p:tgtEl>
                                          <p:spTgt spid="435">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35">
                                            <p:txEl>
                                              <p:pRg st="2" end="2"/>
                                            </p:txEl>
                                          </p:spTgt>
                                        </p:tgtEl>
                                        <p:attrNameLst>
                                          <p:attrName>style.visibility</p:attrName>
                                        </p:attrNameLst>
                                      </p:cBhvr>
                                      <p:to>
                                        <p:strVal val="visible"/>
                                      </p:to>
                                    </p:set>
                                    <p:animEffect transition="in" filter="fade">
                                      <p:cBhvr>
                                        <p:cTn id="38" dur="1"/>
                                        <p:tgtEl>
                                          <p:spTgt spid="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Exact Steps vs </a:t>
            </a:r>
            <a:r>
              <a:rPr lang="en">
                <a:latin typeface="Consolas"/>
                <a:ea typeface="Consolas"/>
                <a:cs typeface="Consolas"/>
                <a:sym typeface="Consolas"/>
              </a:rPr>
              <a:t>O()</a:t>
            </a:r>
            <a:r>
              <a:rPr lang="en"/>
              <a:t> </a:t>
            </a:r>
            <a:endParaRPr/>
          </a:p>
        </p:txBody>
      </p:sp>
      <p:sp>
        <p:nvSpPr>
          <p:cNvPr id="442" name="Google Shape;442;p55"/>
          <p:cNvSpPr txBox="1"/>
          <p:nvPr/>
        </p:nvSpPr>
        <p:spPr>
          <a:xfrm>
            <a:off x="400575" y="2801500"/>
            <a:ext cx="33831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5"/>
                </a:solidFill>
                <a:latin typeface="Consolas"/>
                <a:ea typeface="Consolas"/>
                <a:cs typeface="Consolas"/>
                <a:sym typeface="Consolas"/>
              </a:rPr>
              <a:t>for i in range(n)    =&gt; n times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for j in range(n)  =&gt; n times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print(str(i) + str(j)) =&gt; 4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==&gt; 4n^2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print(“---”)         =&gt; 1 op</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for k in range(n)    =&gt; n times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print(k + 2)       =&gt; 2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a:solidFill>
                  <a:schemeClr val="accent5"/>
                </a:solidFill>
                <a:latin typeface="Consolas"/>
                <a:ea typeface="Consolas"/>
                <a:cs typeface="Consolas"/>
                <a:sym typeface="Consolas"/>
              </a:rPr>
              <a:t>                    ==&gt; 2n ops</a:t>
            </a:r>
            <a:endParaRPr sz="1300">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total: 4n^2 + 1 + 2n</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443" name="Google Shape;443;p55"/>
          <p:cNvSpPr txBox="1"/>
          <p:nvPr/>
        </p:nvSpPr>
        <p:spPr>
          <a:xfrm>
            <a:off x="400575" y="25017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(Exact) Number of Operations</a:t>
            </a:r>
            <a:endParaRPr u="sng">
              <a:latin typeface="Calibri"/>
              <a:ea typeface="Calibri"/>
              <a:cs typeface="Calibri"/>
              <a:sym typeface="Calibri"/>
            </a:endParaRPr>
          </a:p>
        </p:txBody>
      </p:sp>
      <p:graphicFrame>
        <p:nvGraphicFramePr>
          <p:cNvPr id="444" name="Google Shape;444;p55"/>
          <p:cNvGraphicFramePr/>
          <p:nvPr/>
        </p:nvGraphicFramePr>
        <p:xfrm>
          <a:off x="2452350" y="687747"/>
          <a:ext cx="4239275" cy="1943642"/>
        </p:xfrm>
        <a:graphic>
          <a:graphicData uri="http://schemas.openxmlformats.org/drawingml/2006/table">
            <a:tbl>
              <a:tblPr>
                <a:noFill/>
                <a:tableStyleId>{6436D996-6D66-4ABA-853D-459B0397D2C1}</a:tableStyleId>
              </a:tblPr>
              <a:tblGrid>
                <a:gridCol w="4239275">
                  <a:extLst>
                    <a:ext uri="{9D8B030D-6E8A-4147-A177-3AD203B41FA5}">
                      <a16:colId xmlns:a16="http://schemas.microsoft.com/office/drawing/2014/main" val="20000"/>
                    </a:ext>
                  </a:extLst>
                </a:gridCol>
              </a:tblGrid>
              <a:tr h="1336650">
                <a:tc>
                  <a:txBody>
                    <a:bodyPr/>
                    <a:lstStyle/>
                    <a:p>
                      <a:pPr marL="0" lvl="0" indent="0" algn="l" rtl="0">
                        <a:lnSpc>
                          <a:spcPct val="115000"/>
                        </a:lnSpc>
                        <a:spcBef>
                          <a:spcPts val="0"/>
                        </a:spcBef>
                        <a:spcAft>
                          <a:spcPts val="0"/>
                        </a:spcAft>
                        <a:buNone/>
                      </a:pPr>
                      <a:r>
                        <a:rPr lang="en" sz="1450">
                          <a:solidFill>
                            <a:srgbClr val="4DD0E1"/>
                          </a:solidFill>
                          <a:latin typeface="Roboto Mono"/>
                          <a:ea typeface="Roboto Mono"/>
                          <a:cs typeface="Roboto Mono"/>
                          <a:sym typeface="Roboto Mono"/>
                        </a:rPr>
                        <a:t>def</a:t>
                      </a:r>
                      <a:r>
                        <a:rPr lang="en" sz="1450">
                          <a:solidFill>
                            <a:srgbClr val="ECEFF1"/>
                          </a:solidFill>
                          <a:latin typeface="Roboto Mono"/>
                          <a:ea typeface="Roboto Mono"/>
                          <a:cs typeface="Roboto Mono"/>
                          <a:sym typeface="Roboto Mono"/>
                        </a:rPr>
                        <a:t> mystery(n):</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for</a:t>
                      </a:r>
                      <a:r>
                        <a:rPr lang="en" sz="1450">
                          <a:solidFill>
                            <a:srgbClr val="ECEFF1"/>
                          </a:solidFill>
                          <a:latin typeface="Roboto Mono"/>
                          <a:ea typeface="Roboto Mono"/>
                          <a:cs typeface="Roboto Mono"/>
                          <a:sym typeface="Roboto Mono"/>
                        </a:rPr>
                        <a:t> i </a:t>
                      </a:r>
                      <a:r>
                        <a:rPr lang="en" sz="1450">
                          <a:solidFill>
                            <a:srgbClr val="4DD0E1"/>
                          </a:solidFill>
                          <a:latin typeface="Roboto Mono"/>
                          <a:ea typeface="Roboto Mono"/>
                          <a:cs typeface="Roboto Mono"/>
                          <a:sym typeface="Roboto Mono"/>
                        </a:rPr>
                        <a:t>in</a:t>
                      </a:r>
                      <a:r>
                        <a:rPr lang="en" sz="1450">
                          <a:solidFill>
                            <a:srgbClr val="ECEFF1"/>
                          </a:solidFill>
                          <a:latin typeface="Roboto Mono"/>
                          <a:ea typeface="Roboto Mono"/>
                          <a:cs typeface="Roboto Mono"/>
                          <a:sym typeface="Roboto Mono"/>
                        </a:rPr>
                        <a:t> </a:t>
                      </a:r>
                      <a:r>
                        <a:rPr lang="en" sz="1450">
                          <a:solidFill>
                            <a:srgbClr val="CE93D8"/>
                          </a:solidFill>
                          <a:latin typeface="Roboto Mono"/>
                          <a:ea typeface="Roboto Mono"/>
                          <a:cs typeface="Roboto Mono"/>
                          <a:sym typeface="Roboto Mono"/>
                        </a:rPr>
                        <a:t>range</a:t>
                      </a:r>
                      <a:r>
                        <a:rPr lang="en" sz="1450">
                          <a:solidFill>
                            <a:srgbClr val="ECEFF1"/>
                          </a:solidFill>
                          <a:latin typeface="Roboto Mono"/>
                          <a:ea typeface="Roboto Mono"/>
                          <a:cs typeface="Roboto Mono"/>
                          <a:sym typeface="Roboto Mono"/>
                        </a:rPr>
                        <a:t>(n):</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for</a:t>
                      </a:r>
                      <a:r>
                        <a:rPr lang="en" sz="1450">
                          <a:solidFill>
                            <a:srgbClr val="ECEFF1"/>
                          </a:solidFill>
                          <a:latin typeface="Roboto Mono"/>
                          <a:ea typeface="Roboto Mono"/>
                          <a:cs typeface="Roboto Mono"/>
                          <a:sym typeface="Roboto Mono"/>
                        </a:rPr>
                        <a:t> j </a:t>
                      </a:r>
                      <a:r>
                        <a:rPr lang="en" sz="1450">
                          <a:solidFill>
                            <a:srgbClr val="4DD0E1"/>
                          </a:solidFill>
                          <a:latin typeface="Roboto Mono"/>
                          <a:ea typeface="Roboto Mono"/>
                          <a:cs typeface="Roboto Mono"/>
                          <a:sym typeface="Roboto Mono"/>
                        </a:rPr>
                        <a:t>in</a:t>
                      </a:r>
                      <a:r>
                        <a:rPr lang="en" sz="1450">
                          <a:solidFill>
                            <a:srgbClr val="ECEFF1"/>
                          </a:solidFill>
                          <a:latin typeface="Roboto Mono"/>
                          <a:ea typeface="Roboto Mono"/>
                          <a:cs typeface="Roboto Mono"/>
                          <a:sym typeface="Roboto Mono"/>
                        </a:rPr>
                        <a:t> </a:t>
                      </a:r>
                      <a:r>
                        <a:rPr lang="en" sz="1450">
                          <a:solidFill>
                            <a:srgbClr val="CE93D8"/>
                          </a:solidFill>
                          <a:latin typeface="Roboto Mono"/>
                          <a:ea typeface="Roboto Mono"/>
                          <a:cs typeface="Roboto Mono"/>
                          <a:sym typeface="Roboto Mono"/>
                        </a:rPr>
                        <a:t>range</a:t>
                      </a:r>
                      <a:r>
                        <a:rPr lang="en" sz="1450">
                          <a:solidFill>
                            <a:srgbClr val="ECEFF1"/>
                          </a:solidFill>
                          <a:latin typeface="Roboto Mono"/>
                          <a:ea typeface="Roboto Mono"/>
                          <a:cs typeface="Roboto Mono"/>
                          <a:sym typeface="Roboto Mono"/>
                        </a:rPr>
                        <a:t>(n):</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print</a:t>
                      </a:r>
                      <a:r>
                        <a:rPr lang="en" sz="1450">
                          <a:solidFill>
                            <a:srgbClr val="ECEFF1"/>
                          </a:solidFill>
                          <a:latin typeface="Roboto Mono"/>
                          <a:ea typeface="Roboto Mono"/>
                          <a:cs typeface="Roboto Mono"/>
                          <a:sym typeface="Roboto Mono"/>
                        </a:rPr>
                        <a:t>(str(i), str(j))</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print</a:t>
                      </a:r>
                      <a:r>
                        <a:rPr lang="en" sz="1450">
                          <a:solidFill>
                            <a:srgbClr val="ECEFF1"/>
                          </a:solidFill>
                          <a:latin typeface="Roboto Mono"/>
                          <a:ea typeface="Roboto Mono"/>
                          <a:cs typeface="Roboto Mono"/>
                          <a:sym typeface="Roboto Mono"/>
                        </a:rPr>
                        <a:t>(</a:t>
                      </a:r>
                      <a:r>
                        <a:rPr lang="en" sz="1450">
                          <a:solidFill>
                            <a:srgbClr val="9CCC65"/>
                          </a:solidFill>
                          <a:latin typeface="Roboto Mono"/>
                          <a:ea typeface="Roboto Mono"/>
                          <a:cs typeface="Roboto Mono"/>
                          <a:sym typeface="Roboto Mono"/>
                        </a:rPr>
                        <a:t>"------"</a:t>
                      </a:r>
                      <a:r>
                        <a:rPr lang="en" sz="1450">
                          <a:solidFill>
                            <a:srgbClr val="ECEFF1"/>
                          </a:solidFill>
                          <a:latin typeface="Roboto Mono"/>
                          <a:ea typeface="Roboto Mono"/>
                          <a:cs typeface="Roboto Mono"/>
                          <a:sym typeface="Roboto Mono"/>
                        </a:rPr>
                        <a:t>)</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for</a:t>
                      </a:r>
                      <a:r>
                        <a:rPr lang="en" sz="1450">
                          <a:solidFill>
                            <a:srgbClr val="ECEFF1"/>
                          </a:solidFill>
                          <a:latin typeface="Roboto Mono"/>
                          <a:ea typeface="Roboto Mono"/>
                          <a:cs typeface="Roboto Mono"/>
                          <a:sym typeface="Roboto Mono"/>
                        </a:rPr>
                        <a:t> k </a:t>
                      </a:r>
                      <a:r>
                        <a:rPr lang="en" sz="1450">
                          <a:solidFill>
                            <a:srgbClr val="4DD0E1"/>
                          </a:solidFill>
                          <a:latin typeface="Roboto Mono"/>
                          <a:ea typeface="Roboto Mono"/>
                          <a:cs typeface="Roboto Mono"/>
                          <a:sym typeface="Roboto Mono"/>
                        </a:rPr>
                        <a:t>in</a:t>
                      </a:r>
                      <a:r>
                        <a:rPr lang="en" sz="1450">
                          <a:solidFill>
                            <a:srgbClr val="ECEFF1"/>
                          </a:solidFill>
                          <a:latin typeface="Roboto Mono"/>
                          <a:ea typeface="Roboto Mono"/>
                          <a:cs typeface="Roboto Mono"/>
                          <a:sym typeface="Roboto Mono"/>
                        </a:rPr>
                        <a:t> </a:t>
                      </a:r>
                      <a:r>
                        <a:rPr lang="en" sz="1450">
                          <a:solidFill>
                            <a:srgbClr val="CE93D8"/>
                          </a:solidFill>
                          <a:latin typeface="Roboto Mono"/>
                          <a:ea typeface="Roboto Mono"/>
                          <a:cs typeface="Roboto Mono"/>
                          <a:sym typeface="Roboto Mono"/>
                        </a:rPr>
                        <a:t>range</a:t>
                      </a:r>
                      <a:r>
                        <a:rPr lang="en" sz="1450">
                          <a:solidFill>
                            <a:srgbClr val="ECEFF1"/>
                          </a:solidFill>
                          <a:latin typeface="Roboto Mono"/>
                          <a:ea typeface="Roboto Mono"/>
                          <a:cs typeface="Roboto Mono"/>
                          <a:sym typeface="Roboto Mono"/>
                        </a:rPr>
                        <a:t>(n):</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print</a:t>
                      </a:r>
                      <a:r>
                        <a:rPr lang="en" sz="1450">
                          <a:solidFill>
                            <a:srgbClr val="ECEFF1"/>
                          </a:solidFill>
                          <a:latin typeface="Roboto Mono"/>
                          <a:ea typeface="Roboto Mono"/>
                          <a:cs typeface="Roboto Mono"/>
                          <a:sym typeface="Roboto Mono"/>
                        </a:rPr>
                        <a:t>(k + 2)</a:t>
                      </a:r>
                      <a:endParaRPr sz="14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
        <p:nvSpPr>
          <p:cNvPr id="445" name="Google Shape;445;p55"/>
          <p:cNvSpPr txBox="1"/>
          <p:nvPr/>
        </p:nvSpPr>
        <p:spPr>
          <a:xfrm>
            <a:off x="4972575" y="2877700"/>
            <a:ext cx="3215400" cy="21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5"/>
                </a:solidFill>
                <a:latin typeface="Consolas"/>
                <a:ea typeface="Consolas"/>
                <a:cs typeface="Consolas"/>
                <a:sym typeface="Consolas"/>
              </a:rPr>
              <a:t>Take the number of operations, and drop multiplicative constants and lower order terms</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O(4n^2 + 1 + 2n) = O(n^2 + 1 + n)</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 O(n^2)</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r>
              <a:rPr lang="en" sz="1300" b="1">
                <a:solidFill>
                  <a:schemeClr val="accent5"/>
                </a:solidFill>
                <a:latin typeface="Consolas"/>
                <a:ea typeface="Consolas"/>
                <a:cs typeface="Consolas"/>
                <a:sym typeface="Consolas"/>
              </a:rPr>
              <a:t>Quadratic runtime</a:t>
            </a:r>
            <a:endParaRPr sz="1300" b="1">
              <a:solidFill>
                <a:schemeClr val="accent5"/>
              </a:solidFill>
              <a:latin typeface="Consolas"/>
              <a:ea typeface="Consolas"/>
              <a:cs typeface="Consolas"/>
              <a:sym typeface="Consolas"/>
            </a:endParaRPr>
          </a:p>
          <a:p>
            <a:pPr marL="0" lvl="0" indent="0" algn="l" rtl="0">
              <a:spcBef>
                <a:spcPts val="0"/>
              </a:spcBef>
              <a:spcAft>
                <a:spcPts val="0"/>
              </a:spcAft>
              <a:buNone/>
            </a:pPr>
            <a:endParaRPr sz="1300">
              <a:solidFill>
                <a:srgbClr val="FFFFFF"/>
              </a:solidFill>
              <a:latin typeface="Roboto"/>
              <a:ea typeface="Roboto"/>
              <a:cs typeface="Roboto"/>
              <a:sym typeface="Roboto"/>
            </a:endParaRPr>
          </a:p>
        </p:txBody>
      </p:sp>
      <p:sp>
        <p:nvSpPr>
          <p:cNvPr id="446" name="Google Shape;446;p55"/>
          <p:cNvSpPr txBox="1"/>
          <p:nvPr/>
        </p:nvSpPr>
        <p:spPr>
          <a:xfrm>
            <a:off x="4972575" y="2577950"/>
            <a:ext cx="2735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latin typeface="Calibri"/>
                <a:ea typeface="Calibri"/>
                <a:cs typeface="Calibri"/>
                <a:sym typeface="Calibri"/>
              </a:rPr>
              <a:t>Big O Runtime</a:t>
            </a:r>
            <a:endParaRPr u="sng">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animEffect transition="in" filter="fade">
                                      <p:cBhvr>
                                        <p:cTn id="7" dur="1000"/>
                                        <p:tgtEl>
                                          <p:spTgt spid="4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2">
                                            <p:txEl>
                                              <p:pRg st="0" end="0"/>
                                            </p:txEl>
                                          </p:spTgt>
                                        </p:tgtEl>
                                        <p:attrNameLst>
                                          <p:attrName>style.visibility</p:attrName>
                                        </p:attrNameLst>
                                      </p:cBhvr>
                                      <p:to>
                                        <p:strVal val="visible"/>
                                      </p:to>
                                    </p:set>
                                    <p:animEffect transition="in" filter="fade">
                                      <p:cBhvr>
                                        <p:cTn id="12" dur="1"/>
                                        <p:tgtEl>
                                          <p:spTgt spid="4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2">
                                            <p:txEl>
                                              <p:pRg st="1" end="1"/>
                                            </p:txEl>
                                          </p:spTgt>
                                        </p:tgtEl>
                                        <p:attrNameLst>
                                          <p:attrName>style.visibility</p:attrName>
                                        </p:attrNameLst>
                                      </p:cBhvr>
                                      <p:to>
                                        <p:strVal val="visible"/>
                                      </p:to>
                                    </p:set>
                                    <p:animEffect transition="in" filter="fade">
                                      <p:cBhvr>
                                        <p:cTn id="17" dur="1"/>
                                        <p:tgtEl>
                                          <p:spTgt spid="44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2">
                                            <p:txEl>
                                              <p:pRg st="2" end="2"/>
                                            </p:txEl>
                                          </p:spTgt>
                                        </p:tgtEl>
                                        <p:attrNameLst>
                                          <p:attrName>style.visibility</p:attrName>
                                        </p:attrNameLst>
                                      </p:cBhvr>
                                      <p:to>
                                        <p:strVal val="visible"/>
                                      </p:to>
                                    </p:set>
                                    <p:animEffect transition="in" filter="fade">
                                      <p:cBhvr>
                                        <p:cTn id="22" dur="1"/>
                                        <p:tgtEl>
                                          <p:spTgt spid="44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2">
                                            <p:txEl>
                                              <p:pRg st="3" end="3"/>
                                            </p:txEl>
                                          </p:spTgt>
                                        </p:tgtEl>
                                        <p:attrNameLst>
                                          <p:attrName>style.visibility</p:attrName>
                                        </p:attrNameLst>
                                      </p:cBhvr>
                                      <p:to>
                                        <p:strVal val="visible"/>
                                      </p:to>
                                    </p:set>
                                    <p:animEffect transition="in" filter="fade">
                                      <p:cBhvr>
                                        <p:cTn id="27" dur="1"/>
                                        <p:tgtEl>
                                          <p:spTgt spid="44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2">
                                            <p:txEl>
                                              <p:pRg st="4" end="4"/>
                                            </p:txEl>
                                          </p:spTgt>
                                        </p:tgtEl>
                                        <p:attrNameLst>
                                          <p:attrName>style.visibility</p:attrName>
                                        </p:attrNameLst>
                                      </p:cBhvr>
                                      <p:to>
                                        <p:strVal val="visible"/>
                                      </p:to>
                                    </p:set>
                                    <p:animEffect transition="in" filter="fade">
                                      <p:cBhvr>
                                        <p:cTn id="32" dur="1"/>
                                        <p:tgtEl>
                                          <p:spTgt spid="44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2">
                                            <p:txEl>
                                              <p:pRg st="5" end="5"/>
                                            </p:txEl>
                                          </p:spTgt>
                                        </p:tgtEl>
                                        <p:attrNameLst>
                                          <p:attrName>style.visibility</p:attrName>
                                        </p:attrNameLst>
                                      </p:cBhvr>
                                      <p:to>
                                        <p:strVal val="visible"/>
                                      </p:to>
                                    </p:set>
                                    <p:animEffect transition="in" filter="fade">
                                      <p:cBhvr>
                                        <p:cTn id="37" dur="1"/>
                                        <p:tgtEl>
                                          <p:spTgt spid="44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2">
                                            <p:txEl>
                                              <p:pRg st="6" end="6"/>
                                            </p:txEl>
                                          </p:spTgt>
                                        </p:tgtEl>
                                        <p:attrNameLst>
                                          <p:attrName>style.visibility</p:attrName>
                                        </p:attrNameLst>
                                      </p:cBhvr>
                                      <p:to>
                                        <p:strVal val="visible"/>
                                      </p:to>
                                    </p:set>
                                    <p:animEffect transition="in" filter="fade">
                                      <p:cBhvr>
                                        <p:cTn id="42" dur="1"/>
                                        <p:tgtEl>
                                          <p:spTgt spid="44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42">
                                            <p:txEl>
                                              <p:pRg st="7" end="7"/>
                                            </p:txEl>
                                          </p:spTgt>
                                        </p:tgtEl>
                                        <p:attrNameLst>
                                          <p:attrName>style.visibility</p:attrName>
                                        </p:attrNameLst>
                                      </p:cBhvr>
                                      <p:to>
                                        <p:strVal val="visible"/>
                                      </p:to>
                                    </p:set>
                                    <p:animEffect transition="in" filter="fade">
                                      <p:cBhvr>
                                        <p:cTn id="47" dur="1"/>
                                        <p:tgtEl>
                                          <p:spTgt spid="44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42">
                                            <p:txEl>
                                              <p:pRg st="8" end="8"/>
                                            </p:txEl>
                                          </p:spTgt>
                                        </p:tgtEl>
                                        <p:attrNameLst>
                                          <p:attrName>style.visibility</p:attrName>
                                        </p:attrNameLst>
                                      </p:cBhvr>
                                      <p:to>
                                        <p:strVal val="visible"/>
                                      </p:to>
                                    </p:set>
                                    <p:animEffect transition="in" filter="fade">
                                      <p:cBhvr>
                                        <p:cTn id="52" dur="1"/>
                                        <p:tgtEl>
                                          <p:spTgt spid="44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42">
                                            <p:txEl>
                                              <p:pRg st="9" end="9"/>
                                            </p:txEl>
                                          </p:spTgt>
                                        </p:tgtEl>
                                        <p:attrNameLst>
                                          <p:attrName>style.visibility</p:attrName>
                                        </p:attrNameLst>
                                      </p:cBhvr>
                                      <p:to>
                                        <p:strVal val="visible"/>
                                      </p:to>
                                    </p:set>
                                    <p:animEffect transition="in" filter="fade">
                                      <p:cBhvr>
                                        <p:cTn id="57" dur="1"/>
                                        <p:tgtEl>
                                          <p:spTgt spid="44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42">
                                            <p:txEl>
                                              <p:pRg st="10" end="10"/>
                                            </p:txEl>
                                          </p:spTgt>
                                        </p:tgtEl>
                                        <p:attrNameLst>
                                          <p:attrName>style.visibility</p:attrName>
                                        </p:attrNameLst>
                                      </p:cBhvr>
                                      <p:to>
                                        <p:strVal val="visible"/>
                                      </p:to>
                                    </p:set>
                                    <p:animEffect transition="in" filter="fade">
                                      <p:cBhvr>
                                        <p:cTn id="62" dur="1"/>
                                        <p:tgtEl>
                                          <p:spTgt spid="44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42">
                                            <p:txEl>
                                              <p:pRg st="11" end="11"/>
                                            </p:txEl>
                                          </p:spTgt>
                                        </p:tgtEl>
                                        <p:attrNameLst>
                                          <p:attrName>style.visibility</p:attrName>
                                        </p:attrNameLst>
                                      </p:cBhvr>
                                      <p:to>
                                        <p:strVal val="visible"/>
                                      </p:to>
                                    </p:set>
                                    <p:animEffect transition="in" filter="fade">
                                      <p:cBhvr>
                                        <p:cTn id="67" dur="1"/>
                                        <p:tgtEl>
                                          <p:spTgt spid="44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46"/>
                                        </p:tgtEl>
                                        <p:attrNameLst>
                                          <p:attrName>style.visibility</p:attrName>
                                        </p:attrNameLst>
                                      </p:cBhvr>
                                      <p:to>
                                        <p:strVal val="visible"/>
                                      </p:to>
                                    </p:set>
                                    <p:animEffect transition="in" filter="fade">
                                      <p:cBhvr>
                                        <p:cTn id="72" dur="1000"/>
                                        <p:tgtEl>
                                          <p:spTgt spid="4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45"/>
                                        </p:tgtEl>
                                        <p:attrNameLst>
                                          <p:attrName>style.visibility</p:attrName>
                                        </p:attrNameLst>
                                      </p:cBhvr>
                                      <p:to>
                                        <p:strVal val="visible"/>
                                      </p:to>
                                    </p:set>
                                    <p:animEffect transition="in" filter="fade">
                                      <p:cBhvr>
                                        <p:cTn id="77" dur="1000"/>
                                        <p:tgtEl>
                                          <p:spTgt spid="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What’s O() Measuring?</a:t>
            </a:r>
            <a:endParaRPr/>
          </a:p>
        </p:txBody>
      </p:sp>
      <p:sp>
        <p:nvSpPr>
          <p:cNvPr id="452" name="Google Shape;452;p5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457200" lvl="0" indent="-355600" algn="l" rtl="0">
              <a:spcBef>
                <a:spcPts val="600"/>
              </a:spcBef>
              <a:spcAft>
                <a:spcPts val="0"/>
              </a:spcAft>
              <a:buSzPts val="2000"/>
              <a:buChar char="●"/>
            </a:pPr>
            <a:r>
              <a:rPr lang="en"/>
              <a:t>Amount of time needed grows as size of input, </a:t>
            </a:r>
            <a:r>
              <a:rPr lang="en">
                <a:latin typeface="Consolas"/>
                <a:ea typeface="Consolas"/>
                <a:cs typeface="Consolas"/>
                <a:sym typeface="Consolas"/>
              </a:rPr>
              <a:t>n</a:t>
            </a:r>
            <a:r>
              <a:rPr lang="en"/>
              <a:t>, to problem grows</a:t>
            </a:r>
            <a:endParaRPr/>
          </a:p>
          <a:p>
            <a:pPr marL="457200" lvl="0" indent="-355600" algn="l" rtl="0">
              <a:spcBef>
                <a:spcPts val="0"/>
              </a:spcBef>
              <a:spcAft>
                <a:spcPts val="0"/>
              </a:spcAft>
              <a:buSzPts val="2000"/>
              <a:buChar char="●"/>
            </a:pPr>
            <a:r>
              <a:rPr lang="en"/>
              <a:t>Want to know asymptotic behavior as size of problem gets large</a:t>
            </a:r>
            <a:endParaRPr/>
          </a:p>
          <a:p>
            <a:pPr marL="457200" lvl="0" indent="-355600" algn="l" rtl="0">
              <a:spcBef>
                <a:spcPts val="0"/>
              </a:spcBef>
              <a:spcAft>
                <a:spcPts val="0"/>
              </a:spcAft>
              <a:buSzPts val="2000"/>
              <a:buChar char="●"/>
            </a:pPr>
            <a:r>
              <a:rPr lang="en"/>
              <a:t>Focus on term that grows most rapidly in sum of terms</a:t>
            </a:r>
            <a:endParaRPr/>
          </a:p>
          <a:p>
            <a:pPr marL="457200" lvl="0" indent="-355600" algn="l" rtl="0">
              <a:spcBef>
                <a:spcPts val="0"/>
              </a:spcBef>
              <a:spcAft>
                <a:spcPts val="0"/>
              </a:spcAft>
              <a:buSzPts val="2000"/>
              <a:buChar char="●"/>
            </a:pPr>
            <a:r>
              <a:rPr lang="en"/>
              <a:t>Ignore multiplicative and additive constants</a:t>
            </a:r>
            <a:endParaRPr/>
          </a:p>
          <a:p>
            <a:pPr marL="0" lvl="0" indent="0" algn="l" rtl="0">
              <a:spcBef>
                <a:spcPts val="600"/>
              </a:spcBef>
              <a:spcAft>
                <a:spcPts val="0"/>
              </a:spcAft>
              <a:buNone/>
            </a:pPr>
            <a:endParaRPr>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xEl>
                                              <p:pRg st="0" end="0"/>
                                            </p:txEl>
                                          </p:spTgt>
                                        </p:tgtEl>
                                        <p:attrNameLst>
                                          <p:attrName>style.visibility</p:attrName>
                                        </p:attrNameLst>
                                      </p:cBhvr>
                                      <p:to>
                                        <p:strVal val="visible"/>
                                      </p:to>
                                    </p:set>
                                    <p:animEffect transition="in" filter="fade">
                                      <p:cBhvr>
                                        <p:cTn id="7" dur="1"/>
                                        <p:tgtEl>
                                          <p:spTgt spid="4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2">
                                            <p:txEl>
                                              <p:pRg st="1" end="1"/>
                                            </p:txEl>
                                          </p:spTgt>
                                        </p:tgtEl>
                                        <p:attrNameLst>
                                          <p:attrName>style.visibility</p:attrName>
                                        </p:attrNameLst>
                                      </p:cBhvr>
                                      <p:to>
                                        <p:strVal val="visible"/>
                                      </p:to>
                                    </p:set>
                                    <p:animEffect transition="in" filter="fade">
                                      <p:cBhvr>
                                        <p:cTn id="12" dur="1"/>
                                        <p:tgtEl>
                                          <p:spTgt spid="4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2">
                                            <p:txEl>
                                              <p:pRg st="2" end="2"/>
                                            </p:txEl>
                                          </p:spTgt>
                                        </p:tgtEl>
                                        <p:attrNameLst>
                                          <p:attrName>style.visibility</p:attrName>
                                        </p:attrNameLst>
                                      </p:cBhvr>
                                      <p:to>
                                        <p:strVal val="visible"/>
                                      </p:to>
                                    </p:set>
                                    <p:animEffect transition="in" filter="fade">
                                      <p:cBhvr>
                                        <p:cTn id="17" dur="1"/>
                                        <p:tgtEl>
                                          <p:spTgt spid="4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2">
                                            <p:txEl>
                                              <p:pRg st="3" end="3"/>
                                            </p:txEl>
                                          </p:spTgt>
                                        </p:tgtEl>
                                        <p:attrNameLst>
                                          <p:attrName>style.visibility</p:attrName>
                                        </p:attrNameLst>
                                      </p:cBhvr>
                                      <p:to>
                                        <p:strVal val="visible"/>
                                      </p:to>
                                    </p:set>
                                    <p:animEffect transition="in" filter="fade">
                                      <p:cBhvr>
                                        <p:cTn id="22" dur="1"/>
                                        <p:tgtEl>
                                          <p:spTgt spid="4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2">
                                            <p:txEl>
                                              <p:pRg st="4" end="4"/>
                                            </p:txEl>
                                          </p:spTgt>
                                        </p:tgtEl>
                                        <p:attrNameLst>
                                          <p:attrName>style.visibility</p:attrName>
                                        </p:attrNameLst>
                                      </p:cBhvr>
                                      <p:to>
                                        <p:strVal val="visible"/>
                                      </p:to>
                                    </p:set>
                                    <p:animEffect transition="in" filter="fade">
                                      <p:cBhvr>
                                        <p:cTn id="27" dur="1"/>
                                        <p:tgtEl>
                                          <p:spTgt spid="4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7"/>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Practical Use of Big O</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8"/>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Computing Big O Runtime </a:t>
            </a:r>
            <a:endParaRPr/>
          </a:p>
        </p:txBody>
      </p:sp>
      <p:sp>
        <p:nvSpPr>
          <p:cNvPr id="463" name="Google Shape;463;p58"/>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Steps:</a:t>
            </a:r>
            <a:endParaRPr dirty="0"/>
          </a:p>
          <a:p>
            <a:pPr marL="457200" lvl="0" indent="-355600" algn="l" rtl="0">
              <a:spcBef>
                <a:spcPts val="600"/>
              </a:spcBef>
              <a:spcAft>
                <a:spcPts val="0"/>
              </a:spcAft>
              <a:buSzPts val="2000"/>
              <a:buAutoNum type="arabicPeriod"/>
            </a:pPr>
            <a:r>
              <a:rPr lang="en" dirty="0"/>
              <a:t>Count the number of operations</a:t>
            </a:r>
            <a:endParaRPr dirty="0"/>
          </a:p>
          <a:p>
            <a:pPr marL="457200" lvl="0" indent="-355600" algn="l" rtl="0">
              <a:spcBef>
                <a:spcPts val="0"/>
              </a:spcBef>
              <a:spcAft>
                <a:spcPts val="0"/>
              </a:spcAft>
              <a:buSzPts val="2000"/>
              <a:buAutoNum type="arabicPeriod"/>
            </a:pPr>
            <a:r>
              <a:rPr lang="en" dirty="0"/>
              <a:t>Drop all multiplicative constants and keep only highest order term.</a:t>
            </a: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Notice that because you drop lowest order terms, you don’t need to worry about whether to count something as 1 or 2 or 5 operations. They are all O(1) (constant time)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9"/>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Comparing Efficiency of Two Algorithms</a:t>
            </a:r>
            <a:endParaRPr/>
          </a:p>
        </p:txBody>
      </p:sp>
      <p:sp>
        <p:nvSpPr>
          <p:cNvPr id="469" name="Google Shape;469;p59"/>
          <p:cNvSpPr txBox="1">
            <a:spLocks noGrp="1"/>
          </p:cNvSpPr>
          <p:nvPr>
            <p:ph type="body" idx="1"/>
          </p:nvPr>
        </p:nvSpPr>
        <p:spPr>
          <a:xfrm>
            <a:off x="243000" y="556500"/>
            <a:ext cx="8443800" cy="154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Steps:</a:t>
            </a:r>
            <a:endParaRPr/>
          </a:p>
          <a:p>
            <a:pPr marL="457200" lvl="0" indent="-355600" algn="l" rtl="0">
              <a:spcBef>
                <a:spcPts val="600"/>
              </a:spcBef>
              <a:spcAft>
                <a:spcPts val="0"/>
              </a:spcAft>
              <a:buSzPts val="2000"/>
              <a:buAutoNum type="arabicPeriod"/>
            </a:pPr>
            <a:r>
              <a:rPr lang="en"/>
              <a:t>Compute Big O Runtime of both algorithms</a:t>
            </a:r>
            <a:endParaRPr/>
          </a:p>
          <a:p>
            <a:pPr marL="457200" lvl="0" indent="-355600" algn="l" rtl="0">
              <a:spcBef>
                <a:spcPts val="0"/>
              </a:spcBef>
              <a:spcAft>
                <a:spcPts val="0"/>
              </a:spcAft>
              <a:buSzPts val="2000"/>
              <a:buAutoNum type="arabicPeriod"/>
            </a:pPr>
            <a:r>
              <a:rPr lang="en"/>
              <a:t>Compare which is higher order. The order Big O Runtime is slower.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0"/>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Which Input to Evaluate Function Efficiency?</a:t>
            </a:r>
            <a:endParaRPr/>
          </a:p>
        </p:txBody>
      </p:sp>
      <p:sp>
        <p:nvSpPr>
          <p:cNvPr id="475" name="Google Shape;475;p60"/>
          <p:cNvSpPr txBox="1">
            <a:spLocks noGrp="1"/>
          </p:cNvSpPr>
          <p:nvPr>
            <p:ph type="body" idx="1"/>
          </p:nvPr>
        </p:nvSpPr>
        <p:spPr>
          <a:xfrm>
            <a:off x="243000" y="556500"/>
            <a:ext cx="8443800" cy="1916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Express efficiency in terms of input size, so need to decide what input is</a:t>
            </a:r>
            <a:endParaRPr dirty="0"/>
          </a:p>
          <a:p>
            <a:pPr marL="457200" lvl="0" indent="-355600" algn="l" rtl="0">
              <a:spcBef>
                <a:spcPts val="600"/>
              </a:spcBef>
              <a:spcAft>
                <a:spcPts val="0"/>
              </a:spcAft>
              <a:buSzPts val="2000"/>
              <a:buChar char="●"/>
            </a:pPr>
            <a:r>
              <a:rPr lang="en" dirty="0"/>
              <a:t>Could be integer: </a:t>
            </a:r>
            <a:r>
              <a:rPr lang="en" dirty="0">
                <a:latin typeface="Consolas"/>
                <a:ea typeface="Consolas"/>
                <a:cs typeface="Consolas"/>
                <a:sym typeface="Consolas"/>
              </a:rPr>
              <a:t>my_sum(n)</a:t>
            </a:r>
            <a:endParaRPr dirty="0">
              <a:latin typeface="Consolas"/>
              <a:ea typeface="Consolas"/>
              <a:cs typeface="Consolas"/>
              <a:sym typeface="Consolas"/>
            </a:endParaRPr>
          </a:p>
          <a:p>
            <a:pPr marL="457200" lvl="0" indent="-355600" algn="l" rtl="0">
              <a:spcBef>
                <a:spcPts val="0"/>
              </a:spcBef>
              <a:spcAft>
                <a:spcPts val="0"/>
              </a:spcAft>
              <a:buSzPts val="2000"/>
              <a:buChar char="●"/>
            </a:pPr>
            <a:r>
              <a:rPr lang="en" dirty="0"/>
              <a:t>Could be length of list: </a:t>
            </a:r>
            <a:r>
              <a:rPr lang="en" dirty="0">
                <a:latin typeface="Consolas"/>
                <a:ea typeface="Consolas"/>
                <a:cs typeface="Consolas"/>
                <a:sym typeface="Consolas"/>
              </a:rPr>
              <a:t>sum_list(lst)</a:t>
            </a:r>
            <a:endParaRPr dirty="0">
              <a:latin typeface="Consolas"/>
              <a:ea typeface="Consolas"/>
              <a:cs typeface="Consolas"/>
              <a:sym typeface="Consolas"/>
            </a:endParaRPr>
          </a:p>
          <a:p>
            <a:pPr marL="457200" lvl="0" indent="-355600" algn="l" rtl="0">
              <a:spcBef>
                <a:spcPts val="0"/>
              </a:spcBef>
              <a:spcAft>
                <a:spcPts val="0"/>
              </a:spcAft>
              <a:buSzPts val="2000"/>
              <a:buChar char="●"/>
            </a:pPr>
            <a:r>
              <a:rPr lang="en" dirty="0"/>
              <a:t>Decide when multiple parameters: </a:t>
            </a:r>
            <a:r>
              <a:rPr lang="en" dirty="0">
                <a:latin typeface="Consolas"/>
                <a:ea typeface="Consolas"/>
                <a:cs typeface="Consolas"/>
                <a:sym typeface="Consolas"/>
              </a:rPr>
              <a:t>search_for_element(lst, element)</a:t>
            </a:r>
            <a:endParaRPr dirty="0"/>
          </a:p>
        </p:txBody>
      </p:sp>
      <p:graphicFrame>
        <p:nvGraphicFramePr>
          <p:cNvPr id="476" name="Google Shape;476;p60"/>
          <p:cNvGraphicFramePr/>
          <p:nvPr/>
        </p:nvGraphicFramePr>
        <p:xfrm>
          <a:off x="2025800" y="2745548"/>
          <a:ext cx="4878200" cy="1880200"/>
        </p:xfrm>
        <a:graphic>
          <a:graphicData uri="http://schemas.openxmlformats.org/drawingml/2006/table">
            <a:tbl>
              <a:tblPr>
                <a:noFill/>
                <a:tableStyleId>{6436D996-6D66-4ABA-853D-459B0397D2C1}</a:tableStyleId>
              </a:tblPr>
              <a:tblGrid>
                <a:gridCol w="4878200">
                  <a:extLst>
                    <a:ext uri="{9D8B030D-6E8A-4147-A177-3AD203B41FA5}">
                      <a16:colId xmlns:a16="http://schemas.microsoft.com/office/drawing/2014/main" val="20000"/>
                    </a:ext>
                  </a:extLst>
                </a:gridCol>
              </a:tblGrid>
              <a:tr h="188020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search_for_element(lst, element):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for</a:t>
                      </a:r>
                      <a:r>
                        <a:rPr lang="en" sz="1650">
                          <a:solidFill>
                            <a:srgbClr val="ECEFF1"/>
                          </a:solidFill>
                          <a:latin typeface="Roboto Mono"/>
                          <a:ea typeface="Roboto Mono"/>
                          <a:cs typeface="Roboto Mono"/>
                          <a:sym typeface="Roboto Mono"/>
                        </a:rPr>
                        <a:t> item </a:t>
                      </a:r>
                      <a:r>
                        <a:rPr lang="en" sz="1650">
                          <a:solidFill>
                            <a:srgbClr val="4DD0E1"/>
                          </a:solidFill>
                          <a:latin typeface="Roboto Mono"/>
                          <a:ea typeface="Roboto Mono"/>
                          <a:cs typeface="Roboto Mono"/>
                          <a:sym typeface="Roboto Mono"/>
                        </a:rPr>
                        <a:t>in</a:t>
                      </a:r>
                      <a:r>
                        <a:rPr lang="en" sz="1650">
                          <a:solidFill>
                            <a:srgbClr val="ECEFF1"/>
                          </a:solidFill>
                          <a:latin typeface="Roboto Mono"/>
                          <a:ea typeface="Roboto Mono"/>
                          <a:cs typeface="Roboto Mono"/>
                          <a:sym typeface="Roboto Mono"/>
                        </a:rPr>
                        <a:t> lst: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if</a:t>
                      </a:r>
                      <a:r>
                        <a:rPr lang="en" sz="1650">
                          <a:solidFill>
                            <a:srgbClr val="ECEFF1"/>
                          </a:solidFill>
                          <a:latin typeface="Roboto Mono"/>
                          <a:ea typeface="Roboto Mono"/>
                          <a:cs typeface="Roboto Mono"/>
                          <a:sym typeface="Roboto Mono"/>
                        </a:rPr>
                        <a:t> item == element:</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True</a:t>
                      </a:r>
                      <a:endParaRPr sz="16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False</a:t>
                      </a:r>
                      <a:endParaRPr sz="14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5">
                                            <p:txEl>
                                              <p:pRg st="0" end="0"/>
                                            </p:txEl>
                                          </p:spTgt>
                                        </p:tgtEl>
                                        <p:attrNameLst>
                                          <p:attrName>style.visibility</p:attrName>
                                        </p:attrNameLst>
                                      </p:cBhvr>
                                      <p:to>
                                        <p:strVal val="visible"/>
                                      </p:to>
                                    </p:set>
                                    <p:animEffect transition="in" filter="fade">
                                      <p:cBhvr>
                                        <p:cTn id="7" dur="100"/>
                                        <p:tgtEl>
                                          <p:spTgt spid="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5">
                                            <p:txEl>
                                              <p:pRg st="1" end="1"/>
                                            </p:txEl>
                                          </p:spTgt>
                                        </p:tgtEl>
                                        <p:attrNameLst>
                                          <p:attrName>style.visibility</p:attrName>
                                        </p:attrNameLst>
                                      </p:cBhvr>
                                      <p:to>
                                        <p:strVal val="visible"/>
                                      </p:to>
                                    </p:set>
                                    <p:animEffect transition="in" filter="fade">
                                      <p:cBhvr>
                                        <p:cTn id="12" dur="100"/>
                                        <p:tgtEl>
                                          <p:spTgt spid="4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5">
                                            <p:txEl>
                                              <p:pRg st="2" end="2"/>
                                            </p:txEl>
                                          </p:spTgt>
                                        </p:tgtEl>
                                        <p:attrNameLst>
                                          <p:attrName>style.visibility</p:attrName>
                                        </p:attrNameLst>
                                      </p:cBhvr>
                                      <p:to>
                                        <p:strVal val="visible"/>
                                      </p:to>
                                    </p:set>
                                    <p:animEffect transition="in" filter="fade">
                                      <p:cBhvr>
                                        <p:cTn id="17" dur="100"/>
                                        <p:tgtEl>
                                          <p:spTgt spid="4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5">
                                            <p:txEl>
                                              <p:pRg st="3" end="3"/>
                                            </p:txEl>
                                          </p:spTgt>
                                        </p:tgtEl>
                                        <p:attrNameLst>
                                          <p:attrName>style.visibility</p:attrName>
                                        </p:attrNameLst>
                                      </p:cBhvr>
                                      <p:to>
                                        <p:strVal val="visible"/>
                                      </p:to>
                                    </p:set>
                                    <p:animEffect transition="in" filter="fade">
                                      <p:cBhvr>
                                        <p:cTn id="22" dur="100"/>
                                        <p:tgtEl>
                                          <p:spTgt spid="4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6"/>
                                        </p:tgtEl>
                                        <p:attrNameLst>
                                          <p:attrName>style.visibility</p:attrName>
                                        </p:attrNameLst>
                                      </p:cBhvr>
                                      <p:to>
                                        <p:strVal val="visible"/>
                                      </p:to>
                                    </p:set>
                                    <p:animEffect transition="in" filter="fade">
                                      <p:cBhvr>
                                        <p:cTn id="27" dur="1000"/>
                                        <p:tgtEl>
                                          <p:spTgt spid="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1"/>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Terminology Sidenote</a:t>
            </a:r>
            <a:endParaRPr/>
          </a:p>
        </p:txBody>
      </p:sp>
      <p:sp>
        <p:nvSpPr>
          <p:cNvPr id="482" name="Google Shape;482;p61"/>
          <p:cNvSpPr txBox="1">
            <a:spLocks noGrp="1"/>
          </p:cNvSpPr>
          <p:nvPr>
            <p:ph type="body" idx="1"/>
          </p:nvPr>
        </p:nvSpPr>
        <p:spPr>
          <a:xfrm>
            <a:off x="243000" y="556500"/>
            <a:ext cx="8735100" cy="624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Sometimes, you’ll hear Big O / Order of Growth also called  “asymptotic runtime”.</a:t>
            </a:r>
            <a:endParaRPr/>
          </a:p>
          <a:p>
            <a:pPr marL="0" lvl="0" indent="0" algn="l" rtl="0">
              <a:spcBef>
                <a:spcPts val="600"/>
              </a:spcBef>
              <a:spcAft>
                <a:spcPts val="0"/>
              </a:spcAft>
              <a:buNone/>
            </a:pPr>
            <a:endParaRPr/>
          </a:p>
          <a:p>
            <a:pPr marL="0" lvl="0" indent="0" algn="ctr" rtl="0">
              <a:spcBef>
                <a:spcPts val="600"/>
              </a:spcBef>
              <a:spcAft>
                <a:spcPts val="0"/>
              </a:spcAft>
              <a:buNone/>
            </a:pPr>
            <a:endParaRPr/>
          </a:p>
          <a:p>
            <a:pPr marL="0" lvl="0" indent="0" algn="ctr" rtl="0">
              <a:spcBef>
                <a:spcPts val="600"/>
              </a:spcBef>
              <a:spcAft>
                <a:spcPts val="0"/>
              </a:spcAft>
              <a:buNone/>
            </a:pPr>
            <a:endParaRPr/>
          </a:p>
          <a:p>
            <a:pPr marL="0" lvl="0" indent="0" algn="l" rtl="0">
              <a:spcBef>
                <a:spcPts val="600"/>
              </a:spcBef>
              <a:spcAft>
                <a:spcPts val="0"/>
              </a:spcAft>
              <a:buNone/>
            </a:pPr>
            <a:endParaRPr/>
          </a:p>
        </p:txBody>
      </p:sp>
      <p:sp>
        <p:nvSpPr>
          <p:cNvPr id="483" name="Google Shape;483;p61"/>
          <p:cNvSpPr txBox="1"/>
          <p:nvPr/>
        </p:nvSpPr>
        <p:spPr>
          <a:xfrm>
            <a:off x="2429350" y="1104500"/>
            <a:ext cx="3621600" cy="1539300"/>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Clr>
                <a:schemeClr val="dk1"/>
              </a:buClr>
              <a:buSzPts val="1100"/>
              <a:buFont typeface="Arial"/>
              <a:buNone/>
            </a:pPr>
            <a:r>
              <a:rPr lang="en" sz="2200">
                <a:solidFill>
                  <a:schemeClr val="dk1"/>
                </a:solidFill>
                <a:latin typeface="Calibri"/>
                <a:ea typeface="Calibri"/>
                <a:cs typeface="Calibri"/>
                <a:sym typeface="Calibri"/>
              </a:rPr>
              <a:t>Asymptote</a:t>
            </a:r>
            <a:endParaRPr sz="2200">
              <a:solidFill>
                <a:schemeClr val="dk1"/>
              </a:solidFill>
              <a:latin typeface="Calibri"/>
              <a:ea typeface="Calibri"/>
              <a:cs typeface="Calibri"/>
              <a:sym typeface="Calibri"/>
            </a:endParaRPr>
          </a:p>
          <a:p>
            <a:pPr marL="0" lvl="0" indent="0" algn="ctr" rtl="0">
              <a:lnSpc>
                <a:spcPct val="100000"/>
              </a:lnSpc>
              <a:spcBef>
                <a:spcPts val="0"/>
              </a:spcBef>
              <a:spcAft>
                <a:spcPts val="0"/>
              </a:spcAft>
              <a:buClr>
                <a:schemeClr val="dk1"/>
              </a:buClr>
              <a:buSzPts val="1100"/>
              <a:buFont typeface="Arial"/>
              <a:buNone/>
            </a:pPr>
            <a:r>
              <a:rPr lang="en" sz="2200">
                <a:solidFill>
                  <a:schemeClr val="dk1"/>
                </a:solidFill>
                <a:latin typeface="Calibri"/>
                <a:ea typeface="Calibri"/>
                <a:cs typeface="Calibri"/>
                <a:sym typeface="Calibri"/>
              </a:rPr>
              <a:t>A-sum-ptote</a:t>
            </a:r>
            <a:endParaRPr sz="2200">
              <a:solidFill>
                <a:schemeClr val="dk1"/>
              </a:solidFill>
              <a:latin typeface="Calibri"/>
              <a:ea typeface="Calibri"/>
              <a:cs typeface="Calibri"/>
              <a:sym typeface="Calibri"/>
            </a:endParaRPr>
          </a:p>
          <a:p>
            <a:pPr marL="0" lvl="0" indent="0" algn="ctr" rtl="0">
              <a:lnSpc>
                <a:spcPct val="100000"/>
              </a:lnSpc>
              <a:spcBef>
                <a:spcPts val="0"/>
              </a:spcBef>
              <a:spcAft>
                <a:spcPts val="0"/>
              </a:spcAft>
              <a:buClr>
                <a:schemeClr val="dk1"/>
              </a:buClr>
              <a:buSzPts val="1100"/>
              <a:buFont typeface="Arial"/>
              <a:buNone/>
            </a:pPr>
            <a:r>
              <a:rPr lang="en" sz="2200">
                <a:solidFill>
                  <a:schemeClr val="dk1"/>
                </a:solidFill>
                <a:latin typeface="Calibri"/>
                <a:ea typeface="Calibri"/>
                <a:cs typeface="Calibri"/>
                <a:sym typeface="Calibri"/>
              </a:rPr>
              <a:t>Not - together - fall</a:t>
            </a:r>
            <a:endParaRPr sz="2200">
              <a:solidFill>
                <a:schemeClr val="dk1"/>
              </a:solidFill>
              <a:latin typeface="Calibri"/>
              <a:ea typeface="Calibri"/>
              <a:cs typeface="Calibri"/>
              <a:sym typeface="Calibri"/>
            </a:endParaRPr>
          </a:p>
          <a:p>
            <a:pPr marL="0" lvl="0" indent="0" algn="ctr" rtl="0">
              <a:lnSpc>
                <a:spcPct val="100000"/>
              </a:lnSpc>
              <a:spcBef>
                <a:spcPts val="0"/>
              </a:spcBef>
              <a:spcAft>
                <a:spcPts val="0"/>
              </a:spcAft>
              <a:buClr>
                <a:schemeClr val="dk1"/>
              </a:buClr>
              <a:buSzPts val="1100"/>
              <a:buFont typeface="Arial"/>
              <a:buNone/>
            </a:pPr>
            <a:r>
              <a:rPr lang="en" sz="2200" i="1">
                <a:solidFill>
                  <a:schemeClr val="dk1"/>
                </a:solidFill>
                <a:latin typeface="Calibri"/>
                <a:ea typeface="Calibri"/>
                <a:cs typeface="Calibri"/>
                <a:sym typeface="Calibri"/>
              </a:rPr>
              <a:t>Not meeting</a:t>
            </a:r>
            <a:endParaRPr sz="1600" i="1">
              <a:latin typeface="Calibri"/>
              <a:ea typeface="Calibri"/>
              <a:cs typeface="Calibri"/>
              <a:sym typeface="Calibri"/>
            </a:endParaRPr>
          </a:p>
        </p:txBody>
      </p:sp>
      <p:sp>
        <p:nvSpPr>
          <p:cNvPr id="484" name="Google Shape;484;p61"/>
          <p:cNvSpPr txBox="1">
            <a:spLocks noGrp="1"/>
          </p:cNvSpPr>
          <p:nvPr>
            <p:ph type="body" idx="1"/>
          </p:nvPr>
        </p:nvSpPr>
        <p:spPr>
          <a:xfrm>
            <a:off x="287075" y="2872400"/>
            <a:ext cx="8443800" cy="1477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An </a:t>
            </a:r>
            <a:r>
              <a:rPr lang="en" b="1"/>
              <a:t>asymptote</a:t>
            </a:r>
            <a:r>
              <a:rPr lang="en"/>
              <a:t> is a line that approaches a curve but doesn’t meet it.</a:t>
            </a:r>
            <a:endParaRPr/>
          </a:p>
          <a:p>
            <a:pPr marL="0" lvl="0" indent="0" algn="l" rtl="0">
              <a:spcBef>
                <a:spcPts val="600"/>
              </a:spcBef>
              <a:spcAft>
                <a:spcPts val="0"/>
              </a:spcAft>
              <a:buNone/>
            </a:pPr>
            <a:endParaRPr/>
          </a:p>
          <a:p>
            <a:pPr marL="0" lvl="0" indent="0" algn="l" rtl="0">
              <a:spcBef>
                <a:spcPts val="600"/>
              </a:spcBef>
              <a:spcAft>
                <a:spcPts val="0"/>
              </a:spcAft>
              <a:buNone/>
            </a:pPr>
            <a:r>
              <a:rPr lang="en"/>
              <a:t>This is because the Big O runtime of a program is the curve that most closely approaches the actual runtime curve from as N gets very large.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3">
                                            <p:txEl>
                                              <p:pRg st="0" end="0"/>
                                            </p:txEl>
                                          </p:spTgt>
                                        </p:tgtEl>
                                        <p:attrNameLst>
                                          <p:attrName>style.visibility</p:attrName>
                                        </p:attrNameLst>
                                      </p:cBhvr>
                                      <p:to>
                                        <p:strVal val="visible"/>
                                      </p:to>
                                    </p:set>
                                    <p:animEffect transition="in" filter="fade">
                                      <p:cBhvr>
                                        <p:cTn id="7" dur="1000"/>
                                        <p:tgtEl>
                                          <p:spTgt spid="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3">
                                            <p:txEl>
                                              <p:pRg st="1" end="1"/>
                                            </p:txEl>
                                          </p:spTgt>
                                        </p:tgtEl>
                                        <p:attrNameLst>
                                          <p:attrName>style.visibility</p:attrName>
                                        </p:attrNameLst>
                                      </p:cBhvr>
                                      <p:to>
                                        <p:strVal val="visible"/>
                                      </p:to>
                                    </p:set>
                                    <p:animEffect transition="in" filter="fade">
                                      <p:cBhvr>
                                        <p:cTn id="12" dur="1000"/>
                                        <p:tgtEl>
                                          <p:spTgt spid="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3">
                                            <p:txEl>
                                              <p:pRg st="2" end="2"/>
                                            </p:txEl>
                                          </p:spTgt>
                                        </p:tgtEl>
                                        <p:attrNameLst>
                                          <p:attrName>style.visibility</p:attrName>
                                        </p:attrNameLst>
                                      </p:cBhvr>
                                      <p:to>
                                        <p:strVal val="visible"/>
                                      </p:to>
                                    </p:set>
                                    <p:animEffect transition="in" filter="fade">
                                      <p:cBhvr>
                                        <p:cTn id="17" dur="1000"/>
                                        <p:tgtEl>
                                          <p:spTgt spid="4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3">
                                            <p:txEl>
                                              <p:pRg st="3" end="3"/>
                                            </p:txEl>
                                          </p:spTgt>
                                        </p:tgtEl>
                                        <p:attrNameLst>
                                          <p:attrName>style.visibility</p:attrName>
                                        </p:attrNameLst>
                                      </p:cBhvr>
                                      <p:to>
                                        <p:strVal val="visible"/>
                                      </p:to>
                                    </p:set>
                                    <p:animEffect transition="in" filter="fade">
                                      <p:cBhvr>
                                        <p:cTn id="22" dur="1000"/>
                                        <p:tgtEl>
                                          <p:spTgt spid="4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84"/>
                                        </p:tgtEl>
                                        <p:attrNameLst>
                                          <p:attrName>style.visibility</p:attrName>
                                        </p:attrNameLst>
                                      </p:cBhvr>
                                      <p:to>
                                        <p:strVal val="visible"/>
                                      </p:to>
                                    </p:set>
                                    <p:animEffect transition="in" filter="fade">
                                      <p:cBhvr>
                                        <p:cTn id="27" dur="1000"/>
                                        <p:tgtEl>
                                          <p:spTgt spid="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2"/>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Common Operation Runtimes</a:t>
            </a:r>
            <a:endParaRPr/>
          </a:p>
        </p:txBody>
      </p:sp>
      <p:sp>
        <p:nvSpPr>
          <p:cNvPr id="490" name="Google Shape;490;p62"/>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457200" lvl="0" indent="-355600" algn="l" rtl="0">
              <a:spcBef>
                <a:spcPts val="600"/>
              </a:spcBef>
              <a:spcAft>
                <a:spcPts val="0"/>
              </a:spcAft>
              <a:buSzPts val="2000"/>
              <a:buChar char="●"/>
            </a:pPr>
            <a:r>
              <a:rPr lang="en" dirty="0"/>
              <a:t>List or string contains(item) check ‘item in sequence’:</a:t>
            </a:r>
            <a:endParaRPr dirty="0"/>
          </a:p>
          <a:p>
            <a:pPr marL="914400" lvl="1" indent="-355600" algn="l" rtl="0">
              <a:spcBef>
                <a:spcPts val="0"/>
              </a:spcBef>
              <a:spcAft>
                <a:spcPts val="0"/>
              </a:spcAft>
              <a:buSzPts val="2000"/>
              <a:buChar char="○"/>
            </a:pPr>
            <a:r>
              <a:rPr lang="en" b="1" dirty="0"/>
              <a:t>O(n)</a:t>
            </a:r>
            <a:r>
              <a:rPr lang="en" dirty="0"/>
              <a:t>, Because we have to look through each item in the list/string</a:t>
            </a:r>
            <a:endParaRPr dirty="0"/>
          </a:p>
          <a:p>
            <a:pPr marL="457200" lvl="0" indent="-355600" algn="l" rtl="0">
              <a:spcBef>
                <a:spcPts val="0"/>
              </a:spcBef>
              <a:spcAft>
                <a:spcPts val="0"/>
              </a:spcAft>
              <a:buSzPts val="2000"/>
              <a:buChar char="●"/>
            </a:pPr>
            <a:r>
              <a:rPr lang="en" dirty="0"/>
              <a:t>list.append(item)</a:t>
            </a:r>
            <a:endParaRPr dirty="0"/>
          </a:p>
          <a:p>
            <a:pPr marL="914400" lvl="1" indent="-355600" algn="l" rtl="0">
              <a:spcBef>
                <a:spcPts val="0"/>
              </a:spcBef>
              <a:spcAft>
                <a:spcPts val="0"/>
              </a:spcAft>
              <a:buSzPts val="2000"/>
              <a:buChar char="○"/>
            </a:pPr>
            <a:r>
              <a:rPr lang="en" b="1" dirty="0"/>
              <a:t>O(1)</a:t>
            </a:r>
            <a:r>
              <a:rPr lang="en" dirty="0"/>
              <a:t>. Constant time to add one more item to the end of a list</a:t>
            </a:r>
            <a:endParaRPr dirty="0"/>
          </a:p>
          <a:p>
            <a:pPr marL="457200" lvl="0" indent="-355600" algn="l" rtl="0">
              <a:spcBef>
                <a:spcPts val="0"/>
              </a:spcBef>
              <a:spcAft>
                <a:spcPts val="0"/>
              </a:spcAft>
              <a:buSzPts val="2000"/>
              <a:buChar char="●"/>
            </a:pPr>
            <a:r>
              <a:rPr lang="en" dirty="0"/>
              <a:t>Indexing: `sequence[index]`:</a:t>
            </a:r>
            <a:endParaRPr dirty="0"/>
          </a:p>
          <a:p>
            <a:pPr marL="914400" lvl="1" indent="-355600" algn="l" rtl="0">
              <a:spcBef>
                <a:spcPts val="0"/>
              </a:spcBef>
              <a:spcAft>
                <a:spcPts val="0"/>
              </a:spcAft>
              <a:buSzPts val="2000"/>
              <a:buChar char="○"/>
            </a:pPr>
            <a:r>
              <a:rPr lang="en" b="1" dirty="0"/>
              <a:t>O(1)</a:t>
            </a:r>
            <a:r>
              <a:rPr lang="en" dirty="0"/>
              <a:t>, Constant time to read the value at particular index in a sequence</a:t>
            </a:r>
            <a:endParaRPr dirty="0"/>
          </a:p>
          <a:p>
            <a:pPr marL="457200" lvl="0" indent="-355600" algn="l" rtl="0">
              <a:spcBef>
                <a:spcPts val="0"/>
              </a:spcBef>
              <a:spcAft>
                <a:spcPts val="0"/>
              </a:spcAft>
              <a:buSzPts val="2000"/>
              <a:buChar char="●"/>
            </a:pPr>
            <a:r>
              <a:rPr lang="en" dirty="0"/>
              <a:t>Slicing: ‘sequence[:k]’:</a:t>
            </a:r>
            <a:endParaRPr dirty="0"/>
          </a:p>
          <a:p>
            <a:pPr marL="914400" lvl="1" indent="-355600" algn="l" rtl="0">
              <a:spcBef>
                <a:spcPts val="0"/>
              </a:spcBef>
              <a:spcAft>
                <a:spcPts val="0"/>
              </a:spcAft>
              <a:buSzPts val="2000"/>
              <a:buChar char="○"/>
            </a:pPr>
            <a:r>
              <a:rPr lang="en" b="1" dirty="0"/>
              <a:t>O(k)</a:t>
            </a:r>
            <a:r>
              <a:rPr lang="en" dirty="0"/>
              <a:t>, Linear because slicing creates a new list with items 0,1, …,k-1</a:t>
            </a:r>
            <a:endParaRPr dirty="0"/>
          </a:p>
          <a:p>
            <a:pPr marL="457200" lvl="0" indent="-355600" algn="l" rtl="0">
              <a:spcBef>
                <a:spcPts val="0"/>
              </a:spcBef>
              <a:spcAft>
                <a:spcPts val="0"/>
              </a:spcAft>
              <a:buSzPts val="2000"/>
              <a:buChar char="●"/>
            </a:pPr>
            <a:r>
              <a:rPr lang="en" dirty="0"/>
              <a:t>Getting length of something with len(sequence):</a:t>
            </a:r>
            <a:endParaRPr dirty="0"/>
          </a:p>
          <a:p>
            <a:pPr marL="914400" lvl="1" indent="-355600" algn="l" rtl="0">
              <a:spcBef>
                <a:spcPts val="0"/>
              </a:spcBef>
              <a:spcAft>
                <a:spcPts val="0"/>
              </a:spcAft>
              <a:buSzPts val="2000"/>
              <a:buChar char="○"/>
            </a:pPr>
            <a:r>
              <a:rPr lang="en" b="1" dirty="0"/>
              <a:t>O(1)</a:t>
            </a:r>
            <a:r>
              <a:rPr lang="en" dirty="0"/>
              <a:t>, The length is a property of the sequence, quick to look up</a:t>
            </a:r>
            <a:endParaRPr dirty="0"/>
          </a:p>
          <a:p>
            <a:pPr marL="457200" lvl="0" indent="-355600" algn="l" rtl="0">
              <a:spcBef>
                <a:spcPts val="0"/>
              </a:spcBef>
              <a:spcAft>
                <a:spcPts val="0"/>
              </a:spcAft>
              <a:buSzPts val="2000"/>
              <a:buChar char="●"/>
            </a:pPr>
            <a:r>
              <a:rPr lang="en" dirty="0"/>
              <a:t>Comparing two lists: </a:t>
            </a:r>
            <a:endParaRPr dirty="0"/>
          </a:p>
          <a:p>
            <a:pPr marL="914400" lvl="1" indent="-355600" algn="l" rtl="0">
              <a:spcBef>
                <a:spcPts val="0"/>
              </a:spcBef>
              <a:spcAft>
                <a:spcPts val="0"/>
              </a:spcAft>
              <a:buSzPts val="2000"/>
              <a:buChar char="○"/>
            </a:pPr>
            <a:r>
              <a:rPr lang="en" b="1" dirty="0"/>
              <a:t>O(n)</a:t>
            </a:r>
            <a:r>
              <a:rPr lang="en" dirty="0"/>
              <a:t>, Linear because you have to compare each item to each other item in both lists</a:t>
            </a:r>
            <a:endParaRPr dirty="0"/>
          </a:p>
          <a:p>
            <a:pPr marL="914400" lvl="1" indent="-355600" algn="l" rtl="0">
              <a:spcBef>
                <a:spcPts val="0"/>
              </a:spcBef>
              <a:spcAft>
                <a:spcPts val="0"/>
              </a:spcAft>
              <a:buSzPts val="2000"/>
              <a:buChar char="○"/>
            </a:pPr>
            <a:r>
              <a:rPr lang="en" dirty="0"/>
              <a:t>n here is the minimum length of the two lists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0">
                                            <p:txEl>
                                              <p:pRg st="0" end="0"/>
                                            </p:txEl>
                                          </p:spTgt>
                                        </p:tgtEl>
                                        <p:attrNameLst>
                                          <p:attrName>style.visibility</p:attrName>
                                        </p:attrNameLst>
                                      </p:cBhvr>
                                      <p:to>
                                        <p:strVal val="visible"/>
                                      </p:to>
                                    </p:set>
                                    <p:animEffect transition="in" filter="fade">
                                      <p:cBhvr>
                                        <p:cTn id="7" dur="1000"/>
                                        <p:tgtEl>
                                          <p:spTgt spid="4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0">
                                            <p:txEl>
                                              <p:pRg st="1" end="1"/>
                                            </p:txEl>
                                          </p:spTgt>
                                        </p:tgtEl>
                                        <p:attrNameLst>
                                          <p:attrName>style.visibility</p:attrName>
                                        </p:attrNameLst>
                                      </p:cBhvr>
                                      <p:to>
                                        <p:strVal val="visible"/>
                                      </p:to>
                                    </p:set>
                                    <p:animEffect transition="in" filter="fade">
                                      <p:cBhvr>
                                        <p:cTn id="12" dur="1000"/>
                                        <p:tgtEl>
                                          <p:spTgt spid="4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0">
                                            <p:txEl>
                                              <p:pRg st="2" end="2"/>
                                            </p:txEl>
                                          </p:spTgt>
                                        </p:tgtEl>
                                        <p:attrNameLst>
                                          <p:attrName>style.visibility</p:attrName>
                                        </p:attrNameLst>
                                      </p:cBhvr>
                                      <p:to>
                                        <p:strVal val="visible"/>
                                      </p:to>
                                    </p:set>
                                    <p:animEffect transition="in" filter="fade">
                                      <p:cBhvr>
                                        <p:cTn id="17" dur="1000"/>
                                        <p:tgtEl>
                                          <p:spTgt spid="4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0">
                                            <p:txEl>
                                              <p:pRg st="3" end="3"/>
                                            </p:txEl>
                                          </p:spTgt>
                                        </p:tgtEl>
                                        <p:attrNameLst>
                                          <p:attrName>style.visibility</p:attrName>
                                        </p:attrNameLst>
                                      </p:cBhvr>
                                      <p:to>
                                        <p:strVal val="visible"/>
                                      </p:to>
                                    </p:set>
                                    <p:animEffect transition="in" filter="fade">
                                      <p:cBhvr>
                                        <p:cTn id="22" dur="1000"/>
                                        <p:tgtEl>
                                          <p:spTgt spid="49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0">
                                            <p:txEl>
                                              <p:pRg st="4" end="4"/>
                                            </p:txEl>
                                          </p:spTgt>
                                        </p:tgtEl>
                                        <p:attrNameLst>
                                          <p:attrName>style.visibility</p:attrName>
                                        </p:attrNameLst>
                                      </p:cBhvr>
                                      <p:to>
                                        <p:strVal val="visible"/>
                                      </p:to>
                                    </p:set>
                                    <p:animEffect transition="in" filter="fade">
                                      <p:cBhvr>
                                        <p:cTn id="27" dur="1000"/>
                                        <p:tgtEl>
                                          <p:spTgt spid="49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0">
                                            <p:txEl>
                                              <p:pRg st="5" end="5"/>
                                            </p:txEl>
                                          </p:spTgt>
                                        </p:tgtEl>
                                        <p:attrNameLst>
                                          <p:attrName>style.visibility</p:attrName>
                                        </p:attrNameLst>
                                      </p:cBhvr>
                                      <p:to>
                                        <p:strVal val="visible"/>
                                      </p:to>
                                    </p:set>
                                    <p:animEffect transition="in" filter="fade">
                                      <p:cBhvr>
                                        <p:cTn id="32" dur="1000"/>
                                        <p:tgtEl>
                                          <p:spTgt spid="49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0">
                                            <p:txEl>
                                              <p:pRg st="6" end="6"/>
                                            </p:txEl>
                                          </p:spTgt>
                                        </p:tgtEl>
                                        <p:attrNameLst>
                                          <p:attrName>style.visibility</p:attrName>
                                        </p:attrNameLst>
                                      </p:cBhvr>
                                      <p:to>
                                        <p:strVal val="visible"/>
                                      </p:to>
                                    </p:set>
                                    <p:animEffect transition="in" filter="fade">
                                      <p:cBhvr>
                                        <p:cTn id="37" dur="1000"/>
                                        <p:tgtEl>
                                          <p:spTgt spid="49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0">
                                            <p:txEl>
                                              <p:pRg st="7" end="7"/>
                                            </p:txEl>
                                          </p:spTgt>
                                        </p:tgtEl>
                                        <p:attrNameLst>
                                          <p:attrName>style.visibility</p:attrName>
                                        </p:attrNameLst>
                                      </p:cBhvr>
                                      <p:to>
                                        <p:strVal val="visible"/>
                                      </p:to>
                                    </p:set>
                                    <p:animEffect transition="in" filter="fade">
                                      <p:cBhvr>
                                        <p:cTn id="42" dur="1000"/>
                                        <p:tgtEl>
                                          <p:spTgt spid="49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0">
                                            <p:txEl>
                                              <p:pRg st="8" end="8"/>
                                            </p:txEl>
                                          </p:spTgt>
                                        </p:tgtEl>
                                        <p:attrNameLst>
                                          <p:attrName>style.visibility</p:attrName>
                                        </p:attrNameLst>
                                      </p:cBhvr>
                                      <p:to>
                                        <p:strVal val="visible"/>
                                      </p:to>
                                    </p:set>
                                    <p:animEffect transition="in" filter="fade">
                                      <p:cBhvr>
                                        <p:cTn id="47" dur="1000"/>
                                        <p:tgtEl>
                                          <p:spTgt spid="49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90">
                                            <p:txEl>
                                              <p:pRg st="9" end="9"/>
                                            </p:txEl>
                                          </p:spTgt>
                                        </p:tgtEl>
                                        <p:attrNameLst>
                                          <p:attrName>style.visibility</p:attrName>
                                        </p:attrNameLst>
                                      </p:cBhvr>
                                      <p:to>
                                        <p:strVal val="visible"/>
                                      </p:to>
                                    </p:set>
                                    <p:animEffect transition="in" filter="fade">
                                      <p:cBhvr>
                                        <p:cTn id="52" dur="1000"/>
                                        <p:tgtEl>
                                          <p:spTgt spid="49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90">
                                            <p:txEl>
                                              <p:pRg st="10" end="10"/>
                                            </p:txEl>
                                          </p:spTgt>
                                        </p:tgtEl>
                                        <p:attrNameLst>
                                          <p:attrName>style.visibility</p:attrName>
                                        </p:attrNameLst>
                                      </p:cBhvr>
                                      <p:to>
                                        <p:strVal val="visible"/>
                                      </p:to>
                                    </p:set>
                                    <p:animEffect transition="in" filter="fade">
                                      <p:cBhvr>
                                        <p:cTn id="57" dur="1000"/>
                                        <p:tgtEl>
                                          <p:spTgt spid="49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90">
                                            <p:txEl>
                                              <p:pRg st="11" end="11"/>
                                            </p:txEl>
                                          </p:spTgt>
                                        </p:tgtEl>
                                        <p:attrNameLst>
                                          <p:attrName>style.visibility</p:attrName>
                                        </p:attrNameLst>
                                      </p:cBhvr>
                                      <p:to>
                                        <p:strVal val="visible"/>
                                      </p:to>
                                    </p:set>
                                    <p:animEffect transition="in" filter="fade">
                                      <p:cBhvr>
                                        <p:cTn id="62" dur="1000"/>
                                        <p:tgtEl>
                                          <p:spTgt spid="49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90">
                                            <p:txEl>
                                              <p:pRg st="12" end="12"/>
                                            </p:txEl>
                                          </p:spTgt>
                                        </p:tgtEl>
                                        <p:attrNameLst>
                                          <p:attrName>style.visibility</p:attrName>
                                        </p:attrNameLst>
                                      </p:cBhvr>
                                      <p:to>
                                        <p:strVal val="visible"/>
                                      </p:to>
                                    </p:set>
                                    <p:animEffect transition="in" filter="fade">
                                      <p:cBhvr>
                                        <p:cTn id="67" dur="1000"/>
                                        <p:tgtEl>
                                          <p:spTgt spid="49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3"/>
          <p:cNvSpPr txBox="1">
            <a:spLocks noGrp="1"/>
          </p:cNvSpPr>
          <p:nvPr>
            <p:ph type="body" idx="1"/>
          </p:nvPr>
        </p:nvSpPr>
        <p:spPr>
          <a:xfrm>
            <a:off x="292800" y="865500"/>
            <a:ext cx="8851200" cy="307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latin typeface="Consolas"/>
                <a:ea typeface="Consolas"/>
                <a:cs typeface="Consolas"/>
                <a:sym typeface="Consolas"/>
              </a:rPr>
              <a:t>sentence = 'I think'</a:t>
            </a:r>
            <a:endParaRPr>
              <a:latin typeface="Consolas"/>
              <a:ea typeface="Consolas"/>
              <a:cs typeface="Consolas"/>
              <a:sym typeface="Consolas"/>
            </a:endParaRPr>
          </a:p>
          <a:p>
            <a:pPr marL="0" lvl="0" indent="0" algn="l" rtl="0">
              <a:spcBef>
                <a:spcPts val="600"/>
              </a:spcBef>
              <a:spcAft>
                <a:spcPts val="0"/>
              </a:spcAft>
              <a:buNone/>
            </a:pPr>
            <a:r>
              <a:rPr lang="en">
                <a:latin typeface="Consolas"/>
                <a:ea typeface="Consolas"/>
                <a:cs typeface="Consolas"/>
                <a:sym typeface="Consolas"/>
              </a:rPr>
              <a:t>sentence = sentence + 'therefore I am'</a:t>
            </a:r>
            <a:r>
              <a:rPr lang="en"/>
              <a:t> is </a:t>
            </a:r>
            <a:r>
              <a:rPr lang="en">
                <a:latin typeface="Consolas"/>
                <a:ea typeface="Consolas"/>
                <a:cs typeface="Consolas"/>
                <a:sym typeface="Consolas"/>
              </a:rPr>
              <a:t>O(n + k)</a:t>
            </a:r>
            <a:r>
              <a:rPr lang="en"/>
              <a:t>, where n is size of original string and </a:t>
            </a:r>
            <a:r>
              <a:rPr lang="en">
                <a:latin typeface="Consolas"/>
                <a:ea typeface="Consolas"/>
                <a:cs typeface="Consolas"/>
                <a:sym typeface="Consolas"/>
              </a:rPr>
              <a:t>k</a:t>
            </a:r>
            <a:r>
              <a:rPr lang="en"/>
              <a:t> is size of string added to original string</a:t>
            </a:r>
            <a:endParaRPr/>
          </a:p>
          <a:p>
            <a:pPr marL="0" lvl="0" indent="0" algn="l" rtl="0">
              <a:spcBef>
                <a:spcPts val="600"/>
              </a:spcBef>
              <a:spcAft>
                <a:spcPts val="0"/>
              </a:spcAft>
              <a:buNone/>
            </a:pPr>
            <a:r>
              <a:rPr lang="en"/>
              <a:t>Why is </a:t>
            </a:r>
            <a:r>
              <a:rPr lang="en">
                <a:latin typeface="Consolas"/>
                <a:ea typeface="Consolas"/>
                <a:cs typeface="Consolas"/>
                <a:sym typeface="Consolas"/>
              </a:rPr>
              <a:t>+</a:t>
            </a:r>
            <a:r>
              <a:rPr lang="en"/>
              <a:t> operation </a:t>
            </a:r>
            <a:r>
              <a:rPr lang="en">
                <a:latin typeface="Consolas"/>
                <a:ea typeface="Consolas"/>
                <a:cs typeface="Consolas"/>
                <a:sym typeface="Consolas"/>
              </a:rPr>
              <a:t>O(n + k)</a:t>
            </a:r>
            <a:r>
              <a:rPr lang="en"/>
              <a:t>?</a:t>
            </a:r>
            <a:endParaRPr/>
          </a:p>
          <a:p>
            <a:pPr marL="0" lvl="0" indent="0" algn="l" rtl="0">
              <a:spcBef>
                <a:spcPts val="600"/>
              </a:spcBef>
              <a:spcAft>
                <a:spcPts val="0"/>
              </a:spcAft>
              <a:buNone/>
            </a:pPr>
            <a:r>
              <a:rPr lang="en"/>
              <a:t>Computer memory allocates enough space for both strings</a:t>
            </a:r>
            <a:endParaRPr/>
          </a:p>
          <a:p>
            <a:pPr marL="0" lvl="0" indent="0" algn="l" rtl="0">
              <a:spcBef>
                <a:spcPts val="600"/>
              </a:spcBef>
              <a:spcAft>
                <a:spcPts val="0"/>
              </a:spcAft>
              <a:buNone/>
            </a:pPr>
            <a:r>
              <a:rPr lang="en"/>
              <a:t>Original string gets copied over -&gt; </a:t>
            </a:r>
            <a:r>
              <a:rPr lang="en">
                <a:latin typeface="Consolas"/>
                <a:ea typeface="Consolas"/>
                <a:cs typeface="Consolas"/>
                <a:sym typeface="Consolas"/>
              </a:rPr>
              <a:t>O(n)</a:t>
            </a:r>
            <a:endParaRPr>
              <a:latin typeface="Consolas"/>
              <a:ea typeface="Consolas"/>
              <a:cs typeface="Consolas"/>
              <a:sym typeface="Consolas"/>
            </a:endParaRPr>
          </a:p>
          <a:p>
            <a:pPr marL="0" lvl="0" indent="0" algn="l" rtl="0">
              <a:spcBef>
                <a:spcPts val="600"/>
              </a:spcBef>
              <a:spcAft>
                <a:spcPts val="0"/>
              </a:spcAft>
              <a:buNone/>
            </a:pPr>
            <a:r>
              <a:rPr lang="en"/>
              <a:t>String to concatenate gets written -&gt; </a:t>
            </a:r>
            <a:r>
              <a:rPr lang="en">
                <a:latin typeface="Consolas"/>
                <a:ea typeface="Consolas"/>
                <a:cs typeface="Consolas"/>
                <a:sym typeface="Consolas"/>
              </a:rPr>
              <a:t>O(k)</a:t>
            </a:r>
            <a:endParaRPr>
              <a:latin typeface="Consolas"/>
              <a:ea typeface="Consolas"/>
              <a:cs typeface="Consolas"/>
              <a:sym typeface="Consolas"/>
            </a:endParaRPr>
          </a:p>
        </p:txBody>
      </p:sp>
      <p:sp>
        <p:nvSpPr>
          <p:cNvPr id="496" name="Google Shape;496;p63"/>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Concatenate +: </a:t>
            </a:r>
            <a:r>
              <a:rPr lang="en">
                <a:latin typeface="Consolas"/>
                <a:ea typeface="Consolas"/>
                <a:cs typeface="Consolas"/>
                <a:sym typeface="Consolas"/>
              </a:rPr>
              <a:t>O(n + k)</a:t>
            </a:r>
            <a:endParaRPr>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5">
                                            <p:txEl>
                                              <p:pRg st="0" end="0"/>
                                            </p:txEl>
                                          </p:spTgt>
                                        </p:tgtEl>
                                        <p:attrNameLst>
                                          <p:attrName>style.visibility</p:attrName>
                                        </p:attrNameLst>
                                      </p:cBhvr>
                                      <p:to>
                                        <p:strVal val="visible"/>
                                      </p:to>
                                    </p:set>
                                    <p:animEffect transition="in" filter="fade">
                                      <p:cBhvr>
                                        <p:cTn id="7" dur="1"/>
                                        <p:tgtEl>
                                          <p:spTgt spid="4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5">
                                            <p:txEl>
                                              <p:pRg st="1" end="1"/>
                                            </p:txEl>
                                          </p:spTgt>
                                        </p:tgtEl>
                                        <p:attrNameLst>
                                          <p:attrName>style.visibility</p:attrName>
                                        </p:attrNameLst>
                                      </p:cBhvr>
                                      <p:to>
                                        <p:strVal val="visible"/>
                                      </p:to>
                                    </p:set>
                                    <p:animEffect transition="in" filter="fade">
                                      <p:cBhvr>
                                        <p:cTn id="12" dur="1"/>
                                        <p:tgtEl>
                                          <p:spTgt spid="4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5">
                                            <p:txEl>
                                              <p:pRg st="2" end="2"/>
                                            </p:txEl>
                                          </p:spTgt>
                                        </p:tgtEl>
                                        <p:attrNameLst>
                                          <p:attrName>style.visibility</p:attrName>
                                        </p:attrNameLst>
                                      </p:cBhvr>
                                      <p:to>
                                        <p:strVal val="visible"/>
                                      </p:to>
                                    </p:set>
                                    <p:animEffect transition="in" filter="fade">
                                      <p:cBhvr>
                                        <p:cTn id="17" dur="1"/>
                                        <p:tgtEl>
                                          <p:spTgt spid="4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5">
                                            <p:txEl>
                                              <p:pRg st="3" end="3"/>
                                            </p:txEl>
                                          </p:spTgt>
                                        </p:tgtEl>
                                        <p:attrNameLst>
                                          <p:attrName>style.visibility</p:attrName>
                                        </p:attrNameLst>
                                      </p:cBhvr>
                                      <p:to>
                                        <p:strVal val="visible"/>
                                      </p:to>
                                    </p:set>
                                    <p:animEffect transition="in" filter="fade">
                                      <p:cBhvr>
                                        <p:cTn id="22" dur="1"/>
                                        <p:tgtEl>
                                          <p:spTgt spid="4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5">
                                            <p:txEl>
                                              <p:pRg st="4" end="4"/>
                                            </p:txEl>
                                          </p:spTgt>
                                        </p:tgtEl>
                                        <p:attrNameLst>
                                          <p:attrName>style.visibility</p:attrName>
                                        </p:attrNameLst>
                                      </p:cBhvr>
                                      <p:to>
                                        <p:strVal val="visible"/>
                                      </p:to>
                                    </p:set>
                                    <p:animEffect transition="in" filter="fade">
                                      <p:cBhvr>
                                        <p:cTn id="27" dur="1"/>
                                        <p:tgtEl>
                                          <p:spTgt spid="4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5">
                                            <p:txEl>
                                              <p:pRg st="5" end="5"/>
                                            </p:txEl>
                                          </p:spTgt>
                                        </p:tgtEl>
                                        <p:attrNameLst>
                                          <p:attrName>style.visibility</p:attrName>
                                        </p:attrNameLst>
                                      </p:cBhvr>
                                      <p:to>
                                        <p:strVal val="visible"/>
                                      </p:to>
                                    </p:set>
                                    <p:animEffect transition="in" filter="fade">
                                      <p:cBhvr>
                                        <p:cTn id="32" dur="1"/>
                                        <p:tgtEl>
                                          <p:spTgt spid="4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4"/>
          <p:cNvSpPr txBox="1">
            <a:spLocks noGrp="1"/>
          </p:cNvSpPr>
          <p:nvPr>
            <p:ph type="title"/>
          </p:nvPr>
        </p:nvSpPr>
        <p:spPr>
          <a:xfrm>
            <a:off x="525150" y="2082650"/>
            <a:ext cx="8093700" cy="9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Space Complexity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5"/>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Space Complexity</a:t>
            </a:r>
            <a:endParaRPr/>
          </a:p>
        </p:txBody>
      </p:sp>
      <p:sp>
        <p:nvSpPr>
          <p:cNvPr id="507" name="Google Shape;507;p65"/>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same way we’ve been thinking about time complexity, we can analyze the space complexity of a particular solution.</a:t>
            </a:r>
            <a:endParaRPr/>
          </a:p>
          <a:p>
            <a:pPr marL="0" lvl="0" indent="0" algn="l" rtl="0">
              <a:spcBef>
                <a:spcPts val="600"/>
              </a:spcBef>
              <a:spcAft>
                <a:spcPts val="0"/>
              </a:spcAft>
              <a:buNone/>
            </a:pPr>
            <a:endParaRPr/>
          </a:p>
          <a:p>
            <a:pPr marL="0" lvl="0" indent="0" algn="l" rtl="0">
              <a:spcBef>
                <a:spcPts val="600"/>
              </a:spcBef>
              <a:spcAft>
                <a:spcPts val="0"/>
              </a:spcAft>
              <a:buNone/>
            </a:pPr>
            <a:r>
              <a:rPr lang="en" b="1"/>
              <a:t>Space Complexity</a:t>
            </a:r>
            <a:r>
              <a:rPr lang="en"/>
              <a:t> refers to how much additional space in memory a program uses when it runs. </a:t>
            </a:r>
            <a:endParaRPr/>
          </a:p>
          <a:p>
            <a:pPr marL="0" lvl="0" indent="0" algn="l" rtl="0">
              <a:spcBef>
                <a:spcPts val="600"/>
              </a:spcBef>
              <a:spcAft>
                <a:spcPts val="0"/>
              </a:spcAft>
              <a:buNone/>
            </a:pPr>
            <a:endParaRPr/>
          </a:p>
          <a:p>
            <a:pPr marL="0" lvl="0" indent="0" algn="l" rtl="0">
              <a:spcBef>
                <a:spcPts val="600"/>
              </a:spcBef>
              <a:spcAft>
                <a:spcPts val="0"/>
              </a:spcAft>
              <a:buNone/>
            </a:pPr>
            <a:r>
              <a:rPr lang="en"/>
              <a:t>For time complexity, our unit was “operations”. For space complexity, we think about number of single “units” written to memory:</a:t>
            </a:r>
            <a:endParaRPr/>
          </a:p>
          <a:p>
            <a:pPr marL="457200" lvl="0" indent="-355600" algn="l" rtl="0">
              <a:spcBef>
                <a:spcPts val="600"/>
              </a:spcBef>
              <a:spcAft>
                <a:spcPts val="0"/>
              </a:spcAft>
              <a:buSzPts val="2000"/>
              <a:buChar char="●"/>
            </a:pPr>
            <a:r>
              <a:rPr lang="en"/>
              <a:t>Integers</a:t>
            </a:r>
            <a:endParaRPr/>
          </a:p>
          <a:p>
            <a:pPr marL="457200" lvl="0" indent="-355600" algn="l" rtl="0">
              <a:spcBef>
                <a:spcPts val="0"/>
              </a:spcBef>
              <a:spcAft>
                <a:spcPts val="0"/>
              </a:spcAft>
              <a:buSzPts val="2000"/>
              <a:buChar char="●"/>
            </a:pPr>
            <a:r>
              <a:rPr lang="en"/>
              <a:t>Booleans</a:t>
            </a:r>
            <a:endParaRPr/>
          </a:p>
          <a:p>
            <a:pPr marL="457200" lvl="0" indent="-355600" algn="l" rtl="0">
              <a:spcBef>
                <a:spcPts val="0"/>
              </a:spcBef>
              <a:spcAft>
                <a:spcPts val="0"/>
              </a:spcAft>
              <a:buSzPts val="2000"/>
              <a:buChar char="●"/>
            </a:pPr>
            <a:r>
              <a:rPr lang="en"/>
              <a:t>Characters</a:t>
            </a:r>
            <a:endParaRPr/>
          </a:p>
          <a:p>
            <a:pPr marL="457200" lvl="0" indent="-355600" algn="l" rtl="0">
              <a:spcBef>
                <a:spcPts val="0"/>
              </a:spcBef>
              <a:spcAft>
                <a:spcPts val="0"/>
              </a:spcAft>
              <a:buSzPts val="2000"/>
              <a:buChar char="●"/>
            </a:pPr>
            <a:r>
              <a:rPr lang="en"/>
              <a:t>etc.</a:t>
            </a: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6"/>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Space Complexity - Big O</a:t>
            </a:r>
            <a:endParaRPr/>
          </a:p>
        </p:txBody>
      </p:sp>
      <p:sp>
        <p:nvSpPr>
          <p:cNvPr id="513" name="Google Shape;513;p66"/>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talk about space complexity in terms of Big O as well.</a:t>
            </a:r>
            <a:endParaRPr/>
          </a:p>
        </p:txBody>
      </p:sp>
      <p:graphicFrame>
        <p:nvGraphicFramePr>
          <p:cNvPr id="514" name="Google Shape;514;p66"/>
          <p:cNvGraphicFramePr/>
          <p:nvPr/>
        </p:nvGraphicFramePr>
        <p:xfrm>
          <a:off x="2452363" y="1236847"/>
          <a:ext cx="4239275" cy="1384905"/>
        </p:xfrm>
        <a:graphic>
          <a:graphicData uri="http://schemas.openxmlformats.org/drawingml/2006/table">
            <a:tbl>
              <a:tblPr>
                <a:noFill/>
                <a:tableStyleId>{6436D996-6D66-4ABA-853D-459B0397D2C1}</a:tableStyleId>
              </a:tblPr>
              <a:tblGrid>
                <a:gridCol w="4239275">
                  <a:extLst>
                    <a:ext uri="{9D8B030D-6E8A-4147-A177-3AD203B41FA5}">
                      <a16:colId xmlns:a16="http://schemas.microsoft.com/office/drawing/2014/main" val="20000"/>
                    </a:ext>
                  </a:extLst>
                </a:gridCol>
              </a:tblGrid>
              <a:tr h="1336650">
                <a:tc>
                  <a:txBody>
                    <a:bodyPr/>
                    <a:lstStyle/>
                    <a:p>
                      <a:pPr marL="0" lvl="0" indent="0" algn="l" rtl="0">
                        <a:lnSpc>
                          <a:spcPct val="115000"/>
                        </a:lnSpc>
                        <a:spcBef>
                          <a:spcPts val="0"/>
                        </a:spcBef>
                        <a:spcAft>
                          <a:spcPts val="0"/>
                        </a:spcAft>
                        <a:buNone/>
                      </a:pPr>
                      <a:r>
                        <a:rPr lang="en" sz="1650">
                          <a:solidFill>
                            <a:srgbClr val="4DD0E1"/>
                          </a:solidFill>
                          <a:latin typeface="Roboto Mono"/>
                          <a:ea typeface="Roboto Mono"/>
                          <a:cs typeface="Roboto Mono"/>
                          <a:sym typeface="Roboto Mono"/>
                        </a:rPr>
                        <a:t>def</a:t>
                      </a:r>
                      <a:r>
                        <a:rPr lang="en" sz="1650">
                          <a:solidFill>
                            <a:srgbClr val="ECEFF1"/>
                          </a:solidFill>
                          <a:latin typeface="Roboto Mono"/>
                          <a:ea typeface="Roboto Mono"/>
                          <a:cs typeface="Roboto Mono"/>
                          <a:sym typeface="Roboto Mono"/>
                        </a:rPr>
                        <a:t> mystery(n):</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num1 = n * </a:t>
                      </a:r>
                      <a:r>
                        <a:rPr lang="en" sz="1650">
                          <a:solidFill>
                            <a:srgbClr val="FBC02D"/>
                          </a:solidFill>
                          <a:latin typeface="Roboto Mono"/>
                          <a:ea typeface="Roboto Mono"/>
                          <a:cs typeface="Roboto Mono"/>
                          <a:sym typeface="Roboto Mono"/>
                        </a:rPr>
                        <a:t>2</a:t>
                      </a:r>
                      <a:endParaRPr sz="16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650">
                          <a:solidFill>
                            <a:srgbClr val="ECEFF1"/>
                          </a:solidFill>
                          <a:latin typeface="Roboto Mono"/>
                          <a:ea typeface="Roboto Mono"/>
                          <a:cs typeface="Roboto Mono"/>
                          <a:sym typeface="Roboto Mono"/>
                        </a:rPr>
                        <a:t>    num2 = n + </a:t>
                      </a:r>
                      <a:r>
                        <a:rPr lang="en" sz="1650">
                          <a:solidFill>
                            <a:srgbClr val="FBC02D"/>
                          </a:solidFill>
                          <a:latin typeface="Roboto Mono"/>
                          <a:ea typeface="Roboto Mono"/>
                          <a:cs typeface="Roboto Mono"/>
                          <a:sym typeface="Roboto Mono"/>
                        </a:rPr>
                        <a:t>6</a:t>
                      </a:r>
                      <a:endParaRPr sz="165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650">
                          <a:solidFill>
                            <a:srgbClr val="ECEFF1"/>
                          </a:solidFill>
                          <a:latin typeface="Roboto Mono"/>
                          <a:ea typeface="Roboto Mono"/>
                          <a:cs typeface="Roboto Mono"/>
                          <a:sym typeface="Roboto Mono"/>
                        </a:rPr>
                        <a:t>    </a:t>
                      </a:r>
                      <a:r>
                        <a:rPr lang="en" sz="1650">
                          <a:solidFill>
                            <a:srgbClr val="4DD0E1"/>
                          </a:solidFill>
                          <a:latin typeface="Roboto Mono"/>
                          <a:ea typeface="Roboto Mono"/>
                          <a:cs typeface="Roboto Mono"/>
                          <a:sym typeface="Roboto Mono"/>
                        </a:rPr>
                        <a:t>return</a:t>
                      </a:r>
                      <a:r>
                        <a:rPr lang="en" sz="1650">
                          <a:solidFill>
                            <a:srgbClr val="ECEFF1"/>
                          </a:solidFill>
                          <a:latin typeface="Roboto Mono"/>
                          <a:ea typeface="Roboto Mono"/>
                          <a:cs typeface="Roboto Mono"/>
                          <a:sym typeface="Roboto Mono"/>
                        </a:rPr>
                        <a:t> num1 + num2</a:t>
                      </a:r>
                      <a:endParaRPr sz="16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
        <p:nvSpPr>
          <p:cNvPr id="515" name="Google Shape;515;p66"/>
          <p:cNvSpPr txBox="1"/>
          <p:nvPr/>
        </p:nvSpPr>
        <p:spPr>
          <a:xfrm>
            <a:off x="2686350" y="2715225"/>
            <a:ext cx="3771300" cy="16857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Creates 2 integers in memory</a:t>
            </a: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endParaRPr sz="1800">
              <a:solidFill>
                <a:schemeClr val="accent5"/>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chemeClr val="accent5"/>
                </a:solidFill>
                <a:latin typeface="Consolas"/>
                <a:ea typeface="Consolas"/>
                <a:cs typeface="Consolas"/>
                <a:sym typeface="Consolas"/>
              </a:rPr>
              <a:t>O(2) = O(1), so constant space complexity</a:t>
            </a:r>
            <a:endParaRPr sz="1800">
              <a:solidFill>
                <a:schemeClr val="accent5"/>
              </a:solidFill>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7"/>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Space Complexity - Big O</a:t>
            </a:r>
            <a:endParaRPr/>
          </a:p>
        </p:txBody>
      </p:sp>
      <p:sp>
        <p:nvSpPr>
          <p:cNvPr id="521" name="Google Shape;521;p67"/>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talk about space complexity in terms of Big O as well.</a:t>
            </a:r>
            <a:endParaRPr/>
          </a:p>
        </p:txBody>
      </p:sp>
      <p:graphicFrame>
        <p:nvGraphicFramePr>
          <p:cNvPr id="522" name="Google Shape;522;p67"/>
          <p:cNvGraphicFramePr/>
          <p:nvPr/>
        </p:nvGraphicFramePr>
        <p:xfrm>
          <a:off x="2452375" y="1165647"/>
          <a:ext cx="4285025" cy="2197769"/>
        </p:xfrm>
        <a:graphic>
          <a:graphicData uri="http://schemas.openxmlformats.org/drawingml/2006/table">
            <a:tbl>
              <a:tblPr>
                <a:noFill/>
                <a:tableStyleId>{6436D996-6D66-4ABA-853D-459B0397D2C1}</a:tableStyleId>
              </a:tblPr>
              <a:tblGrid>
                <a:gridCol w="4285025">
                  <a:extLst>
                    <a:ext uri="{9D8B030D-6E8A-4147-A177-3AD203B41FA5}">
                      <a16:colId xmlns:a16="http://schemas.microsoft.com/office/drawing/2014/main" val="20000"/>
                    </a:ext>
                  </a:extLst>
                </a:gridCol>
              </a:tblGrid>
              <a:tr h="1615050">
                <a:tc>
                  <a:txBody>
                    <a:bodyPr/>
                    <a:lstStyle/>
                    <a:p>
                      <a:pPr marL="0" lvl="0" indent="0" algn="l" rtl="0">
                        <a:lnSpc>
                          <a:spcPct val="115000"/>
                        </a:lnSpc>
                        <a:spcBef>
                          <a:spcPts val="0"/>
                        </a:spcBef>
                        <a:spcAft>
                          <a:spcPts val="0"/>
                        </a:spcAft>
                        <a:buNone/>
                      </a:pPr>
                      <a:r>
                        <a:rPr lang="en" sz="1450">
                          <a:solidFill>
                            <a:srgbClr val="4DD0E1"/>
                          </a:solidFill>
                          <a:latin typeface="Roboto Mono"/>
                          <a:ea typeface="Roboto Mono"/>
                          <a:cs typeface="Roboto Mono"/>
                          <a:sym typeface="Roboto Mono"/>
                        </a:rPr>
                        <a:t>def</a:t>
                      </a:r>
                      <a:r>
                        <a:rPr lang="en" sz="1450">
                          <a:solidFill>
                            <a:srgbClr val="ECEFF1"/>
                          </a:solidFill>
                          <a:latin typeface="Roboto Mono"/>
                          <a:ea typeface="Roboto Mono"/>
                          <a:cs typeface="Roboto Mono"/>
                          <a:sym typeface="Roboto Mono"/>
                        </a:rPr>
                        <a:t> mystery1(nums, item):</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length = len(nums)</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new_list = []</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for</a:t>
                      </a:r>
                      <a:r>
                        <a:rPr lang="en" sz="1450">
                          <a:solidFill>
                            <a:srgbClr val="ECEFF1"/>
                          </a:solidFill>
                          <a:latin typeface="Roboto Mono"/>
                          <a:ea typeface="Roboto Mono"/>
                          <a:cs typeface="Roboto Mono"/>
                          <a:sym typeface="Roboto Mono"/>
                        </a:rPr>
                        <a:t> num </a:t>
                      </a:r>
                      <a:r>
                        <a:rPr lang="en" sz="1450">
                          <a:solidFill>
                            <a:srgbClr val="4DD0E1"/>
                          </a:solidFill>
                          <a:latin typeface="Roboto Mono"/>
                          <a:ea typeface="Roboto Mono"/>
                          <a:cs typeface="Roboto Mono"/>
                          <a:sym typeface="Roboto Mono"/>
                        </a:rPr>
                        <a:t>in</a:t>
                      </a:r>
                      <a:r>
                        <a:rPr lang="en" sz="1450">
                          <a:solidFill>
                            <a:srgbClr val="ECEFF1"/>
                          </a:solidFill>
                          <a:latin typeface="Roboto Mono"/>
                          <a:ea typeface="Roboto Mono"/>
                          <a:cs typeface="Roboto Mono"/>
                          <a:sym typeface="Roboto Mono"/>
                        </a:rPr>
                        <a:t> nums:</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if</a:t>
                      </a:r>
                      <a:r>
                        <a:rPr lang="en" sz="1450">
                          <a:solidFill>
                            <a:srgbClr val="ECEFF1"/>
                          </a:solidFill>
                          <a:latin typeface="Roboto Mono"/>
                          <a:ea typeface="Roboto Mono"/>
                          <a:cs typeface="Roboto Mono"/>
                          <a:sym typeface="Roboto Mono"/>
                        </a:rPr>
                        <a:t> num == item:</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break</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new_list.append(num)</a:t>
                      </a:r>
                      <a:endParaRPr sz="1450">
                        <a:solidFill>
                          <a:srgbClr val="ECEFF1"/>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450">
                          <a:solidFill>
                            <a:srgbClr val="ECEFF1"/>
                          </a:solidFill>
                          <a:latin typeface="Roboto Mono"/>
                          <a:ea typeface="Roboto Mono"/>
                          <a:cs typeface="Roboto Mono"/>
                          <a:sym typeface="Roboto Mono"/>
                        </a:rPr>
                        <a:t>    </a:t>
                      </a:r>
                      <a:r>
                        <a:rPr lang="en" sz="1450">
                          <a:solidFill>
                            <a:srgbClr val="4DD0E1"/>
                          </a:solidFill>
                          <a:latin typeface="Roboto Mono"/>
                          <a:ea typeface="Roboto Mono"/>
                          <a:cs typeface="Roboto Mono"/>
                          <a:sym typeface="Roboto Mono"/>
                        </a:rPr>
                        <a:t>return</a:t>
                      </a:r>
                      <a:r>
                        <a:rPr lang="en" sz="1450">
                          <a:solidFill>
                            <a:srgbClr val="ECEFF1"/>
                          </a:solidFill>
                          <a:latin typeface="Roboto Mono"/>
                          <a:ea typeface="Roboto Mono"/>
                          <a:cs typeface="Roboto Mono"/>
                          <a:sym typeface="Roboto Mono"/>
                        </a:rPr>
                        <a:t> new_list</a:t>
                      </a:r>
                      <a:endParaRPr sz="1450">
                        <a:solidFill>
                          <a:srgbClr val="4DD0E1"/>
                        </a:solidFill>
                        <a:latin typeface="Roboto Mono"/>
                        <a:ea typeface="Roboto Mono"/>
                        <a:cs typeface="Roboto Mono"/>
                        <a:sym typeface="Roboto Mono"/>
                      </a:endParaRPr>
                    </a:p>
                  </a:txBody>
                  <a:tcPr marL="91425" marR="91425" marT="91425" marB="91425" anchor="ctr">
                    <a:solidFill>
                      <a:srgbClr val="212121"/>
                    </a:solidFill>
                  </a:tcPr>
                </a:tc>
                <a:extLst>
                  <a:ext uri="{0D108BD9-81ED-4DB2-BD59-A6C34878D82A}">
                    <a16:rowId xmlns:a16="http://schemas.microsoft.com/office/drawing/2014/main" val="10000"/>
                  </a:ext>
                </a:extLst>
              </a:tr>
            </a:tbl>
          </a:graphicData>
        </a:graphic>
      </p:graphicFrame>
      <p:sp>
        <p:nvSpPr>
          <p:cNvPr id="523" name="Google Shape;523;p67"/>
          <p:cNvSpPr txBox="1"/>
          <p:nvPr/>
        </p:nvSpPr>
        <p:spPr>
          <a:xfrm>
            <a:off x="1805026" y="3457800"/>
            <a:ext cx="5579700" cy="168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a:solidFill>
                  <a:schemeClr val="accent5"/>
                </a:solidFill>
                <a:latin typeface="Consolas"/>
                <a:ea typeface="Consolas"/>
                <a:cs typeface="Consolas"/>
                <a:sym typeface="Consolas"/>
              </a:rPr>
              <a:t>In the </a:t>
            </a:r>
            <a:r>
              <a:rPr lang="en" sz="1500" i="1">
                <a:solidFill>
                  <a:schemeClr val="accent5"/>
                </a:solidFill>
                <a:latin typeface="Consolas"/>
                <a:ea typeface="Consolas"/>
                <a:cs typeface="Consolas"/>
                <a:sym typeface="Consolas"/>
              </a:rPr>
              <a:t>worst case</a:t>
            </a:r>
            <a:r>
              <a:rPr lang="en" sz="1500">
                <a:solidFill>
                  <a:schemeClr val="accent5"/>
                </a:solidFill>
                <a:latin typeface="Consolas"/>
                <a:ea typeface="Consolas"/>
                <a:cs typeface="Consolas"/>
                <a:sym typeface="Consolas"/>
              </a:rPr>
              <a:t>, creates a new list with n items in it (where n is the length of the given list `nums`), and 1 new integer variable in memory.</a:t>
            </a:r>
            <a:endParaRPr sz="1500">
              <a:solidFill>
                <a:schemeClr val="accent5"/>
              </a:solidFill>
              <a:latin typeface="Consolas"/>
              <a:ea typeface="Consolas"/>
              <a:cs typeface="Consolas"/>
              <a:sym typeface="Consolas"/>
            </a:endParaRPr>
          </a:p>
          <a:p>
            <a:pPr marL="0" lvl="0" indent="0" algn="l" rtl="0">
              <a:lnSpc>
                <a:spcPct val="115000"/>
              </a:lnSpc>
              <a:spcBef>
                <a:spcPts val="0"/>
              </a:spcBef>
              <a:spcAft>
                <a:spcPts val="0"/>
              </a:spcAft>
              <a:buNone/>
            </a:pPr>
            <a:endParaRPr sz="1500">
              <a:solidFill>
                <a:schemeClr val="accent5"/>
              </a:solidFill>
              <a:latin typeface="Consolas"/>
              <a:ea typeface="Consolas"/>
              <a:cs typeface="Consolas"/>
              <a:sym typeface="Consolas"/>
            </a:endParaRPr>
          </a:p>
          <a:p>
            <a:pPr marL="0" lvl="0" indent="0" algn="l" rtl="0">
              <a:lnSpc>
                <a:spcPct val="115000"/>
              </a:lnSpc>
              <a:spcBef>
                <a:spcPts val="0"/>
              </a:spcBef>
              <a:spcAft>
                <a:spcPts val="0"/>
              </a:spcAft>
              <a:buNone/>
            </a:pPr>
            <a:r>
              <a:rPr lang="en" sz="1500">
                <a:solidFill>
                  <a:schemeClr val="accent5"/>
                </a:solidFill>
                <a:latin typeface="Consolas"/>
                <a:ea typeface="Consolas"/>
                <a:cs typeface="Consolas"/>
                <a:sym typeface="Consolas"/>
              </a:rPr>
              <a:t>O(n + 1) = O(n), linear space complexity</a:t>
            </a:r>
            <a:endParaRPr sz="1500">
              <a:solidFill>
                <a:schemeClr val="accent5"/>
              </a:solidFill>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8"/>
          <p:cNvSpPr txBox="1">
            <a:spLocks noGrp="1"/>
          </p:cNvSpPr>
          <p:nvPr>
            <p:ph type="title"/>
          </p:nvPr>
        </p:nvSpPr>
        <p:spPr>
          <a:xfrm>
            <a:off x="166800" y="92501"/>
            <a:ext cx="8229600" cy="4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Complexity Practice</a:t>
            </a:r>
            <a:endParaRPr/>
          </a:p>
        </p:txBody>
      </p:sp>
      <p:sp>
        <p:nvSpPr>
          <p:cNvPr id="529" name="Google Shape;529;p68"/>
          <p:cNvSpPr txBox="1">
            <a:spLocks noGrp="1"/>
          </p:cNvSpPr>
          <p:nvPr>
            <p:ph type="body" idx="1"/>
          </p:nvPr>
        </p:nvSpPr>
        <p:spPr>
          <a:xfrm>
            <a:off x="243000" y="55650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We’ll see much more complexity practice in classwork and lab this week.</a:t>
            </a:r>
            <a:endParaRPr/>
          </a:p>
        </p:txBody>
      </p:sp>
    </p:spTree>
  </p:cSld>
  <p:clrMapOvr>
    <a:masterClrMapping/>
  </p:clrMapOvr>
</p:sld>
</file>

<file path=ppt/theme/theme1.xml><?xml version="1.0" encoding="utf-8"?>
<a:theme xmlns:a="http://schemas.openxmlformats.org/drawingml/2006/main" name="AddisCoder">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5662</Words>
  <Application>Microsoft Office PowerPoint</Application>
  <PresentationFormat>On-screen Show (16:9)</PresentationFormat>
  <Paragraphs>606</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Roboto</vt:lpstr>
      <vt:lpstr>Average</vt:lpstr>
      <vt:lpstr>Source Code Pro</vt:lpstr>
      <vt:lpstr>Consolas</vt:lpstr>
      <vt:lpstr>Roboto Mono</vt:lpstr>
      <vt:lpstr>Arial</vt:lpstr>
      <vt:lpstr>Calibri</vt:lpstr>
      <vt:lpstr>AddisCoder</vt:lpstr>
      <vt:lpstr>AddisCoder: Week 2</vt:lpstr>
      <vt:lpstr>Algorithms</vt:lpstr>
      <vt:lpstr>Algorithms</vt:lpstr>
      <vt:lpstr>Algorithms</vt:lpstr>
      <vt:lpstr>Algorithms</vt:lpstr>
      <vt:lpstr>Algorithms</vt:lpstr>
      <vt:lpstr>Algorithms</vt:lpstr>
      <vt:lpstr>Algorithms</vt:lpstr>
      <vt:lpstr>Algorithms in Industry</vt:lpstr>
      <vt:lpstr>Algorithms in Industry</vt:lpstr>
      <vt:lpstr>Tourist Walks</vt:lpstr>
      <vt:lpstr>Complexity</vt:lpstr>
      <vt:lpstr>Complexity</vt:lpstr>
      <vt:lpstr>Evaluating Program Runtime</vt:lpstr>
      <vt:lpstr>Measuring Time</vt:lpstr>
      <vt:lpstr>Timing a Program</vt:lpstr>
      <vt:lpstr>Timekeeping Problems</vt:lpstr>
      <vt:lpstr>Timing Programs: Inconsistent</vt:lpstr>
      <vt:lpstr>Counting Operations</vt:lpstr>
      <vt:lpstr>Counting Operations</vt:lpstr>
      <vt:lpstr>Counting Operations</vt:lpstr>
      <vt:lpstr>Counter Operations: Nested Loops</vt:lpstr>
      <vt:lpstr>Counting Operations: Better</vt:lpstr>
      <vt:lpstr>Different Inputs Changes How Program Runs</vt:lpstr>
      <vt:lpstr>Best, Average, Worst Cases</vt:lpstr>
      <vt:lpstr>Counting Operations: Slightly Better</vt:lpstr>
      <vt:lpstr>Still Need Better Way</vt:lpstr>
      <vt:lpstr>Evaluating Program Runtime</vt:lpstr>
      <vt:lpstr>Evaluating Program Runtime</vt:lpstr>
      <vt:lpstr>Evaluating Program Runtime</vt:lpstr>
      <vt:lpstr>Big O Notation</vt:lpstr>
      <vt:lpstr>Counting Operation Cons</vt:lpstr>
      <vt:lpstr>Big O Notation: O()</vt:lpstr>
      <vt:lpstr>Order of Growth</vt:lpstr>
      <vt:lpstr>Order of Growth</vt:lpstr>
      <vt:lpstr>Order of Growth</vt:lpstr>
      <vt:lpstr>Lower-Order Terms</vt:lpstr>
      <vt:lpstr>Lower-Order Terms</vt:lpstr>
      <vt:lpstr>Orders of Growth</vt:lpstr>
      <vt:lpstr>Simplification Examples</vt:lpstr>
      <vt:lpstr>Orders of Growth</vt:lpstr>
      <vt:lpstr>Exact Steps vs O() </vt:lpstr>
      <vt:lpstr>Law of Addition</vt:lpstr>
      <vt:lpstr>Exact Steps vs O() </vt:lpstr>
      <vt:lpstr>Law of Multiplication</vt:lpstr>
      <vt:lpstr>Exact Steps vs O() </vt:lpstr>
      <vt:lpstr>What’s O() Measuring?</vt:lpstr>
      <vt:lpstr>Practical Use of Big O</vt:lpstr>
      <vt:lpstr>Computing Big O Runtime </vt:lpstr>
      <vt:lpstr>Comparing Efficiency of Two Algorithms</vt:lpstr>
      <vt:lpstr>Which Input to Evaluate Function Efficiency?</vt:lpstr>
      <vt:lpstr>Terminology Sidenote</vt:lpstr>
      <vt:lpstr>Common Operation Runtimes</vt:lpstr>
      <vt:lpstr>Concatenate +: O(n + k)</vt:lpstr>
      <vt:lpstr>Space Complexity</vt:lpstr>
      <vt:lpstr>Space Complexity</vt:lpstr>
      <vt:lpstr>Space Complexity - Big O</vt:lpstr>
      <vt:lpstr>Space Complexity - Big O</vt:lpstr>
      <vt:lpstr>Complexity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 N</cp:lastModifiedBy>
  <cp:revision>16</cp:revision>
  <dcterms:modified xsi:type="dcterms:W3CDTF">2024-07-24T19:06:03Z</dcterms:modified>
</cp:coreProperties>
</file>