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y="6858000" cx="9144000"/>
  <p:notesSz cx="9144000" cy="6858000"/>
  <p:embeddedFontLst>
    <p:embeddedFont>
      <p:font typeface="Tahoma"/>
      <p:regular r:id="rId57"/>
      <p:bold r:id="rId58"/>
    </p:embeddedFont>
    <p:embeddedFont>
      <p:font typeface="Helvetica Neue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63" roundtripDataSignature="AMtx7mgHR0uEPDvmEomJ5YXTVQwmK94x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HelveticaNeue-boldItalic.fntdata"/><Relationship Id="rId61" Type="http://schemas.openxmlformats.org/officeDocument/2006/relationships/font" Target="fonts/HelveticaNeue-italic.fntdata"/><Relationship Id="rId20" Type="http://schemas.openxmlformats.org/officeDocument/2006/relationships/slide" Target="slides/slide15.xml"/><Relationship Id="rId63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HelveticaNeue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Tahoma-regular.fntdata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HelveticaNeue-regular.fntdata"/><Relationship Id="rId14" Type="http://schemas.openxmlformats.org/officeDocument/2006/relationships/slide" Target="slides/slide9.xml"/><Relationship Id="rId58" Type="http://schemas.openxmlformats.org/officeDocument/2006/relationships/font" Target="fonts/Tahoma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ae947353d_1_57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g3fae947353d_1_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8aa55a254_0_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8aa55a254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8aa55a254_0_16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8aa55a254_0_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8aa55a254_0_31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8aa55a254_0_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ad7144fec_0_14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fad7144fec_0_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8abf4eadb_1_9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8abf4eadb_1_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9b640a51d_0_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f9b640a51d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9b640a51d_0_9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f9b640a51d_0_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9b640a51d_0_27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f9b640a51d_0_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9b640a51d_0_57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f9b640a51d_0_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b640a51d_0_64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b640a51d_0_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9b640a51d_0_72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f9b640a51d_0_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9b640a51d_0_96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f9b640a51d_0_9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9b640a51d_0_9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9b640a51d_0_9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b640a51d_0_18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9b640a51d_0_18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9c471f419_0_3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9c471f419_0_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9c471f419_0_4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f9c471f419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9c471f419_0_54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9c471f419_0_5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9c471f419_0_12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f9c471f419_0_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9c471f419_0_18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f9c471f419_0_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9c471f419_0_89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9c471f419_0_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9c471f419_0_97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f9c471f419_0_9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9c471f419_0_105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f9c471f419_0_1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9c471f419_0_121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f9c471f419_0_1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8abf4eadb_1_23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f8abf4eadb_1_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8abf4eadb_1_113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f8abf4eadb_1_1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9c471f419_0_113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f9c471f419_0_1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afb9a969b_0_23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fafb9a969b_0_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8abf4eadb_1_136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f8abf4eadb_1_1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afb9a969b_0_1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fafb9a969b_0_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afb9a969b_0_13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fafb9a969b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afb9a969b_0_49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fafb9a969b_0_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fafb9a969b_0_39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fafb9a969b_0_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afb9a969b_0_61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fafb9a969b_0_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afb9a969b_0_72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fafb9a969b_0_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fafb9a969b_0_88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fafb9a969b_0_8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afb9a969b_0_98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fafb9a969b_0_9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afb9a969b_0_108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fafb9a969b_0_1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fafb9a969b_0_118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fafb9a969b_0_1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fb09f6c32d_3_7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fb09f6c32d_3_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fb09f6c32d_3_17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fb09f6c32d_3_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fb09f6c32d_3_26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fb09f6c32d_3_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fb09f6c32d_3_34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fb09f6c32d_3_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fb09f6c32d_3_42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fb09f6c32d_3_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fb09f6c32d_3_53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fb09f6c32d_3_5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fb09f6c32d_3_61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fb09f6c32d_3_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fb09f6c32d_3_1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fb09f6c32d_3_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9c471f419_0_129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f9c471f419_0_1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f8abf4eadb_1_15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f8abf4eadb_1_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8abf4eadb_1_8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f8abf4eadb_1_8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f8abf4eadb_1_107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f8abf4eadb_1_1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6"/>
          <p:cNvSpPr txBox="1"/>
          <p:nvPr>
            <p:ph type="title"/>
          </p:nvPr>
        </p:nvSpPr>
        <p:spPr>
          <a:xfrm>
            <a:off x="197916" y="180212"/>
            <a:ext cx="7212965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None/>
              <a:defRPr b="1" i="0" sz="220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6"/>
          <p:cNvSpPr txBox="1"/>
          <p:nvPr>
            <p:ph idx="1" type="body"/>
          </p:nvPr>
        </p:nvSpPr>
        <p:spPr>
          <a:xfrm>
            <a:off x="320141" y="1977504"/>
            <a:ext cx="8120380" cy="2012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6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6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6"/>
          <p:cNvSpPr txBox="1"/>
          <p:nvPr>
            <p:ph idx="12" type="sldNum"/>
          </p:nvPr>
        </p:nvSpPr>
        <p:spPr>
          <a:xfrm>
            <a:off x="4418710" y="6498564"/>
            <a:ext cx="287020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f756c5f6ea_0_305"/>
          <p:cNvSpPr txBox="1"/>
          <p:nvPr>
            <p:ph idx="12" type="sldNum"/>
          </p:nvPr>
        </p:nvSpPr>
        <p:spPr>
          <a:xfrm>
            <a:off x="8556784" y="6333134"/>
            <a:ext cx="54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8265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88265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88265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88265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88265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88265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88265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88265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88265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88265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752b94e8a_0_156"/>
          <p:cNvSpPr txBox="1"/>
          <p:nvPr>
            <p:ph idx="10" type="dt"/>
          </p:nvPr>
        </p:nvSpPr>
        <p:spPr>
          <a:xfrm>
            <a:off x="342909" y="635635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f752b94e8a_0_156"/>
          <p:cNvSpPr txBox="1"/>
          <p:nvPr>
            <p:ph idx="11" type="ftr"/>
          </p:nvPr>
        </p:nvSpPr>
        <p:spPr>
          <a:xfrm>
            <a:off x="2343212" y="6356350"/>
            <a:ext cx="2171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f752b94e8a_0_156"/>
          <p:cNvSpPr txBox="1"/>
          <p:nvPr>
            <p:ph idx="12" type="sldNum"/>
          </p:nvPr>
        </p:nvSpPr>
        <p:spPr>
          <a:xfrm>
            <a:off x="4915031" y="6356350"/>
            <a:ext cx="160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7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7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7"/>
          <p:cNvSpPr txBox="1"/>
          <p:nvPr>
            <p:ph idx="12" type="sldNum"/>
          </p:nvPr>
        </p:nvSpPr>
        <p:spPr>
          <a:xfrm>
            <a:off x="4418710" y="6498564"/>
            <a:ext cx="287020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8"/>
          <p:cNvSpPr txBox="1"/>
          <p:nvPr>
            <p:ph type="ctrTitle"/>
          </p:nvPr>
        </p:nvSpPr>
        <p:spPr>
          <a:xfrm>
            <a:off x="1929510" y="2171776"/>
            <a:ext cx="5423534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200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8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8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8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8"/>
          <p:cNvSpPr txBox="1"/>
          <p:nvPr>
            <p:ph idx="12" type="sldNum"/>
          </p:nvPr>
        </p:nvSpPr>
        <p:spPr>
          <a:xfrm>
            <a:off x="4418710" y="6498564"/>
            <a:ext cx="287020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9"/>
          <p:cNvSpPr txBox="1"/>
          <p:nvPr>
            <p:ph type="title"/>
          </p:nvPr>
        </p:nvSpPr>
        <p:spPr>
          <a:xfrm>
            <a:off x="197916" y="180212"/>
            <a:ext cx="7212965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200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9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9"/>
          <p:cNvSpPr txBox="1"/>
          <p:nvPr>
            <p:ph idx="2" type="body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9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29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29"/>
          <p:cNvSpPr txBox="1"/>
          <p:nvPr>
            <p:ph idx="12" type="sldNum"/>
          </p:nvPr>
        </p:nvSpPr>
        <p:spPr>
          <a:xfrm>
            <a:off x="4418710" y="6498564"/>
            <a:ext cx="287020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0"/>
          <p:cNvSpPr txBox="1"/>
          <p:nvPr>
            <p:ph type="title"/>
          </p:nvPr>
        </p:nvSpPr>
        <p:spPr>
          <a:xfrm>
            <a:off x="197916" y="180212"/>
            <a:ext cx="7212965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200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0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0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0"/>
          <p:cNvSpPr txBox="1"/>
          <p:nvPr>
            <p:ph idx="12" type="sldNum"/>
          </p:nvPr>
        </p:nvSpPr>
        <p:spPr>
          <a:xfrm>
            <a:off x="4418710" y="6498564"/>
            <a:ext cx="287020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5"/>
          <p:cNvSpPr/>
          <p:nvPr/>
        </p:nvSpPr>
        <p:spPr>
          <a:xfrm>
            <a:off x="251459" y="6405371"/>
            <a:ext cx="8641080" cy="0"/>
          </a:xfrm>
          <a:custGeom>
            <a:rect b="b" l="l" r="r" t="t"/>
            <a:pathLst>
              <a:path extrusionOk="0" h="120000" w="8641080">
                <a:moveTo>
                  <a:pt x="0" y="0"/>
                </a:moveTo>
                <a:lnTo>
                  <a:pt x="8641080" y="0"/>
                </a:lnTo>
              </a:path>
            </a:pathLst>
          </a:cu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25"/>
          <p:cNvSpPr/>
          <p:nvPr/>
        </p:nvSpPr>
        <p:spPr>
          <a:xfrm>
            <a:off x="179831" y="691895"/>
            <a:ext cx="5039995" cy="0"/>
          </a:xfrm>
          <a:custGeom>
            <a:rect b="b" l="l" r="r" t="t"/>
            <a:pathLst>
              <a:path extrusionOk="0" h="120000" w="5039995">
                <a:moveTo>
                  <a:pt x="0" y="0"/>
                </a:moveTo>
                <a:lnTo>
                  <a:pt x="5039868" y="0"/>
                </a:lnTo>
              </a:path>
            </a:pathLst>
          </a:cu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25"/>
          <p:cNvSpPr txBox="1"/>
          <p:nvPr>
            <p:ph type="title"/>
          </p:nvPr>
        </p:nvSpPr>
        <p:spPr>
          <a:xfrm>
            <a:off x="197916" y="180212"/>
            <a:ext cx="7212965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200" u="none" cap="none" strike="noStrike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5"/>
          <p:cNvSpPr txBox="1"/>
          <p:nvPr>
            <p:ph idx="1" type="body"/>
          </p:nvPr>
        </p:nvSpPr>
        <p:spPr>
          <a:xfrm>
            <a:off x="320141" y="1977504"/>
            <a:ext cx="8120380" cy="2012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5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25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25"/>
          <p:cNvSpPr txBox="1"/>
          <p:nvPr>
            <p:ph idx="12" type="sldNum"/>
          </p:nvPr>
        </p:nvSpPr>
        <p:spPr>
          <a:xfrm>
            <a:off x="4418710" y="6498564"/>
            <a:ext cx="287020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8265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8265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8265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8265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8265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8265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8265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8265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8265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hyperlink" Target="http://drive.google.com/file/d/1ll8YAdKR6jzaMo_rVdQPHHwcBYSFJ8jB/view" TargetMode="External"/><Relationship Id="rId5" Type="http://schemas.openxmlformats.org/officeDocument/2006/relationships/image" Target="../media/image11.jp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28.png"/><Relationship Id="rId5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Relationship Id="rId4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Relationship Id="rId4" Type="http://schemas.openxmlformats.org/officeDocument/2006/relationships/image" Target="../media/image29.png"/><Relationship Id="rId5" Type="http://schemas.openxmlformats.org/officeDocument/2006/relationships/image" Target="../media/image31.png"/><Relationship Id="rId6" Type="http://schemas.openxmlformats.org/officeDocument/2006/relationships/image" Target="../media/image3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Relationship Id="rId4" Type="http://schemas.openxmlformats.org/officeDocument/2006/relationships/image" Target="../media/image4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0.gif"/><Relationship Id="rId4" Type="http://schemas.openxmlformats.org/officeDocument/2006/relationships/image" Target="../media/image42.gif"/><Relationship Id="rId5" Type="http://schemas.openxmlformats.org/officeDocument/2006/relationships/image" Target="../media/image45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4.png"/><Relationship Id="rId4" Type="http://schemas.openxmlformats.org/officeDocument/2006/relationships/image" Target="../media/image4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1.png"/><Relationship Id="rId4" Type="http://schemas.openxmlformats.org/officeDocument/2006/relationships/image" Target="../media/image5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7.png"/><Relationship Id="rId4" Type="http://schemas.openxmlformats.org/officeDocument/2006/relationships/image" Target="../media/image5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2.png"/><Relationship Id="rId4" Type="http://schemas.openxmlformats.org/officeDocument/2006/relationships/image" Target="../media/image64.png"/><Relationship Id="rId5" Type="http://schemas.openxmlformats.org/officeDocument/2006/relationships/image" Target="../media/image6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.png"/><Relationship Id="rId4" Type="http://schemas.openxmlformats.org/officeDocument/2006/relationships/image" Target="../media/image54.png"/><Relationship Id="rId5" Type="http://schemas.openxmlformats.org/officeDocument/2006/relationships/image" Target="../media/image58.png"/><Relationship Id="rId6" Type="http://schemas.openxmlformats.org/officeDocument/2006/relationships/image" Target="../media/image6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.png"/><Relationship Id="rId4" Type="http://schemas.openxmlformats.org/officeDocument/2006/relationships/image" Target="../media/image54.png"/><Relationship Id="rId5" Type="http://schemas.openxmlformats.org/officeDocument/2006/relationships/image" Target="../media/image58.png"/><Relationship Id="rId6" Type="http://schemas.openxmlformats.org/officeDocument/2006/relationships/image" Target="../media/image6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ae947353d_1_57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g3fae947353d_1_57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Lecture 4</a:t>
            </a:r>
            <a:endParaRPr/>
          </a:p>
        </p:txBody>
      </p:sp>
      <p:sp>
        <p:nvSpPr>
          <p:cNvPr id="53" name="Google Shape;53;g3fae947353d_1_57"/>
          <p:cNvSpPr txBox="1"/>
          <p:nvPr/>
        </p:nvSpPr>
        <p:spPr>
          <a:xfrm>
            <a:off x="353350" y="1493100"/>
            <a:ext cx="8312400" cy="1703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140375">
            <a:spAutoFit/>
          </a:bodyPr>
          <a:lstStyle/>
          <a:p>
            <a:pPr indent="0" lvl="0" marL="2444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None/>
            </a:pPr>
            <a:r>
              <a:rPr b="0" i="0" lang="en-US" sz="319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Fundamentals of Aerospace Engineering</a:t>
            </a:r>
            <a:endParaRPr b="0" i="0" sz="319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44475" marR="0" rtl="0" algn="l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rgbClr val="000000"/>
              </a:buClr>
              <a:buSzPts val="2640"/>
              <a:buFont typeface="Arial"/>
              <a:buNone/>
            </a:pPr>
            <a:r>
              <a:rPr b="0" i="0" lang="en-US" sz="2640" u="none" cap="none" strike="noStrike">
                <a:solidFill>
                  <a:srgbClr val="0F8AD9"/>
                </a:solidFill>
                <a:latin typeface="Cambria"/>
                <a:ea typeface="Cambria"/>
                <a:cs typeface="Cambria"/>
                <a:sym typeface="Cambria"/>
              </a:rPr>
              <a:t>From Airfoil to Wings, Stability. </a:t>
            </a:r>
            <a:endParaRPr b="0" i="0" sz="264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44475" marR="0" rtl="0" algn="l">
              <a:lnSpc>
                <a:spcPct val="100000"/>
              </a:lnSpc>
              <a:spcBef>
                <a:spcPts val="2585"/>
              </a:spcBef>
              <a:spcAft>
                <a:spcPts val="0"/>
              </a:spcAft>
              <a:buClr>
                <a:srgbClr val="000000"/>
              </a:buClr>
              <a:buSzPts val="1760"/>
              <a:buFont typeface="Arial"/>
              <a:buNone/>
            </a:pPr>
            <a:r>
              <a:rPr b="0" i="0" lang="en-US" sz="176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Naol S. Erega</a:t>
            </a:r>
            <a:endParaRPr b="0" i="0" sz="176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" name="Google Shape;54;g3fae947353d_1_57"/>
          <p:cNvSpPr txBox="1"/>
          <p:nvPr/>
        </p:nvSpPr>
        <p:spPr>
          <a:xfrm>
            <a:off x="4418710" y="6498564"/>
            <a:ext cx="287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8aa55a254_0_0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Recap: From aircraft forces to airfoils </a:t>
            </a:r>
            <a:endParaRPr/>
          </a:p>
        </p:txBody>
      </p:sp>
      <p:sp>
        <p:nvSpPr>
          <p:cNvPr id="60" name="Google Shape;60;g3f8aa55a254_0_0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1" name="Google Shape;61;g3f8aa55a25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9500" y="748200"/>
            <a:ext cx="3296944" cy="24035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f8aa55a254_0_0"/>
          <p:cNvSpPr txBox="1"/>
          <p:nvPr/>
        </p:nvSpPr>
        <p:spPr>
          <a:xfrm>
            <a:off x="197925" y="831813"/>
            <a:ext cx="4708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 aircraft in flight is acted upon by </a:t>
            </a:r>
            <a:r>
              <a:rPr b="1"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four fundamental forces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b="1"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" name="Google Shape;63;g3f8aa55a254_0_0"/>
          <p:cNvSpPr/>
          <p:nvPr/>
        </p:nvSpPr>
        <p:spPr>
          <a:xfrm>
            <a:off x="1702750" y="1736800"/>
            <a:ext cx="647700" cy="510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" name="Google Shape;64;g3f8aa55a254_0_0"/>
          <p:cNvSpPr txBox="1"/>
          <p:nvPr/>
        </p:nvSpPr>
        <p:spPr>
          <a:xfrm>
            <a:off x="197925" y="2412875"/>
            <a:ext cx="4708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Lift and drag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are aerodynamic forces generated by the flow of air around the aircraft. They result mainly </a:t>
            </a:r>
            <a:r>
              <a:rPr b="1" lang="en-US" sz="1800">
                <a:latin typeface="Malgun Gothic"/>
                <a:ea typeface="Malgun Gothic"/>
                <a:cs typeface="Malgun Gothic"/>
                <a:sym typeface="Malgun Gothic"/>
              </a:rPr>
              <a:t>from pressure differences and skin friction</a:t>
            </a:r>
            <a:r>
              <a:rPr lang="en-US" sz="1800"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sz="1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5" name="Google Shape;65;g3f8aa55a254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825" y="3790700"/>
            <a:ext cx="3372450" cy="25070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f8aa55a254_0_0"/>
          <p:cNvSpPr txBox="1"/>
          <p:nvPr/>
        </p:nvSpPr>
        <p:spPr>
          <a:xfrm>
            <a:off x="4837650" y="3597450"/>
            <a:ext cx="425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The </a:t>
            </a:r>
            <a:r>
              <a:rPr b="1"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wing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is the primary lifting surface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of an aircraft.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" name="Google Shape;67;g3f8aa55a254_0_0"/>
          <p:cNvSpPr/>
          <p:nvPr/>
        </p:nvSpPr>
        <p:spPr>
          <a:xfrm>
            <a:off x="6243275" y="4420013"/>
            <a:ext cx="647700" cy="510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" name="Google Shape;68;g3f8aa55a254_0_0"/>
          <p:cNvSpPr txBox="1"/>
          <p:nvPr/>
        </p:nvSpPr>
        <p:spPr>
          <a:xfrm>
            <a:off x="4794725" y="5013675"/>
            <a:ext cx="4251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The </a:t>
            </a:r>
            <a:r>
              <a:rPr b="1"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lift and drag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produced by a wing depend strongly on its</a:t>
            </a: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cross-sectional shape, known as an </a:t>
            </a:r>
            <a:r>
              <a:rPr b="1"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airfoil</a:t>
            </a:r>
            <a:r>
              <a:rPr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This is why we study </a:t>
            </a: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airfoils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!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8aa55a254_0_16"/>
          <p:cNvSpPr txBox="1"/>
          <p:nvPr>
            <p:ph type="title"/>
          </p:nvPr>
        </p:nvSpPr>
        <p:spPr>
          <a:xfrm>
            <a:off x="197925" y="180200"/>
            <a:ext cx="88104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Recap: </a:t>
            </a:r>
            <a:r>
              <a:rPr lang="en-US"/>
              <a:t>We have only begun to explore aerodynamic coefficients</a:t>
            </a:r>
            <a:r>
              <a:rPr lang="en-US"/>
              <a:t> </a:t>
            </a:r>
            <a:endParaRPr/>
          </a:p>
        </p:txBody>
      </p:sp>
      <p:sp>
        <p:nvSpPr>
          <p:cNvPr id="74" name="Google Shape;74;g3f8aa55a254_0_16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5" name="Google Shape;75;g3f8aa55a254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3725" y="733263"/>
            <a:ext cx="3992675" cy="473015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3f8aa55a254_0_16"/>
          <p:cNvSpPr txBox="1"/>
          <p:nvPr/>
        </p:nvSpPr>
        <p:spPr>
          <a:xfrm>
            <a:off x="4835900" y="5677775"/>
            <a:ext cx="394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Example: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Boeing 747 aircraft parameters.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77" name="Google Shape;77;g3f8aa55a254_0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462" y="1547150"/>
            <a:ext cx="4256325" cy="98154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f8aa55a254_0_16"/>
          <p:cNvSpPr txBox="1"/>
          <p:nvPr/>
        </p:nvSpPr>
        <p:spPr>
          <a:xfrm>
            <a:off x="197925" y="808250"/>
            <a:ext cx="438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We have only </a:t>
            </a: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barely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scratched the surface of aerodynamic coefficients </a:t>
            </a:r>
            <a:endParaRPr b="1"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79" name="Google Shape;79;g3f8aa55a254_0_16"/>
          <p:cNvPicPr preferRelativeResize="0"/>
          <p:nvPr/>
        </p:nvPicPr>
        <p:blipFill rotWithShape="1">
          <a:blip r:embed="rId5">
            <a:alphaModFix/>
          </a:blip>
          <a:srcRect b="-4850" l="-890" r="890" t="4850"/>
          <a:stretch/>
        </p:blipFill>
        <p:spPr>
          <a:xfrm>
            <a:off x="101888" y="3740750"/>
            <a:ext cx="4577474" cy="22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g3f8aa55a254_0_16"/>
          <p:cNvSpPr txBox="1"/>
          <p:nvPr/>
        </p:nvSpPr>
        <p:spPr>
          <a:xfrm>
            <a:off x="197925" y="2665413"/>
            <a:ext cx="4385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ex.) </a:t>
            </a: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CL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depends on </a:t>
            </a: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airfoil shape, flow Reynold’s number, Mach number, angle of attack, and etc.</a:t>
            </a:r>
            <a:endParaRPr b="1"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8aa55a254_0_31"/>
          <p:cNvSpPr txBox="1"/>
          <p:nvPr>
            <p:ph type="title"/>
          </p:nvPr>
        </p:nvSpPr>
        <p:spPr>
          <a:xfrm>
            <a:off x="197916" y="180212"/>
            <a:ext cx="7212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Recap: </a:t>
            </a:r>
            <a:r>
              <a:rPr lang="en-US"/>
              <a:t>Aerodynamic stall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86" name="Google Shape;86;g3f8aa55a254_0_31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g3f8aa55a254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700" y="3979775"/>
            <a:ext cx="5009276" cy="229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g3f8aa55a254_0_31" title="32ljeus9g6471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8700" y="1010000"/>
            <a:ext cx="4495301" cy="26151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f8aa55a254_0_31"/>
          <p:cNvSpPr txBox="1"/>
          <p:nvPr/>
        </p:nvSpPr>
        <p:spPr>
          <a:xfrm>
            <a:off x="306925" y="1010000"/>
            <a:ext cx="4081200" cy="25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algun Gothic"/>
              <a:buChar char="●"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As the angle of attack is increased beyond a certain value, the lift coefficient is rapidly start decreasing. At this condition, the airfoil is </a:t>
            </a:r>
            <a:r>
              <a:rPr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</a:t>
            </a:r>
            <a:r>
              <a:rPr b="1"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stalled</a:t>
            </a:r>
            <a:r>
              <a:rPr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”.</a:t>
            </a:r>
            <a:endParaRPr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algun Gothic"/>
              <a:buChar char="●"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Stall occurs when the airflow </a:t>
            </a:r>
            <a:r>
              <a:rPr b="1"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separates 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significantly from the airfoil surface, especially over the upper surface.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" name="Google Shape;90;g3f8aa55a254_0_31"/>
          <p:cNvSpPr txBox="1"/>
          <p:nvPr/>
        </p:nvSpPr>
        <p:spPr>
          <a:xfrm>
            <a:off x="4388125" y="3627913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Visualization of flow separation during stall </a:t>
            </a:r>
            <a:endParaRPr sz="1800"/>
          </a:p>
        </p:txBody>
      </p:sp>
      <p:pic>
        <p:nvPicPr>
          <p:cNvPr id="91" name="Google Shape;91;g3f8aa55a254_0_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09001" y="4065675"/>
            <a:ext cx="3233550" cy="234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g3fad7144fec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4325" y="2304800"/>
            <a:ext cx="3258425" cy="304687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fad7144fec_0_14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Recap: Airfoils catalog  </a:t>
            </a:r>
            <a:endParaRPr/>
          </a:p>
        </p:txBody>
      </p:sp>
      <p:sp>
        <p:nvSpPr>
          <p:cNvPr id="98" name="Google Shape;98;g3fad7144fec_0_14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g3fad7144fec_0_14"/>
          <p:cNvSpPr txBox="1"/>
          <p:nvPr/>
        </p:nvSpPr>
        <p:spPr>
          <a:xfrm>
            <a:off x="358375" y="1452400"/>
            <a:ext cx="7771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NACA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stands for the National Advisory Committee for Aeronautics. It was the organization that </a:t>
            </a: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developed many standardized airfoil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families before NASA was created.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g3fad7144fec_0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0600" y="2304800"/>
            <a:ext cx="4181799" cy="402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fad7144fec_0_14"/>
          <p:cNvSpPr txBox="1"/>
          <p:nvPr/>
        </p:nvSpPr>
        <p:spPr>
          <a:xfrm>
            <a:off x="5222225" y="5298675"/>
            <a:ext cx="378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/>
              <a:t>Remember each digit has meaning!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fad7144fec_0_14"/>
          <p:cNvSpPr txBox="1"/>
          <p:nvPr/>
        </p:nvSpPr>
        <p:spPr>
          <a:xfrm>
            <a:off x="5106425" y="4537975"/>
            <a:ext cx="3904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0000"/>
                </a:solidFill>
              </a:rPr>
              <a:t>ex.) </a:t>
            </a:r>
            <a:r>
              <a:rPr b="1" lang="en-US" sz="1100">
                <a:solidFill>
                  <a:srgbClr val="FF0000"/>
                </a:solidFill>
              </a:rPr>
              <a:t>http://airfoiltools.com/airfoil/details?airfoil=naca2412-il</a:t>
            </a:r>
            <a:endParaRPr b="1" sz="1100">
              <a:solidFill>
                <a:srgbClr val="FF0000"/>
              </a:solidFill>
            </a:endParaRPr>
          </a:p>
        </p:txBody>
      </p:sp>
      <p:pic>
        <p:nvPicPr>
          <p:cNvPr id="103" name="Google Shape;103;g3fad7144fec_0_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5976" y="5635625"/>
            <a:ext cx="3126776" cy="74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fad7144fec_0_14"/>
          <p:cNvSpPr txBox="1"/>
          <p:nvPr/>
        </p:nvSpPr>
        <p:spPr>
          <a:xfrm>
            <a:off x="345600" y="644025"/>
            <a:ext cx="8452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Many airfoils have already been </a:t>
            </a:r>
            <a:r>
              <a:rPr b="1" lang="en-US" sz="1800"/>
              <a:t>studied, tested, documented, and shared </a:t>
            </a:r>
            <a:r>
              <a:rPr lang="en-US" sz="1800"/>
              <a:t>among engineers. Designers can use them as </a:t>
            </a:r>
            <a:r>
              <a:rPr b="1" lang="en-US" sz="1800"/>
              <a:t>a starting point</a:t>
            </a:r>
            <a:r>
              <a:rPr lang="en-US" sz="1800"/>
              <a:t> for developing new </a:t>
            </a:r>
            <a:r>
              <a:rPr lang="en-US" sz="1800"/>
              <a:t>aircraft.</a:t>
            </a:r>
            <a:r>
              <a:rPr lang="en-US" sz="1800"/>
              <a:t> 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8abf4eadb_1_9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Today’s Content</a:t>
            </a:r>
            <a:endParaRPr/>
          </a:p>
        </p:txBody>
      </p:sp>
      <p:sp>
        <p:nvSpPr>
          <p:cNvPr id="110" name="Google Shape;110;g3f8abf4eadb_1_9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1" name="Google Shape;111;g3f8abf4eadb_1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1312"/>
            <a:ext cx="8839201" cy="5509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9b640a51d_0_0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Wing related vocabularies</a:t>
            </a:r>
            <a:endParaRPr/>
          </a:p>
        </p:txBody>
      </p:sp>
      <p:sp>
        <p:nvSpPr>
          <p:cNvPr id="117" name="Google Shape;117;g3f9b640a51d_0_0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8" name="Google Shape;118;g3f9b640a51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0475" y="1908600"/>
            <a:ext cx="6625650" cy="41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f9b640a51d_0_0"/>
          <p:cNvSpPr txBox="1"/>
          <p:nvPr/>
        </p:nvSpPr>
        <p:spPr>
          <a:xfrm>
            <a:off x="658325" y="894725"/>
            <a:ext cx="4558200" cy="9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Wing Span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b="1"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" name="Google Shape;120;g3f9b640a51d_0_0"/>
          <p:cNvSpPr txBox="1"/>
          <p:nvPr/>
        </p:nvSpPr>
        <p:spPr>
          <a:xfrm>
            <a:off x="967600" y="1337500"/>
            <a:ext cx="64986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The distance between the 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extreme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wing tips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9b640a51d_0_9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Wing related vocabularies</a:t>
            </a:r>
            <a:endParaRPr/>
          </a:p>
        </p:txBody>
      </p:sp>
      <p:sp>
        <p:nvSpPr>
          <p:cNvPr id="126" name="Google Shape;126;g3f9b640a51d_0_9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g3f9b640a51d_0_9"/>
          <p:cNvSpPr txBox="1"/>
          <p:nvPr/>
        </p:nvSpPr>
        <p:spPr>
          <a:xfrm>
            <a:off x="587125" y="963550"/>
            <a:ext cx="4558200" cy="9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Wing Area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A/S</a:t>
            </a:r>
            <a:endParaRPr b="1"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" name="Google Shape;128;g3f9b640a51d_0_9"/>
          <p:cNvSpPr txBox="1"/>
          <p:nvPr/>
        </p:nvSpPr>
        <p:spPr>
          <a:xfrm>
            <a:off x="952650" y="1392875"/>
            <a:ext cx="64986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The area of wing planform (i..e top view of the wing)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29" name="Google Shape;129;g3f9b640a51d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4650" y="1819950"/>
            <a:ext cx="5400712" cy="4172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9b640a51d_0_27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Wing related vocabularies</a:t>
            </a:r>
            <a:endParaRPr/>
          </a:p>
        </p:txBody>
      </p:sp>
      <p:sp>
        <p:nvSpPr>
          <p:cNvPr id="135" name="Google Shape;135;g3f9b640a51d_0_27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6" name="Google Shape;136;g3f9b640a51d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075" y="778000"/>
            <a:ext cx="7532575" cy="513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9b640a51d_0_57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Wing related vocabularies</a:t>
            </a:r>
            <a:endParaRPr/>
          </a:p>
        </p:txBody>
      </p:sp>
      <p:sp>
        <p:nvSpPr>
          <p:cNvPr id="142" name="Google Shape;142;g3f9b640a51d_0_57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3" name="Google Shape;143;g3f9b640a51d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650" y="920050"/>
            <a:ext cx="8518376" cy="516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9b640a51d_0_64"/>
          <p:cNvSpPr txBox="1"/>
          <p:nvPr>
            <p:ph type="title"/>
          </p:nvPr>
        </p:nvSpPr>
        <p:spPr>
          <a:xfrm>
            <a:off x="197916" y="180212"/>
            <a:ext cx="7212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Wing related vocabularies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3f9b640a51d_0_64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0" name="Google Shape;150;g3f9b640a51d_0_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550" y="857612"/>
            <a:ext cx="7067550" cy="501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9b640a51d_0_72"/>
          <p:cNvSpPr txBox="1"/>
          <p:nvPr>
            <p:ph type="title"/>
          </p:nvPr>
        </p:nvSpPr>
        <p:spPr>
          <a:xfrm>
            <a:off x="197925" y="180204"/>
            <a:ext cx="7212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Wing related vocabularies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g3f9b640a51d_0_72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7" name="Google Shape;157;g3f9b640a51d_0_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125" y="1263775"/>
            <a:ext cx="4744601" cy="3890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f9b640a51d_0_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3275" y="1331050"/>
            <a:ext cx="4182850" cy="382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b640a51d_0_96"/>
          <p:cNvSpPr txBox="1"/>
          <p:nvPr>
            <p:ph type="title"/>
          </p:nvPr>
        </p:nvSpPr>
        <p:spPr>
          <a:xfrm>
            <a:off x="197916" y="180212"/>
            <a:ext cx="7212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Wing related vocabularies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f9b640a51d_0_96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5" name="Google Shape;165;g3f9b640a51d_0_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325" y="999000"/>
            <a:ext cx="5806176" cy="373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f9b640a51d_0_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3785" y="4179838"/>
            <a:ext cx="3963018" cy="1818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9b640a51d_0_90"/>
          <p:cNvSpPr txBox="1"/>
          <p:nvPr>
            <p:ph type="title"/>
          </p:nvPr>
        </p:nvSpPr>
        <p:spPr>
          <a:xfrm>
            <a:off x="197916" y="180212"/>
            <a:ext cx="7212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Wing related vocabularies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f9b640a51d_0_90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3" name="Google Shape;173;g3f9b640a51d_0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925" y="857600"/>
            <a:ext cx="8323475" cy="525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9b640a51d_0_180"/>
          <p:cNvSpPr txBox="1"/>
          <p:nvPr>
            <p:ph type="title"/>
          </p:nvPr>
        </p:nvSpPr>
        <p:spPr>
          <a:xfrm>
            <a:off x="197916" y="180212"/>
            <a:ext cx="7212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Wing related vocabularies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f9b640a51d_0_180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0" name="Google Shape;180;g3f9b640a51d_0_1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000" y="897428"/>
            <a:ext cx="6749824" cy="397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f9b640a51d_0_1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8060" y="4631978"/>
            <a:ext cx="3442867" cy="1643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9c471f419_0_30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 to </a:t>
            </a:r>
            <a:r>
              <a:rPr lang="en-US"/>
              <a:t>drag force</a:t>
            </a:r>
            <a:endParaRPr/>
          </a:p>
        </p:txBody>
      </p:sp>
      <p:sp>
        <p:nvSpPr>
          <p:cNvPr id="187" name="Google Shape;187;g3f9c471f419_0_30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8" name="Google Shape;188;g3f9c471f419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300" y="768762"/>
            <a:ext cx="8010525" cy="340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f9c471f419_0_30"/>
          <p:cNvSpPr txBox="1"/>
          <p:nvPr/>
        </p:nvSpPr>
        <p:spPr>
          <a:xfrm>
            <a:off x="522375" y="4419025"/>
            <a:ext cx="5164200" cy="19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There are 2 main types of Drag: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Parasitic drag/ Zero lift drag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Lift induced drag/Vortex drag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9c471f419_0_40"/>
          <p:cNvSpPr txBox="1"/>
          <p:nvPr>
            <p:ph type="title"/>
          </p:nvPr>
        </p:nvSpPr>
        <p:spPr>
          <a:xfrm>
            <a:off x="197916" y="180212"/>
            <a:ext cx="7212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Parasitic drag/ Zero lift drag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f9c471f419_0_40"/>
          <p:cNvSpPr txBox="1"/>
          <p:nvPr>
            <p:ph idx="1" type="body"/>
          </p:nvPr>
        </p:nvSpPr>
        <p:spPr>
          <a:xfrm>
            <a:off x="401991" y="935567"/>
            <a:ext cx="81204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When an aircraft is flying at an angle of attack which gives </a:t>
            </a:r>
            <a:r>
              <a:rPr b="1" lang="en-US"/>
              <a:t>zero lift</a:t>
            </a:r>
            <a:r>
              <a:rPr lang="en-US"/>
              <a:t>, the resultant forces acting parallel and opposite to the direction of flight is called </a:t>
            </a:r>
            <a:r>
              <a:rPr b="1" lang="en-US"/>
              <a:t>Zero Lift Drag.</a:t>
            </a:r>
            <a:endParaRPr b="1"/>
          </a:p>
        </p:txBody>
      </p:sp>
      <p:sp>
        <p:nvSpPr>
          <p:cNvPr id="196" name="Google Shape;196;g3f9c471f419_0_40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g3f9c471f419_0_40"/>
          <p:cNvSpPr txBox="1"/>
          <p:nvPr/>
        </p:nvSpPr>
        <p:spPr>
          <a:xfrm>
            <a:off x="297225" y="1844850"/>
            <a:ext cx="7113600" cy="15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Zero lift drag </a:t>
            </a: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can be subdivided into: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Malgun Gothic"/>
              <a:buAutoNum type="arabicPeriod"/>
            </a:pPr>
            <a:r>
              <a:rPr b="1"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Surface friction drag</a:t>
            </a:r>
            <a:endParaRPr b="1"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Malgun Gothic"/>
              <a:buAutoNum type="arabicPeriod"/>
            </a:pPr>
            <a:r>
              <a:rPr b="1" lang="en-US" sz="180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Form drag</a:t>
            </a:r>
            <a:endParaRPr b="1" sz="1800">
              <a:solidFill>
                <a:srgbClr val="0000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Interference drag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98" name="Google Shape;198;g3f9c471f419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3450" y="2311775"/>
            <a:ext cx="4777675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f9c471f419_0_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3450" y="3571875"/>
            <a:ext cx="4777676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f9c471f419_0_40"/>
          <p:cNvSpPr txBox="1"/>
          <p:nvPr/>
        </p:nvSpPr>
        <p:spPr>
          <a:xfrm>
            <a:off x="3582700" y="4649250"/>
            <a:ext cx="5108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Form drag:</a:t>
            </a: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Depending on  the shape of plate, the number of people preventing it from moving changes.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01" name="Google Shape;201;g3f9c471f419_0_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000" y="3493025"/>
            <a:ext cx="2779575" cy="215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f9c471f419_0_40"/>
          <p:cNvSpPr txBox="1"/>
          <p:nvPr/>
        </p:nvSpPr>
        <p:spPr>
          <a:xfrm>
            <a:off x="402000" y="5650975"/>
            <a:ext cx="7926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Surface friction drag</a:t>
            </a:r>
            <a:r>
              <a:rPr b="1"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the tendency of air flowing over the body to cling to its surface. It can be because of </a:t>
            </a: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Ice on wings,  Dirts build up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etc.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9c471f419_0_54"/>
          <p:cNvSpPr txBox="1"/>
          <p:nvPr>
            <p:ph type="title"/>
          </p:nvPr>
        </p:nvSpPr>
        <p:spPr>
          <a:xfrm>
            <a:off x="197916" y="180212"/>
            <a:ext cx="7212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Lift induced drag</a:t>
            </a:r>
            <a:r>
              <a:rPr lang="en-US"/>
              <a:t>/Vortex drag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f9c471f419_0_54"/>
          <p:cNvSpPr txBox="1"/>
          <p:nvPr>
            <p:ph idx="1" type="body"/>
          </p:nvPr>
        </p:nvSpPr>
        <p:spPr>
          <a:xfrm>
            <a:off x="292591" y="857604"/>
            <a:ext cx="8120400" cy="16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</a:rPr>
              <a:t>Wing-tip vortices</a:t>
            </a:r>
            <a:r>
              <a:rPr b="1" lang="en-US">
                <a:solidFill>
                  <a:srgbClr val="FF0000"/>
                </a:solidFill>
              </a:rPr>
              <a:t>:</a:t>
            </a:r>
            <a:r>
              <a:rPr b="1" lang="en-US"/>
              <a:t> </a:t>
            </a:r>
            <a:r>
              <a:rPr lang="en-US"/>
              <a:t>if the wing has lift, then obviously</a:t>
            </a:r>
            <a:r>
              <a:rPr b="1" lang="en-US"/>
              <a:t> the average pressure over the bottom surface is greater than that of over the top surface</a:t>
            </a:r>
            <a:r>
              <a:rPr lang="en-US"/>
              <a:t>. Consequently, there is some tendency for the air to </a:t>
            </a:r>
            <a:r>
              <a:rPr b="1" lang="en-US"/>
              <a:t>“leak,” or flow, </a:t>
            </a:r>
            <a:r>
              <a:rPr lang="en-US"/>
              <a:t>around the wing tips  from the high- to the low- pressure sides, as shown in the figure belows.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rotating flow structure is called a </a:t>
            </a:r>
            <a:r>
              <a:rPr b="1" lang="en-US"/>
              <a:t>wing-tip vortex</a:t>
            </a:r>
            <a:r>
              <a:rPr lang="en-US"/>
              <a:t>.</a:t>
            </a:r>
            <a:endParaRPr b="1"/>
          </a:p>
        </p:txBody>
      </p:sp>
      <p:sp>
        <p:nvSpPr>
          <p:cNvPr id="209" name="Google Shape;209;g3f9c471f419_0_54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0" name="Google Shape;210;g3f9c471f419_0_54"/>
          <p:cNvPicPr preferRelativeResize="0"/>
          <p:nvPr/>
        </p:nvPicPr>
        <p:blipFill rotWithShape="1">
          <a:blip r:embed="rId3">
            <a:alphaModFix/>
          </a:blip>
          <a:srcRect b="3230" l="-4980" r="4980" t="-3230"/>
          <a:stretch/>
        </p:blipFill>
        <p:spPr>
          <a:xfrm>
            <a:off x="109250" y="3766875"/>
            <a:ext cx="4126251" cy="122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f9c471f419_0_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8700" y="3278325"/>
            <a:ext cx="4505776" cy="20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f9c471f419_0_54"/>
          <p:cNvSpPr txBox="1"/>
          <p:nvPr/>
        </p:nvSpPr>
        <p:spPr>
          <a:xfrm>
            <a:off x="197925" y="2550625"/>
            <a:ext cx="81600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Lift induced drag: 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this is a drag increment happening as a result</a:t>
            </a:r>
            <a:r>
              <a:rPr b="1" lang="en-US" sz="180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of vortex.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How does this happen? Next slide!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3" name="Google Shape;213;g3f9c471f419_0_54"/>
          <p:cNvSpPr txBox="1"/>
          <p:nvPr/>
        </p:nvSpPr>
        <p:spPr>
          <a:xfrm>
            <a:off x="815150" y="5464525"/>
            <a:ext cx="72129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Remember:</a:t>
            </a: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An ideal wing with infinite span has no wing tips; therefore, wing-tip vortices and lift-induced drag do not occur.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9c471f419_0_12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Wing-tip vortices create lift-induced drag </a:t>
            </a:r>
            <a:endParaRPr/>
          </a:p>
        </p:txBody>
      </p:sp>
      <p:sp>
        <p:nvSpPr>
          <p:cNvPr id="219" name="Google Shape;219;g3f9c471f419_0_12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0" name="Google Shape;220;g3f9c471f419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275" y="2638550"/>
            <a:ext cx="3697075" cy="155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3f9c471f419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275" y="923551"/>
            <a:ext cx="8401448" cy="1310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g3f9c471f419_0_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32325" y="2267275"/>
            <a:ext cx="4505325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3f9c471f419_0_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5375" y="4129450"/>
            <a:ext cx="3205550" cy="204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9c471f419_0_18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Summary: total drag has two main components</a:t>
            </a:r>
            <a:endParaRPr/>
          </a:p>
        </p:txBody>
      </p:sp>
      <p:sp>
        <p:nvSpPr>
          <p:cNvPr id="229" name="Google Shape;229;g3f9c471f419_0_18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0" name="Google Shape;230;g3f9c471f419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54450"/>
            <a:ext cx="8839201" cy="51491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1" name="Google Shape;231;g3f9c471f419_0_18"/>
          <p:cNvCxnSpPr/>
          <p:nvPr/>
        </p:nvCxnSpPr>
        <p:spPr>
          <a:xfrm flipH="1" rot="10800000">
            <a:off x="2435400" y="4015375"/>
            <a:ext cx="711900" cy="891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2" name="Google Shape;232;g3f9c471f419_0_18"/>
          <p:cNvSpPr txBox="1"/>
          <p:nvPr/>
        </p:nvSpPr>
        <p:spPr>
          <a:xfrm>
            <a:off x="197925" y="5147125"/>
            <a:ext cx="39465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higher AR the lower induced drag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Therefore, Aircraft with higher AR flies long range.  </a:t>
            </a: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Cons of higher AR?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33" name="Google Shape;233;g3f9c471f419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8000" y="566350"/>
            <a:ext cx="1938476" cy="137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f9c471f419_0_18"/>
          <p:cNvSpPr txBox="1"/>
          <p:nvPr/>
        </p:nvSpPr>
        <p:spPr>
          <a:xfrm>
            <a:off x="5734250" y="1026200"/>
            <a:ext cx="342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Winglet</a:t>
            </a:r>
            <a:endParaRPr b="1"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9c471f419_0_89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High aspect ratio: efficient, but not free </a:t>
            </a:r>
            <a:endParaRPr/>
          </a:p>
        </p:txBody>
      </p:sp>
      <p:sp>
        <p:nvSpPr>
          <p:cNvPr id="240" name="Google Shape;240;g3f9c471f419_0_89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1" name="Google Shape;241;g3f9c471f419_0_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14449"/>
            <a:ext cx="8839200" cy="5518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9c471f419_0_97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Worked example: compare induced drag </a:t>
            </a:r>
            <a:endParaRPr/>
          </a:p>
        </p:txBody>
      </p:sp>
      <p:sp>
        <p:nvSpPr>
          <p:cNvPr id="247" name="Google Shape;247;g3f9c471f419_0_97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8" name="Google Shape;248;g3f9c471f419_0_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0287"/>
            <a:ext cx="8839199" cy="5236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9c471f419_0_105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Worked example: AR = 12 saves 33% induced drag </a:t>
            </a:r>
            <a:endParaRPr/>
          </a:p>
        </p:txBody>
      </p:sp>
      <p:sp>
        <p:nvSpPr>
          <p:cNvPr id="254" name="Google Shape;254;g3f9c471f419_0_105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5" name="Google Shape;255;g3f9c471f419_0_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16724"/>
            <a:ext cx="8839200" cy="5224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9c471f419_0_121"/>
          <p:cNvSpPr txBox="1"/>
          <p:nvPr>
            <p:ph type="title"/>
          </p:nvPr>
        </p:nvSpPr>
        <p:spPr>
          <a:xfrm>
            <a:off x="197927" y="180200"/>
            <a:ext cx="8645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drag-vs-speed curve links aerodynamics to performance </a:t>
            </a:r>
            <a:endParaRPr/>
          </a:p>
        </p:txBody>
      </p:sp>
      <p:sp>
        <p:nvSpPr>
          <p:cNvPr id="261" name="Google Shape;261;g3f9c471f419_0_121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2" name="Google Shape;262;g3f9c471f419_0_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175" y="790124"/>
            <a:ext cx="8839201" cy="4953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8abf4eadb_1_23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Mechanics of aircraft</a:t>
            </a:r>
            <a:endParaRPr/>
          </a:p>
        </p:txBody>
      </p:sp>
      <p:sp>
        <p:nvSpPr>
          <p:cNvPr id="268" name="Google Shape;268;g3f8abf4eadb_1_23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9" name="Google Shape;269;g3f8abf4eadb_1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675" y="873637"/>
            <a:ext cx="8839201" cy="475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8abf4eadb_1_113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Aircraft main control surfaces</a:t>
            </a:r>
            <a:endParaRPr/>
          </a:p>
        </p:txBody>
      </p:sp>
      <p:sp>
        <p:nvSpPr>
          <p:cNvPr id="275" name="Google Shape;275;g3f8abf4eadb_1_113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6" name="Google Shape;276;g3f8abf4eadb_1_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360972"/>
            <a:ext cx="2362200" cy="183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3f8abf4eadb_1_1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8216" y="2319802"/>
            <a:ext cx="2348057" cy="1918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g3f8abf4eadb_1_1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2461407"/>
            <a:ext cx="2527017" cy="163513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g3f8abf4eadb_1_113"/>
          <p:cNvSpPr/>
          <p:nvPr/>
        </p:nvSpPr>
        <p:spPr>
          <a:xfrm>
            <a:off x="2132710" y="4349855"/>
            <a:ext cx="4572000" cy="10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254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C9AEF"/>
                </a:solidFill>
                <a:latin typeface="Arial"/>
                <a:ea typeface="Arial"/>
                <a:cs typeface="Arial"/>
                <a:sym typeface="Arial"/>
              </a:rPr>
              <a:t>ROLL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207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B66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rotation about forward axis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0" name="Google Shape;280;g3f8abf4eadb_1_113"/>
          <p:cNvSpPr/>
          <p:nvPr/>
        </p:nvSpPr>
        <p:spPr>
          <a:xfrm>
            <a:off x="-800545" y="4349855"/>
            <a:ext cx="4572000" cy="10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317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B4A2"/>
                </a:solidFill>
                <a:latin typeface="Arial"/>
                <a:ea typeface="Arial"/>
                <a:cs typeface="Arial"/>
                <a:sym typeface="Arial"/>
              </a:rPr>
              <a:t>PITCH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207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B66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nose up / nose down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1" name="Google Shape;281;g3f8abf4eadb_1_113"/>
          <p:cNvSpPr/>
          <p:nvPr/>
        </p:nvSpPr>
        <p:spPr>
          <a:xfrm>
            <a:off x="5257800" y="4349855"/>
            <a:ext cx="4572000" cy="10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190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8962D1"/>
                </a:solidFill>
                <a:latin typeface="Arial"/>
                <a:ea typeface="Arial"/>
                <a:cs typeface="Arial"/>
                <a:sym typeface="Arial"/>
              </a:rPr>
              <a:t>YAW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207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B66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nose left / nose right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2" name="Google Shape;282;g3f8abf4eadb_1_113"/>
          <p:cNvSpPr txBox="1"/>
          <p:nvPr/>
        </p:nvSpPr>
        <p:spPr>
          <a:xfrm>
            <a:off x="4418710" y="6498564"/>
            <a:ext cx="287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rgbClr val="000000"/>
                </a:solidFill>
              </a:rPr>
              <a:t>‹#›</a:t>
            </a:fld>
            <a:endParaRPr b="1">
              <a:solidFill>
                <a:srgbClr val="000000"/>
              </a:solidFill>
            </a:endParaRPr>
          </a:p>
        </p:txBody>
      </p:sp>
      <p:sp>
        <p:nvSpPr>
          <p:cNvPr id="283" name="Google Shape;283;g3f8abf4eadb_1_113"/>
          <p:cNvSpPr txBox="1"/>
          <p:nvPr/>
        </p:nvSpPr>
        <p:spPr>
          <a:xfrm>
            <a:off x="707425" y="1270588"/>
            <a:ext cx="209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Elevator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4" name="Google Shape;284;g3f8abf4eadb_1_113"/>
          <p:cNvCxnSpPr/>
          <p:nvPr/>
        </p:nvCxnSpPr>
        <p:spPr>
          <a:xfrm>
            <a:off x="1407450" y="1698550"/>
            <a:ext cx="878100" cy="846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5" name="Google Shape;285;g3f8abf4eadb_1_113"/>
          <p:cNvSpPr txBox="1"/>
          <p:nvPr/>
        </p:nvSpPr>
        <p:spPr>
          <a:xfrm>
            <a:off x="4114750" y="1249988"/>
            <a:ext cx="209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Alerion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6" name="Google Shape;286;g3f8abf4eadb_1_113"/>
          <p:cNvCxnSpPr/>
          <p:nvPr/>
        </p:nvCxnSpPr>
        <p:spPr>
          <a:xfrm flipH="1">
            <a:off x="4373675" y="1619450"/>
            <a:ext cx="276900" cy="1020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" name="Google Shape;287;g3f8abf4eadb_1_113"/>
          <p:cNvCxnSpPr/>
          <p:nvPr/>
        </p:nvCxnSpPr>
        <p:spPr>
          <a:xfrm>
            <a:off x="4856225" y="1690650"/>
            <a:ext cx="506400" cy="166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8" name="Google Shape;288;g3f8abf4eadb_1_113"/>
          <p:cNvSpPr txBox="1"/>
          <p:nvPr/>
        </p:nvSpPr>
        <p:spPr>
          <a:xfrm>
            <a:off x="6566850" y="1249988"/>
            <a:ext cx="209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Rudder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9" name="Google Shape;289;g3f8abf4eadb_1_113"/>
          <p:cNvCxnSpPr/>
          <p:nvPr/>
        </p:nvCxnSpPr>
        <p:spPr>
          <a:xfrm>
            <a:off x="7258950" y="1588700"/>
            <a:ext cx="711900" cy="981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9c471f419_0_113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Forces translate the aircraft; moments rotate it. </a:t>
            </a:r>
            <a:endParaRPr/>
          </a:p>
        </p:txBody>
      </p:sp>
      <p:sp>
        <p:nvSpPr>
          <p:cNvPr id="295" name="Google Shape;295;g3f9c471f419_0_113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6" name="Google Shape;296;g3f9c471f419_0_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650" y="1093100"/>
            <a:ext cx="8839202" cy="4831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afb9a969b_0_23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Trimmed flight </a:t>
            </a:r>
            <a:endParaRPr/>
          </a:p>
        </p:txBody>
      </p:sp>
      <p:sp>
        <p:nvSpPr>
          <p:cNvPr id="302" name="Google Shape;302;g3fafb9a969b_0_23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3" name="Google Shape;303;g3fafb9a969b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925" y="1390837"/>
            <a:ext cx="862965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3fafb9a969b_0_23"/>
          <p:cNvSpPr txBox="1"/>
          <p:nvPr/>
        </p:nvSpPr>
        <p:spPr>
          <a:xfrm>
            <a:off x="2585300" y="3183400"/>
            <a:ext cx="43470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Trimmed (equilibrium) flight</a:t>
            </a:r>
            <a:endParaRPr b="1"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8abf4eadb_1_136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Aircraft stability: Longitudinal static stability</a:t>
            </a:r>
            <a:endParaRPr/>
          </a:p>
        </p:txBody>
      </p:sp>
      <p:sp>
        <p:nvSpPr>
          <p:cNvPr id="310" name="Google Shape;310;g3f8abf4eadb_1_136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1" name="Google Shape;311;g3f8abf4eadb_1_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675" y="788138"/>
            <a:ext cx="7599975" cy="544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afb9a969b_0_1"/>
          <p:cNvSpPr txBox="1"/>
          <p:nvPr>
            <p:ph type="title"/>
          </p:nvPr>
        </p:nvSpPr>
        <p:spPr>
          <a:xfrm>
            <a:off x="197916" y="180212"/>
            <a:ext cx="7212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Aircraft stability: Longitudinal static stability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fafb9a969b_0_1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8" name="Google Shape;318;g3fafb9a969b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925" y="839325"/>
            <a:ext cx="7948724" cy="139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g3fafb9a969b_0_1"/>
          <p:cNvSpPr txBox="1"/>
          <p:nvPr/>
        </p:nvSpPr>
        <p:spPr>
          <a:xfrm>
            <a:off x="2885100" y="2330300"/>
            <a:ext cx="2178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Statically stable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20" name="Google Shape;320;g3fafb9a969b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100" y="2878100"/>
            <a:ext cx="8409724" cy="17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3fafb9a969b_0_1"/>
          <p:cNvSpPr txBox="1"/>
          <p:nvPr/>
        </p:nvSpPr>
        <p:spPr>
          <a:xfrm>
            <a:off x="2885100" y="4770975"/>
            <a:ext cx="2178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Statically unstable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afb9a969b_0_13"/>
          <p:cNvSpPr txBox="1"/>
          <p:nvPr>
            <p:ph type="title"/>
          </p:nvPr>
        </p:nvSpPr>
        <p:spPr>
          <a:xfrm>
            <a:off x="197916" y="180212"/>
            <a:ext cx="7212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Aircraft stability: Longitudinal static stability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fafb9a969b_0_13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8" name="Google Shape;328;g3fafb9a969b_0_13"/>
          <p:cNvSpPr txBox="1"/>
          <p:nvPr/>
        </p:nvSpPr>
        <p:spPr>
          <a:xfrm>
            <a:off x="2870100" y="2756675"/>
            <a:ext cx="2178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Neutrally</a:t>
            </a: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stable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29" name="Google Shape;329;g3fafb9a969b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925" y="956750"/>
            <a:ext cx="8258175" cy="1362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0" name="Google Shape;330;g3fafb9a969b_0_13"/>
          <p:cNvGrpSpPr/>
          <p:nvPr/>
        </p:nvGrpSpPr>
        <p:grpSpPr>
          <a:xfrm>
            <a:off x="902113" y="3913357"/>
            <a:ext cx="6849800" cy="1167376"/>
            <a:chOff x="408725" y="5147332"/>
            <a:chExt cx="6849800" cy="1167376"/>
          </a:xfrm>
        </p:grpSpPr>
        <p:sp>
          <p:nvSpPr>
            <p:cNvPr id="331" name="Google Shape;331;g3fafb9a969b_0_13"/>
            <p:cNvSpPr txBox="1"/>
            <p:nvPr/>
          </p:nvSpPr>
          <p:spPr>
            <a:xfrm>
              <a:off x="1502125" y="5378925"/>
              <a:ext cx="5756400" cy="8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latin typeface="Malgun Gothic"/>
                  <a:ea typeface="Malgun Gothic"/>
                  <a:cs typeface="Malgun Gothic"/>
                  <a:sym typeface="Malgun Gothic"/>
                </a:rPr>
                <a:t>How do aircraft designers make</a:t>
              </a:r>
              <a:r>
                <a:rPr b="1" lang="en-US" sz="180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b="1"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aircraft </a:t>
              </a:r>
              <a:r>
                <a:rPr b="1" lang="en-US" sz="180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Longitudinally statically stability </a:t>
              </a:r>
              <a:r>
                <a:rPr b="1"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at trimmed flight?</a:t>
              </a:r>
              <a:endParaRPr b="1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32" name="Google Shape;332;g3fafb9a969b_0_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08725" y="5147332"/>
              <a:ext cx="1171175" cy="1167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afb9a969b_0_49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Aircraft stability: Longitudinal pitching moment</a:t>
            </a:r>
            <a:endParaRPr/>
          </a:p>
        </p:txBody>
      </p:sp>
      <p:sp>
        <p:nvSpPr>
          <p:cNvPr id="338" name="Google Shape;338;g3fafb9a969b_0_49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9" name="Google Shape;339;g3fafb9a969b_0_49"/>
          <p:cNvPicPr preferRelativeResize="0"/>
          <p:nvPr/>
        </p:nvPicPr>
        <p:blipFill rotWithShape="1">
          <a:blip r:embed="rId3">
            <a:alphaModFix/>
          </a:blip>
          <a:srcRect b="0" l="-720" r="720" t="0"/>
          <a:stretch/>
        </p:blipFill>
        <p:spPr>
          <a:xfrm>
            <a:off x="152400" y="1370975"/>
            <a:ext cx="8690498" cy="391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g3fafb9a969b_0_49"/>
          <p:cNvSpPr txBox="1"/>
          <p:nvPr/>
        </p:nvSpPr>
        <p:spPr>
          <a:xfrm>
            <a:off x="396300" y="823775"/>
            <a:ext cx="8351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Pitching moment/torque about aircraft center of gravity: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1" name="Google Shape;341;g3fafb9a969b_0_49"/>
          <p:cNvSpPr txBox="1"/>
          <p:nvPr/>
        </p:nvSpPr>
        <p:spPr>
          <a:xfrm>
            <a:off x="4309725" y="4298400"/>
            <a:ext cx="35901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You don’t need to understand the derivation now :)</a:t>
            </a:r>
            <a:endParaRPr b="1" sz="1800">
              <a:solidFill>
                <a:srgbClr val="0000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2" name="Google Shape;342;g3fafb9a969b_0_49"/>
          <p:cNvSpPr txBox="1"/>
          <p:nvPr/>
        </p:nvSpPr>
        <p:spPr>
          <a:xfrm>
            <a:off x="5330825" y="5020750"/>
            <a:ext cx="116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BUT</a:t>
            </a:r>
            <a:endParaRPr b="1"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afb9a969b_0_39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Aircraft stability: pitching moment</a:t>
            </a:r>
            <a:endParaRPr/>
          </a:p>
        </p:txBody>
      </p:sp>
      <p:sp>
        <p:nvSpPr>
          <p:cNvPr id="348" name="Google Shape;348;g3fafb9a969b_0_39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9" name="Google Shape;349;g3fafb9a969b_0_39"/>
          <p:cNvPicPr preferRelativeResize="0"/>
          <p:nvPr/>
        </p:nvPicPr>
        <p:blipFill rotWithShape="1">
          <a:blip r:embed="rId3">
            <a:alphaModFix/>
          </a:blip>
          <a:srcRect b="0" l="-720" r="720" t="0"/>
          <a:stretch/>
        </p:blipFill>
        <p:spPr>
          <a:xfrm>
            <a:off x="152400" y="1370975"/>
            <a:ext cx="8690498" cy="391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fafb9a969b_0_39"/>
          <p:cNvSpPr txBox="1"/>
          <p:nvPr/>
        </p:nvSpPr>
        <p:spPr>
          <a:xfrm>
            <a:off x="396300" y="823775"/>
            <a:ext cx="8351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Pitching moment/torque about aircraft center of gravity: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1" name="Google Shape;351;g3fafb9a969b_0_39"/>
          <p:cNvSpPr/>
          <p:nvPr/>
        </p:nvSpPr>
        <p:spPr>
          <a:xfrm>
            <a:off x="1412350" y="2776000"/>
            <a:ext cx="1230900" cy="439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52" name="Google Shape;352;g3fafb9a969b_0_39"/>
          <p:cNvCxnSpPr/>
          <p:nvPr/>
        </p:nvCxnSpPr>
        <p:spPr>
          <a:xfrm>
            <a:off x="2722025" y="3284000"/>
            <a:ext cx="595500" cy="762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3" name="Google Shape;353;g3fafb9a969b_0_39"/>
          <p:cNvSpPr txBox="1"/>
          <p:nvPr/>
        </p:nvSpPr>
        <p:spPr>
          <a:xfrm>
            <a:off x="3266325" y="3739325"/>
            <a:ext cx="50940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Moment created by the wing lift acting at the wing aerodynamic center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fafb9a969b_0_61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Aircraft stability: pitching moment</a:t>
            </a:r>
            <a:endParaRPr/>
          </a:p>
        </p:txBody>
      </p:sp>
      <p:sp>
        <p:nvSpPr>
          <p:cNvPr id="359" name="Google Shape;359;g3fafb9a969b_0_61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0" name="Google Shape;360;g3fafb9a969b_0_61"/>
          <p:cNvPicPr preferRelativeResize="0"/>
          <p:nvPr/>
        </p:nvPicPr>
        <p:blipFill rotWithShape="1">
          <a:blip r:embed="rId3">
            <a:alphaModFix/>
          </a:blip>
          <a:srcRect b="0" l="-720" r="720" t="0"/>
          <a:stretch/>
        </p:blipFill>
        <p:spPr>
          <a:xfrm>
            <a:off x="152400" y="1370975"/>
            <a:ext cx="8690498" cy="391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g3fafb9a969b_0_61"/>
          <p:cNvSpPr txBox="1"/>
          <p:nvPr/>
        </p:nvSpPr>
        <p:spPr>
          <a:xfrm>
            <a:off x="396300" y="823775"/>
            <a:ext cx="8351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Pitching moment/torque about aircraft center of gravity: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2" name="Google Shape;362;g3fafb9a969b_0_61"/>
          <p:cNvSpPr/>
          <p:nvPr/>
        </p:nvSpPr>
        <p:spPr>
          <a:xfrm>
            <a:off x="2768025" y="2790100"/>
            <a:ext cx="379500" cy="395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63" name="Google Shape;363;g3fafb9a969b_0_61"/>
          <p:cNvCxnSpPr/>
          <p:nvPr/>
        </p:nvCxnSpPr>
        <p:spPr>
          <a:xfrm>
            <a:off x="3198275" y="3260200"/>
            <a:ext cx="400500" cy="660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4" name="Google Shape;364;g3fafb9a969b_0_61"/>
          <p:cNvSpPr txBox="1"/>
          <p:nvPr/>
        </p:nvSpPr>
        <p:spPr>
          <a:xfrm>
            <a:off x="3147525" y="3850050"/>
            <a:ext cx="30375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Wing inherent pitching moment.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fafb9a969b_0_72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Aircraft stability: pitching moment</a:t>
            </a:r>
            <a:endParaRPr/>
          </a:p>
        </p:txBody>
      </p:sp>
      <p:sp>
        <p:nvSpPr>
          <p:cNvPr id="370" name="Google Shape;370;g3fafb9a969b_0_72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1" name="Google Shape;371;g3fafb9a969b_0_72"/>
          <p:cNvPicPr preferRelativeResize="0"/>
          <p:nvPr/>
        </p:nvPicPr>
        <p:blipFill rotWithShape="1">
          <a:blip r:embed="rId3">
            <a:alphaModFix/>
          </a:blip>
          <a:srcRect b="0" l="-720" r="720" t="0"/>
          <a:stretch/>
        </p:blipFill>
        <p:spPr>
          <a:xfrm>
            <a:off x="152400" y="1370975"/>
            <a:ext cx="8690498" cy="391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g3fafb9a969b_0_72"/>
          <p:cNvSpPr txBox="1"/>
          <p:nvPr/>
        </p:nvSpPr>
        <p:spPr>
          <a:xfrm>
            <a:off x="396300" y="823775"/>
            <a:ext cx="8351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Pitching moment/torque about aircraft center of gravity: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3" name="Google Shape;373;g3fafb9a969b_0_72"/>
          <p:cNvSpPr/>
          <p:nvPr/>
        </p:nvSpPr>
        <p:spPr>
          <a:xfrm>
            <a:off x="3275100" y="2783950"/>
            <a:ext cx="637500" cy="444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74" name="Google Shape;374;g3fafb9a969b_0_72"/>
          <p:cNvCxnSpPr/>
          <p:nvPr/>
        </p:nvCxnSpPr>
        <p:spPr>
          <a:xfrm>
            <a:off x="3730100" y="3347500"/>
            <a:ext cx="127200" cy="502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5" name="Google Shape;375;g3fafb9a969b_0_72"/>
          <p:cNvSpPr txBox="1"/>
          <p:nvPr/>
        </p:nvSpPr>
        <p:spPr>
          <a:xfrm>
            <a:off x="3147525" y="3850050"/>
            <a:ext cx="32259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Additional pitching moment produced by flap deflection.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fafb9a969b_0_88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Aircraft stability: pitching moment</a:t>
            </a:r>
            <a:endParaRPr/>
          </a:p>
        </p:txBody>
      </p:sp>
      <p:sp>
        <p:nvSpPr>
          <p:cNvPr id="381" name="Google Shape;381;g3fafb9a969b_0_88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2" name="Google Shape;382;g3fafb9a969b_0_88"/>
          <p:cNvPicPr preferRelativeResize="0"/>
          <p:nvPr/>
        </p:nvPicPr>
        <p:blipFill rotWithShape="1">
          <a:blip r:embed="rId3">
            <a:alphaModFix/>
          </a:blip>
          <a:srcRect b="0" l="-720" r="720" t="0"/>
          <a:stretch/>
        </p:blipFill>
        <p:spPr>
          <a:xfrm>
            <a:off x="152400" y="1370975"/>
            <a:ext cx="8690498" cy="391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g3fafb9a969b_0_88"/>
          <p:cNvSpPr txBox="1"/>
          <p:nvPr/>
        </p:nvSpPr>
        <p:spPr>
          <a:xfrm>
            <a:off x="396300" y="823775"/>
            <a:ext cx="8351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Pitching moment/torque about aircraft center of gravity: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4" name="Google Shape;384;g3fafb9a969b_0_88"/>
          <p:cNvSpPr/>
          <p:nvPr/>
        </p:nvSpPr>
        <p:spPr>
          <a:xfrm>
            <a:off x="4047600" y="2776000"/>
            <a:ext cx="476400" cy="526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85" name="Google Shape;385;g3fafb9a969b_0_88"/>
          <p:cNvCxnSpPr/>
          <p:nvPr/>
        </p:nvCxnSpPr>
        <p:spPr>
          <a:xfrm flipH="1">
            <a:off x="3944350" y="3360575"/>
            <a:ext cx="309600" cy="431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6" name="Google Shape;386;g3fafb9a969b_0_88"/>
          <p:cNvSpPr txBox="1"/>
          <p:nvPr/>
        </p:nvSpPr>
        <p:spPr>
          <a:xfrm>
            <a:off x="3147525" y="3850050"/>
            <a:ext cx="3225900" cy="7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Pitching moment generated by the fuselage.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fafb9a969b_0_98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Aircraft stability: pitching moment</a:t>
            </a:r>
            <a:endParaRPr/>
          </a:p>
        </p:txBody>
      </p:sp>
      <p:sp>
        <p:nvSpPr>
          <p:cNvPr id="392" name="Google Shape;392;g3fafb9a969b_0_98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3" name="Google Shape;393;g3fafb9a969b_0_98"/>
          <p:cNvPicPr preferRelativeResize="0"/>
          <p:nvPr/>
        </p:nvPicPr>
        <p:blipFill rotWithShape="1">
          <a:blip r:embed="rId3">
            <a:alphaModFix/>
          </a:blip>
          <a:srcRect b="0" l="-720" r="720" t="0"/>
          <a:stretch/>
        </p:blipFill>
        <p:spPr>
          <a:xfrm>
            <a:off x="152400" y="1370975"/>
            <a:ext cx="8690498" cy="391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g3fafb9a969b_0_98"/>
          <p:cNvSpPr txBox="1"/>
          <p:nvPr/>
        </p:nvSpPr>
        <p:spPr>
          <a:xfrm>
            <a:off x="396300" y="823775"/>
            <a:ext cx="8351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Pitching moment/torque about aircraft center of gravity: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5" name="Google Shape;395;g3fafb9a969b_0_98"/>
          <p:cNvSpPr/>
          <p:nvPr/>
        </p:nvSpPr>
        <p:spPr>
          <a:xfrm>
            <a:off x="4658775" y="2744250"/>
            <a:ext cx="1627200" cy="611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96" name="Google Shape;396;g3fafb9a969b_0_98"/>
          <p:cNvCxnSpPr/>
          <p:nvPr/>
        </p:nvCxnSpPr>
        <p:spPr>
          <a:xfrm flipH="1">
            <a:off x="3944250" y="3403075"/>
            <a:ext cx="579600" cy="388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7" name="Google Shape;397;g3fafb9a969b_0_98"/>
          <p:cNvSpPr txBox="1"/>
          <p:nvPr/>
        </p:nvSpPr>
        <p:spPr>
          <a:xfrm>
            <a:off x="3147525" y="3850050"/>
            <a:ext cx="4841100" cy="7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Pitching moment produced by the horizontal-tail lift.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afb9a969b_0_108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Aircraft stability: pitching moment</a:t>
            </a:r>
            <a:endParaRPr/>
          </a:p>
        </p:txBody>
      </p:sp>
      <p:sp>
        <p:nvSpPr>
          <p:cNvPr id="403" name="Google Shape;403;g3fafb9a969b_0_108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4" name="Google Shape;404;g3fafb9a969b_0_108"/>
          <p:cNvPicPr preferRelativeResize="0"/>
          <p:nvPr/>
        </p:nvPicPr>
        <p:blipFill rotWithShape="1">
          <a:blip r:embed="rId3">
            <a:alphaModFix/>
          </a:blip>
          <a:srcRect b="0" l="-720" r="720" t="0"/>
          <a:stretch/>
        </p:blipFill>
        <p:spPr>
          <a:xfrm>
            <a:off x="152400" y="1370975"/>
            <a:ext cx="8690498" cy="3915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g3fafb9a969b_0_108"/>
          <p:cNvSpPr txBox="1"/>
          <p:nvPr/>
        </p:nvSpPr>
        <p:spPr>
          <a:xfrm>
            <a:off x="396300" y="823775"/>
            <a:ext cx="8351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Pitching moment/torque about aircraft center of gravity: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6" name="Google Shape;406;g3fafb9a969b_0_108"/>
          <p:cNvSpPr/>
          <p:nvPr/>
        </p:nvSpPr>
        <p:spPr>
          <a:xfrm>
            <a:off x="6452650" y="2752175"/>
            <a:ext cx="579600" cy="547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07" name="Google Shape;407;g3fafb9a969b_0_108"/>
          <p:cNvCxnSpPr/>
          <p:nvPr/>
        </p:nvCxnSpPr>
        <p:spPr>
          <a:xfrm flipH="1">
            <a:off x="4166750" y="3244325"/>
            <a:ext cx="2135100" cy="619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8" name="Google Shape;408;g3fafb9a969b_0_108"/>
          <p:cNvSpPr txBox="1"/>
          <p:nvPr/>
        </p:nvSpPr>
        <p:spPr>
          <a:xfrm>
            <a:off x="3147525" y="3850050"/>
            <a:ext cx="53928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Pitching moment caused by the thrust line being vertically offset from the center of gravity.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afb9a969b_0_118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Aircraft stability: pitching moment</a:t>
            </a:r>
            <a:endParaRPr/>
          </a:p>
        </p:txBody>
      </p:sp>
      <p:sp>
        <p:nvSpPr>
          <p:cNvPr id="414" name="Google Shape;414;g3fafb9a969b_0_118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5" name="Google Shape;415;g3fafb9a969b_0_118"/>
          <p:cNvPicPr preferRelativeResize="0"/>
          <p:nvPr/>
        </p:nvPicPr>
        <p:blipFill rotWithShape="1">
          <a:blip r:embed="rId3">
            <a:alphaModFix/>
          </a:blip>
          <a:srcRect b="0" l="-720" r="720" t="0"/>
          <a:stretch/>
        </p:blipFill>
        <p:spPr>
          <a:xfrm>
            <a:off x="152400" y="1370975"/>
            <a:ext cx="8690498" cy="3915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g3fafb9a969b_0_118"/>
          <p:cNvSpPr txBox="1"/>
          <p:nvPr/>
        </p:nvSpPr>
        <p:spPr>
          <a:xfrm>
            <a:off x="396300" y="823775"/>
            <a:ext cx="8351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Pitching moment/torque about aircraft center of gravity: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7" name="Google Shape;417;g3fafb9a969b_0_118"/>
          <p:cNvSpPr/>
          <p:nvPr/>
        </p:nvSpPr>
        <p:spPr>
          <a:xfrm>
            <a:off x="7119400" y="2736300"/>
            <a:ext cx="1254300" cy="547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18" name="Google Shape;418;g3fafb9a969b_0_118"/>
          <p:cNvCxnSpPr/>
          <p:nvPr/>
        </p:nvCxnSpPr>
        <p:spPr>
          <a:xfrm flipH="1">
            <a:off x="4283775" y="3222975"/>
            <a:ext cx="2754300" cy="571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9" name="Google Shape;419;g3fafb9a969b_0_118"/>
          <p:cNvSpPr txBox="1"/>
          <p:nvPr/>
        </p:nvSpPr>
        <p:spPr>
          <a:xfrm>
            <a:off x="3147525" y="3850050"/>
            <a:ext cx="53928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Pitching moment caused by the propulsion force acting away from the center of gravity.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fb09f6c32d_3_7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Primary factors affecting longitudinal static stability</a:t>
            </a:r>
            <a:endParaRPr/>
          </a:p>
        </p:txBody>
      </p:sp>
      <p:sp>
        <p:nvSpPr>
          <p:cNvPr id="425" name="Google Shape;425;g3fb09f6c32d_3_7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26" name="Google Shape;426;g3fb09f6c32d_3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275" y="787450"/>
            <a:ext cx="6228401" cy="3853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g3fb09f6c32d_3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650" y="4774874"/>
            <a:ext cx="8839202" cy="1321834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g3fb09f6c32d_3_7"/>
          <p:cNvSpPr/>
          <p:nvPr/>
        </p:nvSpPr>
        <p:spPr>
          <a:xfrm>
            <a:off x="1086275" y="5491900"/>
            <a:ext cx="1386600" cy="63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9" name="Google Shape;429;g3fb09f6c32d_3_7"/>
          <p:cNvSpPr/>
          <p:nvPr/>
        </p:nvSpPr>
        <p:spPr>
          <a:xfrm>
            <a:off x="4616450" y="5491900"/>
            <a:ext cx="1716300" cy="63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b09f6c32d_3_17"/>
          <p:cNvSpPr txBox="1"/>
          <p:nvPr>
            <p:ph type="title"/>
          </p:nvPr>
        </p:nvSpPr>
        <p:spPr>
          <a:xfrm>
            <a:off x="197925" y="180200"/>
            <a:ext cx="8735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mathematical requirement for longitudinal static stability </a:t>
            </a:r>
            <a:endParaRPr/>
          </a:p>
        </p:txBody>
      </p:sp>
      <p:sp>
        <p:nvSpPr>
          <p:cNvPr id="435" name="Google Shape;435;g3fb09f6c32d_3_17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6" name="Google Shape;436;g3fb09f6c32d_3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550" y="840050"/>
            <a:ext cx="8044499" cy="405415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g3fb09f6c32d_3_17"/>
          <p:cNvSpPr txBox="1"/>
          <p:nvPr/>
        </p:nvSpPr>
        <p:spPr>
          <a:xfrm>
            <a:off x="525900" y="4572000"/>
            <a:ext cx="39798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This is the requirement!</a:t>
            </a:r>
            <a:endParaRPr b="1"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fb09f6c32d_3_26"/>
          <p:cNvSpPr txBox="1"/>
          <p:nvPr>
            <p:ph type="title"/>
          </p:nvPr>
        </p:nvSpPr>
        <p:spPr>
          <a:xfrm>
            <a:off x="197926" y="180200"/>
            <a:ext cx="82560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stable aircraft has a negative pitching-moment slope </a:t>
            </a:r>
            <a:endParaRPr/>
          </a:p>
        </p:txBody>
      </p:sp>
      <p:sp>
        <p:nvSpPr>
          <p:cNvPr id="443" name="Google Shape;443;g3fb09f6c32d_3_26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4" name="Google Shape;444;g3fb09f6c32d_3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800" y="1031075"/>
            <a:ext cx="8518900" cy="3978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fb09f6c32d_3_34"/>
          <p:cNvSpPr txBox="1"/>
          <p:nvPr>
            <p:ph type="title"/>
          </p:nvPr>
        </p:nvSpPr>
        <p:spPr>
          <a:xfrm>
            <a:off x="197926" y="180200"/>
            <a:ext cx="8046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center of gravity must be ahead of the neutral point </a:t>
            </a:r>
            <a:endParaRPr/>
          </a:p>
        </p:txBody>
      </p:sp>
      <p:sp>
        <p:nvSpPr>
          <p:cNvPr id="450" name="Google Shape;450;g3fb09f6c32d_3_34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1" name="Google Shape;451;g3fb09f6c32d_3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925" y="1038575"/>
            <a:ext cx="8839199" cy="4004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fb09f6c32d_3_42"/>
          <p:cNvSpPr txBox="1"/>
          <p:nvPr>
            <p:ph type="title"/>
          </p:nvPr>
        </p:nvSpPr>
        <p:spPr>
          <a:xfrm>
            <a:off x="197926" y="180200"/>
            <a:ext cx="81885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horizontal tail creates the restoring pitching moment </a:t>
            </a:r>
            <a:endParaRPr/>
          </a:p>
        </p:txBody>
      </p:sp>
      <p:sp>
        <p:nvSpPr>
          <p:cNvPr id="457" name="Google Shape;457;g3fb09f6c32d_3_42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8" name="Google Shape;458;g3fb09f6c32d_3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650" y="4774874"/>
            <a:ext cx="8839202" cy="1321834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g3fb09f6c32d_3_42"/>
          <p:cNvSpPr/>
          <p:nvPr/>
        </p:nvSpPr>
        <p:spPr>
          <a:xfrm>
            <a:off x="4616450" y="5491900"/>
            <a:ext cx="1716300" cy="63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60" name="Google Shape;460;g3fb09f6c32d_3_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8281" y="949875"/>
            <a:ext cx="4432693" cy="35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g3fb09f6c32d_3_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800" y="1368350"/>
            <a:ext cx="4073481" cy="2817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fb09f6c32d_3_53"/>
          <p:cNvSpPr txBox="1"/>
          <p:nvPr>
            <p:ph type="title"/>
          </p:nvPr>
        </p:nvSpPr>
        <p:spPr>
          <a:xfrm>
            <a:off x="197927" y="180200"/>
            <a:ext cx="84285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Worked example: determine trim and restoring response </a:t>
            </a:r>
            <a:endParaRPr/>
          </a:p>
        </p:txBody>
      </p:sp>
      <p:sp>
        <p:nvSpPr>
          <p:cNvPr id="467" name="Google Shape;467;g3fb09f6c32d_3_53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8" name="Google Shape;468;g3fb09f6c32d_3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875" y="989450"/>
            <a:ext cx="8258626" cy="413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fb09f6c32d_3_61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Final design check for longitudinal static stability </a:t>
            </a:r>
            <a:endParaRPr/>
          </a:p>
        </p:txBody>
      </p:sp>
      <p:sp>
        <p:nvSpPr>
          <p:cNvPr id="474" name="Google Shape;474;g3fb09f6c32d_3_61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75" name="Google Shape;475;g3fb09f6c32d_3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925" y="1121012"/>
            <a:ext cx="8839203" cy="37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b09f6c32d_3_1"/>
          <p:cNvSpPr txBox="1"/>
          <p:nvPr>
            <p:ph type="title"/>
          </p:nvPr>
        </p:nvSpPr>
        <p:spPr>
          <a:xfrm>
            <a:off x="197916" y="180212"/>
            <a:ext cx="7212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</a:t>
            </a:r>
            <a:r>
              <a:rPr lang="en-US"/>
              <a:t>ateral + directional static stability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g3fb09f6c32d_3_1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82" name="Google Shape;482;g3fb09f6c32d_3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925" y="857600"/>
            <a:ext cx="8384676" cy="536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f9c471f419_0_129"/>
          <p:cNvSpPr txBox="1"/>
          <p:nvPr>
            <p:ph type="title"/>
          </p:nvPr>
        </p:nvSpPr>
        <p:spPr>
          <a:xfrm>
            <a:off x="610141" y="285596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Basics of Flight Dynamics</a:t>
            </a:r>
            <a:endParaRPr/>
          </a:p>
        </p:txBody>
      </p:sp>
      <p:sp>
        <p:nvSpPr>
          <p:cNvPr id="488" name="Google Shape;488;g3f9c471f419_0_129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f8abf4eadb_1_15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Aircraft as point mass</a:t>
            </a:r>
            <a:endParaRPr/>
          </a:p>
        </p:txBody>
      </p:sp>
      <p:sp>
        <p:nvSpPr>
          <p:cNvPr id="494" name="Google Shape;494;g3f8abf4eadb_1_15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95" name="Google Shape;495;g3f8abf4eadb_1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650" y="1085475"/>
            <a:ext cx="3296944" cy="240357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f8abf4eadb_1_15"/>
          <p:cNvSpPr/>
          <p:nvPr/>
        </p:nvSpPr>
        <p:spPr>
          <a:xfrm>
            <a:off x="3991800" y="2099913"/>
            <a:ext cx="682200" cy="3747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7" name="Google Shape;497;g3f8abf4eadb_1_15"/>
          <p:cNvSpPr txBox="1"/>
          <p:nvPr/>
        </p:nvSpPr>
        <p:spPr>
          <a:xfrm>
            <a:off x="1502125" y="5395900"/>
            <a:ext cx="57564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What important aircraft motion is missing from this model?</a:t>
            </a:r>
            <a:endParaRPr b="1"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98" name="Google Shape;498;g3f8abf4eadb_1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725" y="5147332"/>
            <a:ext cx="1171175" cy="116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g3f8abf4eadb_1_15"/>
          <p:cNvSpPr txBox="1"/>
          <p:nvPr/>
        </p:nvSpPr>
        <p:spPr>
          <a:xfrm>
            <a:off x="600650" y="3739325"/>
            <a:ext cx="36522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Point mass model: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00" name="Google Shape;500;g3f8abf4eadb_1_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2350" y="3616963"/>
            <a:ext cx="144780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g3f8abf4eadb_1_15"/>
          <p:cNvSpPr txBox="1"/>
          <p:nvPr/>
        </p:nvSpPr>
        <p:spPr>
          <a:xfrm>
            <a:off x="600650" y="4335450"/>
            <a:ext cx="26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For the 2D level flight:</a:t>
            </a:r>
            <a:endParaRPr/>
          </a:p>
        </p:txBody>
      </p:sp>
      <p:pic>
        <p:nvPicPr>
          <p:cNvPr id="502" name="Google Shape;502;g3f8abf4eadb_1_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29000" y="4261500"/>
            <a:ext cx="1504950" cy="885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3" name="Google Shape;503;g3f8abf4eadb_1_15"/>
          <p:cNvGrpSpPr/>
          <p:nvPr/>
        </p:nvGrpSpPr>
        <p:grpSpPr>
          <a:xfrm>
            <a:off x="5036200" y="931325"/>
            <a:ext cx="4206925" cy="2621100"/>
            <a:chOff x="5036200" y="931325"/>
            <a:chExt cx="4206925" cy="2621100"/>
          </a:xfrm>
        </p:grpSpPr>
        <p:sp>
          <p:nvSpPr>
            <p:cNvPr id="504" name="Google Shape;504;g3f8abf4eadb_1_15"/>
            <p:cNvSpPr/>
            <p:nvPr/>
          </p:nvSpPr>
          <p:spPr>
            <a:xfrm>
              <a:off x="5860650" y="1766825"/>
              <a:ext cx="592200" cy="6372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rgbClr val="00FF00"/>
                </a:solidFill>
                <a:highlight>
                  <a:srgbClr val="00FF00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5" name="Google Shape;505;g3f8abf4eadb_1_15"/>
            <p:cNvSpPr/>
            <p:nvPr/>
          </p:nvSpPr>
          <p:spPr>
            <a:xfrm>
              <a:off x="6085500" y="1309650"/>
              <a:ext cx="142500" cy="374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0000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6" name="Google Shape;506;g3f8abf4eadb_1_15"/>
            <p:cNvSpPr/>
            <p:nvPr/>
          </p:nvSpPr>
          <p:spPr>
            <a:xfrm rot="10800000">
              <a:off x="6085500" y="2523850"/>
              <a:ext cx="142500" cy="374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7" name="Google Shape;507;g3f8abf4eadb_1_15"/>
            <p:cNvSpPr/>
            <p:nvPr/>
          </p:nvSpPr>
          <p:spPr>
            <a:xfrm rot="5400000">
              <a:off x="6600188" y="1898075"/>
              <a:ext cx="142500" cy="374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8" name="Google Shape;508;g3f8abf4eadb_1_15"/>
            <p:cNvSpPr/>
            <p:nvPr/>
          </p:nvSpPr>
          <p:spPr>
            <a:xfrm rot="-5400000">
              <a:off x="5470900" y="1898075"/>
              <a:ext cx="142500" cy="374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0000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9" name="Google Shape;509;g3f8abf4eadb_1_15"/>
            <p:cNvSpPr txBox="1"/>
            <p:nvPr/>
          </p:nvSpPr>
          <p:spPr>
            <a:xfrm>
              <a:off x="6190450" y="1234675"/>
              <a:ext cx="7344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Lift</a:t>
              </a:r>
              <a:endParaRPr b="1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10" name="Google Shape;510;g3f8abf4eadb_1_15"/>
            <p:cNvSpPr txBox="1"/>
            <p:nvPr/>
          </p:nvSpPr>
          <p:spPr>
            <a:xfrm>
              <a:off x="6625600" y="2225950"/>
              <a:ext cx="7344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Drag</a:t>
              </a:r>
              <a:endParaRPr b="1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11" name="Google Shape;511;g3f8abf4eadb_1_15"/>
            <p:cNvSpPr txBox="1"/>
            <p:nvPr/>
          </p:nvSpPr>
          <p:spPr>
            <a:xfrm>
              <a:off x="5036200" y="2225950"/>
              <a:ext cx="9369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Thrust</a:t>
              </a:r>
              <a:endParaRPr b="1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12" name="Google Shape;512;g3f8abf4eadb_1_15"/>
            <p:cNvSpPr txBox="1"/>
            <p:nvPr/>
          </p:nvSpPr>
          <p:spPr>
            <a:xfrm>
              <a:off x="5662075" y="3018375"/>
              <a:ext cx="1098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Weight</a:t>
              </a:r>
              <a:endParaRPr b="1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513" name="Google Shape;513;g3f8abf4eadb_1_15"/>
            <p:cNvCxnSpPr/>
            <p:nvPr/>
          </p:nvCxnSpPr>
          <p:spPr>
            <a:xfrm rot="10800000">
              <a:off x="7260975" y="3090725"/>
              <a:ext cx="14079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14" name="Google Shape;514;g3f8abf4eadb_1_15"/>
            <p:cNvCxnSpPr/>
            <p:nvPr/>
          </p:nvCxnSpPr>
          <p:spPr>
            <a:xfrm rot="10800000">
              <a:off x="8668875" y="931325"/>
              <a:ext cx="0" cy="21594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15" name="Google Shape;515;g3f8abf4eadb_1_15"/>
            <p:cNvSpPr txBox="1"/>
            <p:nvPr/>
          </p:nvSpPr>
          <p:spPr>
            <a:xfrm>
              <a:off x="7893600" y="3090725"/>
              <a:ext cx="1250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x</a:t>
              </a:r>
              <a:endParaRPr b="1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16" name="Google Shape;516;g3f8abf4eadb_1_15"/>
            <p:cNvSpPr txBox="1"/>
            <p:nvPr/>
          </p:nvSpPr>
          <p:spPr>
            <a:xfrm>
              <a:off x="8328725" y="1684350"/>
              <a:ext cx="914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Y</a:t>
              </a:r>
              <a:endParaRPr b="1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f8abf4eadb_1_80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Aircraft as point mass</a:t>
            </a:r>
            <a:endParaRPr/>
          </a:p>
        </p:txBody>
      </p:sp>
      <p:sp>
        <p:nvSpPr>
          <p:cNvPr id="522" name="Google Shape;522;g3f8abf4eadb_1_80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23" name="Google Shape;523;g3f8abf4eadb_1_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650" y="1085475"/>
            <a:ext cx="3296944" cy="2403575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g3f8abf4eadb_1_80"/>
          <p:cNvSpPr/>
          <p:nvPr/>
        </p:nvSpPr>
        <p:spPr>
          <a:xfrm>
            <a:off x="3991800" y="2099913"/>
            <a:ext cx="682200" cy="3747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5" name="Google Shape;525;g3f8abf4eadb_1_80"/>
          <p:cNvSpPr txBox="1"/>
          <p:nvPr/>
        </p:nvSpPr>
        <p:spPr>
          <a:xfrm>
            <a:off x="1502125" y="5395900"/>
            <a:ext cx="57564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What important aircraft motion is missing from this model?</a:t>
            </a:r>
            <a:endParaRPr b="1"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== Rotational motion</a:t>
            </a:r>
            <a:endParaRPr b="1" sz="1800">
              <a:solidFill>
                <a:srgbClr val="0000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26" name="Google Shape;526;g3f8abf4eadb_1_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725" y="5147332"/>
            <a:ext cx="1171175" cy="1167376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g3f8abf4eadb_1_80"/>
          <p:cNvSpPr txBox="1"/>
          <p:nvPr/>
        </p:nvSpPr>
        <p:spPr>
          <a:xfrm>
            <a:off x="600650" y="3739325"/>
            <a:ext cx="36522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Point mass model: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28" name="Google Shape;528;g3f8abf4eadb_1_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2350" y="3616963"/>
            <a:ext cx="144780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g3f8abf4eadb_1_80"/>
          <p:cNvSpPr txBox="1"/>
          <p:nvPr/>
        </p:nvSpPr>
        <p:spPr>
          <a:xfrm>
            <a:off x="600650" y="4335450"/>
            <a:ext cx="26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For the 2D level flight:</a:t>
            </a:r>
            <a:endParaRPr/>
          </a:p>
        </p:txBody>
      </p:sp>
      <p:pic>
        <p:nvPicPr>
          <p:cNvPr id="530" name="Google Shape;530;g3f8abf4eadb_1_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29000" y="4261500"/>
            <a:ext cx="1504950" cy="885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1" name="Google Shape;531;g3f8abf4eadb_1_80"/>
          <p:cNvGrpSpPr/>
          <p:nvPr/>
        </p:nvGrpSpPr>
        <p:grpSpPr>
          <a:xfrm>
            <a:off x="5036200" y="931325"/>
            <a:ext cx="4206925" cy="2621100"/>
            <a:chOff x="5036200" y="931325"/>
            <a:chExt cx="4206925" cy="2621100"/>
          </a:xfrm>
        </p:grpSpPr>
        <p:sp>
          <p:nvSpPr>
            <p:cNvPr id="532" name="Google Shape;532;g3f8abf4eadb_1_80"/>
            <p:cNvSpPr/>
            <p:nvPr/>
          </p:nvSpPr>
          <p:spPr>
            <a:xfrm>
              <a:off x="5860650" y="1766825"/>
              <a:ext cx="592200" cy="6372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rgbClr val="00FF00"/>
                </a:solidFill>
                <a:highlight>
                  <a:srgbClr val="00FF00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3" name="Google Shape;533;g3f8abf4eadb_1_80"/>
            <p:cNvSpPr/>
            <p:nvPr/>
          </p:nvSpPr>
          <p:spPr>
            <a:xfrm>
              <a:off x="6085500" y="1309650"/>
              <a:ext cx="142500" cy="374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0000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4" name="Google Shape;534;g3f8abf4eadb_1_80"/>
            <p:cNvSpPr/>
            <p:nvPr/>
          </p:nvSpPr>
          <p:spPr>
            <a:xfrm rot="10800000">
              <a:off x="6085500" y="2523850"/>
              <a:ext cx="142500" cy="374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5" name="Google Shape;535;g3f8abf4eadb_1_80"/>
            <p:cNvSpPr/>
            <p:nvPr/>
          </p:nvSpPr>
          <p:spPr>
            <a:xfrm rot="5400000">
              <a:off x="6600188" y="1898075"/>
              <a:ext cx="142500" cy="374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6" name="Google Shape;536;g3f8abf4eadb_1_80"/>
            <p:cNvSpPr/>
            <p:nvPr/>
          </p:nvSpPr>
          <p:spPr>
            <a:xfrm rot="-5400000">
              <a:off x="5470900" y="1898075"/>
              <a:ext cx="142500" cy="374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0000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7" name="Google Shape;537;g3f8abf4eadb_1_80"/>
            <p:cNvSpPr txBox="1"/>
            <p:nvPr/>
          </p:nvSpPr>
          <p:spPr>
            <a:xfrm>
              <a:off x="6190450" y="1234675"/>
              <a:ext cx="7344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Lift</a:t>
              </a:r>
              <a:endParaRPr b="1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8" name="Google Shape;538;g3f8abf4eadb_1_80"/>
            <p:cNvSpPr txBox="1"/>
            <p:nvPr/>
          </p:nvSpPr>
          <p:spPr>
            <a:xfrm>
              <a:off x="6625600" y="2225950"/>
              <a:ext cx="7344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Drag</a:t>
              </a:r>
              <a:endParaRPr b="1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9" name="Google Shape;539;g3f8abf4eadb_1_80"/>
            <p:cNvSpPr txBox="1"/>
            <p:nvPr/>
          </p:nvSpPr>
          <p:spPr>
            <a:xfrm>
              <a:off x="5036200" y="2225950"/>
              <a:ext cx="9369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Thrust</a:t>
              </a:r>
              <a:endParaRPr b="1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0" name="Google Shape;540;g3f8abf4eadb_1_80"/>
            <p:cNvSpPr txBox="1"/>
            <p:nvPr/>
          </p:nvSpPr>
          <p:spPr>
            <a:xfrm>
              <a:off x="5662075" y="3018375"/>
              <a:ext cx="1098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Weight</a:t>
              </a:r>
              <a:endParaRPr b="1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541" name="Google Shape;541;g3f8abf4eadb_1_80"/>
            <p:cNvCxnSpPr/>
            <p:nvPr/>
          </p:nvCxnSpPr>
          <p:spPr>
            <a:xfrm rot="10800000">
              <a:off x="7260975" y="3090725"/>
              <a:ext cx="14079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42" name="Google Shape;542;g3f8abf4eadb_1_80"/>
            <p:cNvCxnSpPr/>
            <p:nvPr/>
          </p:nvCxnSpPr>
          <p:spPr>
            <a:xfrm rot="10800000">
              <a:off x="8668875" y="931325"/>
              <a:ext cx="0" cy="21594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43" name="Google Shape;543;g3f8abf4eadb_1_80"/>
            <p:cNvSpPr txBox="1"/>
            <p:nvPr/>
          </p:nvSpPr>
          <p:spPr>
            <a:xfrm>
              <a:off x="7893600" y="3090725"/>
              <a:ext cx="1250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x</a:t>
              </a:r>
              <a:endParaRPr b="1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4" name="Google Shape;544;g3f8abf4eadb_1_80"/>
            <p:cNvSpPr txBox="1"/>
            <p:nvPr/>
          </p:nvSpPr>
          <p:spPr>
            <a:xfrm>
              <a:off x="8328725" y="1684350"/>
              <a:ext cx="914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Y</a:t>
              </a:r>
              <a:endParaRPr b="1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f8abf4eadb_1_107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Aircraft as rigid body</a:t>
            </a:r>
            <a:endParaRPr/>
          </a:p>
        </p:txBody>
      </p:sp>
      <p:sp>
        <p:nvSpPr>
          <p:cNvPr id="550" name="Google Shape;550;g3f8abf4eadb_1_107"/>
          <p:cNvSpPr txBox="1"/>
          <p:nvPr>
            <p:ph idx="1" type="body"/>
          </p:nvPr>
        </p:nvSpPr>
        <p:spPr>
          <a:xfrm>
            <a:off x="320141" y="1977504"/>
            <a:ext cx="8120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f8abf4eadb_1_107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999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2026-08-17T08:15:47Z</dcterms:created>
  <dc:creator>cascade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2024-03-11T00:00:00Z</vt:filetime>
  </property>
  <property fmtid="{D5CDD505-2E9C-101B-9397-08002B2CF9AE}" pid="4" name="Creator">
    <vt:lpwstr>Microsoft® PowerPoint® Microsoft 365용</vt:lpwstr>
  </property>
  <property fmtid="{D5CDD505-2E9C-101B-9397-08002B2CF9AE}" pid="5" name="LastSaved">
    <vt:filetime>2026-08-17T00:00:00Z</vt:filetime>
  </property>
  <property fmtid="{D5CDD505-2E9C-101B-9397-08002B2CF9AE}" pid="6" name="Producer">
    <vt:lpwstr>Microsoft® PowerPoint® Microsoft 365용</vt:lpwstr>
  </property>
</Properties>
</file>