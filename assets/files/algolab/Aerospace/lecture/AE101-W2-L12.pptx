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9144000" cy="6858000"/>
  <p:embeddedFontLs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HjYaXqXEekXsA6Z7LHVHQfnop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Tahoma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ae947353d_1_5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fae947353d_1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7b4ed296_1_80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77b4ed296_1_8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d821622c_0_7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ad821622c_0_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d821622c_0_8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ad821622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d821622c_0_12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ad821622c_0_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d821622c_0_14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ad821622c_0_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d89257f2_1_1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ad89257f2_1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d2565ce9_0_16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ad2565ce9_0_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d2565ce9_0_21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ad2565ce9_0_2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d2565ce9_0_22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ad2565ce9_0_2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d7144fec_0_9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ad7144fec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d7144fec_0_10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ad7144fec_0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d7144fec_0_11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ad7144fec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d7144fec_0_11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d7144fec_0_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d89257f2_0_3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ad89257f2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e947353d_1_2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ae947353d_1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d7144fec_0_12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ad7144fec_0_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d7144fec_0_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ad7144fec_0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d7144fec_0_13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d7144fec_0_1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d89257f2_1_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ad89257f2_1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ad7144fec_0_1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ad7144fec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d821622c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ad821622c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ad7144fec_0_2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ad7144fec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d7144fec_0_3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ad7144fec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ad7144fec_0_4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ad7144fec_0_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ad821622c_0_2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ad821622c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ad821622c_0_2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ad821622c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e947353d_1_11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ae947353d_1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ad821622c_0_3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ad821622c_0_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ae947353d_1_3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ae947353d_1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ad821622c_0_5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ad821622c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ad821622c_0_6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ad821622c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e947353d_1_8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ae947353d_1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6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None/>
              <a:defRPr b="1" i="0" sz="220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6"/>
          <p:cNvSpPr txBox="1"/>
          <p:nvPr>
            <p:ph idx="1" type="body"/>
          </p:nvPr>
        </p:nvSpPr>
        <p:spPr>
          <a:xfrm>
            <a:off x="320141" y="1977504"/>
            <a:ext cx="8120380" cy="20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6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756c5f6ea_0_305"/>
          <p:cNvSpPr txBox="1"/>
          <p:nvPr>
            <p:ph idx="12" type="sldNum"/>
          </p:nvPr>
        </p:nvSpPr>
        <p:spPr>
          <a:xfrm>
            <a:off x="8556784" y="6333134"/>
            <a:ext cx="5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88265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8826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752b94e8a_0_156"/>
          <p:cNvSpPr txBox="1"/>
          <p:nvPr>
            <p:ph idx="10" type="dt"/>
          </p:nvPr>
        </p:nvSpPr>
        <p:spPr>
          <a:xfrm>
            <a:off x="342909" y="635635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752b94e8a_0_156"/>
          <p:cNvSpPr txBox="1"/>
          <p:nvPr>
            <p:ph idx="11" type="ftr"/>
          </p:nvPr>
        </p:nvSpPr>
        <p:spPr>
          <a:xfrm>
            <a:off x="2343212" y="6356350"/>
            <a:ext cx="2171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752b94e8a_0_156"/>
          <p:cNvSpPr txBox="1"/>
          <p:nvPr>
            <p:ph idx="12" type="sldNum"/>
          </p:nvPr>
        </p:nvSpPr>
        <p:spPr>
          <a:xfrm>
            <a:off x="4915031" y="635635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7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8"/>
          <p:cNvSpPr txBox="1"/>
          <p:nvPr>
            <p:ph type="ctrTitle"/>
          </p:nvPr>
        </p:nvSpPr>
        <p:spPr>
          <a:xfrm>
            <a:off x="1929510" y="2171776"/>
            <a:ext cx="54235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8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8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9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9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9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9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0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0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5"/>
          <p:cNvSpPr/>
          <p:nvPr/>
        </p:nvSpPr>
        <p:spPr>
          <a:xfrm>
            <a:off x="251459" y="6405371"/>
            <a:ext cx="8641080" cy="0"/>
          </a:xfrm>
          <a:custGeom>
            <a:rect b="b" l="l" r="r" t="t"/>
            <a:pathLst>
              <a:path extrusionOk="0" h="120000"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25"/>
          <p:cNvSpPr/>
          <p:nvPr/>
        </p:nvSpPr>
        <p:spPr>
          <a:xfrm>
            <a:off x="179831" y="691895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868" y="0"/>
                </a:lnTo>
              </a:path>
            </a:pathLst>
          </a:cu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25"/>
          <p:cNvSpPr txBox="1"/>
          <p:nvPr>
            <p:ph type="title"/>
          </p:nvPr>
        </p:nvSpPr>
        <p:spPr>
          <a:xfrm>
            <a:off x="197916" y="180212"/>
            <a:ext cx="72129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5"/>
          <p:cNvSpPr txBox="1"/>
          <p:nvPr>
            <p:ph idx="1" type="body"/>
          </p:nvPr>
        </p:nvSpPr>
        <p:spPr>
          <a:xfrm>
            <a:off x="320141" y="1977504"/>
            <a:ext cx="8120380" cy="20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5"/>
          <p:cNvSpPr txBox="1"/>
          <p:nvPr>
            <p:ph idx="12" type="sldNum"/>
          </p:nvPr>
        </p:nvSpPr>
        <p:spPr>
          <a:xfrm>
            <a:off x="4418710" y="6498564"/>
            <a:ext cx="28702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265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4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youtube.com/watch?v=D1J1oUP-aKA" TargetMode="External"/><Relationship Id="rId4" Type="http://schemas.openxmlformats.org/officeDocument/2006/relationships/image" Target="../media/image20.jpg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e947353d_1_5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3fae947353d_1_57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 3</a:t>
            </a:r>
            <a:endParaRPr/>
          </a:p>
        </p:txBody>
      </p:sp>
      <p:sp>
        <p:nvSpPr>
          <p:cNvPr id="53" name="Google Shape;53;g3fae947353d_1_57"/>
          <p:cNvSpPr txBox="1"/>
          <p:nvPr/>
        </p:nvSpPr>
        <p:spPr>
          <a:xfrm>
            <a:off x="353350" y="1493100"/>
            <a:ext cx="8312400" cy="170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140375">
            <a:spAutoFit/>
          </a:bodyPr>
          <a:lstStyle/>
          <a:p>
            <a:pPr indent="0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None/>
            </a:pPr>
            <a:r>
              <a:rPr b="0" i="0" lang="en-US" sz="319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Fundamentals of Aerospace Engineering</a:t>
            </a:r>
            <a:endParaRPr b="0" i="0" sz="319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4447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Arial"/>
              <a:buNone/>
            </a:pPr>
            <a:r>
              <a:rPr lang="en-US" sz="2640">
                <a:solidFill>
                  <a:srgbClr val="0F8AD9"/>
                </a:solidFill>
                <a:latin typeface="Cambria"/>
                <a:ea typeface="Cambria"/>
                <a:cs typeface="Cambria"/>
                <a:sym typeface="Cambria"/>
              </a:rPr>
              <a:t>From Airfoil to Wing: Aerodynamic Design Trade-offs </a:t>
            </a:r>
            <a:endParaRPr b="0" i="0" sz="264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44475" marR="0" rtl="0" algn="l">
              <a:lnSpc>
                <a:spcPct val="100000"/>
              </a:lnSpc>
              <a:spcBef>
                <a:spcPts val="2585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Arial"/>
              <a:buNone/>
            </a:pPr>
            <a:r>
              <a:rPr b="0" i="0" lang="en-US" sz="176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Naol S. Erega</a:t>
            </a:r>
            <a:endParaRPr b="0" i="0" sz="176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g3fae947353d_1_57"/>
          <p:cNvSpPr txBox="1"/>
          <p:nvPr/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00000"/>
                </a:solidFill>
              </a:rPr>
              <a:t>‹#›</a:t>
            </a:fld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7b4ed296_1_806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disciplines of aerospace engineering </a:t>
            </a:r>
            <a:endParaRPr/>
          </a:p>
        </p:txBody>
      </p:sp>
      <p:pic>
        <p:nvPicPr>
          <p:cNvPr id="60" name="Google Shape;60;g3f77b4ed296_1_8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791225"/>
            <a:ext cx="4165174" cy="244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f77b4ed296_1_8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150" y="791225"/>
            <a:ext cx="4445251" cy="2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f77b4ed296_1_8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0175" y="3374575"/>
            <a:ext cx="6117050" cy="26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77b4ed296_1_80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d821622c_0_75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disciplines of aerospace engineering </a:t>
            </a:r>
            <a:endParaRPr/>
          </a:p>
        </p:txBody>
      </p:sp>
      <p:pic>
        <p:nvPicPr>
          <p:cNvPr id="69" name="Google Shape;69;g3fad821622c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791225"/>
            <a:ext cx="4165174" cy="244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fad821622c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150" y="791225"/>
            <a:ext cx="4445251" cy="2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fad821622c_0_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0175" y="3374575"/>
            <a:ext cx="6117050" cy="26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fad821622c_0_75"/>
          <p:cNvSpPr/>
          <p:nvPr/>
        </p:nvSpPr>
        <p:spPr>
          <a:xfrm>
            <a:off x="122475" y="894350"/>
            <a:ext cx="2078100" cy="2399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3" name="Google Shape;73;g3fad821622c_0_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4725" y="1356025"/>
            <a:ext cx="733226" cy="73322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fad821622c_0_7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d821622c_0_84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the four forces of flight </a:t>
            </a:r>
            <a:endParaRPr/>
          </a:p>
        </p:txBody>
      </p:sp>
      <p:sp>
        <p:nvSpPr>
          <p:cNvPr id="80" name="Google Shape;80;g3fad821622c_0_84"/>
          <p:cNvSpPr txBox="1"/>
          <p:nvPr/>
        </p:nvSpPr>
        <p:spPr>
          <a:xfrm>
            <a:off x="4418710" y="6498564"/>
            <a:ext cx="2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00000"/>
                </a:solidFill>
              </a:rPr>
              <a:t>‹#›</a:t>
            </a:fld>
            <a:endParaRPr b="1">
              <a:solidFill>
                <a:srgbClr val="000000"/>
              </a:solidFill>
            </a:endParaRPr>
          </a:p>
        </p:txBody>
      </p:sp>
      <p:pic>
        <p:nvPicPr>
          <p:cNvPr id="81" name="Google Shape;81;g3fad821622c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25" y="3128375"/>
            <a:ext cx="3706050" cy="27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fad821622c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811" y="2954515"/>
            <a:ext cx="3382928" cy="2701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ad821622c_0_84"/>
          <p:cNvSpPr txBox="1"/>
          <p:nvPr/>
        </p:nvSpPr>
        <p:spPr>
          <a:xfrm>
            <a:off x="554150" y="5830200"/>
            <a:ext cx="3382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Forces during straight flight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g3fad821622c_0_84"/>
          <p:cNvSpPr txBox="1"/>
          <p:nvPr/>
        </p:nvSpPr>
        <p:spPr>
          <a:xfrm>
            <a:off x="4804763" y="5830200"/>
            <a:ext cx="3382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Forces during climb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g3fad821622c_0_84"/>
          <p:cNvSpPr txBox="1"/>
          <p:nvPr/>
        </p:nvSpPr>
        <p:spPr>
          <a:xfrm>
            <a:off x="392520" y="936651"/>
            <a:ext cx="38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Lift: </a:t>
            </a: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upward force generated by air pressure difference on surfaces.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g3fad821622c_0_84"/>
          <p:cNvSpPr txBox="1"/>
          <p:nvPr/>
        </p:nvSpPr>
        <p:spPr>
          <a:xfrm>
            <a:off x="392520" y="1473226"/>
            <a:ext cx="402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Drag: </a:t>
            </a: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air resistance that opposes thrust</a:t>
            </a: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g3fad821622c_0_84"/>
          <p:cNvSpPr txBox="1"/>
          <p:nvPr/>
        </p:nvSpPr>
        <p:spPr>
          <a:xfrm>
            <a:off x="4912570" y="936651"/>
            <a:ext cx="386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Weight: </a:t>
            </a: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pulling force due to gravity</a:t>
            </a: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fad821622c_0_84"/>
          <p:cNvSpPr txBox="1"/>
          <p:nvPr/>
        </p:nvSpPr>
        <p:spPr>
          <a:xfrm>
            <a:off x="4912570" y="1473226"/>
            <a:ext cx="402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Thrust: </a:t>
            </a: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pushing force generated by engine</a:t>
            </a: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g3fad821622c_0_84"/>
          <p:cNvSpPr txBox="1"/>
          <p:nvPr/>
        </p:nvSpPr>
        <p:spPr>
          <a:xfrm>
            <a:off x="392530" y="2226549"/>
            <a:ext cx="804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Lift and Drag </a:t>
            </a: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are generated by air interacting with airplane surfaces</a:t>
            </a:r>
            <a:endParaRPr b="1"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(! especially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wing</a:t>
            </a:r>
            <a:r>
              <a:rPr b="1"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) </a:t>
            </a: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g3fad821622c_0_8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d821622c_0_12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fundamentals of airfoil </a:t>
            </a:r>
            <a:endParaRPr/>
          </a:p>
        </p:txBody>
      </p:sp>
      <p:pic>
        <p:nvPicPr>
          <p:cNvPr id="96" name="Google Shape;96;g3fad821622c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4925"/>
            <a:ext cx="5118674" cy="144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fad821622c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71300"/>
            <a:ext cx="5118675" cy="11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fad821622c_0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33775"/>
            <a:ext cx="8706498" cy="317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fad821622c_0_1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3474" y="603262"/>
            <a:ext cx="3568125" cy="21131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fad821622c_0_120"/>
          <p:cNvSpPr txBox="1"/>
          <p:nvPr/>
        </p:nvSpPr>
        <p:spPr>
          <a:xfrm>
            <a:off x="5991600" y="28942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Common airfoil shapes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1" name="Google Shape;101;g3fad821622c_0_12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d821622c_0_141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Bernoulli explained how lift is created!</a:t>
            </a:r>
            <a:endParaRPr/>
          </a:p>
        </p:txBody>
      </p:sp>
      <p:sp>
        <p:nvSpPr>
          <p:cNvPr id="107" name="Google Shape;107;g3fad821622c_0_14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g3fad821622c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75" y="928350"/>
            <a:ext cx="3685601" cy="269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ad821622c_0_141"/>
          <p:cNvPicPr preferRelativeResize="0"/>
          <p:nvPr/>
        </p:nvPicPr>
        <p:blipFill rotWithShape="1">
          <a:blip r:embed="rId4">
            <a:alphaModFix/>
          </a:blip>
          <a:srcRect b="6940" l="1930" r="-1930" t="-6940"/>
          <a:stretch/>
        </p:blipFill>
        <p:spPr>
          <a:xfrm>
            <a:off x="4924150" y="3541425"/>
            <a:ext cx="4027074" cy="239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fad821622c_0_141"/>
          <p:cNvPicPr preferRelativeResize="0"/>
          <p:nvPr/>
        </p:nvPicPr>
        <p:blipFill rotWithShape="1">
          <a:blip r:embed="rId5">
            <a:alphaModFix/>
          </a:blip>
          <a:srcRect b="6860" l="0" r="0" t="-6860"/>
          <a:stretch/>
        </p:blipFill>
        <p:spPr>
          <a:xfrm>
            <a:off x="414585" y="3897350"/>
            <a:ext cx="3290840" cy="1936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fad821622c_0_141"/>
          <p:cNvSpPr txBox="1"/>
          <p:nvPr/>
        </p:nvSpPr>
        <p:spPr>
          <a:xfrm>
            <a:off x="5373900" y="5934300"/>
            <a:ext cx="363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Blow and see it yourself!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g3fad821622c_0_141"/>
          <p:cNvSpPr txBox="1"/>
          <p:nvPr/>
        </p:nvSpPr>
        <p:spPr>
          <a:xfrm>
            <a:off x="243650" y="5934300"/>
            <a:ext cx="363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Airfoil is half venturi Tube!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3" name="Google Shape;113;g3fad821622c_0_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7576" y="671312"/>
            <a:ext cx="4739025" cy="2187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d89257f2_1_12"/>
          <p:cNvSpPr txBox="1"/>
          <p:nvPr>
            <p:ph type="title"/>
          </p:nvPr>
        </p:nvSpPr>
        <p:spPr>
          <a:xfrm>
            <a:off x="197927" y="180200"/>
            <a:ext cx="8618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why we study flow characterizing equations?  </a:t>
            </a:r>
            <a:endParaRPr/>
          </a:p>
        </p:txBody>
      </p:sp>
      <p:sp>
        <p:nvSpPr>
          <p:cNvPr id="119" name="Google Shape;119;g3fad89257f2_1_1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g3fad89257f2_1_12"/>
          <p:cNvSpPr txBox="1"/>
          <p:nvPr/>
        </p:nvSpPr>
        <p:spPr>
          <a:xfrm>
            <a:off x="1813925" y="5694900"/>
            <a:ext cx="63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https://www.scribd.com/document/610739358/Aerodynamics-Formulas</a:t>
            </a:r>
            <a:endParaRPr/>
          </a:p>
        </p:txBody>
      </p:sp>
      <p:pic>
        <p:nvPicPr>
          <p:cNvPr id="121" name="Google Shape;121;g3fad89257f2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125" y="823700"/>
            <a:ext cx="6400436" cy="43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ad89257f2_1_12"/>
          <p:cNvSpPr txBox="1"/>
          <p:nvPr/>
        </p:nvSpPr>
        <p:spPr>
          <a:xfrm>
            <a:off x="496650" y="5100325"/>
            <a:ext cx="79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 this link – 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Much of the Aerodynamics is flow characterization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d2565ce9_0_169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Today’s focus: From airfoil to wing</a:t>
            </a:r>
            <a:endParaRPr/>
          </a:p>
        </p:txBody>
      </p:sp>
      <p:sp>
        <p:nvSpPr>
          <p:cNvPr id="128" name="Google Shape;128;g3fad2565ce9_0_169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g3fad2565ce9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891787"/>
            <a:ext cx="8839199" cy="539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d2565ce9_0_217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design your wing for your aircraft?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ad2565ce9_0_21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g3fad2565ce9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930750"/>
            <a:ext cx="8793677" cy="466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d2565ce9_0_226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Lift and Drag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d2565ce9_0_22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g3fad2565ce9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5" y="937337"/>
            <a:ext cx="8839203" cy="4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d7144fec_0_92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lift, drag, and moment coefficients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ad7144fec_0_92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g3fad7144fec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1063475"/>
            <a:ext cx="8839202" cy="236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fad7144fec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38" y="3428023"/>
            <a:ext cx="7539568" cy="276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d7144fec_0_10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lift, drag, and moment coefficients</a:t>
            </a:r>
            <a:endParaRPr/>
          </a:p>
        </p:txBody>
      </p:sp>
      <p:sp>
        <p:nvSpPr>
          <p:cNvPr id="157" name="Google Shape;157;g3fad7144fec_0_10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g3fad7144fec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00"/>
            <a:ext cx="8839198" cy="55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d7144fec_0_118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</a:t>
            </a:r>
            <a:r>
              <a:rPr lang="en-US"/>
              <a:t>lift, drag, and moment coefficients</a:t>
            </a:r>
            <a:endParaRPr/>
          </a:p>
        </p:txBody>
      </p:sp>
      <p:sp>
        <p:nvSpPr>
          <p:cNvPr id="164" name="Google Shape;164;g3fad7144fec_0_11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g3fad7144fec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0" y="741850"/>
            <a:ext cx="8839199" cy="522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d7144fec_0_111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lift, drag, and moment coefficients</a:t>
            </a:r>
            <a:endParaRPr/>
          </a:p>
        </p:txBody>
      </p:sp>
      <p:sp>
        <p:nvSpPr>
          <p:cNvPr id="171" name="Google Shape;171;g3fad7144fec_0_11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g3fad7144fec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00"/>
            <a:ext cx="8839199" cy="5361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d89257f2_0_34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Worked example: calculate the aerodynamic forces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ad89257f2_0_3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g3fad89257f2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75" y="786175"/>
            <a:ext cx="8615449" cy="5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e947353d_1_25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Worked example: the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ae947353d_1_2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g3fae947353d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839200" cy="538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d7144fec_0_128"/>
          <p:cNvSpPr txBox="1"/>
          <p:nvPr>
            <p:ph type="title"/>
          </p:nvPr>
        </p:nvSpPr>
        <p:spPr>
          <a:xfrm>
            <a:off x="197926" y="180200"/>
            <a:ext cx="8141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Lift and drags are affected by various physical quantities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ad7144fec_0_128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g3fad7144fec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839201" cy="5239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d7144fec_0_7"/>
          <p:cNvSpPr txBox="1"/>
          <p:nvPr>
            <p:ph type="title"/>
          </p:nvPr>
        </p:nvSpPr>
        <p:spPr>
          <a:xfrm>
            <a:off x="197927" y="180200"/>
            <a:ext cx="846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- remember airfoil shape really matters!</a:t>
            </a:r>
            <a:endParaRPr/>
          </a:p>
        </p:txBody>
      </p:sp>
      <p:sp>
        <p:nvSpPr>
          <p:cNvPr id="199" name="Google Shape;199;g3fad7144fec_0_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g3fad7144fe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00"/>
            <a:ext cx="8839198" cy="5624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d7144fec_0_136"/>
          <p:cNvSpPr txBox="1"/>
          <p:nvPr>
            <p:ph type="title"/>
          </p:nvPr>
        </p:nvSpPr>
        <p:spPr>
          <a:xfrm>
            <a:off x="197927" y="180200"/>
            <a:ext cx="854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Angle of attack: more is not always better </a:t>
            </a:r>
            <a:endParaRPr/>
          </a:p>
        </p:txBody>
      </p:sp>
      <p:sp>
        <p:nvSpPr>
          <p:cNvPr id="206" name="Google Shape;206;g3fad7144fec_0_13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" name="Google Shape;207;g3fad7144fec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00"/>
            <a:ext cx="8457043" cy="5674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d89257f2_1_6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Stall: flow separation reduces lift </a:t>
            </a:r>
            <a:endParaRPr/>
          </a:p>
        </p:txBody>
      </p:sp>
      <p:sp>
        <p:nvSpPr>
          <p:cNvPr id="213" name="Google Shape;213;g3fad89257f2_1_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n this video, John King covers the basics of Angle of Attack and Stalls. &#10;&#10;Been thinking about learning to fly? This 2-minute quiz shows you exactly where you are and what your next step looks like: https://kingschools.outgrow.us/pilotjourney&#10;&#10;This video an excerpt from our Private Pilot Ground School &amp; Test Prep: https://www.kingschools.com/ground-school/private-pilot/courses/written?utm_source=youtube&amp;utm_medium=video000&amp;src=YOUT01&#10;&#10;&#10;&#10;#privatepilot #stall #kingschools" id="214" name="Google Shape;214;g3fad89257f2_1_6" title="What is a Stall? What is Angle of Attack? | King School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9325" y="943375"/>
            <a:ext cx="3433250" cy="24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ad89257f2_1_6"/>
          <p:cNvSpPr txBox="1"/>
          <p:nvPr/>
        </p:nvSpPr>
        <p:spPr>
          <a:xfrm>
            <a:off x="4599325" y="3493625"/>
            <a:ext cx="308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https://youtu.be/D1J1oUP-aKA?si=xNmQqexTPLQle5Ml</a:t>
            </a:r>
            <a:endParaRPr/>
          </a:p>
        </p:txBody>
      </p:sp>
      <p:sp>
        <p:nvSpPr>
          <p:cNvPr id="216" name="Google Shape;216;g3fad89257f2_1_6"/>
          <p:cNvSpPr txBox="1"/>
          <p:nvPr/>
        </p:nvSpPr>
        <p:spPr>
          <a:xfrm>
            <a:off x="695975" y="4453025"/>
            <a:ext cx="7585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Reasoning</a:t>
            </a:r>
            <a:r>
              <a:rPr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Flow separation creates 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adverse pressure gradient</a:t>
            </a:r>
            <a:r>
              <a:rPr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toward the rear end. This increasing pressure pushes back against the flow and makes the 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speed of flow in the upper surface increase.</a:t>
            </a:r>
            <a:endParaRPr b="1"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7" name="Google Shape;217;g3fad89257f2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100" y="943374"/>
            <a:ext cx="3523350" cy="25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ad7144fec_0_14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catalog</a:t>
            </a:r>
            <a:endParaRPr/>
          </a:p>
        </p:txBody>
      </p:sp>
      <p:sp>
        <p:nvSpPr>
          <p:cNvPr id="223" name="Google Shape;223;g3fad7144fec_0_1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g3fad7144fec_0_14"/>
          <p:cNvSpPr txBox="1"/>
          <p:nvPr/>
        </p:nvSpPr>
        <p:spPr>
          <a:xfrm>
            <a:off x="334650" y="732300"/>
            <a:ext cx="7771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NACA</a:t>
            </a:r>
            <a:r>
              <a:rPr lang="en-US" sz="1700"/>
              <a:t> stands for the National Advisory Committee for Aeronautics. It was the organization that </a:t>
            </a:r>
            <a:r>
              <a:rPr b="1" lang="en-US" sz="1700"/>
              <a:t>developed many standardized airfoil</a:t>
            </a:r>
            <a:r>
              <a:rPr lang="en-US" sz="1700"/>
              <a:t> families before NASA was created. </a:t>
            </a:r>
            <a:endParaRPr sz="1700"/>
          </a:p>
        </p:txBody>
      </p:sp>
      <p:pic>
        <p:nvPicPr>
          <p:cNvPr id="225" name="Google Shape;225;g3fad7144fec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50" y="1735298"/>
            <a:ext cx="5191375" cy="416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fad7144fec_0_14"/>
          <p:cNvSpPr txBox="1"/>
          <p:nvPr/>
        </p:nvSpPr>
        <p:spPr>
          <a:xfrm>
            <a:off x="5680950" y="34443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Today,  we only decode the four-digit NACA notation !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ad821622c_0_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NACA 4 Digit Airfoil</a:t>
            </a:r>
            <a:endParaRPr/>
          </a:p>
        </p:txBody>
      </p:sp>
      <p:sp>
        <p:nvSpPr>
          <p:cNvPr id="232" name="Google Shape;232;g3fad821622c_0_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g3fad821622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787666" cy="567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d7144fec_0_21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Catalog</a:t>
            </a:r>
            <a:endParaRPr/>
          </a:p>
        </p:txBody>
      </p:sp>
      <p:sp>
        <p:nvSpPr>
          <p:cNvPr id="239" name="Google Shape;239;g3fad7144fec_0_21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g3fad7144fec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749632" cy="567485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fad7144fec_0_21"/>
          <p:cNvSpPr txBox="1"/>
          <p:nvPr/>
        </p:nvSpPr>
        <p:spPr>
          <a:xfrm>
            <a:off x="197925" y="764625"/>
            <a:ext cx="462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http://airfoiltools.com/airfoil/details?airfoil=naca2412-il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ad7144fec_0_3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Airfoil Design – Computational design method</a:t>
            </a:r>
            <a:endParaRPr/>
          </a:p>
        </p:txBody>
      </p:sp>
      <p:sp>
        <p:nvSpPr>
          <p:cNvPr id="247" name="Google Shape;247;g3fad7144fec_0_3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g3fad7144fec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953612"/>
            <a:ext cx="8839200" cy="4857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ad7144fec_0_47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Wing geometry: the essential vocabulary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ad7144fec_0_47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g3fad7144fec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0000"/>
            <a:ext cx="8605600" cy="44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ad821622c_0_20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Finite wings create wingtip vortices </a:t>
            </a:r>
            <a:endParaRPr/>
          </a:p>
        </p:txBody>
      </p:sp>
      <p:sp>
        <p:nvSpPr>
          <p:cNvPr id="261" name="Google Shape;261;g3fad821622c_0_20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2" name="Google Shape;262;g3fad821622c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12"/>
            <a:ext cx="8791419" cy="567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ad821622c_0_26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Downwash creates induced drag </a:t>
            </a:r>
            <a:endParaRPr/>
          </a:p>
        </p:txBody>
      </p:sp>
      <p:sp>
        <p:nvSpPr>
          <p:cNvPr id="268" name="Google Shape;268;g3fad821622c_0_2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g3fad821622c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300"/>
            <a:ext cx="8217026" cy="56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e947353d_1_113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Remember two types of drags</a:t>
            </a:r>
            <a:endParaRPr/>
          </a:p>
        </p:txBody>
      </p:sp>
      <p:sp>
        <p:nvSpPr>
          <p:cNvPr id="275" name="Google Shape;275;g3fae947353d_1_11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g3fae947353d_1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00" y="2433324"/>
            <a:ext cx="4653776" cy="29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fae947353d_1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825" y="2623224"/>
            <a:ext cx="4042175" cy="271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fae947353d_1_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5775" y="1379837"/>
            <a:ext cx="20764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d821622c_0_35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Total drag has two main components</a:t>
            </a:r>
            <a:endParaRPr/>
          </a:p>
        </p:txBody>
      </p:sp>
      <p:sp>
        <p:nvSpPr>
          <p:cNvPr id="284" name="Google Shape;284;g3fad821622c_0_3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g3fad821622c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4450"/>
            <a:ext cx="8839201" cy="5149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ae947353d_1_33"/>
          <p:cNvSpPr txBox="1"/>
          <p:nvPr>
            <p:ph type="title"/>
          </p:nvPr>
        </p:nvSpPr>
        <p:spPr>
          <a:xfrm>
            <a:off x="197926" y="180200"/>
            <a:ext cx="83928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Aspect ratio is a design trade-off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ae947353d_1_33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2" name="Google Shape;292;g3fae947353d_1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50" y="967775"/>
            <a:ext cx="8139766" cy="533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ad821622c_0_54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g3fad821622c_0_54"/>
          <p:cNvSpPr txBox="1"/>
          <p:nvPr>
            <p:ph type="title"/>
          </p:nvPr>
        </p:nvSpPr>
        <p:spPr>
          <a:xfrm>
            <a:off x="197926" y="180200"/>
            <a:ext cx="8143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Aspect ratio changes the lift curve and stall behaviour </a:t>
            </a:r>
            <a:endParaRPr/>
          </a:p>
        </p:txBody>
      </p:sp>
      <p:sp>
        <p:nvSpPr>
          <p:cNvPr id="299" name="Google Shape;299;g3fad821622c_0_54"/>
          <p:cNvSpPr txBox="1"/>
          <p:nvPr>
            <p:ph idx="11" type="ftr"/>
          </p:nvPr>
        </p:nvSpPr>
        <p:spPr>
          <a:xfrm>
            <a:off x="3108960" y="6377940"/>
            <a:ext cx="2926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g3fad821622c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8837"/>
            <a:ext cx="8839202" cy="407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d821622c_0_66"/>
          <p:cNvSpPr txBox="1"/>
          <p:nvPr>
            <p:ph type="title"/>
          </p:nvPr>
        </p:nvSpPr>
        <p:spPr>
          <a:xfrm>
            <a:off x="197916" y="180212"/>
            <a:ext cx="7212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aspect ratios reflect different missions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ad821622c_0_66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g3fad821622c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0" y="739437"/>
            <a:ext cx="8839197" cy="4541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ae947353d_1_85"/>
          <p:cNvSpPr txBox="1"/>
          <p:nvPr>
            <p:ph type="title"/>
          </p:nvPr>
        </p:nvSpPr>
        <p:spPr>
          <a:xfrm>
            <a:off x="197916" y="180212"/>
            <a:ext cx="7212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takeaways </a:t>
            </a:r>
            <a:endParaRPr/>
          </a:p>
        </p:txBody>
      </p:sp>
      <p:sp>
        <p:nvSpPr>
          <p:cNvPr id="313" name="Google Shape;313;g3fae947353d_1_85"/>
          <p:cNvSpPr txBox="1"/>
          <p:nvPr>
            <p:ph idx="12" type="sldNum"/>
          </p:nvPr>
        </p:nvSpPr>
        <p:spPr>
          <a:xfrm>
            <a:off x="4418710" y="6498564"/>
            <a:ext cx="287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2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g3fae947353d_1_85"/>
          <p:cNvSpPr txBox="1"/>
          <p:nvPr/>
        </p:nvSpPr>
        <p:spPr>
          <a:xfrm>
            <a:off x="306450" y="870850"/>
            <a:ext cx="8511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Airfoil shape affects lift, drag, and stall.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Angle of attack increases lift only up to stall.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 finite wing creates wingtip vortices and downwash.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Profile drag comes from the airfoil and boundary layer.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Induced drag comes from producing lift on a finite wing.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2026-08-17T08:15:47Z</dcterms:created>
  <dc:creator>cascade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2024-03-11T00:00:00Z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2026-08-17T00:00:00Z</vt:filetime>
  </property>
  <property fmtid="{D5CDD505-2E9C-101B-9397-08002B2CF9AE}" pid="6" name="Producer">
    <vt:lpwstr>Microsoft® PowerPoint® Microsoft 365용</vt:lpwstr>
  </property>
</Properties>
</file>